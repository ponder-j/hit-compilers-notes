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  <p:sldMasterId id="2147483656" r:id="rId4"/>
    <p:sldMasterId id="2147483660" r:id="rId5"/>
  </p:sldMasterIdLst>
  <p:notesMasterIdLst>
    <p:notesMasterId r:id="rId7"/>
  </p:notesMasterIdLst>
  <p:handoutMasterIdLst>
    <p:handoutMasterId r:id="rId75"/>
  </p:handoutMasterIdLst>
  <p:sldIdLst>
    <p:sldId id="730" r:id="rId6"/>
    <p:sldId id="2699" r:id="rId8"/>
    <p:sldId id="744" r:id="rId9"/>
    <p:sldId id="2701" r:id="rId10"/>
    <p:sldId id="746" r:id="rId11"/>
    <p:sldId id="753" r:id="rId12"/>
    <p:sldId id="751" r:id="rId13"/>
    <p:sldId id="483" r:id="rId14"/>
    <p:sldId id="668" r:id="rId15"/>
    <p:sldId id="552" r:id="rId16"/>
    <p:sldId id="533" r:id="rId17"/>
    <p:sldId id="570" r:id="rId18"/>
    <p:sldId id="701" r:id="rId19"/>
    <p:sldId id="517" r:id="rId20"/>
    <p:sldId id="600" r:id="rId21"/>
    <p:sldId id="516" r:id="rId22"/>
    <p:sldId id="2688" r:id="rId23"/>
    <p:sldId id="2702" r:id="rId24"/>
    <p:sldId id="645" r:id="rId25"/>
    <p:sldId id="732" r:id="rId26"/>
    <p:sldId id="2705" r:id="rId27"/>
    <p:sldId id="2706" r:id="rId28"/>
    <p:sldId id="2707" r:id="rId29"/>
    <p:sldId id="2708" r:id="rId30"/>
    <p:sldId id="2709" r:id="rId31"/>
    <p:sldId id="2710" r:id="rId32"/>
    <p:sldId id="2711" r:id="rId33"/>
    <p:sldId id="2712" r:id="rId34"/>
    <p:sldId id="2713" r:id="rId35"/>
    <p:sldId id="2714" r:id="rId36"/>
    <p:sldId id="2715" r:id="rId37"/>
    <p:sldId id="2716" r:id="rId38"/>
    <p:sldId id="2717" r:id="rId39"/>
    <p:sldId id="2718" r:id="rId40"/>
    <p:sldId id="2719" r:id="rId41"/>
    <p:sldId id="2720" r:id="rId42"/>
    <p:sldId id="2721" r:id="rId43"/>
    <p:sldId id="2722" r:id="rId44"/>
    <p:sldId id="2723" r:id="rId45"/>
    <p:sldId id="2724" r:id="rId46"/>
    <p:sldId id="2725" r:id="rId47"/>
    <p:sldId id="2726" r:id="rId48"/>
    <p:sldId id="2727" r:id="rId49"/>
    <p:sldId id="2729" r:id="rId50"/>
    <p:sldId id="2730" r:id="rId51"/>
    <p:sldId id="2731" r:id="rId52"/>
    <p:sldId id="2732" r:id="rId53"/>
    <p:sldId id="2733" r:id="rId54"/>
    <p:sldId id="2734" r:id="rId55"/>
    <p:sldId id="2735" r:id="rId56"/>
    <p:sldId id="2736" r:id="rId57"/>
    <p:sldId id="2737" r:id="rId58"/>
    <p:sldId id="2738" r:id="rId59"/>
    <p:sldId id="2739" r:id="rId60"/>
    <p:sldId id="2740" r:id="rId61"/>
    <p:sldId id="2741" r:id="rId62"/>
    <p:sldId id="2742" r:id="rId63"/>
    <p:sldId id="2743" r:id="rId64"/>
    <p:sldId id="2744" r:id="rId65"/>
    <p:sldId id="2745" r:id="rId66"/>
    <p:sldId id="2746" r:id="rId67"/>
    <p:sldId id="2747" r:id="rId68"/>
    <p:sldId id="2748" r:id="rId69"/>
    <p:sldId id="2749" r:id="rId70"/>
    <p:sldId id="2750" r:id="rId71"/>
    <p:sldId id="2751" r:id="rId72"/>
    <p:sldId id="710" r:id="rId73"/>
    <p:sldId id="734" r:id="rId74"/>
  </p:sldIdLst>
  <p:sldSz cx="9144000" cy="5143500" type="screen16x9"/>
  <p:notesSz cx="6792595" cy="992505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47" userDrawn="1">
          <p15:clr>
            <a:srgbClr val="A4A3A4"/>
          </p15:clr>
        </p15:guide>
        <p15:guide id="2" pos="29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2862AA"/>
    <a:srgbClr val="0000FF"/>
    <a:srgbClr val="006600"/>
    <a:srgbClr val="FF0000"/>
    <a:srgbClr val="FF3399"/>
    <a:srgbClr val="008000"/>
    <a:srgbClr val="FF33CC"/>
    <a:srgbClr val="00C08E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18" autoAdjust="0"/>
    <p:restoredTop sz="66599" autoAdjust="0"/>
  </p:normalViewPr>
  <p:slideViewPr>
    <p:cSldViewPr showGuides="1">
      <p:cViewPr varScale="1">
        <p:scale>
          <a:sx n="64" d="100"/>
          <a:sy n="64" d="100"/>
        </p:scale>
        <p:origin x="1625" y="34"/>
      </p:cViewPr>
      <p:guideLst>
        <p:guide orient="horz" pos="1647"/>
        <p:guide pos="290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8" Type="http://schemas.openxmlformats.org/officeDocument/2006/relationships/tableStyles" Target="tableStyles.xml"/><Relationship Id="rId77" Type="http://schemas.openxmlformats.org/officeDocument/2006/relationships/viewProps" Target="viewProps.xml"/><Relationship Id="rId76" Type="http://schemas.openxmlformats.org/officeDocument/2006/relationships/presProps" Target="presProps.xml"/><Relationship Id="rId75" Type="http://schemas.openxmlformats.org/officeDocument/2006/relationships/handoutMaster" Target="handoutMasters/handoutMaster1.xml"/><Relationship Id="rId74" Type="http://schemas.openxmlformats.org/officeDocument/2006/relationships/slide" Target="slides/slide68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7" Type="http://schemas.openxmlformats.org/officeDocument/2006/relationships/notesMaster" Target="notesMasters/notesMaster1.xml"/><Relationship Id="rId69" Type="http://schemas.openxmlformats.org/officeDocument/2006/relationships/slide" Target="slides/slide63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0" Type="http://schemas.openxmlformats.org/officeDocument/2006/relationships/slide" Target="slides/slide54.xml"/><Relationship Id="rId6" Type="http://schemas.openxmlformats.org/officeDocument/2006/relationships/slide" Target="slides/slide1.xml"/><Relationship Id="rId59" Type="http://schemas.openxmlformats.org/officeDocument/2006/relationships/slide" Target="slides/slide53.xml"/><Relationship Id="rId58" Type="http://schemas.openxmlformats.org/officeDocument/2006/relationships/slide" Target="slides/slide52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0" Type="http://schemas.openxmlformats.org/officeDocument/2006/relationships/slide" Target="slides/slide34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5300"/>
          </a:xfrm>
          <a:prstGeom prst="rect">
            <a:avLst/>
          </a:prstGeom>
          <a:noFill/>
          <a:ln>
            <a:noFill/>
          </a:ln>
        </p:spPr>
        <p:txBody>
          <a:bodyPr vert="horz" wrap="square" lIns="88087" tIns="44045" rIns="88087" bIns="44045" numCol="1" anchor="t" anchorCtr="0" compatLnSpc="1"/>
          <a:lstStyle>
            <a:lvl1pPr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98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6513" y="0"/>
            <a:ext cx="2944812" cy="495300"/>
          </a:xfrm>
          <a:prstGeom prst="rect">
            <a:avLst/>
          </a:prstGeom>
          <a:noFill/>
          <a:ln>
            <a:noFill/>
          </a:ln>
        </p:spPr>
        <p:txBody>
          <a:bodyPr vert="horz" wrap="square" lIns="88087" tIns="44045" rIns="88087" bIns="44045" numCol="1" anchor="t" anchorCtr="0" compatLnSpc="1"/>
          <a:lstStyle>
            <a:lvl1pPr algn="r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83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944813" cy="495300"/>
          </a:xfrm>
          <a:prstGeom prst="rect">
            <a:avLst/>
          </a:prstGeom>
          <a:noFill/>
          <a:ln>
            <a:noFill/>
          </a:ln>
        </p:spPr>
        <p:txBody>
          <a:bodyPr vert="horz" wrap="square" lIns="88087" tIns="44045" rIns="88087" bIns="44045" numCol="1" anchor="b" anchorCtr="0" compatLnSpc="1"/>
          <a:lstStyle>
            <a:lvl1pPr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8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6513" y="9428163"/>
            <a:ext cx="2944812" cy="495300"/>
          </a:xfrm>
          <a:prstGeom prst="rect">
            <a:avLst/>
          </a:prstGeom>
          <a:noFill/>
          <a:ln>
            <a:noFill/>
          </a:ln>
        </p:spPr>
        <p:txBody>
          <a:bodyPr vert="horz" wrap="square" lIns="88087" tIns="44045" rIns="88087" bIns="44045" numCol="1" anchor="b" anchorCtr="0" compatLnSpc="1"/>
          <a:lstStyle>
            <a:lvl1pPr algn="r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5DD257B-6134-4FE7-B8F0-5F9D774AA5D3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53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807" tIns="45904" rIns="91807" bIns="45904" numCol="1" anchor="t" anchorCtr="0" compatLnSpc="1"/>
          <a:lstStyle>
            <a:lvl1pPr defTabSz="916305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024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6513" y="0"/>
            <a:ext cx="2944812" cy="4953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807" tIns="45904" rIns="91807" bIns="45904" numCol="1" anchor="t" anchorCtr="0" compatLnSpc="1"/>
          <a:lstStyle>
            <a:lvl1pPr algn="r" defTabSz="916305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8900" y="742950"/>
            <a:ext cx="6619875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24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4013" cy="44672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807" tIns="45904" rIns="91807" bIns="45904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4024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4813" cy="4953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807" tIns="45904" rIns="91807" bIns="45904" numCol="1" anchor="b" anchorCtr="0" compatLnSpc="1"/>
          <a:lstStyle>
            <a:lvl1pPr defTabSz="916305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24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6513" y="9428163"/>
            <a:ext cx="2944812" cy="4953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807" tIns="45904" rIns="91807" bIns="45904" numCol="1" anchor="b" anchorCtr="0" compatLnSpc="1"/>
          <a:lstStyle>
            <a:lvl1pPr algn="r" defTabSz="916305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F0E3C24-2152-4D31-BDD7-B771E06B4B2B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41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74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95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455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78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421743F-5C82-472C-B33F-6FB9009EA964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rPr>
            </a:fld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421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42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95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455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78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23E42CF-FC09-4BB0-80E4-D9B33EB8129C}" type="slidenum">
              <a:rPr lang="zh-CN" altLang="en-US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94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95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455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78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D6430B5-DDAD-4E50-BE7B-5199909B08B7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1925" y="766763"/>
            <a:ext cx="6810375" cy="3830637"/>
          </a:xfrm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8055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933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70255" indent="-295275" defTabSz="98933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6180" indent="-236855" defTabSz="98933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855" defTabSz="98933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855" defTabSz="98933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855" defTabSz="98933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855" defTabSz="98933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855" defTabSz="98933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855" defTabSz="98933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625E1FF-8650-42A5-A0A8-E2FFF152D5AF}" type="slidenum">
              <a:rPr lang="zh-CN" altLang="en-US" sz="1300" smtClean="0">
                <a:solidFill>
                  <a:srgbClr val="000000"/>
                </a:solidFill>
              </a:rPr>
            </a:fld>
            <a:endParaRPr lang="en-US" altLang="zh-CN" sz="13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35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E37D146-CD33-4DC9-87AE-50E68A90621B}" type="slidenum">
              <a:rPr lang="zh-CN" altLang="en-US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1925" y="766763"/>
            <a:ext cx="6810375" cy="3830637"/>
          </a:xfrm>
        </p:spPr>
      </p:sp>
      <p:sp>
        <p:nvSpPr>
          <p:cNvPr id="2969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8055"/>
            <a:endParaRPr lang="zh-CN" altLang="en-US" sz="1100" dirty="0">
              <a:latin typeface="Arial" panose="020B0604020202020204" pitchFamily="34" charset="0"/>
            </a:endParaRPr>
          </a:p>
        </p:txBody>
      </p:sp>
      <p:sp>
        <p:nvSpPr>
          <p:cNvPr id="297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123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70255" indent="-295275" defTabSz="95123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6180" indent="-236855" defTabSz="95123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855" defTabSz="95123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855" defTabSz="95123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855" defTabSz="95123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855" defTabSz="95123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855" defTabSz="95123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855" defTabSz="95123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4EFE16B-F728-4FB9-B397-E7F17F0888C8}" type="slidenum">
              <a:rPr lang="zh-CN" altLang="en-US" sz="1300" smtClean="0"/>
            </a:fld>
            <a:endParaRPr lang="en-US" altLang="zh-CN" sz="13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0E3C24-2152-4D31-BDD7-B771E06B4B2B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95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455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78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5DEBEA3-CBCA-47A9-9CA2-585478C00601}" type="slidenum">
              <a:rPr lang="zh-CN" altLang="en-US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36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686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95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455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78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8BE5C1C-9E1F-4D4B-8E5D-A13F45A49280}" type="slidenum">
              <a:rPr lang="zh-CN" altLang="en-US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891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89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95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455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78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BC4CB08-C424-44FB-A13A-035B240788E7}" type="slidenum">
              <a:rPr lang="zh-CN" altLang="en-US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 eaLnBrk="1" hangingPunct="1"/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301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30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95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455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78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92FDD47-22A9-486B-939B-559DDA29B6F2}" type="slidenum">
              <a:rPr lang="zh-CN" altLang="en-US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505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50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95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455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78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0FB93FF-B4F8-44FA-9312-17C26C161A76}" type="slidenum">
              <a:rPr lang="zh-CN" altLang="en-US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710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71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95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455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78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62BA28C-6E47-482E-AEA9-666C6F747413}" type="slidenum">
              <a:rPr lang="zh-CN" altLang="en-US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91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95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455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78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AE8CBFC-1B06-411D-BD61-04E42FCAC5EF}" type="slidenum">
              <a:rPr lang="zh-CN" altLang="en-US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 eaLnBrk="1" hangingPunct="1"/>
            <a:endParaRPr lang="en-US" altLang="zh-CN" sz="2700" b="1"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734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95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455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78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5102826-0C43-4799-AAF4-3F4853FC25A2}" type="slidenum">
              <a:rPr lang="zh-CN" altLang="en-US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39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939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95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455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78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2273F2E-116A-4BE6-8E86-F92CB6B035C6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>
          <a:xfrm>
            <a:off x="676275" y="4722813"/>
            <a:ext cx="5408613" cy="4475162"/>
          </a:xfrm>
        </p:spPr>
        <p:txBody>
          <a:bodyPr wrap="square" lIns="91807" tIns="45904" rIns="91807" bIns="45904" anchor="t" anchorCtr="0"/>
          <a:lstStyle/>
          <a:p>
            <a:pPr lvl="0"/>
            <a:endParaRPr lang="zh-CN" altLang="en-US" dirty="0"/>
          </a:p>
        </p:txBody>
      </p:sp>
      <p:sp>
        <p:nvSpPr>
          <p:cNvPr id="4403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lIns="91807" tIns="45904" rIns="91807" bIns="45904" anchor="b" anchorCtr="0"/>
          <a:lstStyle/>
          <a:p>
            <a:pPr lvl="0" algn="r" defTabSz="916305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lIns="91807" tIns="45904" rIns="91807" bIns="45904" anchor="b" anchorCtr="0"/>
          <a:lstStyle/>
          <a:p>
            <a:pPr lvl="0" algn="r" defTabSz="916305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  <p:sp>
        <p:nvSpPr>
          <p:cNvPr id="4813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wrap="square" lIns="91807" tIns="45904" rIns="91807" bIns="45904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75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b="1" dirty="0"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675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95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455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78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73EC130-48BC-47DC-9150-2541A4D51CAD}" type="slidenum">
              <a:rPr lang="zh-CN" altLang="en-US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963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963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95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455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78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A0A0087-5E0D-4440-B226-37B1ACBD55A2}" type="slidenum">
              <a:rPr lang="zh-CN" altLang="en-US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168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95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455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78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248DAF1-2463-4514-A56E-EF48F53D79E2}" type="slidenum">
              <a:rPr lang="zh-CN" altLang="en-US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373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37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95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455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78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18EC25B-5C53-4853-80FD-C70841E23DF1}" type="slidenum">
              <a:rPr lang="zh-CN" altLang="en-US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451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578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95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455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78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9BBAF5A-FCD9-4EB3-ABF1-B4E60D398AA8}" type="slidenum">
              <a:rPr lang="zh-CN" altLang="en-US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782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78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95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455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78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2706464-E9C3-4D4A-B7BC-57D1A7A3441C}" type="slidenum">
              <a:rPr lang="zh-CN" altLang="en-US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64160" indent="-264160" eaLnBrk="1" fontAlgn="auto" hangingPunct="1">
              <a:spcBef>
                <a:spcPct val="200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endParaRPr lang="zh-CN" altLang="en-US" dirty="0"/>
          </a:p>
        </p:txBody>
      </p:sp>
      <p:sp>
        <p:nvSpPr>
          <p:cNvPr id="7987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95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455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78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3FCCD97-FF50-4C7F-A358-A5859CEADC96}" type="slidenum">
              <a:rPr lang="zh-CN" altLang="en-US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2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19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95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455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78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52F9D69-B88F-47B9-BD4F-2B511675920C}" type="slidenum">
              <a:rPr lang="zh-CN" altLang="en-US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806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8806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95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455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78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DA6A6AB-125A-4483-9352-A3375D0FC58B}" type="slidenum">
              <a:rPr lang="zh-CN" altLang="en-US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011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879475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01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95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455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78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E914108-0F81-4B9B-A847-0DCD4EB22B80}" type="slidenum">
              <a:rPr lang="zh-CN" altLang="en-US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601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602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95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455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78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5F89BB8-DA28-49EE-87EB-7F460521CF6B}" type="slidenum">
              <a:rPr lang="zh-CN" altLang="en-US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397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39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95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455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78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AD0896E-5531-4BB9-B763-DC51B501CA53}" type="slidenum">
              <a:rPr lang="zh-CN" altLang="en-US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680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21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95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455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78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130E127-0763-43D4-A421-ECC76BEDADBA}" type="slidenum">
              <a:rPr lang="zh-CN" altLang="en-US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421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42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95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455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78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23E42CF-FC09-4BB0-80E4-D9B33EB8129C}" type="slidenum">
              <a:rPr lang="zh-CN" altLang="en-US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962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95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455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78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825CF65-B535-441E-B320-6BFA67EF6921}" type="slidenum">
              <a:rPr lang="zh-CN" altLang="en-US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95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455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78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05DCC61-37F4-43A5-A183-6D566121AD74}" type="slidenum"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z="130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03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03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95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455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78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07B9422-6EB6-42D7-A5F7-EEB54D81F21B}" type="slidenum">
              <a:rPr lang="zh-CN" altLang="en-US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4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44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95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455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78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1D23B4E-353C-4EC0-ACDD-934B074B9D82}" type="slidenum">
              <a:rPr lang="zh-CN" altLang="en-US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4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44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95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455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78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1D23B4E-353C-4EC0-ACDD-934B074B9D82}" type="slidenum">
              <a:rPr lang="zh-CN" altLang="en-US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649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65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95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455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78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AD8050F-DFA9-4664-A6F5-3AA817E1445D}" type="slidenum">
              <a:rPr lang="zh-CN" altLang="en-US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854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854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95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455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78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6BE33FB-F752-4CF9-9EC2-0AF7748E6C9F}" type="slidenum">
              <a:rPr lang="zh-CN" altLang="en-US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 txBox="1">
            <a:spLocks noGrp="1" noChangeArrowheads="1"/>
          </p:cNvSpPr>
          <p:nvPr/>
        </p:nvSpPr>
        <p:spPr bwMode="auto">
          <a:xfrm>
            <a:off x="3846513" y="9428163"/>
            <a:ext cx="2944812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800" tIns="45901" rIns="91800" bIns="45901" anchor="b"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57EAFFCF-E13A-4E83-B6F8-05B4A84015AD}" type="slidenum">
              <a:rPr lang="zh-CN" altLang="en-US" sz="1300">
                <a:latin typeface="Arial" panose="020B0604020202020204" pitchFamily="34" charset="0"/>
              </a:rPr>
            </a:fld>
            <a:endParaRPr lang="en-US" altLang="zh-CN" sz="1300">
              <a:latin typeface="Arial" panose="020B0604020202020204" pitchFamily="34" charset="0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981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198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95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455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78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BAAB952-46D3-4409-8258-4665B024C773}" type="slidenum">
              <a:rPr lang="zh-CN" altLang="en-US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697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2698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95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455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78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05F7EBD-4DF0-4DC3-8E51-33665585F605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902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1290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95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455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78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A7E615E-6CA5-4201-809D-0935A470FBC7}" type="slidenum">
              <a:rPr lang="zh-CN" altLang="en-US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107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3107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95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455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78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F2C6826-3F53-473C-9B5A-3DCF3354F2EF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312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331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95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455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78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9D971F7-396A-425D-83C4-7B3ACF12B6AC}" type="slidenum">
              <a:rPr lang="zh-CN" altLang="en-US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107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3107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95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455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78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F2C6826-3F53-473C-9B5A-3DCF3354F2EF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517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351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95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455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78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3FFC70B-2733-42BA-85DA-293A91337081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421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42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95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455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78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23E42CF-FC09-4BB0-80E4-D9B33EB8129C}" type="slidenum">
              <a:rPr lang="zh-CN" altLang="en-US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721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3722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95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455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78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82E77D0-2D9B-4759-B732-0F011DD2C79B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161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3926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95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455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78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7733009-671B-455D-9CC2-A59CCCF6DD20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161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423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95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455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78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9DB82D4-5A3E-4871-B5EC-A4D5D694E855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4387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44388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096D749-D1B0-4C46-969B-103BBF072ACA}" type="slidenum">
              <a:rPr lang="zh-CN" altLang="en-US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0E3C24-2152-4D31-BDD7-B771E06B4B2B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643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4643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95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455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78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EDABF5B-0E0D-4EEB-B152-4292E2D6E4EE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366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4848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95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455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78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F973652-3313-4737-B865-ABC3120997AA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</p:spPr>
      </p:sp>
      <p:sp>
        <p:nvSpPr>
          <p:cNvPr id="11673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kumimoji="1" lang="zh-CN" altLang="en-US" dirty="0">
              <a:latin typeface="Arial" panose="020B0604020202020204" pitchFamily="34" charset="0"/>
            </a:endParaRPr>
          </a:p>
        </p:txBody>
      </p:sp>
      <p:sp>
        <p:nvSpPr>
          <p:cNvPr id="11674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89965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70890" indent="-296545" defTabSz="989965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6180" indent="-237490" defTabSz="989965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7490" defTabSz="989965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4870" indent="-237490" defTabSz="989965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609215" indent="-237490" defTabSz="98996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83560" indent="-237490" defTabSz="98996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58540" indent="-237490" defTabSz="98996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4032885" indent="-237490" defTabSz="98996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CF6401E-EA17-4D07-B855-28725AEF3B1F}" type="slidenum">
              <a:rPr lang="zh-CN" altLang="en-US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360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5360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14375" indent="-27495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00455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54178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1981200" indent="-219075" defTabSz="91630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4384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8956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3528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10000" indent="-219075" defTabSz="9163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4FCC82-688C-4506-8903-353C4ACAB25A}" type="slidenum">
              <a:rPr lang="zh-CN" altLang="en-US" smtClean="0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5"/>
          <p:cNvSpPr/>
          <p:nvPr/>
        </p:nvSpPr>
        <p:spPr>
          <a:xfrm>
            <a:off x="228600" y="171450"/>
            <a:ext cx="8696325" cy="452755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  <p:grpSp>
        <p:nvGrpSpPr>
          <p:cNvPr id="5" name="Group 9"/>
          <p:cNvGrpSpPr>
            <a:grpSpLocks noChangeAspect="1"/>
          </p:cNvGrpSpPr>
          <p:nvPr/>
        </p:nvGrpSpPr>
        <p:grpSpPr bwMode="auto">
          <a:xfrm>
            <a:off x="211138" y="4016375"/>
            <a:ext cx="8723312" cy="996950"/>
            <a:chOff x="-3905250" y="4294188"/>
            <a:chExt cx="13011150" cy="1892300"/>
          </a:xfrm>
        </p:grpSpPr>
        <p:sp>
          <p:nvSpPr>
            <p:cNvPr id="6" name="Freeform 14"/>
            <p:cNvSpPr/>
            <p:nvPr/>
          </p:nvSpPr>
          <p:spPr bwMode="hidden">
            <a:xfrm>
              <a:off x="4810681" y="4499087"/>
              <a:ext cx="4295219" cy="1018467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18"/>
            <p:cNvSpPr/>
            <p:nvPr/>
          </p:nvSpPr>
          <p:spPr bwMode="hidden">
            <a:xfrm>
              <a:off x="-308538" y="4318294"/>
              <a:ext cx="8280254" cy="1208301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22"/>
            <p:cNvSpPr/>
            <p:nvPr/>
          </p:nvSpPr>
          <p:spPr bwMode="hidden">
            <a:xfrm>
              <a:off x="4014" y="4336373"/>
              <a:ext cx="8164231" cy="1099825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26"/>
            <p:cNvSpPr/>
            <p:nvPr/>
          </p:nvSpPr>
          <p:spPr bwMode="hidden">
            <a:xfrm>
              <a:off x="4157164" y="4315281"/>
              <a:ext cx="4939265" cy="928071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0" name="Freeform 10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1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5"/>
          <p:cNvSpPr/>
          <p:nvPr/>
        </p:nvSpPr>
        <p:spPr>
          <a:xfrm>
            <a:off x="228600" y="171450"/>
            <a:ext cx="8696325" cy="4525963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  <p:grpSp>
        <p:nvGrpSpPr>
          <p:cNvPr id="5" name="Group 9"/>
          <p:cNvGrpSpPr>
            <a:grpSpLocks noChangeAspect="1"/>
          </p:cNvGrpSpPr>
          <p:nvPr/>
        </p:nvGrpSpPr>
        <p:grpSpPr bwMode="auto">
          <a:xfrm>
            <a:off x="211138" y="4014788"/>
            <a:ext cx="8723312" cy="1000125"/>
            <a:chOff x="-3905250" y="4294188"/>
            <a:chExt cx="13011150" cy="1892300"/>
          </a:xfrm>
        </p:grpSpPr>
        <p:sp>
          <p:nvSpPr>
            <p:cNvPr id="6" name="Freeform 14"/>
            <p:cNvSpPr/>
            <p:nvPr/>
          </p:nvSpPr>
          <p:spPr bwMode="hidden">
            <a:xfrm>
              <a:off x="4810681" y="4501439"/>
              <a:ext cx="4295219" cy="1015234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18"/>
            <p:cNvSpPr/>
            <p:nvPr/>
          </p:nvSpPr>
          <p:spPr bwMode="hidden">
            <a:xfrm>
              <a:off x="-308538" y="4318217"/>
              <a:ext cx="8280254" cy="1210470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22"/>
            <p:cNvSpPr/>
            <p:nvPr/>
          </p:nvSpPr>
          <p:spPr bwMode="hidden">
            <a:xfrm>
              <a:off x="4014" y="4336239"/>
              <a:ext cx="8164231" cy="1102339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26"/>
            <p:cNvSpPr/>
            <p:nvPr/>
          </p:nvSpPr>
          <p:spPr bwMode="hidden">
            <a:xfrm>
              <a:off x="4157164" y="4315213"/>
              <a:ext cx="4939265" cy="928129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0" name="Freeform 10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65CF97-62E6-480B-A9AF-79A100C4C5A1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5BCDCA-3AC2-46C0-BA59-9EEAE3EC68E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9D4E3C-D9DC-4539-B7D0-11756B25A54D}" type="datetime1">
              <a:rPr lang="zh-CN" altLang="en-US"/>
            </a:fld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8F58F3-B09D-4175-9306-FA85BA20A850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5"/>
          <p:cNvSpPr/>
          <p:nvPr/>
        </p:nvSpPr>
        <p:spPr>
          <a:xfrm>
            <a:off x="228600" y="171450"/>
            <a:ext cx="8696325" cy="4525963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5" name="Group 9"/>
          <p:cNvGrpSpPr>
            <a:grpSpLocks noChangeAspect="1"/>
          </p:cNvGrpSpPr>
          <p:nvPr/>
        </p:nvGrpSpPr>
        <p:grpSpPr bwMode="auto">
          <a:xfrm>
            <a:off x="211138" y="4014788"/>
            <a:ext cx="8723312" cy="1000125"/>
            <a:chOff x="-3905250" y="4294188"/>
            <a:chExt cx="13011150" cy="1892300"/>
          </a:xfrm>
        </p:grpSpPr>
        <p:sp>
          <p:nvSpPr>
            <p:cNvPr id="6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0" name="Freeform 10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D53DEAC0-6F84-42D2-A1C3-B9762245C724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0D1C320E-B1D2-405F-A866-41C5EF972D0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9A5225-ABFE-4E35-99D5-E9ED972F1F5C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5"/>
          <p:cNvSpPr/>
          <p:nvPr/>
        </p:nvSpPr>
        <p:spPr>
          <a:xfrm>
            <a:off x="228600" y="171450"/>
            <a:ext cx="8696325" cy="4525963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5" name="Group 9"/>
          <p:cNvGrpSpPr>
            <a:grpSpLocks noChangeAspect="1"/>
          </p:cNvGrpSpPr>
          <p:nvPr/>
        </p:nvGrpSpPr>
        <p:grpSpPr bwMode="auto">
          <a:xfrm>
            <a:off x="211138" y="4014788"/>
            <a:ext cx="8723312" cy="1000125"/>
            <a:chOff x="-3905250" y="4294188"/>
            <a:chExt cx="13011150" cy="1892300"/>
          </a:xfrm>
        </p:grpSpPr>
        <p:sp>
          <p:nvSpPr>
            <p:cNvPr id="6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0" name="Freeform 10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700E602A-2268-4505-87C3-14E8A234ECD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20"/>
          <p:cNvGrpSpPr/>
          <p:nvPr userDrawn="1"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1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6" name="五边形 1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576" y="1027517"/>
            <a:ext cx="7416824" cy="3225800"/>
          </a:xfrm>
        </p:spPr>
        <p:txBody>
          <a:bodyPr/>
          <a:lstStyle>
            <a:lvl1pPr marL="273050" indent="-273050">
              <a:buClrTx/>
              <a:buFont typeface="Wingdings" panose="05000000000000000000" pitchFamily="2" charset="2"/>
              <a:buChar char="Ø"/>
              <a:defRPr b="1" baseline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6580" indent="-273050">
              <a:buClrTx/>
              <a:buFont typeface="Wingdings" panose="05000000000000000000" pitchFamily="2" charset="2"/>
              <a:buChar char="Ø"/>
              <a:defRPr b="1" baseline="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55980" indent="-228600">
              <a:buClrTx/>
              <a:buFont typeface="Wingdings" panose="05000000000000000000" pitchFamily="2" charset="2"/>
              <a:buChar char="Ø"/>
              <a:defRPr b="1" baseline="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143000" indent="-228600">
              <a:buClrTx/>
              <a:buFont typeface="Wingdings" panose="05000000000000000000" pitchFamily="2" charset="2"/>
              <a:buChar char="Ø"/>
              <a:defRPr b="1" baseline="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462405" indent="-228600">
              <a:buClrTx/>
              <a:buFont typeface="Wingdings" panose="05000000000000000000" pitchFamily="2" charset="2"/>
              <a:buChar char="Ø"/>
              <a:defRPr b="1" baseline="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>
            <a:lvl1pPr algn="l">
              <a:defRPr sz="3000" b="1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7EA77EC0-9144-427B-95D2-AABCB5CA2B04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5D814A-2EC7-4F66-87DB-56412EDB48D6}" type="datetime1">
              <a:rPr lang="zh-CN" altLang="en-US"/>
            </a:fld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6B44DC-469B-436F-94EC-A489F59C8B16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4" Type="http://schemas.openxmlformats.org/officeDocument/2006/relationships/theme" Target="../theme/theme4.xml"/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171450"/>
            <a:ext cx="8696325" cy="1392238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  <p:grpSp>
        <p:nvGrpSpPr>
          <p:cNvPr id="1027" name="Group 15"/>
          <p:cNvGrpSpPr>
            <a:grpSpLocks noChangeAspect="1"/>
          </p:cNvGrpSpPr>
          <p:nvPr/>
        </p:nvGrpSpPr>
        <p:grpSpPr bwMode="auto">
          <a:xfrm>
            <a:off x="211138" y="987425"/>
            <a:ext cx="8723312" cy="647700"/>
            <a:chOff x="-3905251" y="4294188"/>
            <a:chExt cx="13027839" cy="1892300"/>
          </a:xfrm>
        </p:grpSpPr>
        <p:sp>
          <p:nvSpPr>
            <p:cNvPr id="1030" name="Freeform 14"/>
            <p:cNvSpPr/>
            <p:nvPr/>
          </p:nvSpPr>
          <p:spPr bwMode="hidden">
            <a:xfrm>
              <a:off x="4810006" y="4498260"/>
              <a:ext cx="4295986" cy="1020358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" name="Freeform 18"/>
            <p:cNvSpPr/>
            <p:nvPr/>
          </p:nvSpPr>
          <p:spPr bwMode="hidden">
            <a:xfrm>
              <a:off x="-308667" y="4317379"/>
              <a:ext cx="8279020" cy="1210514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" name="Freeform 22"/>
            <p:cNvSpPr/>
            <p:nvPr/>
          </p:nvSpPr>
          <p:spPr bwMode="hidden">
            <a:xfrm>
              <a:off x="4286" y="4335931"/>
              <a:ext cx="8165219" cy="1099202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" name="Freeform 26"/>
            <p:cNvSpPr/>
            <p:nvPr/>
          </p:nvSpPr>
          <p:spPr bwMode="hidden">
            <a:xfrm>
              <a:off x="4155651" y="4317379"/>
              <a:ext cx="4940859" cy="927598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034" name="Freeform 10"/>
            <p:cNvSpPr/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2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54000"/>
            <a:ext cx="822960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50825" y="1347788"/>
            <a:ext cx="5976938" cy="324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anose="020E0502030303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anose="020E0502030303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anose="020E0502030303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anose="020E0502030303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58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98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405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171450"/>
            <a:ext cx="8696325" cy="1404938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  <p:grpSp>
        <p:nvGrpSpPr>
          <p:cNvPr id="2051" name="Group 15"/>
          <p:cNvGrpSpPr>
            <a:grpSpLocks noChangeAspect="1"/>
          </p:cNvGrpSpPr>
          <p:nvPr/>
        </p:nvGrpSpPr>
        <p:grpSpPr bwMode="auto">
          <a:xfrm>
            <a:off x="211138" y="1058863"/>
            <a:ext cx="8824912" cy="576262"/>
            <a:chOff x="-3905251" y="4294188"/>
            <a:chExt cx="13027839" cy="1892300"/>
          </a:xfrm>
        </p:grpSpPr>
        <p:sp>
          <p:nvSpPr>
            <p:cNvPr id="2057" name="Freeform 14"/>
            <p:cNvSpPr/>
            <p:nvPr/>
          </p:nvSpPr>
          <p:spPr bwMode="hidden">
            <a:xfrm>
              <a:off x="4810441" y="4502706"/>
              <a:ext cx="4295743" cy="1011313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" name="Freeform 18"/>
            <p:cNvSpPr/>
            <p:nvPr/>
          </p:nvSpPr>
          <p:spPr bwMode="hidden">
            <a:xfrm>
              <a:off x="-310233" y="4320251"/>
              <a:ext cx="8282134" cy="120940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" name="Freeform 22"/>
            <p:cNvSpPr/>
            <p:nvPr/>
          </p:nvSpPr>
          <p:spPr bwMode="hidden">
            <a:xfrm>
              <a:off x="3804" y="4335892"/>
              <a:ext cx="8164957" cy="1099931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0" name="Freeform 26"/>
            <p:cNvSpPr/>
            <p:nvPr/>
          </p:nvSpPr>
          <p:spPr bwMode="hidden">
            <a:xfrm>
              <a:off x="4156589" y="4315040"/>
              <a:ext cx="4940221" cy="927905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2061" name="Freeform 10"/>
            <p:cNvSpPr/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52" name="Title Placeholder 1"/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5A95BB01-94BC-4AA0-A137-1EBBCE6C5E9A}" type="slidenum">
              <a:rPr lang="zh-CN" altLang="en-US"/>
            </a:fld>
            <a:endParaRPr lang="en-US" altLang="zh-CN"/>
          </a:p>
        </p:txBody>
      </p:sp>
      <p:sp>
        <p:nvSpPr>
          <p:cNvPr id="205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58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98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405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171450"/>
            <a:ext cx="8696325" cy="1404938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3075" name="Group 15"/>
          <p:cNvGrpSpPr>
            <a:grpSpLocks noChangeAspect="1"/>
          </p:cNvGrpSpPr>
          <p:nvPr/>
        </p:nvGrpSpPr>
        <p:grpSpPr bwMode="auto">
          <a:xfrm>
            <a:off x="211138" y="1058863"/>
            <a:ext cx="8824912" cy="576262"/>
            <a:chOff x="-3905251" y="4294188"/>
            <a:chExt cx="13027839" cy="1892300"/>
          </a:xfrm>
        </p:grpSpPr>
        <p:sp>
          <p:nvSpPr>
            <p:cNvPr id="3081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2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3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4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3085" name="Freeform 10"/>
            <p:cNvSpPr/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076" name="Title Placeholder 1"/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1000">
                <a:solidFill>
                  <a:srgbClr val="073E87"/>
                </a:solidFill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000">
                <a:solidFill>
                  <a:srgbClr val="073E87"/>
                </a:solidFill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599A5225-ABFE-4E35-99D5-E9ED972F1F5C}" type="slidenum">
              <a:rPr lang="zh-CN" altLang="en-US"/>
            </a:fld>
            <a:endParaRPr lang="en-US" altLang="zh-CN"/>
          </a:p>
        </p:txBody>
      </p:sp>
      <p:sp>
        <p:nvSpPr>
          <p:cNvPr id="308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58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98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kern="1200">
          <a:solidFill>
            <a:schemeClr val="tx2"/>
          </a:solidFill>
          <a:latin typeface="+mn-lt"/>
          <a:ea typeface="+mn-ea"/>
          <a:cs typeface="+mn-cs"/>
        </a:defRPr>
      </a:lvl4pPr>
      <a:lvl5pPr marL="1462405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171450"/>
            <a:ext cx="8696325" cy="1404938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4099" name="Group 15"/>
          <p:cNvGrpSpPr>
            <a:grpSpLocks noChangeAspect="1"/>
          </p:cNvGrpSpPr>
          <p:nvPr/>
        </p:nvGrpSpPr>
        <p:grpSpPr bwMode="auto">
          <a:xfrm>
            <a:off x="211138" y="1058863"/>
            <a:ext cx="8824912" cy="576262"/>
            <a:chOff x="-3905251" y="4294188"/>
            <a:chExt cx="13027839" cy="1892300"/>
          </a:xfrm>
        </p:grpSpPr>
        <p:sp>
          <p:nvSpPr>
            <p:cNvPr id="4105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6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7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8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4109" name="Freeform 10"/>
            <p:cNvSpPr/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00" name="Title Placeholder 1"/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1000">
                <a:solidFill>
                  <a:srgbClr val="073E87"/>
                </a:solidFill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000">
                <a:solidFill>
                  <a:srgbClr val="073E87"/>
                </a:solidFill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D36910FC-8886-49DF-878B-A5DF8561DA03}" type="slidenum">
              <a:rPr lang="zh-CN" altLang="en-US"/>
            </a:fld>
            <a:endParaRPr lang="en-US" altLang="zh-CN"/>
          </a:p>
        </p:txBody>
      </p:sp>
      <p:sp>
        <p:nvSpPr>
          <p:cNvPr id="410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58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98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kern="1200">
          <a:solidFill>
            <a:schemeClr val="tx2"/>
          </a:solidFill>
          <a:latin typeface="+mn-lt"/>
          <a:ea typeface="+mn-ea"/>
          <a:cs typeface="+mn-cs"/>
        </a:defRPr>
      </a:lvl4pPr>
      <a:lvl5pPr marL="1462405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8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jpe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jpe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0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1.bin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1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3" descr="G:\QQ截图201607142012副本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51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4500563" y="1489075"/>
            <a:ext cx="3443287" cy="939800"/>
          </a:xfrm>
          <a:prstGeom prst="rect">
            <a:avLst/>
          </a:prstGeom>
        </p:spPr>
        <p:txBody>
          <a:bodyPr anchor="ctr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zh-CN" altLang="en-US" sz="24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第三章 </a:t>
            </a:r>
            <a:endParaRPr lang="en-US" altLang="zh-CN" sz="2400" spc="6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zh-CN" altLang="en-US" sz="35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词法分析</a:t>
            </a:r>
            <a:endParaRPr lang="en-US" altLang="zh-CN" sz="3500" spc="6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572000" y="2576513"/>
            <a:ext cx="3729038" cy="939800"/>
          </a:xfrm>
          <a:prstGeom prst="rect">
            <a:avLst/>
          </a:prstGeom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500" b="1" dirty="0">
                <a:solidFill>
                  <a:prstClr val="white"/>
                </a:solidFill>
                <a:latin typeface="Candara" panose="020E0502030303020204"/>
                <a:ea typeface="楷体" panose="02010609060101010101" pitchFamily="49" charset="-122"/>
              </a:rPr>
              <a:t> </a:t>
            </a:r>
            <a:r>
              <a:rPr lang="zh-CN" altLang="en-US" sz="2000" b="1" dirty="0">
                <a:solidFill>
                  <a:prstClr val="white"/>
                </a:solidFill>
                <a:latin typeface="Candara" panose="020E0502030303020204"/>
                <a:ea typeface="楷体" panose="02010609060101010101" pitchFamily="49" charset="-122"/>
              </a:rPr>
              <a:t>哈尔滨工业大学  陈鄞  单丽莉</a:t>
            </a:r>
            <a:endParaRPr lang="zh-CN" altLang="en-US" sz="2000" b="1" spc="6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5508625" y="984250"/>
            <a:ext cx="3143250" cy="441325"/>
          </a:xfrm>
          <a:prstGeom prst="rect">
            <a:avLst/>
          </a:prstGeom>
          <a:ln w="12700">
            <a:noFill/>
          </a:ln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000" spc="3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编译系统</a:t>
            </a:r>
            <a:endParaRPr lang="zh-CN" altLang="en-US" sz="800" spc="3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3.2.3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从正则表达式到有穷自动机</a:t>
            </a:r>
            <a:endParaRPr lang="zh-CN" altLang="en-US" sz="3000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964299" y="2154635"/>
            <a:ext cx="865188" cy="3984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RE</a:t>
            </a:r>
            <a:endParaRPr lang="zh-CN" altLang="en-US" sz="2500" b="1" i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6244324" y="2154635"/>
            <a:ext cx="863600" cy="4000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DFA</a:t>
            </a:r>
            <a:endParaRPr lang="zh-CN" altLang="en-US" sz="2500" b="1" i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</a:endParaRPr>
          </a:p>
        </p:txBody>
      </p:sp>
      <p:sp>
        <p:nvSpPr>
          <p:cNvPr id="74757" name="矩形 8"/>
          <p:cNvSpPr>
            <a:spLocks noChangeArrowheads="1"/>
          </p:cNvSpPr>
          <p:nvPr/>
        </p:nvSpPr>
        <p:spPr bwMode="auto">
          <a:xfrm>
            <a:off x="338824" y="2653110"/>
            <a:ext cx="1693863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spcBef>
                <a:spcPct val="30000"/>
              </a:spcBef>
            </a:pPr>
            <a:r>
              <a:rPr lang="en-US" altLang="zh-CN" sz="2200" b="1" i="1">
                <a:latin typeface="Times New Roman" panose="02020603050405020304" pitchFamily="18" charset="0"/>
              </a:rPr>
              <a:t>r </a:t>
            </a:r>
            <a:r>
              <a:rPr lang="en-US" altLang="zh-CN" sz="2200" b="1">
                <a:latin typeface="Times New Roman" panose="02020603050405020304" pitchFamily="18" charset="0"/>
              </a:rPr>
              <a:t>= 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</a:rPr>
              <a:t>a|b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)*</a:t>
            </a: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</a:rPr>
              <a:t>abb</a:t>
            </a:r>
            <a:endParaRPr lang="en-US" altLang="zh-CN" sz="2200" b="1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13" name="直接箭头连接符 12"/>
          <p:cNvCxnSpPr>
            <a:stCxn id="4" idx="3"/>
            <a:endCxn id="8" idx="1"/>
          </p:cNvCxnSpPr>
          <p:nvPr/>
        </p:nvCxnSpPr>
        <p:spPr>
          <a:xfrm>
            <a:off x="1829487" y="2354660"/>
            <a:ext cx="441483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3191" name="组合 44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6" name="五边形 1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199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3" name="组合 6"/>
          <p:cNvGrpSpPr/>
          <p:nvPr/>
        </p:nvGrpSpPr>
        <p:grpSpPr bwMode="auto">
          <a:xfrm>
            <a:off x="1829486" y="1248766"/>
            <a:ext cx="4414837" cy="905868"/>
            <a:chOff x="1814171" y="1975456"/>
            <a:chExt cx="4415758" cy="905858"/>
          </a:xfrm>
        </p:grpSpPr>
        <p:sp>
          <p:nvSpPr>
            <p:cNvPr id="6" name="矩形 5"/>
            <p:cNvSpPr/>
            <p:nvPr/>
          </p:nvSpPr>
          <p:spPr bwMode="auto">
            <a:xfrm>
              <a:off x="3598730" y="1975456"/>
              <a:ext cx="1133576" cy="40004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CN" sz="28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ε</a:t>
              </a:r>
              <a:r>
                <a:rPr lang="en-US" altLang="zh-CN" sz="28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-</a:t>
              </a:r>
              <a:r>
                <a:rPr lang="en-US" altLang="zh-CN" sz="25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</a:rPr>
                <a:t>NFA</a:t>
              </a:r>
              <a:endParaRPr lang="zh-CN" altLang="en-US" sz="25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endParaRPr>
            </a:p>
          </p:txBody>
        </p:sp>
        <p:cxnSp>
          <p:nvCxnSpPr>
            <p:cNvPr id="19" name="直接箭头连接符 18"/>
            <p:cNvCxnSpPr>
              <a:endCxn id="6" idx="1"/>
            </p:cNvCxnSpPr>
            <p:nvPr/>
          </p:nvCxnSpPr>
          <p:spPr>
            <a:xfrm flipV="1">
              <a:off x="1814171" y="2175479"/>
              <a:ext cx="1784559" cy="705835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>
              <a:stCxn id="6" idx="3"/>
            </p:cNvCxnSpPr>
            <p:nvPr/>
          </p:nvCxnSpPr>
          <p:spPr>
            <a:xfrm>
              <a:off x="4732307" y="2175480"/>
              <a:ext cx="1497622" cy="705834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>
          <a:xfrm rot="20313018">
            <a:off x="1702128" y="1476204"/>
            <a:ext cx="17011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Thompson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算法</a:t>
            </a:r>
            <a:endParaRPr lang="zh-CN" alt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 rot="1443111">
            <a:off x="4760310" y="1393132"/>
            <a:ext cx="13468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Helvetica Neue"/>
              </a:rPr>
              <a:t>子集构造法</a:t>
            </a:r>
            <a:endParaRPr lang="zh-CN" altLang="en-US" dirty="0">
              <a:solidFill>
                <a:srgbClr val="0070C0"/>
              </a:solidFill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080969" y="2554685"/>
            <a:ext cx="3379463" cy="1693981"/>
            <a:chOff x="4979675" y="2266652"/>
            <a:chExt cx="3379463" cy="1693981"/>
          </a:xfrm>
        </p:grpSpPr>
        <p:sp>
          <p:nvSpPr>
            <p:cNvPr id="18" name="矩形 17"/>
            <p:cNvSpPr/>
            <p:nvPr/>
          </p:nvSpPr>
          <p:spPr bwMode="auto">
            <a:xfrm>
              <a:off x="5571566" y="3454914"/>
              <a:ext cx="2016224" cy="505719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zh-CN" altLang="en-US" sz="25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</a:rPr>
                <a:t>最小化</a:t>
              </a:r>
              <a:r>
                <a:rPr lang="en-US" altLang="zh-CN" sz="25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</a:rPr>
                <a:t>DFA</a:t>
              </a:r>
              <a:endParaRPr lang="zh-CN" altLang="en-US" sz="25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endParaRPr>
            </a:p>
          </p:txBody>
        </p:sp>
        <p:cxnSp>
          <p:nvCxnSpPr>
            <p:cNvPr id="7" name="直接箭头连接符 6"/>
            <p:cNvCxnSpPr>
              <a:stCxn id="8" idx="2"/>
              <a:endCxn id="18" idx="0"/>
            </p:cNvCxnSpPr>
            <p:nvPr/>
          </p:nvCxnSpPr>
          <p:spPr>
            <a:xfrm>
              <a:off x="6574830" y="2266652"/>
              <a:ext cx="4848" cy="118826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矩形 21"/>
            <p:cNvSpPr/>
            <p:nvPr/>
          </p:nvSpPr>
          <p:spPr>
            <a:xfrm>
              <a:off x="4979675" y="2784435"/>
              <a:ext cx="3379463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Hopcroft</a:t>
              </a: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算法：</a:t>
              </a:r>
              <a:r>
                <a: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DFA</a:t>
              </a: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状态最小化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6048589" y="1610679"/>
            <a:ext cx="1584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单词的识别</a:t>
            </a:r>
            <a:endParaRPr lang="zh-CN" altLang="en-US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04805" y="3138135"/>
            <a:ext cx="1584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单词的描述</a:t>
            </a:r>
            <a:endParaRPr lang="zh-CN" altLang="en-US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74757" grpId="0"/>
      <p:bldP spid="2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9144000" cy="1500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18435" name="矩形 7"/>
          <p:cNvSpPr>
            <a:spLocks noChangeArrowheads="1"/>
          </p:cNvSpPr>
          <p:nvPr/>
        </p:nvSpPr>
        <p:spPr bwMode="auto">
          <a:xfrm>
            <a:off x="4500563" y="1357313"/>
            <a:ext cx="4357687" cy="2144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en-US" altLang="zh-CN" sz="2500" b="1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2500" b="1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单词的描述</a:t>
            </a:r>
            <a:endParaRPr lang="zh-CN" altLang="en-US" sz="2500" b="1" dirty="0">
              <a:solidFill>
                <a:srgbClr val="2D83F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ts val="4000"/>
              </a:lnSpc>
            </a:pPr>
            <a:r>
              <a:rPr lang="en-US" altLang="zh-CN" sz="2500" b="1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2500" b="1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单词的识别</a:t>
            </a:r>
            <a:endParaRPr lang="zh-CN" altLang="en-US" sz="2500" b="1" dirty="0">
              <a:solidFill>
                <a:srgbClr val="2D83F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ts val="4000"/>
              </a:lnSpc>
            </a:pPr>
            <a:r>
              <a:rPr lang="en-US" altLang="zh-CN" sz="2500" b="1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500" b="1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词法分析阶段的错误处理</a:t>
            </a:r>
            <a:endParaRPr lang="zh-CN" altLang="en-US" sz="2500" b="1" dirty="0">
              <a:solidFill>
                <a:srgbClr val="2D83F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ts val="4000"/>
              </a:lnSpc>
            </a:pPr>
            <a:r>
              <a:rPr lang="en-US" altLang="zh-CN" sz="2500" b="1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altLang="en-US" sz="2500" b="1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词法分析器生成工具</a:t>
            </a:r>
            <a:r>
              <a:rPr lang="en-US" altLang="zh-CN" sz="2500" b="1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Lex</a:t>
            </a:r>
            <a:endParaRPr lang="en-US" altLang="zh-CN" sz="2500" b="1" dirty="0">
              <a:solidFill>
                <a:srgbClr val="2D83F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436" name="Picture 7" descr="E:\工大编译\ppt\制作\0330e9c554c768200000158fc50d53d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38" r="21837"/>
          <a:stretch>
            <a:fillRect/>
          </a:stretch>
        </p:blipFill>
        <p:spPr bwMode="auto">
          <a:xfrm>
            <a:off x="-6350" y="0"/>
            <a:ext cx="429577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/>
          <p:cNvSpPr/>
          <p:nvPr/>
        </p:nvSpPr>
        <p:spPr>
          <a:xfrm>
            <a:off x="4143375" y="357188"/>
            <a:ext cx="2949575" cy="7858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b="1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本章内容</a:t>
            </a:r>
            <a:endParaRPr lang="zh-CN" altLang="en-US" sz="1600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图片 3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" b="1640"/>
          <a:stretch>
            <a:fillRect/>
          </a:stretch>
        </p:blipFill>
        <p:spPr bwMode="auto">
          <a:xfrm>
            <a:off x="5940425" y="-20637"/>
            <a:ext cx="2222500" cy="511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pc="300" dirty="0"/>
              <a:t>编译器的结构</a:t>
            </a:r>
            <a:endParaRPr lang="zh-CN" altLang="en-US" spc="300" dirty="0"/>
          </a:p>
        </p:txBody>
      </p:sp>
      <p:sp>
        <p:nvSpPr>
          <p:cNvPr id="19" name="五边形 18"/>
          <p:cNvSpPr/>
          <p:nvPr/>
        </p:nvSpPr>
        <p:spPr>
          <a:xfrm>
            <a:off x="0" y="195263"/>
            <a:ext cx="755650" cy="431800"/>
          </a:xfrm>
          <a:prstGeom prst="homePlate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0485" name="组合 20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22" name="五边形 21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3" name="五边形 22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20486" name="Rectangle 42"/>
          <p:cNvSpPr>
            <a:spLocks noChangeArrowheads="1"/>
          </p:cNvSpPr>
          <p:nvPr/>
        </p:nvSpPr>
        <p:spPr bwMode="auto">
          <a:xfrm>
            <a:off x="6067425" y="317500"/>
            <a:ext cx="1962150" cy="444500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solidFill>
                <a:srgbClr val="000099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55650" y="915670"/>
            <a:ext cx="4725035" cy="4171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ctr"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position  =   initial  +   rate  *  60;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956435" y="2284095"/>
            <a:ext cx="2494915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&lt;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标识符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position&gt;  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&lt;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&gt;   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&lt;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标识符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initial&gt; 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&lt;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&gt;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&lt;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标识符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rate&gt;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&lt;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*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&gt; 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&lt;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数值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60&gt; 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&lt;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&gt;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下箭头 3"/>
          <p:cNvSpPr/>
          <p:nvPr/>
        </p:nvSpPr>
        <p:spPr>
          <a:xfrm>
            <a:off x="2915920" y="1491615"/>
            <a:ext cx="575945" cy="648335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963" name="Rectangle 3"/>
          <p:cNvSpPr>
            <a:spLocks noGrp="1" noChangeArrowheads="1"/>
          </p:cNvSpPr>
          <p:nvPr>
            <p:ph idx="1"/>
          </p:nvPr>
        </p:nvSpPr>
        <p:spPr>
          <a:xfrm>
            <a:off x="455613" y="842963"/>
            <a:ext cx="8232775" cy="3840162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zh-CN" altLang="en-US" dirty="0"/>
              <a:t>任务：</a:t>
            </a:r>
            <a:endParaRPr lang="en-US" altLang="zh-CN" dirty="0"/>
          </a:p>
          <a:p>
            <a:pPr lvl="1">
              <a:defRPr/>
            </a:pPr>
            <a:r>
              <a:rPr lang="zh-CN" altLang="en-US" sz="2400" dirty="0"/>
              <a:t>从左到右扫描源程序，根据词法规则识别单词，并转换成统一表示的单词</a:t>
            </a:r>
            <a:r>
              <a:rPr lang="en-US" altLang="zh-CN" sz="2400" dirty="0"/>
              <a:t>(token)</a:t>
            </a:r>
            <a:r>
              <a:rPr lang="zh-CN" altLang="en-US" sz="2400" dirty="0"/>
              <a:t>串；同时，</a:t>
            </a:r>
            <a:endParaRPr lang="en-US" altLang="zh-CN" sz="2400" dirty="0"/>
          </a:p>
          <a:p>
            <a:pPr lvl="2">
              <a:defRPr/>
            </a:pPr>
            <a:r>
              <a:rPr lang="zh-CN" altLang="en-US" sz="2200" dirty="0"/>
              <a:t>删掉空格字符和注释；</a:t>
            </a:r>
            <a:endParaRPr lang="en-US" altLang="zh-CN" sz="2200" dirty="0"/>
          </a:p>
          <a:p>
            <a:pPr lvl="2">
              <a:defRPr/>
            </a:pPr>
            <a:r>
              <a:rPr lang="zh-CN" altLang="en-US" sz="2200" dirty="0"/>
              <a:t>对常数完成数字字符串到数值的转换；</a:t>
            </a:r>
            <a:endParaRPr lang="en-US" altLang="zh-CN" sz="2200" dirty="0"/>
          </a:p>
          <a:p>
            <a:pPr lvl="2">
              <a:defRPr/>
            </a:pPr>
            <a:r>
              <a:rPr lang="zh-CN" altLang="en-US" sz="2200" dirty="0"/>
              <a:t>检查词法错误，记录行号并报错；</a:t>
            </a:r>
            <a:endParaRPr lang="en-US" altLang="zh-CN" sz="2200" dirty="0"/>
          </a:p>
          <a:p>
            <a:pPr lvl="2">
              <a:defRPr/>
            </a:pPr>
            <a:r>
              <a:rPr lang="zh-CN" altLang="en-US" sz="2200" dirty="0"/>
              <a:t>错误恢复，以便继续进行词法分析；</a:t>
            </a:r>
            <a:endParaRPr lang="zh-CN" altLang="en-US" sz="2200" dirty="0"/>
          </a:p>
          <a:p>
            <a:pPr eaLnBrk="1" hangingPunct="1">
              <a:defRPr/>
            </a:pPr>
            <a:r>
              <a:rPr lang="zh-CN" altLang="en-US" dirty="0">
                <a:sym typeface="Wingdings" panose="05000000000000000000" pitchFamily="2" charset="2"/>
              </a:rPr>
              <a:t>输出：词法单元序列（</a:t>
            </a:r>
            <a:r>
              <a:rPr lang="en-US" altLang="zh-CN" dirty="0">
                <a:sym typeface="Wingdings" panose="05000000000000000000" pitchFamily="2" charset="2"/>
              </a:rPr>
              <a:t>token</a:t>
            </a:r>
            <a:r>
              <a:rPr lang="zh-CN" altLang="en-US" dirty="0">
                <a:sym typeface="Wingdings" panose="05000000000000000000" pitchFamily="2" charset="2"/>
              </a:rPr>
              <a:t>序列）</a:t>
            </a:r>
            <a:endParaRPr lang="en-US" altLang="zh-CN" dirty="0">
              <a:sym typeface="Wingdings" panose="05000000000000000000" pitchFamily="2" charset="2"/>
            </a:endParaRPr>
          </a:p>
          <a:p>
            <a:pPr marL="303530" lvl="1" indent="0">
              <a:defRPr/>
            </a:pPr>
            <a:r>
              <a:rPr lang="zh-CN" altLang="en-US" sz="2400" dirty="0">
                <a:sym typeface="Wingdings" panose="05000000000000000000" pitchFamily="2" charset="2"/>
              </a:rPr>
              <a:t>词法单元的表示：二元组 </a:t>
            </a:r>
            <a:r>
              <a:rPr lang="en-US" altLang="zh-CN" sz="2400" dirty="0">
                <a:sym typeface="Wingdings" panose="05000000000000000000" pitchFamily="2" charset="2"/>
              </a:rPr>
              <a:t>&lt;</a:t>
            </a:r>
            <a:r>
              <a:rPr lang="zh-CN" altLang="en-US" sz="2400" dirty="0">
                <a:sym typeface="Wingdings" panose="05000000000000000000" pitchFamily="2" charset="2"/>
              </a:rPr>
              <a:t>符号名字，属性值</a:t>
            </a:r>
            <a:r>
              <a:rPr lang="en-US" altLang="zh-CN" sz="2400" dirty="0">
                <a:sym typeface="Wingdings" panose="05000000000000000000" pitchFamily="2" charset="2"/>
              </a:rPr>
              <a:t>&gt;</a:t>
            </a:r>
            <a:endParaRPr lang="en-US" altLang="zh-CN" sz="2400" dirty="0">
              <a:sym typeface="Wingdings" panose="05000000000000000000" pitchFamily="2" charset="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>
          <a:ln>
            <a:miter lim="800000"/>
          </a:ln>
        </p:spPr>
        <p:txBody>
          <a:bodyPr anchor="t"/>
          <a:lstStyle/>
          <a:p>
            <a:pPr>
              <a:defRPr/>
            </a:pPr>
            <a:fld id="{E793D32B-EBE9-4452-BF07-110C4A462EAC}" type="datetime1">
              <a:rPr lang="zh-CN" altLang="en-US">
                <a:latin typeface="+mn-lt"/>
              </a:rPr>
            </a:fld>
            <a:endParaRPr lang="en-US" altLang="zh-CN" dirty="0">
              <a:latin typeface="+mn-lt"/>
            </a:endParaRPr>
          </a:p>
        </p:txBody>
      </p:sp>
      <p:sp>
        <p:nvSpPr>
          <p:cNvPr id="2662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1pPr>
            <a:lvl2pPr marL="557530" indent="-21463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1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18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15F0EAFD-5637-4147-9CF5-6F90787141ED}" type="slidenum">
              <a:rPr lang="en-US" altLang="zh-CN" sz="1050" b="0">
                <a:ea typeface="宋体" panose="02010600030101010101" pitchFamily="2" charset="-122"/>
              </a:rPr>
            </a:fld>
            <a:endParaRPr lang="en-US" altLang="zh-CN" sz="1050" b="0" dirty="0">
              <a:ea typeface="宋体" panose="02010600030101010101" pitchFamily="2" charset="-122"/>
            </a:endParaRPr>
          </a:p>
        </p:txBody>
      </p:sp>
      <p:grpSp>
        <p:nvGrpSpPr>
          <p:cNvPr id="22533" name="组合 6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9" name="五边形 8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6480175" cy="358775"/>
          </a:xfrm>
        </p:spPr>
        <p:txBody>
          <a:bodyPr/>
          <a:lstStyle/>
          <a:p>
            <a:pPr>
              <a:defRPr/>
            </a:pPr>
            <a:r>
              <a:rPr lang="zh-CN" altLang="en-US" spc="300" dirty="0">
                <a:latin typeface="Courier New" panose="02070309020205020404" pitchFamily="49" charset="0"/>
                <a:cs typeface="Courier New" panose="02070309020205020404" pitchFamily="49" charset="0"/>
              </a:rPr>
              <a:t>词法分析器</a:t>
            </a:r>
            <a:r>
              <a:rPr lang="en-US" altLang="zh-CN" dirty="0">
                <a:latin typeface="Courier New" panose="02070309020205020404" pitchFamily="49" charset="0"/>
                <a:ea typeface="楷体_GB2312" panose="02010609030101010101" pitchFamily="49" charset="-122"/>
                <a:cs typeface="Courier New" panose="02070309020205020404" pitchFamily="49" charset="0"/>
              </a:rPr>
              <a:t>(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Scanner</a:t>
            </a:r>
            <a:r>
              <a:rPr lang="en-US" altLang="zh-CN" dirty="0">
                <a:latin typeface="Courier New" panose="02070309020205020404" pitchFamily="49" charset="0"/>
                <a:ea typeface="楷体_GB2312" panose="02010609030101010101" pitchFamily="49" charset="-122"/>
                <a:cs typeface="Courier New" panose="02070309020205020404" pitchFamily="49" charset="0"/>
              </a:rPr>
              <a:t>)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36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36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36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36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36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36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36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36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696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/>
          <p:cNvSpPr>
            <a:spLocks noGrp="1"/>
          </p:cNvSpPr>
          <p:nvPr>
            <p:ph idx="1"/>
          </p:nvPr>
        </p:nvSpPr>
        <p:spPr>
          <a:xfrm>
            <a:off x="442913" y="714375"/>
            <a:ext cx="8272462" cy="3225800"/>
          </a:xfrm>
        </p:spPr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zh-CN" altLang="en-US" dirty="0"/>
              <a:t>词法单元 </a:t>
            </a:r>
            <a:r>
              <a:rPr lang="en-US" altLang="zh-CN" sz="2000" dirty="0"/>
              <a:t>token</a:t>
            </a:r>
            <a:r>
              <a:rPr lang="zh-CN" altLang="en-US" sz="2000" dirty="0"/>
              <a:t>：</a:t>
            </a:r>
            <a:endParaRPr lang="en-US" altLang="zh-CN" sz="2000" dirty="0"/>
          </a:p>
          <a:p>
            <a:pPr marL="0" indent="0" algn="ctr" eaLnBrk="1" hangingPunct="1"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C00000"/>
                </a:solidFill>
              </a:rPr>
              <a:t>&lt; </a:t>
            </a:r>
            <a:r>
              <a:rPr lang="zh-CN" altLang="en-US" sz="2000" dirty="0">
                <a:solidFill>
                  <a:srgbClr val="C00000"/>
                </a:solidFill>
              </a:rPr>
              <a:t>符号名字，属性值 </a:t>
            </a:r>
            <a:r>
              <a:rPr lang="en-US" altLang="zh-CN" sz="2000" dirty="0">
                <a:solidFill>
                  <a:srgbClr val="C00000"/>
                </a:solidFill>
              </a:rPr>
              <a:t>&gt;</a:t>
            </a:r>
            <a:endParaRPr lang="en-US" altLang="zh-CN" sz="2000" dirty="0">
              <a:solidFill>
                <a:srgbClr val="C00000"/>
              </a:solidFill>
            </a:endParaRPr>
          </a:p>
          <a:p>
            <a:pPr lvl="1">
              <a:buClr>
                <a:srgbClr val="3333CC"/>
              </a:buClr>
              <a:buFont typeface="Wingdings" panose="05000000000000000000" pitchFamily="2" charset="2"/>
              <a:buNone/>
            </a:pPr>
            <a:endParaRPr lang="en-US" altLang="zh-CN" sz="2000" dirty="0">
              <a:solidFill>
                <a:srgbClr val="000000"/>
              </a:solidFill>
            </a:endParaRPr>
          </a:p>
          <a:p>
            <a:pPr eaLnBrk="1" hangingPunct="1"/>
            <a:endParaRPr lang="zh-CN" altLang="en-US" sz="2800" dirty="0"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195264"/>
            <a:ext cx="7931150" cy="431800"/>
          </a:xfrm>
        </p:spPr>
        <p:txBody>
          <a:bodyPr>
            <a:noAutofit/>
          </a:bodyPr>
          <a:lstStyle/>
          <a:p>
            <a:pPr eaLnBrk="1" hangingPunct="1"/>
            <a:r>
              <a:rPr lang="zh-CN" altLang="en-US" dirty="0"/>
              <a:t>词法单元符号设计</a:t>
            </a:r>
            <a:endParaRPr lang="en-US" altLang="zh-CN" dirty="0"/>
          </a:p>
        </p:txBody>
      </p:sp>
      <p:graphicFrame>
        <p:nvGraphicFramePr>
          <p:cNvPr id="12" name="Group 18"/>
          <p:cNvGraphicFramePr>
            <a:graphicFrameLocks noGrp="1"/>
          </p:cNvGraphicFramePr>
          <p:nvPr/>
        </p:nvGraphicFramePr>
        <p:xfrm>
          <a:off x="441325" y="1512888"/>
          <a:ext cx="8161338" cy="3016250"/>
        </p:xfrm>
        <a:graphic>
          <a:graphicData uri="http://schemas.openxmlformats.org/drawingml/2006/table">
            <a:tbl>
              <a:tblPr/>
              <a:tblGrid>
                <a:gridCol w="386339"/>
                <a:gridCol w="1224056"/>
                <a:gridCol w="3312368"/>
                <a:gridCol w="1584176"/>
                <a:gridCol w="1654399"/>
              </a:tblGrid>
              <a:tr h="31100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0250" marR="100250" marT="37602" marB="37602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单词类型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0250" marR="100250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种别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0250" marR="100250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符号名字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0250" marR="100250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属性值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词法值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0250" marR="100250" marT="37602" marB="3760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1100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0250" marR="100250" marT="37602" marB="37602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关键字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0250" marR="100250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program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if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else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then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…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0250" marR="100250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zh-CN" altLang="zh-CN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楷体" panose="02010609060101010101" pitchFamily="49" charset="-122"/>
                          <a:cs typeface="Courier New" panose="02070309020205020404" pitchFamily="49" charset="0"/>
                        </a:rPr>
                        <a:t>一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楷体" panose="02010609060101010101" pitchFamily="49" charset="-122"/>
                          <a:cs typeface="Courier New" panose="02070309020205020404" pitchFamily="49" charset="0"/>
                        </a:rPr>
                        <a:t>词</a:t>
                      </a:r>
                      <a:r>
                        <a:rPr lang="zh-CN" altLang="zh-CN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楷体" panose="02010609060101010101" pitchFamily="49" charset="-122"/>
                          <a:cs typeface="Courier New" panose="02070309020205020404" pitchFamily="49" charset="0"/>
                        </a:rPr>
                        <a:t>一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楷体" panose="02010609060101010101" pitchFamily="49" charset="-122"/>
                          <a:cs typeface="Courier New" panose="02070309020205020404" pitchFamily="49" charset="0"/>
                        </a:rPr>
                        <a:t>符</a:t>
                      </a:r>
                      <a:endParaRPr lang="zh-CN" altLang="zh-CN" sz="14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楷体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100250" marR="100250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无</a:t>
                      </a:r>
                      <a:endParaRPr lang="zh-CN" altLang="zh-CN" sz="1400" b="1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00250" marR="100250" marT="37602" marB="3760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1006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0250" marR="100250" marT="37602" marB="37602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数据类型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0250" marR="100250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float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char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bool  …  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0250" marR="100250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en-US" altLang="zh-CN" sz="1400" b="1" dirty="0">
                          <a:solidFill>
                            <a:srgbClr val="0070C0"/>
                          </a:solidFill>
                          <a:latin typeface="Courier New" panose="02070309020205020404" pitchFamily="49" charset="0"/>
                          <a:ea typeface="楷体" panose="02010609060101010101" pitchFamily="49" charset="-122"/>
                          <a:cs typeface="Courier New" panose="02070309020205020404" pitchFamily="49" charset="0"/>
                        </a:rPr>
                        <a:t>type</a:t>
                      </a:r>
                      <a:endParaRPr lang="en-US" altLang="zh-CN" sz="1400" b="1" dirty="0">
                        <a:solidFill>
                          <a:srgbClr val="0070C0"/>
                        </a:solidFill>
                        <a:latin typeface="Courier New" panose="02070309020205020404" pitchFamily="49" charset="0"/>
                        <a:ea typeface="楷体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100250" marR="100250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zh-CN" altLang="en-US" sz="1400" b="1" dirty="0">
                          <a:solidFill>
                            <a:srgbClr val="0070C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类型字符串</a:t>
                      </a:r>
                      <a:r>
                        <a:rPr lang="en-US" altLang="zh-CN" sz="1400" b="1" dirty="0">
                          <a:solidFill>
                            <a:srgbClr val="0070C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(</a:t>
                      </a:r>
                      <a:r>
                        <a:rPr lang="zh-CN" altLang="en-US" sz="1400" b="1" dirty="0">
                          <a:solidFill>
                            <a:srgbClr val="0070C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词素</a:t>
                      </a:r>
                      <a:r>
                        <a:rPr lang="en-US" altLang="zh-CN" sz="1400" b="1" dirty="0">
                          <a:solidFill>
                            <a:srgbClr val="0070C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)</a:t>
                      </a:r>
                      <a:endParaRPr lang="zh-CN" altLang="zh-CN" sz="1400" b="1" dirty="0">
                        <a:solidFill>
                          <a:srgbClr val="0070C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00250" marR="100250" marT="37602" marB="3760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100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0250" marR="100250" marT="37602" marB="37602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标识符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0250" marR="100250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变量名、数组名、记录名、过程名、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…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0250" marR="100250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en-US" altLang="zh-CN" sz="1400" b="1" dirty="0">
                          <a:solidFill>
                            <a:srgbClr val="0070C0"/>
                          </a:solidFill>
                          <a:latin typeface="Courier New" panose="02070309020205020404" pitchFamily="49" charset="0"/>
                          <a:ea typeface="楷体" panose="02010609060101010101" pitchFamily="49" charset="-122"/>
                          <a:cs typeface="Courier New" panose="02070309020205020404" pitchFamily="49" charset="0"/>
                        </a:rPr>
                        <a:t>id</a:t>
                      </a:r>
                      <a:endParaRPr lang="zh-CN" altLang="zh-CN" sz="1400" b="1" dirty="0">
                        <a:solidFill>
                          <a:srgbClr val="0070C0"/>
                        </a:solidFill>
                        <a:latin typeface="Courier New" panose="02070309020205020404" pitchFamily="49" charset="0"/>
                        <a:ea typeface="楷体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100250" marR="100250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zh-CN" altLang="en-US" sz="1400" b="1" dirty="0">
                          <a:solidFill>
                            <a:srgbClr val="0070C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名字字符串</a:t>
                      </a:r>
                      <a:r>
                        <a:rPr lang="en-US" altLang="zh-CN" sz="1400" b="1" dirty="0">
                          <a:solidFill>
                            <a:srgbClr val="0070C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(</a:t>
                      </a:r>
                      <a:r>
                        <a:rPr lang="zh-CN" altLang="en-US" sz="1400" b="1" dirty="0">
                          <a:solidFill>
                            <a:srgbClr val="0070C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词素</a:t>
                      </a:r>
                      <a:r>
                        <a:rPr lang="en-US" altLang="zh-CN" sz="1400" b="1" dirty="0">
                          <a:solidFill>
                            <a:srgbClr val="0070C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)</a:t>
                      </a:r>
                      <a:endParaRPr lang="zh-CN" altLang="zh-CN" sz="1400" b="1" dirty="0">
                        <a:solidFill>
                          <a:srgbClr val="0070C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00250" marR="100250" marT="37602" marB="3760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192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0250" marR="100250" marT="37602" marB="37602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常量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0250" marR="100250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整型、浮点型、字符型、布尔型、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…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0250" marR="100250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zh-CN" altLang="zh-CN" sz="1400" b="1" dirty="0">
                          <a:solidFill>
                            <a:srgbClr val="0070C0"/>
                          </a:solidFill>
                          <a:latin typeface="Courier New" panose="02070309020205020404" pitchFamily="49" charset="0"/>
                          <a:ea typeface="楷体" panose="02010609060101010101" pitchFamily="49" charset="-122"/>
                          <a:cs typeface="Courier New" panose="02070309020205020404" pitchFamily="49" charset="0"/>
                        </a:rPr>
                        <a:t>一</a:t>
                      </a:r>
                      <a:r>
                        <a:rPr lang="zh-CN" altLang="en-US" sz="1400" b="1" dirty="0">
                          <a:solidFill>
                            <a:srgbClr val="0070C0"/>
                          </a:solidFill>
                          <a:latin typeface="Courier New" panose="02070309020205020404" pitchFamily="49" charset="0"/>
                          <a:ea typeface="楷体" panose="02010609060101010101" pitchFamily="49" charset="-122"/>
                          <a:cs typeface="Courier New" panose="02070309020205020404" pitchFamily="49" charset="0"/>
                        </a:rPr>
                        <a:t>类</a:t>
                      </a:r>
                      <a:r>
                        <a:rPr lang="zh-CN" altLang="zh-CN" sz="1400" b="1" dirty="0">
                          <a:solidFill>
                            <a:srgbClr val="0070C0"/>
                          </a:solidFill>
                          <a:latin typeface="Courier New" panose="02070309020205020404" pitchFamily="49" charset="0"/>
                          <a:ea typeface="楷体" panose="02010609060101010101" pitchFamily="49" charset="-122"/>
                          <a:cs typeface="Courier New" panose="02070309020205020404" pitchFamily="49" charset="0"/>
                        </a:rPr>
                        <a:t>一</a:t>
                      </a:r>
                      <a:r>
                        <a:rPr lang="zh-CN" altLang="en-US" sz="1400" b="1" dirty="0">
                          <a:solidFill>
                            <a:srgbClr val="0070C0"/>
                          </a:solidFill>
                          <a:latin typeface="Courier New" panose="02070309020205020404" pitchFamily="49" charset="0"/>
                          <a:ea typeface="楷体" panose="02010609060101010101" pitchFamily="49" charset="-122"/>
                          <a:cs typeface="Courier New" panose="02070309020205020404" pitchFamily="49" charset="0"/>
                        </a:rPr>
                        <a:t>符</a:t>
                      </a:r>
                      <a:endParaRPr lang="en-US" altLang="zh-CN" sz="1400" b="1" dirty="0">
                        <a:solidFill>
                          <a:srgbClr val="0070C0"/>
                        </a:solidFill>
                        <a:latin typeface="Courier New" panose="02070309020205020404" pitchFamily="49" charset="0"/>
                        <a:ea typeface="楷体" panose="02010609060101010101" pitchFamily="49" charset="-122"/>
                        <a:cs typeface="Courier New" panose="02070309020205020404" pitchFamily="49" charset="0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en-US" altLang="zh-CN" sz="1400" b="1" dirty="0">
                          <a:solidFill>
                            <a:srgbClr val="0070C0"/>
                          </a:solidFill>
                          <a:latin typeface="Courier New" panose="02070309020205020404" pitchFamily="49" charset="0"/>
                          <a:ea typeface="楷体" panose="02010609060101010101" pitchFamily="49" charset="-122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zh-CN" altLang="en-US" sz="1400" b="1" dirty="0">
                          <a:solidFill>
                            <a:srgbClr val="0070C0"/>
                          </a:solidFill>
                          <a:latin typeface="Courier New" panose="02070309020205020404" pitchFamily="49" charset="0"/>
                          <a:ea typeface="楷体" panose="02010609060101010101" pitchFamily="49" charset="-122"/>
                          <a:cs typeface="Courier New" panose="02070309020205020404" pitchFamily="49" charset="0"/>
                        </a:rPr>
                        <a:t>、</a:t>
                      </a:r>
                      <a:r>
                        <a:rPr lang="en-US" altLang="zh-CN" sz="1400" b="1" dirty="0">
                          <a:solidFill>
                            <a:srgbClr val="0070C0"/>
                          </a:solidFill>
                          <a:latin typeface="Courier New" panose="02070309020205020404" pitchFamily="49" charset="0"/>
                          <a:ea typeface="楷体" panose="02010609060101010101" pitchFamily="49" charset="-122"/>
                          <a:cs typeface="Courier New" panose="02070309020205020404" pitchFamily="49" charset="0"/>
                        </a:rPr>
                        <a:t>FLOAT…</a:t>
                      </a:r>
                      <a:endParaRPr lang="zh-CN" altLang="zh-CN" sz="1400" b="1" dirty="0">
                        <a:solidFill>
                          <a:srgbClr val="0070C0"/>
                        </a:solidFill>
                        <a:latin typeface="Courier New" panose="02070309020205020404" pitchFamily="49" charset="0"/>
                        <a:ea typeface="楷体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100250" marR="100250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zh-CN" altLang="en-US" sz="1400" b="1" dirty="0">
                          <a:solidFill>
                            <a:srgbClr val="0070C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数值</a:t>
                      </a:r>
                      <a:endParaRPr lang="zh-CN" altLang="zh-CN" sz="1400" b="1" dirty="0">
                        <a:solidFill>
                          <a:srgbClr val="0070C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00250" marR="100250" marT="37602" marB="3760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83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0250" marR="100250" marT="37602" marB="37602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算术运算符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0250" marR="100250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+  -  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* 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/  ++  -- 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0250" marR="100250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zh-CN" altLang="zh-CN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楷体" panose="02010609060101010101" pitchFamily="49" charset="-122"/>
                          <a:cs typeface="Courier New" panose="02070309020205020404" pitchFamily="49" charset="0"/>
                        </a:rPr>
                        <a:t>一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楷体" panose="02010609060101010101" pitchFamily="49" charset="-122"/>
                          <a:cs typeface="Courier New" panose="02070309020205020404" pitchFamily="49" charset="0"/>
                        </a:rPr>
                        <a:t>词</a:t>
                      </a:r>
                      <a:r>
                        <a:rPr lang="zh-CN" altLang="zh-CN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楷体" panose="02010609060101010101" pitchFamily="49" charset="-122"/>
                          <a:cs typeface="Courier New" panose="02070309020205020404" pitchFamily="49" charset="0"/>
                        </a:rPr>
                        <a:t>一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楷体" panose="02010609060101010101" pitchFamily="49" charset="-122"/>
                          <a:cs typeface="Courier New" panose="02070309020205020404" pitchFamily="49" charset="0"/>
                        </a:rPr>
                        <a:t>符</a:t>
                      </a:r>
                      <a:endParaRPr lang="en-US" altLang="zh-CN" sz="14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楷体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100250" marR="100250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无</a:t>
                      </a:r>
                      <a:endParaRPr lang="zh-CN" altLang="zh-CN" sz="1400" b="1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00250" marR="100250" marT="37602" marB="3760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0476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0250" marR="100250" marT="37602" marB="37602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关系运算符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0250" marR="100250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&gt; 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&lt; 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== 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!= 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&gt;= 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&lt;= 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0250" marR="100250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en-US" altLang="zh-CN" sz="1400" b="1" dirty="0" err="1">
                          <a:solidFill>
                            <a:srgbClr val="0070C0"/>
                          </a:solidFill>
                          <a:latin typeface="Courier New" panose="02070309020205020404" pitchFamily="49" charset="0"/>
                          <a:ea typeface="楷体" panose="02010609060101010101" pitchFamily="49" charset="-122"/>
                          <a:cs typeface="Courier New" panose="02070309020205020404" pitchFamily="49" charset="0"/>
                        </a:rPr>
                        <a:t>relop</a:t>
                      </a:r>
                      <a:endParaRPr lang="zh-CN" altLang="zh-CN" sz="1400" b="1" dirty="0">
                        <a:solidFill>
                          <a:srgbClr val="0070C0"/>
                        </a:solidFill>
                        <a:latin typeface="Courier New" panose="02070309020205020404" pitchFamily="49" charset="0"/>
                        <a:ea typeface="楷体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100250" marR="100250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zh-CN" altLang="en-US" sz="1400" b="1" dirty="0">
                          <a:solidFill>
                            <a:srgbClr val="0070C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运算符</a:t>
                      </a:r>
                      <a:r>
                        <a:rPr lang="en-US" altLang="zh-CN" sz="1400" b="1" dirty="0">
                          <a:solidFill>
                            <a:srgbClr val="0070C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(</a:t>
                      </a:r>
                      <a:r>
                        <a:rPr lang="zh-CN" altLang="en-US" sz="1400" b="1" dirty="0">
                          <a:solidFill>
                            <a:srgbClr val="0070C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词素</a:t>
                      </a:r>
                      <a:r>
                        <a:rPr lang="en-US" altLang="zh-CN" sz="1400" b="1" dirty="0">
                          <a:solidFill>
                            <a:srgbClr val="0070C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)</a:t>
                      </a:r>
                      <a:endParaRPr lang="zh-CN" altLang="zh-CN" sz="1400" b="1" dirty="0">
                        <a:solidFill>
                          <a:srgbClr val="0070C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00250" marR="100250" marT="37602" marB="3760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0476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0250" marR="100250" marT="37602" marB="37602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逻辑运算符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0250" marR="100250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&amp;&amp;  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||  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！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0250" marR="100250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楷体" panose="02010609060101010101" pitchFamily="49" charset="-122"/>
                          <a:cs typeface="Courier New" panose="02070309020205020404" pitchFamily="49" charset="0"/>
                        </a:rPr>
                        <a:t>一词一符</a:t>
                      </a:r>
                      <a:endParaRPr lang="zh-CN" altLang="zh-CN" sz="14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楷体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100250" marR="100250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无</a:t>
                      </a:r>
                      <a:endParaRPr lang="zh-CN" altLang="zh-CN" sz="1400" b="1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00250" marR="100250" marT="37602" marB="3760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100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0250" marR="100250" marT="37602" marB="37602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界限符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0250" marR="100250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.  ; 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} [  ]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…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0250" marR="100250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zh-CN" altLang="zh-CN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楷体" panose="02010609060101010101" pitchFamily="49" charset="-122"/>
                          <a:cs typeface="Courier New" panose="02070309020205020404" pitchFamily="49" charset="0"/>
                        </a:rPr>
                        <a:t>一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楷体" panose="02010609060101010101" pitchFamily="49" charset="-122"/>
                          <a:cs typeface="Courier New" panose="02070309020205020404" pitchFamily="49" charset="0"/>
                        </a:rPr>
                        <a:t>词</a:t>
                      </a:r>
                      <a:r>
                        <a:rPr lang="zh-CN" altLang="zh-CN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楷体" panose="02010609060101010101" pitchFamily="49" charset="-122"/>
                          <a:cs typeface="Courier New" panose="02070309020205020404" pitchFamily="49" charset="0"/>
                        </a:rPr>
                        <a:t>一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楷体" panose="02010609060101010101" pitchFamily="49" charset="-122"/>
                          <a:cs typeface="Courier New" panose="02070309020205020404" pitchFamily="49" charset="0"/>
                        </a:rPr>
                        <a:t>符</a:t>
                      </a:r>
                      <a:endParaRPr lang="zh-CN" altLang="zh-CN" sz="14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楷体" panose="02010609060101010101" pitchFamily="49" charset="-122"/>
                        <a:cs typeface="Courier New" panose="02070309020205020404" pitchFamily="49" charset="0"/>
                      </a:endParaRPr>
                    </a:p>
                  </a:txBody>
                  <a:tcPr marL="100250" marR="100250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无</a:t>
                      </a:r>
                      <a:endParaRPr lang="zh-CN" altLang="zh-CN" sz="1400" b="1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00250" marR="100250" marT="37602" marB="3760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28736" name="组合 17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0" name="五边形 19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26" name="组合 25"/>
          <p:cNvGrpSpPr/>
          <p:nvPr/>
        </p:nvGrpSpPr>
        <p:grpSpPr bwMode="auto">
          <a:xfrm>
            <a:off x="441325" y="1492250"/>
            <a:ext cx="8162925" cy="3081338"/>
            <a:chOff x="855634" y="2046655"/>
            <a:chExt cx="7717689" cy="3081677"/>
          </a:xfrm>
        </p:grpSpPr>
        <p:sp>
          <p:nvSpPr>
            <p:cNvPr id="28740" name="矩形 12"/>
            <p:cNvSpPr>
              <a:spLocks noChangeArrowheads="1"/>
            </p:cNvSpPr>
            <p:nvPr/>
          </p:nvSpPr>
          <p:spPr bwMode="auto">
            <a:xfrm>
              <a:off x="7284090" y="2571750"/>
              <a:ext cx="18473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30000"/>
                </a:spcBef>
              </a:pPr>
              <a:endParaRPr lang="zh-CN" altLang="zh-CN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8741" name="矩形 13"/>
            <p:cNvSpPr>
              <a:spLocks noChangeArrowheads="1"/>
            </p:cNvSpPr>
            <p:nvPr/>
          </p:nvSpPr>
          <p:spPr bwMode="auto">
            <a:xfrm>
              <a:off x="7284090" y="2959936"/>
              <a:ext cx="18473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30000"/>
                </a:spcBef>
                <a:buClr>
                  <a:schemeClr val="folHlink"/>
                </a:buClr>
                <a:buSzPct val="60000"/>
              </a:pPr>
              <a:endPara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8742" name="矩形 14"/>
            <p:cNvSpPr>
              <a:spLocks noChangeArrowheads="1"/>
            </p:cNvSpPr>
            <p:nvPr/>
          </p:nvSpPr>
          <p:spPr bwMode="auto">
            <a:xfrm>
              <a:off x="7284090" y="3357568"/>
              <a:ext cx="18473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30000"/>
                </a:spcBef>
              </a:pPr>
              <a:endParaRPr lang="zh-CN" altLang="zh-CN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>
            <a:xfrm flipH="1">
              <a:off x="855634" y="2046655"/>
              <a:ext cx="3002" cy="30721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>
              <a:off x="8571823" y="2056181"/>
              <a:ext cx="1500" cy="30721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矩形 26"/>
          <p:cNvSpPr/>
          <p:nvPr/>
        </p:nvSpPr>
        <p:spPr>
          <a:xfrm>
            <a:off x="0" y="5114925"/>
            <a:ext cx="9144000" cy="46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" name="矩形 10"/>
          <p:cNvSpPr>
            <a:spLocks noChangeArrowheads="1"/>
          </p:cNvSpPr>
          <p:nvPr/>
        </p:nvSpPr>
        <p:spPr bwMode="auto">
          <a:xfrm>
            <a:off x="323528" y="4619912"/>
            <a:ext cx="857314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 pitchFamily="2" charset="2"/>
              </a:rPr>
              <a:t>语法分析器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 pitchFamily="2" charset="2"/>
              </a:rPr>
              <a:t>依据文法分析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 pitchFamily="2" charset="2"/>
              </a:rPr>
              <a:t>token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 pitchFamily="2" charset="2"/>
              </a:rPr>
              <a:t>串，</a:t>
            </a:r>
            <a:r>
              <a:rPr lang="zh-CN" altLang="en-US" sz="20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 pitchFamily="2" charset="2"/>
              </a:rPr>
              <a:t>符号的集合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 pitchFamily="2" charset="2"/>
              </a:rPr>
              <a:t>即是文法的</a:t>
            </a:r>
            <a:r>
              <a:rPr lang="zh-CN" altLang="en-US" sz="20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 pitchFamily="2" charset="2"/>
              </a:rPr>
              <a:t>终结符集合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 pitchFamily="2" charset="2"/>
              </a:rPr>
              <a:t>。</a:t>
            </a:r>
            <a:endParaRPr lang="en-US" altLang="zh-CN" sz="2000" b="1" dirty="0">
              <a:latin typeface="楷体" panose="02010609060101010101" pitchFamily="49" charset="-122"/>
              <a:ea typeface="楷体" panose="02010609060101010101" pitchFamily="49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771" name="Rectangle 3"/>
          <p:cNvSpPr>
            <a:spLocks noGrp="1"/>
          </p:cNvSpPr>
          <p:nvPr>
            <p:ph idx="1"/>
          </p:nvPr>
        </p:nvSpPr>
        <p:spPr>
          <a:xfrm>
            <a:off x="2195513" y="776833"/>
            <a:ext cx="6048375" cy="3660775"/>
          </a:xfrm>
        </p:spPr>
        <p:txBody>
          <a:bodyPr lIns="69056" tIns="34529" rIns="69056" bIns="34529"/>
          <a:lstStyle/>
          <a:p>
            <a:pPr marL="142875" lvl="1" indent="1905"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&lt;IF</a:t>
            </a:r>
            <a:r>
              <a:rPr lang="zh-CN" altLang="en-US">
                <a:latin typeface="Courier New" panose="02070309020205020404" pitchFamily="49" charset="0"/>
                <a:cs typeface="Courier New" panose="02070309020205020404" pitchFamily="49" charset="0"/>
              </a:rPr>
              <a:t>，</a:t>
            </a:r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- &gt;</a:t>
            </a:r>
            <a:endParaRPr lang="en-US" altLang="zh-CN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42875" lvl="1" indent="1905" eaLnBrk="1" hangingPunct="1"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&lt;ID</a:t>
            </a:r>
            <a:r>
              <a:rPr lang="zh-CN" altLang="en-US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，</a:t>
            </a:r>
            <a:r>
              <a:rPr lang="en-US" altLang="zh-CN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altLang="zh-CN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42875" lvl="1" indent="1905"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&lt;relop</a:t>
            </a:r>
            <a:r>
              <a:rPr lang="zh-CN" altLang="en-US">
                <a:latin typeface="Courier New" panose="02070309020205020404" pitchFamily="49" charset="0"/>
                <a:cs typeface="Courier New" panose="02070309020205020404" pitchFamily="49" charset="0"/>
              </a:rPr>
              <a:t>，</a:t>
            </a:r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- &gt;</a:t>
            </a:r>
            <a:endParaRPr lang="en-US" altLang="zh-CN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42875" lvl="1" indent="1905" eaLnBrk="1" hangingPunct="1"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&lt;INT</a:t>
            </a:r>
            <a:r>
              <a:rPr lang="zh-CN" altLang="en-US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 &gt;</a:t>
            </a:r>
            <a:endParaRPr lang="en-US" altLang="zh-CN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42875" lvl="1" indent="1905"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&lt;THEN</a:t>
            </a:r>
            <a:r>
              <a:rPr lang="zh-CN" altLang="en-US">
                <a:latin typeface="Courier New" panose="02070309020205020404" pitchFamily="49" charset="0"/>
                <a:cs typeface="Courier New" panose="02070309020205020404" pitchFamily="49" charset="0"/>
              </a:rPr>
              <a:t>，</a:t>
            </a:r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- &gt;</a:t>
            </a:r>
            <a:endParaRPr lang="en-US" altLang="zh-CN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42875" lvl="1" indent="1905" eaLnBrk="1" hangingPunct="1"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&lt;ID</a:t>
            </a:r>
            <a:r>
              <a:rPr lang="zh-CN" altLang="en-US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，</a:t>
            </a:r>
            <a:r>
              <a:rPr lang="en-US" altLang="zh-CN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result&gt;</a:t>
            </a:r>
            <a:endParaRPr lang="en-US" altLang="zh-CN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42875" lvl="1" indent="1905"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&lt;ASSIGN</a:t>
            </a:r>
            <a:r>
              <a:rPr lang="zh-CN" altLang="en-US">
                <a:latin typeface="Courier New" panose="02070309020205020404" pitchFamily="49" charset="0"/>
                <a:cs typeface="Courier New" panose="02070309020205020404" pitchFamily="49" charset="0"/>
              </a:rPr>
              <a:t>，</a:t>
            </a:r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- &gt;</a:t>
            </a:r>
            <a:endParaRPr lang="en-US" altLang="zh-CN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42875" lvl="1" indent="1905" eaLnBrk="1" hangingPunct="1"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&lt;FLOAT</a:t>
            </a:r>
            <a:r>
              <a:rPr lang="zh-CN" altLang="en-US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3.14&gt;</a:t>
            </a:r>
            <a:endParaRPr lang="en-US" altLang="zh-CN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42875" lvl="1" indent="1905"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&lt;SEMIC</a:t>
            </a:r>
            <a:r>
              <a:rPr lang="zh-CN" altLang="en-US">
                <a:latin typeface="Courier New" panose="02070309020205020404" pitchFamily="49" charset="0"/>
                <a:cs typeface="Courier New" panose="02070309020205020404" pitchFamily="49" charset="0"/>
              </a:rPr>
              <a:t>，</a:t>
            </a:r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- &gt;</a:t>
            </a:r>
            <a:endParaRPr lang="en-US" altLang="zh-CN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723" name="Rectangle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8194675" cy="358775"/>
          </a:xfrm>
        </p:spPr>
        <p:txBody>
          <a:bodyPr lIns="69056" tIns="34529" rIns="69056" bIns="34529"/>
          <a:lstStyle/>
          <a:p>
            <a:pPr eaLnBrk="1" hangingPunct="1"/>
            <a:r>
              <a:rPr lang="zh-CN" alt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例</a:t>
            </a:r>
            <a:r>
              <a:rPr lang="en-US" altLang="zh-CN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kumimoji="1" lang="zh-CN" alt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语句</a:t>
            </a:r>
            <a:r>
              <a:rPr kumimoji="1" lang="en-US" altLang="zh-CN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if count&gt;7 then result := 3.14;</a:t>
            </a:r>
            <a:endParaRPr lang="zh-CN" altLang="en-US" sz="27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日期占位符 3"/>
          <p:cNvSpPr>
            <a:spLocks noGrp="1"/>
          </p:cNvSpPr>
          <p:nvPr>
            <p:ph type="dt" sz="quarter" idx="10"/>
          </p:nvPr>
        </p:nvSpPr>
        <p:spPr>
          <a:ln>
            <a:miter lim="800000"/>
          </a:ln>
        </p:spPr>
        <p:txBody>
          <a:bodyPr anchor="t"/>
          <a:lstStyle/>
          <a:p>
            <a:pPr>
              <a:defRPr/>
            </a:pPr>
            <a:fld id="{F15813EC-F42E-407F-B999-DEC0FB044F5A}" type="datetime1">
              <a:rPr lang="zh-CN" altLang="en-US">
                <a:latin typeface="+mn-lt"/>
              </a:rPr>
            </a:fld>
            <a:endParaRPr lang="en-US" altLang="zh-CN" dirty="0">
              <a:latin typeface="+mn-lt"/>
            </a:endParaRPr>
          </a:p>
        </p:txBody>
      </p:sp>
      <p:sp>
        <p:nvSpPr>
          <p:cNvPr id="174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anchor="t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1pPr>
            <a:lvl2pPr marL="557530" indent="-21463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1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18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3FFA9ED9-EE86-4FE0-B534-660EA2A77789}" type="slidenum">
              <a:rPr lang="en-US" altLang="zh-CN" sz="1050" b="0">
                <a:ea typeface="宋体" panose="02010600030101010101" pitchFamily="2" charset="-122"/>
              </a:rPr>
            </a:fld>
            <a:endParaRPr lang="en-US" altLang="zh-CN" sz="1050" b="0">
              <a:ea typeface="宋体" panose="02010600030101010101" pitchFamily="2" charset="-122"/>
            </a:endParaRPr>
          </a:p>
        </p:txBody>
      </p:sp>
      <p:grpSp>
        <p:nvGrpSpPr>
          <p:cNvPr id="11" name="组合 10"/>
          <p:cNvGrpSpPr/>
          <p:nvPr/>
        </p:nvGrpSpPr>
        <p:grpSpPr bwMode="auto">
          <a:xfrm>
            <a:off x="4083050" y="1527720"/>
            <a:ext cx="3741738" cy="1411288"/>
            <a:chOff x="4197792" y="709177"/>
            <a:chExt cx="3742554" cy="1412343"/>
          </a:xfrm>
        </p:grpSpPr>
        <p:grpSp>
          <p:nvGrpSpPr>
            <p:cNvPr id="7" name="组合 15"/>
            <p:cNvGrpSpPr/>
            <p:nvPr/>
          </p:nvGrpSpPr>
          <p:grpSpPr bwMode="auto">
            <a:xfrm>
              <a:off x="4197792" y="709177"/>
              <a:ext cx="3742554" cy="1278093"/>
              <a:chOff x="7902356" y="-720370"/>
              <a:chExt cx="1016430" cy="3153718"/>
            </a:xfrm>
            <a:solidFill>
              <a:schemeClr val="bg1">
                <a:lumMod val="95000"/>
              </a:schemeClr>
            </a:solidFill>
          </p:grpSpPr>
          <p:sp>
            <p:nvSpPr>
              <p:cNvPr id="8" name="矩形 7"/>
              <p:cNvSpPr/>
              <p:nvPr/>
            </p:nvSpPr>
            <p:spPr bwMode="auto">
              <a:xfrm>
                <a:off x="8289328" y="1565709"/>
                <a:ext cx="629458" cy="867639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lIns="67640" tIns="33821" rIns="67640" bIns="33821"/>
              <a:lstStyle/>
              <a:p>
                <a:pPr algn="ctr">
                  <a:lnSpc>
                    <a:spcPct val="90000"/>
                  </a:lnSpc>
                  <a:spcBef>
                    <a:spcPts val="440"/>
                  </a:spcBef>
                  <a:spcAft>
                    <a:spcPts val="440"/>
                  </a:spcAft>
                  <a:buClr>
                    <a:schemeClr val="tx2"/>
                  </a:buClr>
                  <a:buSzPct val="80000"/>
                  <a:defRPr/>
                </a:pPr>
                <a:r>
                  <a:rPr lang="en-US" altLang="zh-CN" sz="2100" b="1" dirty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2100" b="1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&lt;ID</a:t>
                </a:r>
                <a:r>
                  <a:rPr lang="en-US" altLang="zh-CN" sz="2100" b="1" dirty="0">
                    <a:solidFill>
                      <a:srgbClr val="0070C0"/>
                    </a:solidFill>
                  </a:rPr>
                  <a:t>,  </a:t>
                </a:r>
                <a:r>
                  <a:rPr lang="zh-CN" altLang="en-US" sz="2100" b="1" dirty="0">
                    <a:solidFill>
                      <a:srgbClr val="0070C0"/>
                    </a:solidFill>
                  </a:rPr>
                  <a:t>词素</a:t>
                </a:r>
                <a:r>
                  <a:rPr lang="en-US" altLang="zh-CN" sz="2100" b="1" dirty="0">
                    <a:solidFill>
                      <a:srgbClr val="0070C0"/>
                    </a:solidFill>
                  </a:rPr>
                  <a:t> &gt;</a:t>
                </a:r>
                <a:endParaRPr lang="zh-CN" altLang="en-US" sz="2100" b="1" dirty="0">
                  <a:solidFill>
                    <a:srgbClr val="0070C0"/>
                  </a:solidFill>
                </a:endParaRPr>
              </a:p>
            </p:txBody>
          </p:sp>
          <p:cxnSp>
            <p:nvCxnSpPr>
              <p:cNvPr id="9" name="直接箭头连接符 3"/>
              <p:cNvCxnSpPr>
                <a:cxnSpLocks noChangeShapeType="1"/>
                <a:stCxn id="8" idx="1"/>
              </p:cNvCxnSpPr>
              <p:nvPr/>
            </p:nvCxnSpPr>
            <p:spPr bwMode="auto">
              <a:xfrm flipH="1" flipV="1">
                <a:off x="7902356" y="-720370"/>
                <a:ext cx="386972" cy="2719899"/>
              </a:xfrm>
              <a:prstGeom prst="straightConnector1">
                <a:avLst/>
              </a:prstGeom>
              <a:grpFill/>
              <a:ln w="28575" algn="ctr">
                <a:solidFill>
                  <a:srgbClr val="0000FF"/>
                </a:solidFill>
                <a:round/>
                <a:headEnd type="none" w="med" len="med"/>
                <a:tailEnd type="arrow" w="med" len="med"/>
              </a:ln>
            </p:spPr>
          </p:cxnSp>
        </p:grpSp>
        <p:cxnSp>
          <p:nvCxnSpPr>
            <p:cNvPr id="21" name="直接箭头连接符 3"/>
            <p:cNvCxnSpPr>
              <a:cxnSpLocks noChangeShapeType="1"/>
              <a:stCxn id="8" idx="1"/>
            </p:cNvCxnSpPr>
            <p:nvPr/>
          </p:nvCxnSpPr>
          <p:spPr bwMode="auto">
            <a:xfrm flipH="1">
              <a:off x="4455023" y="1811726"/>
              <a:ext cx="1167067" cy="309794"/>
            </a:xfrm>
            <a:prstGeom prst="straightConnector1">
              <a:avLst/>
            </a:prstGeom>
            <a:solidFill>
              <a:schemeClr val="bg1">
                <a:lumMod val="95000"/>
              </a:schemeClr>
            </a:solidFill>
            <a:ln w="28575" algn="ctr">
              <a:solidFill>
                <a:srgbClr val="0000FF"/>
              </a:solidFill>
              <a:round/>
              <a:headEnd type="none" w="med" len="med"/>
              <a:tailEnd type="arrow" w="med" len="med"/>
            </a:ln>
          </p:spPr>
        </p:cxnSp>
      </p:grpSp>
      <p:grpSp>
        <p:nvGrpSpPr>
          <p:cNvPr id="15" name="组合 14"/>
          <p:cNvGrpSpPr/>
          <p:nvPr/>
        </p:nvGrpSpPr>
        <p:grpSpPr bwMode="auto">
          <a:xfrm>
            <a:off x="3808413" y="2100808"/>
            <a:ext cx="3975100" cy="1871662"/>
            <a:chOff x="2249660" y="905446"/>
            <a:chExt cx="3975929" cy="1872976"/>
          </a:xfrm>
        </p:grpSpPr>
        <p:grpSp>
          <p:nvGrpSpPr>
            <p:cNvPr id="17" name="组合 15"/>
            <p:cNvGrpSpPr/>
            <p:nvPr/>
          </p:nvGrpSpPr>
          <p:grpSpPr bwMode="auto">
            <a:xfrm>
              <a:off x="2249660" y="905446"/>
              <a:ext cx="3975929" cy="1872976"/>
              <a:chOff x="7642685" y="-3606737"/>
              <a:chExt cx="1079812" cy="4401230"/>
            </a:xfrm>
            <a:solidFill>
              <a:schemeClr val="bg1">
                <a:lumMod val="95000"/>
              </a:schemeClr>
            </a:solidFill>
          </p:grpSpPr>
          <p:sp>
            <p:nvSpPr>
              <p:cNvPr id="25" name="矩形 24"/>
              <p:cNvSpPr/>
              <p:nvPr/>
            </p:nvSpPr>
            <p:spPr bwMode="auto">
              <a:xfrm>
                <a:off x="8093039" y="-73148"/>
                <a:ext cx="629458" cy="867641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lIns="67640" tIns="33821" rIns="67640" bIns="33821"/>
              <a:lstStyle/>
              <a:p>
                <a:pPr algn="ctr">
                  <a:lnSpc>
                    <a:spcPct val="90000"/>
                  </a:lnSpc>
                  <a:spcBef>
                    <a:spcPts val="440"/>
                  </a:spcBef>
                  <a:spcAft>
                    <a:spcPts val="440"/>
                  </a:spcAft>
                  <a:buClr>
                    <a:schemeClr val="tx2"/>
                  </a:buClr>
                  <a:buSzPct val="80000"/>
                  <a:defRPr/>
                </a:pPr>
                <a:r>
                  <a:rPr lang="en-US" altLang="zh-CN" sz="2100" b="1" dirty="0">
                    <a:solidFill>
                      <a:srgbClr val="0070C0"/>
                    </a:solidFill>
                  </a:rPr>
                  <a:t> </a:t>
                </a:r>
                <a:r>
                  <a:rPr lang="en-US" altLang="zh-CN" sz="2100" b="1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&lt;</a:t>
                </a:r>
                <a:r>
                  <a:rPr lang="zh-CN" altLang="en-US" sz="2100" b="1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一类一符</a:t>
                </a:r>
                <a:r>
                  <a:rPr lang="en-US" altLang="zh-CN" sz="2100" b="1" dirty="0">
                    <a:solidFill>
                      <a:srgbClr val="0070C0"/>
                    </a:solidFill>
                  </a:rPr>
                  <a:t>, </a:t>
                </a:r>
                <a:r>
                  <a:rPr lang="zh-CN" altLang="en-US" sz="2100" b="1" dirty="0">
                    <a:solidFill>
                      <a:srgbClr val="0070C0"/>
                    </a:solidFill>
                  </a:rPr>
                  <a:t>数值</a:t>
                </a:r>
                <a:r>
                  <a:rPr lang="en-US" altLang="zh-CN" sz="2100" b="1" dirty="0">
                    <a:solidFill>
                      <a:srgbClr val="0070C0"/>
                    </a:solidFill>
                  </a:rPr>
                  <a:t>&gt;</a:t>
                </a:r>
                <a:endParaRPr lang="zh-CN" altLang="en-US" sz="2100" b="1" dirty="0">
                  <a:solidFill>
                    <a:srgbClr val="0070C0"/>
                  </a:solidFill>
                </a:endParaRPr>
              </a:p>
            </p:txBody>
          </p:sp>
          <p:cxnSp>
            <p:nvCxnSpPr>
              <p:cNvPr id="26" name="直接箭头连接符 3"/>
              <p:cNvCxnSpPr>
                <a:cxnSpLocks noChangeShapeType="1"/>
                <a:stCxn id="25" idx="1"/>
              </p:cNvCxnSpPr>
              <p:nvPr/>
            </p:nvCxnSpPr>
            <p:spPr bwMode="auto">
              <a:xfrm flipH="1" flipV="1">
                <a:off x="7642685" y="-3606737"/>
                <a:ext cx="450354" cy="3967411"/>
              </a:xfrm>
              <a:prstGeom prst="straightConnector1">
                <a:avLst/>
              </a:prstGeom>
              <a:grpFill/>
              <a:ln w="28575" algn="ctr">
                <a:solidFill>
                  <a:srgbClr val="006600"/>
                </a:solidFill>
                <a:round/>
                <a:headEnd type="none" w="med" len="med"/>
                <a:tailEnd type="arrow" w="med" len="med"/>
              </a:ln>
            </p:spPr>
          </p:cxnSp>
        </p:grpSp>
        <p:cxnSp>
          <p:nvCxnSpPr>
            <p:cNvPr id="19" name="直接箭头连接符 3"/>
            <p:cNvCxnSpPr>
              <a:cxnSpLocks noChangeShapeType="1"/>
              <a:stCxn id="25" idx="1"/>
            </p:cNvCxnSpPr>
            <p:nvPr/>
          </p:nvCxnSpPr>
          <p:spPr bwMode="auto">
            <a:xfrm flipH="1">
              <a:off x="3084859" y="2594143"/>
              <a:ext cx="822496" cy="77843"/>
            </a:xfrm>
            <a:prstGeom prst="straightConnector1">
              <a:avLst/>
            </a:prstGeom>
            <a:solidFill>
              <a:schemeClr val="bg1">
                <a:lumMod val="95000"/>
              </a:schemeClr>
            </a:solidFill>
            <a:ln w="28575" algn="ctr">
              <a:solidFill>
                <a:srgbClr val="006600"/>
              </a:solidFill>
              <a:round/>
              <a:headEnd type="none" w="med" len="med"/>
              <a:tailEnd type="arrow" w="med" len="med"/>
            </a:ln>
          </p:spPr>
        </p:cxnSp>
      </p:grpSp>
      <p:sp>
        <p:nvSpPr>
          <p:cNvPr id="30728" name="Rectangle 3"/>
          <p:cNvSpPr txBox="1">
            <a:spLocks noChangeArrowheads="1"/>
          </p:cNvSpPr>
          <p:nvPr/>
        </p:nvSpPr>
        <p:spPr bwMode="auto">
          <a:xfrm>
            <a:off x="900113" y="783183"/>
            <a:ext cx="1741487" cy="366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/>
          <a:lstStyle>
            <a:lvl1pPr marL="273050" indent="-2730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142875" indent="1905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85598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1462405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1919605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376805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2834005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291205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lvl="1" eaLnBrk="1" hangingPunct="1">
              <a:buClrTx/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tx1"/>
                </a:solidFill>
                <a:latin typeface="Courier New" panose="02070309020205020404" pitchFamily="49" charset="0"/>
                <a:ea typeface="华文楷体" panose="02010600040101010101" pitchFamily="2" charset="-122"/>
                <a:cs typeface="Courier New" panose="02070309020205020404" pitchFamily="49" charset="0"/>
              </a:rPr>
              <a:t>if</a:t>
            </a:r>
            <a:endParaRPr lang="en-US" altLang="zh-CN" b="1">
              <a:solidFill>
                <a:schemeClr val="tx1"/>
              </a:solidFill>
              <a:latin typeface="Courier New" panose="02070309020205020404" pitchFamily="49" charset="0"/>
              <a:ea typeface="华文楷体" panose="02010600040101010101" pitchFamily="2" charset="-122"/>
              <a:cs typeface="Courier New" panose="02070309020205020404" pitchFamily="49" charset="0"/>
            </a:endParaRPr>
          </a:p>
          <a:p>
            <a:pPr lvl="1" eaLnBrk="1" hangingPunct="1">
              <a:buClrTx/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0070C0"/>
                </a:solidFill>
                <a:latin typeface="Courier New" panose="02070309020205020404" pitchFamily="49" charset="0"/>
                <a:ea typeface="华文楷体" panose="02010600040101010101" pitchFamily="2" charset="-122"/>
                <a:cs typeface="Courier New" panose="02070309020205020404" pitchFamily="49" charset="0"/>
              </a:rPr>
              <a:t>count</a:t>
            </a:r>
            <a:endParaRPr lang="en-US" altLang="zh-CN" b="1">
              <a:solidFill>
                <a:srgbClr val="0070C0"/>
              </a:solidFill>
              <a:latin typeface="Courier New" panose="02070309020205020404" pitchFamily="49" charset="0"/>
              <a:ea typeface="华文楷体" panose="02010600040101010101" pitchFamily="2" charset="-122"/>
              <a:cs typeface="Courier New" panose="02070309020205020404" pitchFamily="49" charset="0"/>
            </a:endParaRPr>
          </a:p>
          <a:p>
            <a:pPr lvl="1" eaLnBrk="1" hangingPunct="1">
              <a:buClrTx/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tx1"/>
                </a:solidFill>
                <a:latin typeface="Courier New" panose="02070309020205020404" pitchFamily="49" charset="0"/>
                <a:ea typeface="华文楷体" panose="02010600040101010101" pitchFamily="2" charset="-122"/>
                <a:cs typeface="Courier New" panose="02070309020205020404" pitchFamily="49" charset="0"/>
              </a:rPr>
              <a:t>&gt;</a:t>
            </a:r>
            <a:endParaRPr lang="en-US" altLang="zh-CN" b="1">
              <a:solidFill>
                <a:schemeClr val="tx1"/>
              </a:solidFill>
              <a:latin typeface="Courier New" panose="02070309020205020404" pitchFamily="49" charset="0"/>
              <a:ea typeface="华文楷体" panose="02010600040101010101" pitchFamily="2" charset="-122"/>
              <a:cs typeface="Courier New" panose="02070309020205020404" pitchFamily="49" charset="0"/>
            </a:endParaRPr>
          </a:p>
          <a:p>
            <a:pPr lvl="1" eaLnBrk="1" hangingPunct="1">
              <a:buClrTx/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0000FF"/>
                </a:solidFill>
                <a:latin typeface="Courier New" panose="02070309020205020404" pitchFamily="49" charset="0"/>
                <a:ea typeface="华文楷体" panose="02010600040101010101" pitchFamily="2" charset="-122"/>
                <a:cs typeface="Courier New" panose="02070309020205020404" pitchFamily="49" charset="0"/>
              </a:rPr>
              <a:t>7</a:t>
            </a:r>
            <a:endParaRPr lang="en-US" altLang="zh-CN" b="1">
              <a:solidFill>
                <a:schemeClr val="tx1"/>
              </a:solidFill>
              <a:latin typeface="Courier New" panose="02070309020205020404" pitchFamily="49" charset="0"/>
              <a:ea typeface="华文楷体" panose="02010600040101010101" pitchFamily="2" charset="-122"/>
              <a:cs typeface="Courier New" panose="02070309020205020404" pitchFamily="49" charset="0"/>
            </a:endParaRPr>
          </a:p>
          <a:p>
            <a:pPr lvl="1" eaLnBrk="1" hangingPunct="1">
              <a:buClrTx/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tx1"/>
                </a:solidFill>
                <a:latin typeface="Courier New" panose="02070309020205020404" pitchFamily="49" charset="0"/>
                <a:ea typeface="华文楷体" panose="02010600040101010101" pitchFamily="2" charset="-122"/>
                <a:cs typeface="Courier New" panose="02070309020205020404" pitchFamily="49" charset="0"/>
              </a:rPr>
              <a:t>then</a:t>
            </a:r>
            <a:endParaRPr lang="en-US" altLang="zh-CN" b="1">
              <a:solidFill>
                <a:schemeClr val="tx1"/>
              </a:solidFill>
              <a:latin typeface="Courier New" panose="02070309020205020404" pitchFamily="49" charset="0"/>
              <a:ea typeface="华文楷体" panose="02010600040101010101" pitchFamily="2" charset="-122"/>
              <a:cs typeface="Courier New" panose="02070309020205020404" pitchFamily="49" charset="0"/>
            </a:endParaRPr>
          </a:p>
          <a:p>
            <a:pPr lvl="1" eaLnBrk="1" hangingPunct="1">
              <a:buClrTx/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0070C0"/>
                </a:solidFill>
                <a:latin typeface="Courier New" panose="02070309020205020404" pitchFamily="49" charset="0"/>
                <a:ea typeface="华文楷体" panose="02010600040101010101" pitchFamily="2" charset="-122"/>
                <a:cs typeface="Courier New" panose="02070309020205020404" pitchFamily="49" charset="0"/>
              </a:rPr>
              <a:t>result</a:t>
            </a:r>
            <a:endParaRPr lang="en-US" altLang="zh-CN" b="1">
              <a:solidFill>
                <a:srgbClr val="0070C0"/>
              </a:solidFill>
              <a:latin typeface="Courier New" panose="02070309020205020404" pitchFamily="49" charset="0"/>
              <a:ea typeface="华文楷体" panose="02010600040101010101" pitchFamily="2" charset="-122"/>
              <a:cs typeface="Courier New" panose="02070309020205020404" pitchFamily="49" charset="0"/>
            </a:endParaRPr>
          </a:p>
          <a:p>
            <a:pPr lvl="1" eaLnBrk="1" hangingPunct="1">
              <a:buClrTx/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tx1"/>
                </a:solidFill>
                <a:latin typeface="Courier New" panose="02070309020205020404" pitchFamily="49" charset="0"/>
                <a:ea typeface="华文楷体" panose="02010600040101010101" pitchFamily="2" charset="-122"/>
                <a:cs typeface="Courier New" panose="02070309020205020404" pitchFamily="49" charset="0"/>
              </a:rPr>
              <a:t>:=</a:t>
            </a:r>
            <a:endParaRPr lang="en-US" altLang="zh-CN" b="1">
              <a:solidFill>
                <a:schemeClr val="tx1"/>
              </a:solidFill>
              <a:latin typeface="Courier New" panose="02070309020205020404" pitchFamily="49" charset="0"/>
              <a:ea typeface="华文楷体" panose="02010600040101010101" pitchFamily="2" charset="-122"/>
              <a:cs typeface="Courier New" panose="02070309020205020404" pitchFamily="49" charset="0"/>
            </a:endParaRPr>
          </a:p>
          <a:p>
            <a:pPr lvl="1" eaLnBrk="1" hangingPunct="1">
              <a:buClrTx/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0000FF"/>
                </a:solidFill>
                <a:latin typeface="Courier New" panose="02070309020205020404" pitchFamily="49" charset="0"/>
                <a:ea typeface="华文楷体" panose="02010600040101010101" pitchFamily="2" charset="-122"/>
                <a:cs typeface="Courier New" panose="02070309020205020404" pitchFamily="49" charset="0"/>
              </a:rPr>
              <a:t>3.14</a:t>
            </a:r>
            <a:endParaRPr lang="en-US" altLang="zh-CN" b="1">
              <a:solidFill>
                <a:schemeClr val="tx1"/>
              </a:solidFill>
              <a:latin typeface="Courier New" panose="02070309020205020404" pitchFamily="49" charset="0"/>
              <a:ea typeface="华文楷体" panose="02010600040101010101" pitchFamily="2" charset="-122"/>
              <a:cs typeface="Courier New" panose="02070309020205020404" pitchFamily="49" charset="0"/>
            </a:endParaRPr>
          </a:p>
          <a:p>
            <a:pPr lvl="1" eaLnBrk="1" hangingPunct="1">
              <a:buClrTx/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tx1"/>
                </a:solidFill>
                <a:latin typeface="Courier New" panose="02070309020205020404" pitchFamily="49" charset="0"/>
                <a:ea typeface="华文楷体" panose="02010600040101010101" pitchFamily="2" charset="-122"/>
                <a:cs typeface="Courier New" panose="02070309020205020404" pitchFamily="49" charset="0"/>
              </a:rPr>
              <a:t>; </a:t>
            </a:r>
            <a:endParaRPr lang="en-US" altLang="zh-CN" b="1">
              <a:solidFill>
                <a:schemeClr val="tx1"/>
              </a:solidFill>
              <a:latin typeface="Courier New" panose="02070309020205020404" pitchFamily="49" charset="0"/>
              <a:ea typeface="华文楷体" panose="02010600040101010101" pitchFamily="2" charset="-122"/>
              <a:cs typeface="Courier New" panose="02070309020205020404" pitchFamily="49" charset="0"/>
            </a:endParaRPr>
          </a:p>
        </p:txBody>
      </p:sp>
      <p:grpSp>
        <p:nvGrpSpPr>
          <p:cNvPr id="29" name="组合 28"/>
          <p:cNvGrpSpPr/>
          <p:nvPr/>
        </p:nvGrpSpPr>
        <p:grpSpPr bwMode="auto">
          <a:xfrm>
            <a:off x="3698035" y="746670"/>
            <a:ext cx="4566490" cy="3454400"/>
            <a:chOff x="3698014" y="996328"/>
            <a:chExt cx="4566786" cy="3455159"/>
          </a:xfrm>
        </p:grpSpPr>
        <p:grpSp>
          <p:nvGrpSpPr>
            <p:cNvPr id="30730" name="组合 36"/>
            <p:cNvGrpSpPr/>
            <p:nvPr/>
          </p:nvGrpSpPr>
          <p:grpSpPr bwMode="auto">
            <a:xfrm>
              <a:off x="3698014" y="996328"/>
              <a:ext cx="4566786" cy="2833357"/>
              <a:chOff x="585350" y="924554"/>
              <a:chExt cx="4567678" cy="2832097"/>
            </a:xfrm>
          </p:grpSpPr>
          <p:grpSp>
            <p:nvGrpSpPr>
              <p:cNvPr id="12" name="组合 15"/>
              <p:cNvGrpSpPr/>
              <p:nvPr/>
            </p:nvGrpSpPr>
            <p:grpSpPr bwMode="auto">
              <a:xfrm>
                <a:off x="585350" y="924554"/>
                <a:ext cx="4567678" cy="369234"/>
                <a:chOff x="7805377" y="3007926"/>
                <a:chExt cx="1240542" cy="867640"/>
              </a:xfrm>
              <a:solidFill>
                <a:schemeClr val="bg1">
                  <a:lumMod val="95000"/>
                </a:schemeClr>
              </a:solidFill>
            </p:grpSpPr>
            <p:sp>
              <p:nvSpPr>
                <p:cNvPr id="13" name="矩形 12"/>
                <p:cNvSpPr/>
                <p:nvPr/>
              </p:nvSpPr>
              <p:spPr bwMode="auto">
                <a:xfrm>
                  <a:off x="8289328" y="3007926"/>
                  <a:ext cx="756591" cy="867640"/>
                </a:xfrm>
                <a:prstGeom prst="rect">
                  <a:avLst/>
                </a:prstGeom>
                <a:grpFill/>
                <a:ln w="19050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lIns="67640" tIns="33821" rIns="67640" bIns="33821"/>
                <a:lstStyle/>
                <a:p>
                  <a:pPr algn="ctr">
                    <a:lnSpc>
                      <a:spcPct val="90000"/>
                    </a:lnSpc>
                    <a:spcBef>
                      <a:spcPts val="440"/>
                    </a:spcBef>
                    <a:spcAft>
                      <a:spcPts val="440"/>
                    </a:spcAft>
                    <a:buClr>
                      <a:schemeClr val="tx2"/>
                    </a:buClr>
                    <a:buSzPct val="80000"/>
                    <a:defRPr/>
                  </a:pPr>
                  <a:r>
                    <a:rPr lang="en-US" altLang="zh-CN" sz="2100" b="1" dirty="0">
                      <a:solidFill>
                        <a:srgbClr val="0070C0"/>
                      </a:solidFill>
                    </a:rPr>
                    <a:t>&lt;</a:t>
                  </a:r>
                  <a:r>
                    <a:rPr lang="zh-CN" altLang="en-US" sz="2100" b="1" dirty="0">
                      <a:solidFill>
                        <a:srgbClr val="0070C0"/>
                      </a:solidFill>
                    </a:rPr>
                    <a:t>一词一符</a:t>
                  </a:r>
                  <a:r>
                    <a:rPr lang="en-US" altLang="zh-CN" sz="2100" b="1" dirty="0">
                      <a:solidFill>
                        <a:srgbClr val="0070C0"/>
                      </a:solidFill>
                    </a:rPr>
                    <a:t>, - &gt;</a:t>
                  </a:r>
                  <a:endParaRPr lang="zh-CN" altLang="en-US" sz="2100" b="1" dirty="0">
                    <a:solidFill>
                      <a:srgbClr val="0070C0"/>
                    </a:solidFill>
                  </a:endParaRPr>
                </a:p>
              </p:txBody>
            </p:sp>
            <p:cxnSp>
              <p:nvCxnSpPr>
                <p:cNvPr id="14" name="直接箭头连接符 3"/>
                <p:cNvCxnSpPr>
                  <a:cxnSpLocks noChangeShapeType="1"/>
                  <a:stCxn id="13" idx="1"/>
                </p:cNvCxnSpPr>
                <p:nvPr/>
              </p:nvCxnSpPr>
              <p:spPr bwMode="auto">
                <a:xfrm flipH="1">
                  <a:off x="7805377" y="3441746"/>
                  <a:ext cx="483951" cy="149010"/>
                </a:xfrm>
                <a:prstGeom prst="straightConnector1">
                  <a:avLst/>
                </a:prstGeom>
                <a:grpFill/>
                <a:ln w="28575" algn="ctr">
                  <a:solidFill>
                    <a:schemeClr val="accent5">
                      <a:lumMod val="50000"/>
                    </a:schemeClr>
                  </a:solidFill>
                  <a:round/>
                  <a:headEnd type="none" w="med" len="med"/>
                  <a:tailEnd type="arrow" w="med" len="med"/>
                </a:ln>
              </p:spPr>
            </p:cxnSp>
          </p:grpSp>
          <p:cxnSp>
            <p:nvCxnSpPr>
              <p:cNvPr id="27" name="直接箭头连接符 3"/>
              <p:cNvCxnSpPr>
                <a:cxnSpLocks noChangeShapeType="1"/>
              </p:cNvCxnSpPr>
              <p:nvPr/>
            </p:nvCxnSpPr>
            <p:spPr bwMode="auto">
              <a:xfrm flipH="1" flipV="1">
                <a:off x="1027630" y="2100944"/>
                <a:ext cx="1368781" cy="1655707"/>
              </a:xfrm>
              <a:prstGeom prst="straightConnector1">
                <a:avLst/>
              </a:prstGeom>
              <a:solidFill>
                <a:schemeClr val="bg1">
                  <a:lumMod val="95000"/>
                </a:schemeClr>
              </a:solidFill>
              <a:ln w="28575" algn="ctr">
                <a:solidFill>
                  <a:schemeClr val="accent5">
                    <a:lumMod val="50000"/>
                  </a:schemeClr>
                </a:solidFill>
                <a:round/>
                <a:headEnd type="none" w="med" len="med"/>
                <a:tailEnd type="arrow" w="med" len="med"/>
              </a:ln>
            </p:spPr>
          </p:cxnSp>
          <p:cxnSp>
            <p:nvCxnSpPr>
              <p:cNvPr id="30" name="直接箭头连接符 3"/>
              <p:cNvCxnSpPr>
                <a:cxnSpLocks noChangeShapeType="1"/>
              </p:cNvCxnSpPr>
              <p:nvPr/>
            </p:nvCxnSpPr>
            <p:spPr bwMode="auto">
              <a:xfrm flipH="1">
                <a:off x="824377" y="1130883"/>
                <a:ext cx="1543451" cy="1569684"/>
              </a:xfrm>
              <a:prstGeom prst="straightConnector1">
                <a:avLst/>
              </a:prstGeom>
              <a:solidFill>
                <a:schemeClr val="bg1">
                  <a:lumMod val="95000"/>
                </a:schemeClr>
              </a:solidFill>
              <a:ln w="28575" algn="ctr">
                <a:solidFill>
                  <a:schemeClr val="accent5">
                    <a:lumMod val="50000"/>
                  </a:schemeClr>
                </a:solidFill>
                <a:round/>
                <a:headEnd type="none" w="med" len="med"/>
                <a:tailEnd type="arrow" w="med" len="med"/>
              </a:ln>
            </p:spPr>
          </p:cxnSp>
          <p:cxnSp>
            <p:nvCxnSpPr>
              <p:cNvPr id="33" name="直接箭头连接符 3"/>
              <p:cNvCxnSpPr>
                <a:cxnSpLocks noChangeShapeType="1"/>
                <a:stCxn id="13" idx="1"/>
              </p:cNvCxnSpPr>
              <p:nvPr/>
            </p:nvCxnSpPr>
            <p:spPr bwMode="auto">
              <a:xfrm flipH="1">
                <a:off x="1199125" y="1108663"/>
                <a:ext cx="1168704" cy="2487053"/>
              </a:xfrm>
              <a:prstGeom prst="straightConnector1">
                <a:avLst/>
              </a:prstGeom>
              <a:solidFill>
                <a:schemeClr val="bg1">
                  <a:lumMod val="95000"/>
                </a:schemeClr>
              </a:solidFill>
              <a:ln w="28575" algn="ctr">
                <a:solidFill>
                  <a:schemeClr val="accent5">
                    <a:lumMod val="50000"/>
                  </a:schemeClr>
                </a:solidFill>
                <a:round/>
                <a:headEnd type="none" w="med" len="med"/>
                <a:tailEnd type="arrow" w="med" len="med"/>
              </a:ln>
            </p:spPr>
          </p:cxnSp>
        </p:grpSp>
        <p:cxnSp>
          <p:nvCxnSpPr>
            <p:cNvPr id="35" name="直接箭头连接符 3"/>
            <p:cNvCxnSpPr>
              <a:cxnSpLocks noChangeShapeType="1"/>
              <a:stCxn id="13" idx="1"/>
            </p:cNvCxnSpPr>
            <p:nvPr/>
          </p:nvCxnSpPr>
          <p:spPr bwMode="auto">
            <a:xfrm flipH="1">
              <a:off x="4083054" y="1180518"/>
              <a:ext cx="1397091" cy="3270969"/>
            </a:xfrm>
            <a:prstGeom prst="straightConnector1">
              <a:avLst/>
            </a:prstGeom>
            <a:solidFill>
              <a:schemeClr val="bg1">
                <a:lumMod val="95000"/>
              </a:schemeClr>
            </a:solidFill>
            <a:ln w="28575" algn="ctr">
              <a:solidFill>
                <a:schemeClr val="accent5">
                  <a:lumMod val="50000"/>
                </a:schemeClr>
              </a:solidFill>
              <a:round/>
              <a:headEnd type="none" w="med" len="med"/>
              <a:tailEnd type="arrow" w="med" len="med"/>
            </a:ln>
          </p:spPr>
        </p:cxnSp>
      </p:grpSp>
      <p:sp>
        <p:nvSpPr>
          <p:cNvPr id="2" name="矩形 1"/>
          <p:cNvSpPr/>
          <p:nvPr/>
        </p:nvSpPr>
        <p:spPr>
          <a:xfrm>
            <a:off x="1115616" y="4418158"/>
            <a:ext cx="6912768" cy="43760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使用正则文法即可定义每类</a:t>
            </a:r>
            <a:r>
              <a:rPr lang="zh-CN" altLang="en-US" sz="2000" b="1" dirty="0">
                <a:solidFill>
                  <a:srgbClr val="0070C0"/>
                </a:solidFill>
              </a:rPr>
              <a:t>单词构成的语言</a:t>
            </a:r>
            <a:r>
              <a:rPr lang="zh-CN" altLang="en-US" sz="2000" b="1" dirty="0">
                <a:solidFill>
                  <a:schemeClr val="tx1"/>
                </a:solidFill>
              </a:rPr>
              <a:t>，是</a:t>
            </a:r>
            <a:r>
              <a:rPr lang="zh-CN" altLang="en-US" sz="2000" b="1" dirty="0">
                <a:solidFill>
                  <a:srgbClr val="0070C0"/>
                </a:solidFill>
              </a:rPr>
              <a:t>正则语言</a:t>
            </a:r>
            <a:endParaRPr lang="zh-CN" altLang="en-US" sz="20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056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1056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1056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1056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"/>
                                        <p:tgtEl>
                                          <p:spTgt spid="1056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"/>
                                        <p:tgtEl>
                                          <p:spTgt spid="1056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75"/>
                                        <p:tgtEl>
                                          <p:spTgt spid="1056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75"/>
                                        <p:tgtEl>
                                          <p:spTgt spid="1056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75"/>
                                        <p:tgtEl>
                                          <p:spTgt spid="1056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6771" grpId="0" bldLvl="2" autoUpdateAnimBg="0" uiExpand="1" build="p"/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987" name="Rectangle 3"/>
          <p:cNvSpPr>
            <a:spLocks noGrp="1"/>
          </p:cNvSpPr>
          <p:nvPr>
            <p:ph idx="1"/>
          </p:nvPr>
        </p:nvSpPr>
        <p:spPr>
          <a:xfrm>
            <a:off x="468313" y="223838"/>
            <a:ext cx="8031162" cy="4357687"/>
          </a:xfrm>
        </p:spPr>
        <p:txBody>
          <a:bodyPr/>
          <a:lstStyle/>
          <a:p>
            <a:pPr marL="0" indent="0" algn="ctr" eaLnBrk="1" hangingPunct="1">
              <a:lnSpc>
                <a:spcPts val="4000"/>
              </a:lnSpc>
              <a:buClrTx/>
              <a:buFont typeface="Symbol" panose="05050102010706020507" pitchFamily="18" charset="2"/>
              <a:buNone/>
            </a:pPr>
            <a:endParaRPr lang="en-US" altLang="zh-CN" sz="2300" b="1" dirty="0">
              <a:solidFill>
                <a:schemeClr val="tx1"/>
              </a:solidFill>
              <a:latin typeface="华文楷体" panose="02010600040101010101" pitchFamily="2" charset="-122"/>
              <a:cs typeface="楷体_GB2312"/>
            </a:endParaRPr>
          </a:p>
          <a:p>
            <a:pPr marL="0" indent="0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300" b="1" dirty="0">
                <a:solidFill>
                  <a:schemeClr val="tx1"/>
                </a:solidFill>
                <a:latin typeface="华文楷体" panose="02010600040101010101" pitchFamily="2" charset="-122"/>
                <a:cs typeface="楷体_GB2312"/>
              </a:rPr>
              <a:t> </a:t>
            </a:r>
            <a:r>
              <a:rPr lang="zh-CN" altLang="en-US" sz="2300" b="1" dirty="0">
                <a:solidFill>
                  <a:srgbClr val="FF0000"/>
                </a:solidFill>
                <a:latin typeface="华文楷体" panose="02010600040101010101" pitchFamily="2" charset="-122"/>
                <a:cs typeface="楷体_GB2312"/>
              </a:rPr>
              <a:t>正则表达式</a:t>
            </a:r>
            <a:r>
              <a:rPr lang="en-US" altLang="zh-CN" sz="1600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16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Regular Expression</a:t>
            </a:r>
            <a:r>
              <a:rPr lang="zh-CN" altLang="en-US" sz="16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16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RE</a:t>
            </a:r>
            <a:r>
              <a:rPr lang="en-US" altLang="zh-CN" sz="1600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sz="2300" b="1" dirty="0">
                <a:solidFill>
                  <a:schemeClr val="tx1"/>
                </a:solidFill>
                <a:latin typeface="华文楷体" panose="02010600040101010101" pitchFamily="2" charset="-122"/>
              </a:rPr>
              <a:t> 是一种用来描述</a:t>
            </a:r>
            <a:r>
              <a:rPr lang="zh-CN" altLang="en-US" sz="2300" b="1" dirty="0">
                <a:solidFill>
                  <a:srgbClr val="2D83F4"/>
                </a:solidFill>
                <a:latin typeface="华文楷体" panose="02010600040101010101" pitchFamily="2" charset="-122"/>
              </a:rPr>
              <a:t>正则语言</a:t>
            </a:r>
            <a:r>
              <a:rPr lang="zh-CN" altLang="en-US" sz="2300" b="1" dirty="0">
                <a:solidFill>
                  <a:schemeClr val="tx1"/>
                </a:solidFill>
                <a:latin typeface="华文楷体" panose="02010600040101010101" pitchFamily="2" charset="-122"/>
              </a:rPr>
              <a:t>的</a:t>
            </a:r>
            <a:r>
              <a:rPr lang="zh-CN" altLang="en-US" sz="2300" b="1" dirty="0">
                <a:solidFill>
                  <a:srgbClr val="2D83F4"/>
                </a:solidFill>
                <a:latin typeface="华文楷体" panose="02010600040101010101" pitchFamily="2" charset="-122"/>
              </a:rPr>
              <a:t>更紧凑</a:t>
            </a:r>
            <a:r>
              <a:rPr lang="zh-CN" altLang="en-US" sz="2300" b="1" dirty="0">
                <a:solidFill>
                  <a:schemeClr val="tx1"/>
                </a:solidFill>
                <a:latin typeface="华文楷体" panose="02010600040101010101" pitchFamily="2" charset="-122"/>
              </a:rPr>
              <a:t>的表示方法。</a:t>
            </a:r>
            <a:endParaRPr lang="en-US" altLang="zh-CN" sz="2300" b="1" dirty="0">
              <a:solidFill>
                <a:schemeClr val="tx1"/>
              </a:solidFill>
              <a:latin typeface="华文楷体" panose="02010600040101010101" pitchFamily="2" charset="-122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300" b="1" dirty="0">
                <a:solidFill>
                  <a:schemeClr val="tx1"/>
                </a:solidFill>
                <a:latin typeface="华文楷体" panose="02010600040101010101" pitchFamily="2" charset="-122"/>
              </a:rPr>
              <a:t>例：正则语言</a:t>
            </a:r>
            <a:r>
              <a:rPr lang="en-US" altLang="zh-CN" sz="2300" b="1" i="1" dirty="0">
                <a:solidFill>
                  <a:schemeClr val="tx1"/>
                </a:solidFill>
              </a:rPr>
              <a:t>L</a:t>
            </a:r>
            <a:r>
              <a:rPr lang="en-US" altLang="zh-CN" sz="2300" b="1" dirty="0">
                <a:solidFill>
                  <a:schemeClr val="tx1"/>
                </a:solidFill>
              </a:rPr>
              <a:t>={</a:t>
            </a:r>
            <a:r>
              <a:rPr lang="en-US" altLang="zh-CN" sz="2300" b="1" i="1" dirty="0">
                <a:solidFill>
                  <a:schemeClr val="tx1"/>
                </a:solidFill>
              </a:rPr>
              <a:t>a</a:t>
            </a:r>
            <a:r>
              <a:rPr lang="en-US" altLang="zh-CN" sz="2300" b="1" dirty="0">
                <a:solidFill>
                  <a:schemeClr val="tx1"/>
                </a:solidFill>
              </a:rPr>
              <a:t>}{</a:t>
            </a:r>
            <a:r>
              <a:rPr lang="en-US" altLang="zh-CN" sz="2300" b="1" i="1" dirty="0">
                <a:solidFill>
                  <a:schemeClr val="tx1"/>
                </a:solidFill>
              </a:rPr>
              <a:t>a</a:t>
            </a:r>
            <a:r>
              <a:rPr lang="en-US" altLang="zh-CN" sz="2300" b="1" dirty="0">
                <a:solidFill>
                  <a:schemeClr val="tx1"/>
                </a:solidFill>
              </a:rPr>
              <a:t>, </a:t>
            </a:r>
            <a:r>
              <a:rPr lang="en-US" altLang="zh-CN" sz="2300" b="1" i="1" dirty="0">
                <a:solidFill>
                  <a:schemeClr val="tx1"/>
                </a:solidFill>
              </a:rPr>
              <a:t>b</a:t>
            </a:r>
            <a:r>
              <a:rPr lang="en-US" altLang="zh-CN" sz="2300" b="1" dirty="0">
                <a:solidFill>
                  <a:schemeClr val="tx1"/>
                </a:solidFill>
              </a:rPr>
              <a:t>}</a:t>
            </a:r>
            <a:r>
              <a:rPr lang="en-US" altLang="zh-CN" sz="2300" b="1" baseline="30000" dirty="0">
                <a:solidFill>
                  <a:schemeClr val="tx1"/>
                </a:solidFill>
              </a:rPr>
              <a:t>*</a:t>
            </a:r>
            <a:r>
              <a:rPr lang="en-US" altLang="zh-CN" sz="2300" b="1" dirty="0">
                <a:solidFill>
                  <a:schemeClr val="tx1"/>
                </a:solidFill>
              </a:rPr>
              <a:t>({</a:t>
            </a:r>
            <a:r>
              <a:rPr lang="en-US" altLang="zh-CN" sz="2300" b="1" i="1" dirty="0">
                <a:solidFill>
                  <a:schemeClr val="tx1"/>
                </a:solidFill>
              </a:rPr>
              <a:t>ε</a:t>
            </a:r>
            <a:r>
              <a:rPr lang="en-US" altLang="zh-CN" sz="2300" b="1" dirty="0">
                <a:solidFill>
                  <a:schemeClr val="tx1"/>
                </a:solidFill>
              </a:rPr>
              <a:t>}∪({.,_}{</a:t>
            </a:r>
            <a:r>
              <a:rPr lang="en-US" altLang="zh-CN" sz="2300" b="1" i="1" dirty="0">
                <a:solidFill>
                  <a:schemeClr val="tx1"/>
                </a:solidFill>
              </a:rPr>
              <a:t>a</a:t>
            </a:r>
            <a:r>
              <a:rPr lang="en-US" altLang="zh-CN" sz="2300" b="1" dirty="0">
                <a:solidFill>
                  <a:schemeClr val="tx1"/>
                </a:solidFill>
              </a:rPr>
              <a:t>, </a:t>
            </a:r>
            <a:r>
              <a:rPr lang="en-US" altLang="zh-CN" sz="2300" b="1" i="1" dirty="0">
                <a:solidFill>
                  <a:schemeClr val="tx1"/>
                </a:solidFill>
              </a:rPr>
              <a:t>b</a:t>
            </a:r>
            <a:r>
              <a:rPr lang="en-US" altLang="zh-CN" sz="2300" b="1" dirty="0">
                <a:solidFill>
                  <a:schemeClr val="tx1"/>
                </a:solidFill>
              </a:rPr>
              <a:t>}{</a:t>
            </a:r>
            <a:r>
              <a:rPr lang="en-US" altLang="zh-CN" sz="2300" b="1" i="1" dirty="0">
                <a:solidFill>
                  <a:schemeClr val="tx1"/>
                </a:solidFill>
              </a:rPr>
              <a:t>a</a:t>
            </a:r>
            <a:r>
              <a:rPr lang="en-US" altLang="zh-CN" sz="2300" b="1" dirty="0">
                <a:solidFill>
                  <a:schemeClr val="tx1"/>
                </a:solidFill>
              </a:rPr>
              <a:t>, </a:t>
            </a:r>
            <a:r>
              <a:rPr lang="en-US" altLang="zh-CN" sz="2300" b="1" i="1" dirty="0">
                <a:solidFill>
                  <a:schemeClr val="tx1"/>
                </a:solidFill>
              </a:rPr>
              <a:t>b</a:t>
            </a:r>
            <a:r>
              <a:rPr lang="en-US" altLang="zh-CN" sz="2300" b="1" dirty="0">
                <a:solidFill>
                  <a:schemeClr val="tx1"/>
                </a:solidFill>
              </a:rPr>
              <a:t>}</a:t>
            </a:r>
            <a:r>
              <a:rPr lang="en-US" altLang="zh-CN" sz="2300" b="1" baseline="30000" dirty="0">
                <a:solidFill>
                  <a:schemeClr val="tx1"/>
                </a:solidFill>
              </a:rPr>
              <a:t>*</a:t>
            </a:r>
            <a:r>
              <a:rPr lang="en-US" altLang="zh-CN" sz="2300" b="1" dirty="0">
                <a:solidFill>
                  <a:schemeClr val="tx1"/>
                </a:solidFill>
              </a:rPr>
              <a:t>))</a:t>
            </a:r>
            <a:endParaRPr lang="en-US" altLang="zh-CN" sz="23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4000"/>
              </a:lnSpc>
              <a:buClrTx/>
              <a:buFont typeface="Symbol" panose="05050102010706020507" pitchFamily="18" charset="2"/>
              <a:buNone/>
            </a:pPr>
            <a:r>
              <a:rPr lang="zh-CN" altLang="en-US" sz="2300" b="1" dirty="0">
                <a:solidFill>
                  <a:schemeClr val="tx1"/>
                </a:solidFill>
              </a:rPr>
              <a:t>       正则表达式 </a:t>
            </a:r>
            <a:r>
              <a:rPr lang="en-US" altLang="zh-CN" sz="2300" b="1" i="1" dirty="0">
                <a:solidFill>
                  <a:schemeClr val="tx1"/>
                </a:solidFill>
              </a:rPr>
              <a:t>r = a</a:t>
            </a:r>
            <a:r>
              <a:rPr lang="en-US" altLang="zh-CN" sz="2300" b="1" dirty="0">
                <a:solidFill>
                  <a:schemeClr val="tx1"/>
                </a:solidFill>
              </a:rPr>
              <a:t>(</a:t>
            </a:r>
            <a:r>
              <a:rPr lang="en-US" altLang="zh-CN" sz="2300" b="1" i="1" dirty="0" err="1">
                <a:solidFill>
                  <a:schemeClr val="tx1"/>
                </a:solidFill>
              </a:rPr>
              <a:t>a|b</a:t>
            </a:r>
            <a:r>
              <a:rPr lang="en-US" altLang="zh-CN" sz="2300" b="1" dirty="0">
                <a:solidFill>
                  <a:schemeClr val="tx1"/>
                </a:solidFill>
              </a:rPr>
              <a:t>)</a:t>
            </a:r>
            <a:r>
              <a:rPr lang="en-US" altLang="zh-CN" sz="2300" b="1" baseline="30000" dirty="0">
                <a:solidFill>
                  <a:schemeClr val="tx1"/>
                </a:solidFill>
              </a:rPr>
              <a:t>*</a:t>
            </a:r>
            <a:r>
              <a:rPr lang="en-US" altLang="zh-CN" sz="2300" b="1" dirty="0">
                <a:solidFill>
                  <a:schemeClr val="tx1"/>
                </a:solidFill>
              </a:rPr>
              <a:t>(</a:t>
            </a:r>
            <a:r>
              <a:rPr lang="en-US" altLang="zh-CN" sz="2300" b="1" i="1" dirty="0">
                <a:solidFill>
                  <a:schemeClr val="tx1"/>
                </a:solidFill>
              </a:rPr>
              <a:t> ε | </a:t>
            </a:r>
            <a:r>
              <a:rPr lang="en-US" altLang="zh-CN" sz="2300" b="1" dirty="0">
                <a:solidFill>
                  <a:schemeClr val="tx1"/>
                </a:solidFill>
              </a:rPr>
              <a:t>(</a:t>
            </a:r>
            <a:r>
              <a:rPr lang="en-US" altLang="zh-CN" sz="2300" b="1" i="1" dirty="0">
                <a:solidFill>
                  <a:schemeClr val="tx1"/>
                </a:solidFill>
              </a:rPr>
              <a:t>.| _</a:t>
            </a:r>
            <a:r>
              <a:rPr lang="en-US" altLang="zh-CN" sz="2300" b="1" dirty="0">
                <a:solidFill>
                  <a:schemeClr val="tx1"/>
                </a:solidFill>
              </a:rPr>
              <a:t>)(</a:t>
            </a:r>
            <a:r>
              <a:rPr lang="en-US" altLang="zh-CN" sz="2300" b="1" i="1" dirty="0" err="1">
                <a:solidFill>
                  <a:schemeClr val="tx1"/>
                </a:solidFill>
              </a:rPr>
              <a:t>a|b</a:t>
            </a:r>
            <a:r>
              <a:rPr lang="en-US" altLang="zh-CN" sz="2300" b="1" dirty="0">
                <a:solidFill>
                  <a:schemeClr val="tx1"/>
                </a:solidFill>
              </a:rPr>
              <a:t>)(</a:t>
            </a:r>
            <a:r>
              <a:rPr lang="en-US" altLang="zh-CN" sz="2300" b="1" i="1" dirty="0" err="1">
                <a:solidFill>
                  <a:schemeClr val="tx1"/>
                </a:solidFill>
              </a:rPr>
              <a:t>a|b</a:t>
            </a:r>
            <a:r>
              <a:rPr lang="en-US" altLang="zh-CN" sz="2300" b="1" dirty="0">
                <a:solidFill>
                  <a:schemeClr val="tx1"/>
                </a:solidFill>
              </a:rPr>
              <a:t>)</a:t>
            </a:r>
            <a:r>
              <a:rPr lang="en-US" altLang="zh-CN" sz="2300" b="1" baseline="30000" dirty="0">
                <a:solidFill>
                  <a:schemeClr val="tx1"/>
                </a:solidFill>
              </a:rPr>
              <a:t>*</a:t>
            </a:r>
            <a:r>
              <a:rPr lang="en-US" altLang="zh-CN" sz="2300" b="1" dirty="0">
                <a:solidFill>
                  <a:schemeClr val="tx1"/>
                </a:solidFill>
              </a:rPr>
              <a:t> )</a:t>
            </a:r>
            <a:endParaRPr lang="en-US" altLang="zh-CN" sz="2300" b="1" dirty="0">
              <a:solidFill>
                <a:schemeClr val="tx1"/>
              </a:solidFill>
            </a:endParaRPr>
          </a:p>
          <a:p>
            <a:pPr marL="0" indent="0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300" b="1" dirty="0">
                <a:solidFill>
                  <a:schemeClr val="tx1"/>
                </a:solidFill>
                <a:latin typeface="华文楷体" panose="02010600040101010101" pitchFamily="2" charset="-122"/>
              </a:rPr>
              <a:t> 正则表达式可以由</a:t>
            </a:r>
            <a:r>
              <a:rPr lang="zh-CN" altLang="en-US" sz="2300" b="1" dirty="0">
                <a:solidFill>
                  <a:srgbClr val="2D83F4"/>
                </a:solidFill>
                <a:latin typeface="华文楷体" panose="02010600040101010101" pitchFamily="2" charset="-122"/>
              </a:rPr>
              <a:t>较小的正则表达式</a:t>
            </a:r>
            <a:r>
              <a:rPr lang="zh-CN" altLang="en-US" sz="2300" b="1" dirty="0">
                <a:solidFill>
                  <a:schemeClr val="tx1"/>
                </a:solidFill>
                <a:latin typeface="华文楷体" panose="02010600040101010101" pitchFamily="2" charset="-122"/>
              </a:rPr>
              <a:t>按照特定规则</a:t>
            </a:r>
            <a:r>
              <a:rPr lang="zh-CN" altLang="en-US" sz="2300" b="1" dirty="0">
                <a:solidFill>
                  <a:srgbClr val="2D83F4"/>
                </a:solidFill>
                <a:latin typeface="华文楷体" panose="02010600040101010101" pitchFamily="2" charset="-122"/>
              </a:rPr>
              <a:t>递归</a:t>
            </a:r>
            <a:r>
              <a:rPr lang="zh-CN" altLang="en-US" sz="2300" b="1" dirty="0">
                <a:solidFill>
                  <a:schemeClr val="tx1"/>
                </a:solidFill>
                <a:latin typeface="华文楷体" panose="02010600040101010101" pitchFamily="2" charset="-122"/>
              </a:rPr>
              <a:t>地构建。每个</a:t>
            </a:r>
            <a:r>
              <a:rPr lang="zh-CN" altLang="en-US" sz="2300" b="1" dirty="0">
                <a:solidFill>
                  <a:srgbClr val="FF0000"/>
                </a:solidFill>
                <a:latin typeface="华文楷体" panose="02010600040101010101" pitchFamily="2" charset="-122"/>
              </a:rPr>
              <a:t>正则表达式 </a:t>
            </a:r>
            <a:r>
              <a:rPr lang="en-US" altLang="zh-CN" sz="2300" b="1" i="1" dirty="0">
                <a:solidFill>
                  <a:srgbClr val="FF0000"/>
                </a:solidFill>
              </a:rPr>
              <a:t>r</a:t>
            </a:r>
            <a:r>
              <a:rPr lang="zh-CN" altLang="en-US" sz="2300" b="1" dirty="0">
                <a:solidFill>
                  <a:srgbClr val="FF0000"/>
                </a:solidFill>
                <a:latin typeface="华文楷体" panose="02010600040101010101" pitchFamily="2" charset="-122"/>
              </a:rPr>
              <a:t>定义</a:t>
            </a:r>
            <a:r>
              <a:rPr lang="zh-CN" altLang="en-US" sz="2300" b="1" dirty="0">
                <a:solidFill>
                  <a:srgbClr val="FF0000"/>
                </a:solidFill>
              </a:rPr>
              <a:t>（</a:t>
            </a:r>
            <a:r>
              <a:rPr lang="zh-CN" altLang="en-US" sz="2300" b="1" dirty="0">
                <a:solidFill>
                  <a:srgbClr val="FF0000"/>
                </a:solidFill>
                <a:latin typeface="华文楷体" panose="02010600040101010101" pitchFamily="2" charset="-122"/>
              </a:rPr>
              <a:t>表示</a:t>
            </a:r>
            <a:r>
              <a:rPr lang="zh-CN" altLang="en-US" sz="2300" b="1" dirty="0">
                <a:solidFill>
                  <a:srgbClr val="FF0000"/>
                </a:solidFill>
              </a:rPr>
              <a:t>）</a:t>
            </a:r>
            <a:r>
              <a:rPr lang="zh-CN" altLang="en-US" sz="2300" b="1" dirty="0">
                <a:solidFill>
                  <a:srgbClr val="FF0000"/>
                </a:solidFill>
                <a:latin typeface="华文楷体" panose="02010600040101010101" pitchFamily="2" charset="-122"/>
              </a:rPr>
              <a:t>一个语言</a:t>
            </a:r>
            <a:r>
              <a:rPr lang="zh-CN" altLang="en-US" sz="2300" b="1" dirty="0">
                <a:solidFill>
                  <a:schemeClr val="tx1"/>
                </a:solidFill>
                <a:latin typeface="华文楷体" panose="02010600040101010101" pitchFamily="2" charset="-122"/>
              </a:rPr>
              <a:t>，记为</a:t>
            </a:r>
            <a:r>
              <a:rPr lang="en-US" altLang="zh-CN" sz="2300" b="1" i="1" dirty="0">
                <a:solidFill>
                  <a:srgbClr val="2D83F4"/>
                </a:solidFill>
              </a:rPr>
              <a:t>L</a:t>
            </a:r>
            <a:r>
              <a:rPr lang="en-US" altLang="zh-CN" sz="2300" b="1" dirty="0">
                <a:solidFill>
                  <a:srgbClr val="2D83F4"/>
                </a:solidFill>
              </a:rPr>
              <a:t>(</a:t>
            </a:r>
            <a:r>
              <a:rPr lang="en-US" altLang="zh-CN" sz="2300" b="1" i="1" dirty="0">
                <a:solidFill>
                  <a:srgbClr val="2D83F4"/>
                </a:solidFill>
              </a:rPr>
              <a:t>r </a:t>
            </a:r>
            <a:r>
              <a:rPr lang="en-US" altLang="zh-CN" sz="2300" b="1" dirty="0">
                <a:solidFill>
                  <a:srgbClr val="2D83F4"/>
                </a:solidFill>
              </a:rPr>
              <a:t>)</a:t>
            </a:r>
            <a:r>
              <a:rPr lang="zh-CN" altLang="en-US" sz="2300" b="1" dirty="0">
                <a:solidFill>
                  <a:schemeClr val="tx1"/>
                </a:solidFill>
                <a:latin typeface="华文楷体" panose="02010600040101010101" pitchFamily="2" charset="-122"/>
              </a:rPr>
              <a:t>。这个语言也是根据</a:t>
            </a:r>
            <a:r>
              <a:rPr lang="en-US" altLang="zh-CN" sz="2300" b="1" i="1" dirty="0">
                <a:solidFill>
                  <a:schemeClr val="tx1"/>
                </a:solidFill>
              </a:rPr>
              <a:t>r</a:t>
            </a:r>
            <a:r>
              <a:rPr lang="en-US" altLang="zh-CN" sz="2300" b="1" i="1" dirty="0">
                <a:solidFill>
                  <a:schemeClr val="tx1"/>
                </a:solidFill>
                <a:latin typeface="华文楷体" panose="02010600040101010101" pitchFamily="2" charset="-122"/>
              </a:rPr>
              <a:t> </a:t>
            </a:r>
            <a:r>
              <a:rPr lang="zh-CN" altLang="en-US" sz="2300" b="1" dirty="0">
                <a:solidFill>
                  <a:schemeClr val="tx1"/>
                </a:solidFill>
                <a:latin typeface="华文楷体" panose="02010600040101010101" pitchFamily="2" charset="-122"/>
              </a:rPr>
              <a:t>的</a:t>
            </a:r>
            <a:r>
              <a:rPr lang="zh-CN" altLang="en-US" sz="2300" b="1" dirty="0">
                <a:solidFill>
                  <a:srgbClr val="2D83F4"/>
                </a:solidFill>
                <a:latin typeface="华文楷体" panose="02010600040101010101" pitchFamily="2" charset="-122"/>
              </a:rPr>
              <a:t>子表达式所表示的语言递归定义</a:t>
            </a:r>
            <a:r>
              <a:rPr lang="zh-CN" altLang="en-US" sz="2300" b="1" dirty="0">
                <a:solidFill>
                  <a:schemeClr val="tx1"/>
                </a:solidFill>
                <a:latin typeface="华文楷体" panose="02010600040101010101" pitchFamily="2" charset="-122"/>
              </a:rPr>
              <a:t>的</a:t>
            </a:r>
            <a:endParaRPr lang="en-US" altLang="zh-CN" sz="2300" b="1" dirty="0">
              <a:solidFill>
                <a:schemeClr val="tx1"/>
              </a:solidFill>
              <a:latin typeface="华文楷体" panose="02010600040101010101" pitchFamily="2" charset="-122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单词的描述</a:t>
            </a:r>
            <a:endParaRPr lang="zh-CN" altLang="en-US" sz="3000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3796" name="组合 5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33798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53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3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53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53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53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53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53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53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53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53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53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53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428625" y="1857375"/>
            <a:ext cx="8001000" cy="3225800"/>
          </a:xfrm>
        </p:spPr>
        <p:txBody>
          <a:bodyPr/>
          <a:lstStyle/>
          <a:p>
            <a:pPr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 假设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</a:t>
            </a:r>
            <a:r>
              <a:rPr lang="zh-CN" altLang="en-US" sz="2500" b="1" dirty="0">
                <a:solidFill>
                  <a:schemeClr val="tx1"/>
                </a:solidFill>
              </a:rPr>
              <a:t>和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</a:t>
            </a:r>
            <a:r>
              <a:rPr lang="zh-CN" altLang="en-US" sz="2500" b="1" dirty="0">
                <a:solidFill>
                  <a:schemeClr val="tx1"/>
                </a:solidFill>
              </a:rPr>
              <a:t>都是 </a:t>
            </a:r>
            <a:r>
              <a:rPr lang="en-US" altLang="zh-CN" sz="2500" b="1" i="1" dirty="0">
                <a:solidFill>
                  <a:schemeClr val="tx1"/>
                </a:solidFill>
              </a:rPr>
              <a:t>RE</a:t>
            </a:r>
            <a:r>
              <a:rPr lang="zh-CN" altLang="en-US" sz="2500" b="1" dirty="0">
                <a:solidFill>
                  <a:schemeClr val="tx1"/>
                </a:solidFill>
              </a:rPr>
              <a:t>，表示的语言分别是 </a:t>
            </a:r>
            <a:r>
              <a:rPr lang="en-US" altLang="zh-CN" sz="2500" b="1" i="1" dirty="0">
                <a:solidFill>
                  <a:schemeClr val="tx1"/>
                </a:solidFill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</a:rPr>
              <a:t>r</a:t>
            </a:r>
            <a:r>
              <a:rPr lang="en-US" altLang="zh-CN" sz="2500" b="1" dirty="0">
                <a:solidFill>
                  <a:schemeClr val="tx1"/>
                </a:solidFill>
              </a:rPr>
              <a:t>)</a:t>
            </a:r>
            <a:r>
              <a:rPr lang="zh-CN" altLang="en-US" sz="2500" b="1" dirty="0">
                <a:solidFill>
                  <a:schemeClr val="tx1"/>
                </a:solidFill>
              </a:rPr>
              <a:t>和</a:t>
            </a:r>
            <a:r>
              <a:rPr lang="en-US" altLang="zh-CN" sz="2500" b="1" i="1" dirty="0">
                <a:solidFill>
                  <a:schemeClr val="tx1"/>
                </a:solidFill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</a:rPr>
              <a:t>s</a:t>
            </a:r>
            <a:r>
              <a:rPr lang="en-US" altLang="zh-CN" sz="2500" b="1" dirty="0">
                <a:solidFill>
                  <a:schemeClr val="tx1"/>
                </a:solidFill>
              </a:rPr>
              <a:t>)</a:t>
            </a:r>
            <a:r>
              <a:rPr lang="zh-CN" altLang="en-US" sz="2500" b="1" dirty="0">
                <a:solidFill>
                  <a:schemeClr val="tx1"/>
                </a:solidFill>
              </a:rPr>
              <a:t>，则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i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r</a:t>
            </a:r>
            <a:r>
              <a:rPr lang="en-US" altLang="zh-CN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|</a:t>
            </a:r>
            <a:r>
              <a:rPr lang="en-US" altLang="zh-CN" b="1" i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s</a:t>
            </a:r>
            <a:r>
              <a:rPr lang="en-US" altLang="zh-CN" b="1" i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是一个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RE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L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( </a:t>
            </a:r>
            <a:r>
              <a:rPr lang="en-US" altLang="zh-CN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r|s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) =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L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∪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L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i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rs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是一个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RE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L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( </a:t>
            </a:r>
            <a:r>
              <a:rPr lang="en-US" altLang="zh-CN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rs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) =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L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) 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L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) 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pt-BR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pt-BR" altLang="zh-CN" b="1" i="1" dirty="0">
                <a:solidFill>
                  <a:srgbClr val="FF0000"/>
                </a:solidFill>
                <a:cs typeface="Times New Roman" panose="02020603050405020304" pitchFamily="18" charset="0"/>
              </a:rPr>
              <a:t>r</a:t>
            </a:r>
            <a:r>
              <a:rPr lang="pt-BR" altLang="zh-CN" b="1" baseline="30000" dirty="0">
                <a:solidFill>
                  <a:srgbClr val="FF0000"/>
                </a:solidFill>
                <a:cs typeface="Times New Roman" panose="02020603050405020304" pitchFamily="18" charset="0"/>
              </a:rPr>
              <a:t>*</a:t>
            </a:r>
            <a:r>
              <a:rPr lang="pt-BR" altLang="zh-CN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是一个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RE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pt-BR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L</a:t>
            </a:r>
            <a:r>
              <a:rPr lang="pt-BR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( </a:t>
            </a:r>
            <a:r>
              <a:rPr lang="pt-BR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r</a:t>
            </a:r>
            <a:r>
              <a:rPr lang="pt-BR" altLang="zh-CN" b="1" i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* </a:t>
            </a:r>
            <a:r>
              <a:rPr lang="pt-BR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) 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=</a:t>
            </a:r>
            <a:r>
              <a:rPr lang="pt-BR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 (</a:t>
            </a:r>
            <a:r>
              <a:rPr lang="pt-BR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L</a:t>
            </a:r>
            <a:r>
              <a:rPr lang="pt-BR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pt-BR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r</a:t>
            </a:r>
            <a:r>
              <a:rPr lang="pt-BR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))</a:t>
            </a:r>
            <a:r>
              <a:rPr lang="pt-BR" altLang="zh-CN" b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*</a:t>
            </a:r>
            <a:r>
              <a:rPr lang="pt-BR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endParaRPr lang="pt-BR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solidFill>
                  <a:srgbClr val="FF0000"/>
                </a:solidFill>
                <a:cs typeface="Times New Roman" panose="02020603050405020304" pitchFamily="18" charset="0"/>
              </a:rPr>
              <a:t>) 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是一个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RE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L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( 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) 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) =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L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endParaRPr lang="zh-CN" altLang="en-US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7" name="标题 1"/>
          <p:cNvSpPr txBox="1"/>
          <p:nvPr/>
        </p:nvSpPr>
        <p:spPr bwMode="auto">
          <a:xfrm>
            <a:off x="1691680" y="4487863"/>
            <a:ext cx="5830888" cy="44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25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运算的优先级：</a:t>
            </a:r>
            <a:r>
              <a:rPr lang="zh-CN" altLang="en-US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*</a:t>
            </a:r>
            <a:r>
              <a:rPr lang="zh-CN" altLang="en-US" sz="25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、</a:t>
            </a:r>
            <a:r>
              <a:rPr lang="zh-CN" altLang="en-US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连接</a:t>
            </a:r>
            <a:r>
              <a:rPr lang="zh-CN" altLang="en-US" sz="25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、</a:t>
            </a:r>
            <a:r>
              <a: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|</a:t>
            </a:r>
            <a:endParaRPr lang="zh-CN" altLang="en-US" sz="25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正则表达式的定义</a:t>
            </a:r>
            <a:endParaRPr lang="zh-CN" altLang="en-US" sz="3000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5845" name="组合 5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0" name="五边形 9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35848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12" name="内容占位符 2"/>
          <p:cNvSpPr txBox="1"/>
          <p:nvPr/>
        </p:nvSpPr>
        <p:spPr bwMode="auto">
          <a:xfrm>
            <a:off x="443230" y="714375"/>
            <a:ext cx="8058150" cy="11855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273050" indent="-273050" eaLnBrk="1" hangingPunct="1">
              <a:lnSpc>
                <a:spcPts val="4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el-GR" altLang="zh-CN" sz="25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ε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是一个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r>
              <a:rPr lang="en-US" altLang="zh-CN" sz="25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el-GR" altLang="zh-CN" sz="25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ε</a:t>
            </a:r>
            <a:r>
              <a:rPr lang="el-GR" altLang="zh-CN" sz="25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lang="el-GR" altLang="zh-CN" sz="25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l-GR" altLang="zh-CN" sz="25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 {</a:t>
            </a:r>
            <a:r>
              <a:rPr lang="el-GR" altLang="zh-CN" sz="25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ε</a:t>
            </a:r>
            <a:r>
              <a:rPr lang="el-GR" altLang="zh-CN" sz="25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  <a:endParaRPr lang="el-GR" altLang="zh-CN" sz="25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3050" indent="-273050" eaLnBrk="1" hangingPunct="1">
              <a:lnSpc>
                <a:spcPts val="4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el-GR" altLang="zh-CN" sz="25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如果 </a:t>
            </a:r>
            <a:r>
              <a:rPr lang="en-US" altLang="zh-CN" sz="2500" b="1" i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∈∑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，则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是一个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r>
              <a:rPr lang="en-US" altLang="zh-CN" sz="25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lang="en-US" altLang="zh-CN" sz="25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= {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lang="en-US" altLang="zh-CN" sz="25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  <a:endParaRPr lang="en-US" altLang="zh-CN" sz="25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内容占位符 2"/>
          <p:cNvSpPr>
            <a:spLocks noGrp="1"/>
          </p:cNvSpPr>
          <p:nvPr>
            <p:ph idx="1"/>
          </p:nvPr>
        </p:nvSpPr>
        <p:spPr>
          <a:xfrm>
            <a:off x="109538" y="703262"/>
            <a:ext cx="8820150" cy="4028727"/>
          </a:xfrm>
        </p:spPr>
        <p:txBody>
          <a:bodyPr/>
          <a:lstStyle/>
          <a:p>
            <a:pPr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令</a:t>
            </a:r>
            <a:r>
              <a:rPr lang="en-US" altLang="zh-CN" sz="2500" b="1" dirty="0">
                <a:solidFill>
                  <a:schemeClr val="tx1"/>
                </a:solidFill>
              </a:rPr>
              <a:t> ∑ = {</a:t>
            </a:r>
            <a:r>
              <a:rPr lang="en-US" altLang="zh-CN" sz="2500" b="1" i="1" dirty="0">
                <a:solidFill>
                  <a:schemeClr val="tx1"/>
                </a:solidFill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}</a:t>
            </a:r>
            <a:r>
              <a:rPr lang="zh-CN" altLang="en-US" sz="2500" b="1" dirty="0">
                <a:solidFill>
                  <a:schemeClr val="tx1"/>
                </a:solidFill>
              </a:rPr>
              <a:t>，则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 err="1">
                <a:solidFill>
                  <a:srgbClr val="FF0000"/>
                </a:solidFill>
              </a:rPr>
              <a:t>a</a:t>
            </a:r>
            <a:r>
              <a:rPr lang="en-US" altLang="zh-CN" sz="2500" b="1" dirty="0" err="1">
                <a:solidFill>
                  <a:srgbClr val="FF0000"/>
                </a:solidFill>
              </a:rPr>
              <a:t>|</a:t>
            </a:r>
            <a:r>
              <a:rPr lang="en-US" altLang="zh-CN" sz="2500" b="1" i="1" dirty="0" err="1">
                <a:solidFill>
                  <a:srgbClr val="FF0000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) = </a:t>
            </a:r>
            <a:r>
              <a:rPr lang="en-US" altLang="zh-CN" sz="2500" b="1" i="1" dirty="0">
                <a:solidFill>
                  <a:schemeClr val="tx1"/>
                </a:solidFill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</a:rPr>
              <a:t>)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∪</a:t>
            </a:r>
            <a:r>
              <a:rPr lang="en-US" altLang="zh-CN" sz="2500" b="1" i="1" dirty="0">
                <a:solidFill>
                  <a:schemeClr val="tx1"/>
                </a:solidFill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) ={</a:t>
            </a:r>
            <a:r>
              <a:rPr lang="en-US" altLang="zh-CN" sz="2500" b="1" i="1" dirty="0">
                <a:solidFill>
                  <a:schemeClr val="tx1"/>
                </a:solidFill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</a:rPr>
              <a:t>}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∪</a:t>
            </a:r>
            <a:r>
              <a:rPr lang="en-US" altLang="zh-CN" sz="2500" b="1" dirty="0">
                <a:solidFill>
                  <a:schemeClr val="tx1"/>
                </a:solidFill>
              </a:rPr>
              <a:t>{</a:t>
            </a:r>
            <a:r>
              <a:rPr lang="en-US" altLang="zh-CN" sz="2500" b="1" i="1" dirty="0">
                <a:solidFill>
                  <a:schemeClr val="tx1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} = {</a:t>
            </a:r>
            <a:r>
              <a:rPr lang="en-US" altLang="zh-CN" sz="2500" b="1" i="1" dirty="0">
                <a:solidFill>
                  <a:schemeClr val="tx1"/>
                </a:solidFill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}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dirty="0">
                <a:solidFill>
                  <a:srgbClr val="FF0000"/>
                </a:solidFill>
              </a:rPr>
              <a:t>(</a:t>
            </a:r>
            <a:r>
              <a:rPr lang="en-US" altLang="zh-CN" sz="2500" b="1" i="1" dirty="0" err="1">
                <a:solidFill>
                  <a:srgbClr val="FF0000"/>
                </a:solidFill>
              </a:rPr>
              <a:t>a</a:t>
            </a:r>
            <a:r>
              <a:rPr lang="en-US" altLang="zh-CN" sz="2500" b="1" dirty="0" err="1">
                <a:solidFill>
                  <a:srgbClr val="FF0000"/>
                </a:solidFill>
              </a:rPr>
              <a:t>|</a:t>
            </a:r>
            <a:r>
              <a:rPr lang="en-US" altLang="zh-CN" sz="2500" b="1" i="1" dirty="0" err="1">
                <a:solidFill>
                  <a:srgbClr val="FF0000"/>
                </a:solidFill>
              </a:rPr>
              <a:t>b</a:t>
            </a:r>
            <a:r>
              <a:rPr lang="en-US" altLang="zh-CN" sz="2500" b="1" dirty="0">
                <a:solidFill>
                  <a:srgbClr val="FF0000"/>
                </a:solidFill>
              </a:rPr>
              <a:t>)(</a:t>
            </a:r>
            <a:r>
              <a:rPr lang="en-US" altLang="zh-CN" sz="2500" b="1" i="1" dirty="0" err="1">
                <a:solidFill>
                  <a:srgbClr val="FF0000"/>
                </a:solidFill>
              </a:rPr>
              <a:t>a</a:t>
            </a:r>
            <a:r>
              <a:rPr lang="en-US" altLang="zh-CN" sz="2500" b="1" dirty="0" err="1">
                <a:solidFill>
                  <a:srgbClr val="FF0000"/>
                </a:solidFill>
              </a:rPr>
              <a:t>|</a:t>
            </a:r>
            <a:r>
              <a:rPr lang="en-US" altLang="zh-CN" sz="2500" b="1" i="1" dirty="0" err="1">
                <a:solidFill>
                  <a:srgbClr val="FF0000"/>
                </a:solidFill>
              </a:rPr>
              <a:t>b</a:t>
            </a:r>
            <a:r>
              <a:rPr lang="en-US" altLang="zh-CN" sz="2500" b="1" dirty="0">
                <a:solidFill>
                  <a:srgbClr val="FF0000"/>
                </a:solidFill>
              </a:rPr>
              <a:t>)</a:t>
            </a:r>
            <a:r>
              <a:rPr lang="en-US" altLang="zh-CN" sz="2500" b="1" dirty="0">
                <a:solidFill>
                  <a:schemeClr val="tx1"/>
                </a:solidFill>
              </a:rPr>
              <a:t>) =</a:t>
            </a:r>
            <a:r>
              <a:rPr lang="en-US" altLang="zh-CN" sz="2500" b="1" i="1" dirty="0">
                <a:solidFill>
                  <a:schemeClr val="tx1"/>
                </a:solidFill>
              </a:rPr>
              <a:t> L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a</a:t>
            </a:r>
            <a:r>
              <a:rPr lang="en-US" altLang="zh-CN" sz="2500" b="1" dirty="0" err="1">
                <a:solidFill>
                  <a:schemeClr val="tx1"/>
                </a:solidFill>
              </a:rPr>
              <a:t>|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)</a:t>
            </a:r>
            <a:r>
              <a:rPr lang="en-US" altLang="zh-CN" sz="2500" b="1" i="1" dirty="0">
                <a:solidFill>
                  <a:schemeClr val="tx1"/>
                </a:solidFill>
              </a:rPr>
              <a:t> L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a</a:t>
            </a:r>
            <a:r>
              <a:rPr lang="en-US" altLang="zh-CN" sz="2500" b="1" dirty="0" err="1">
                <a:solidFill>
                  <a:schemeClr val="tx1"/>
                </a:solidFill>
              </a:rPr>
              <a:t>|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)={</a:t>
            </a:r>
            <a:r>
              <a:rPr lang="en-US" altLang="zh-CN" sz="2500" b="1" i="1" dirty="0">
                <a:solidFill>
                  <a:schemeClr val="tx1"/>
                </a:solidFill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}{</a:t>
            </a:r>
            <a:r>
              <a:rPr lang="en-US" altLang="zh-CN" sz="2500" b="1" i="1" dirty="0">
                <a:solidFill>
                  <a:schemeClr val="tx1"/>
                </a:solidFill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}= { 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aa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ab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ba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bb </a:t>
            </a:r>
            <a:r>
              <a:rPr lang="en-US" altLang="zh-CN" sz="2500" b="1" dirty="0">
                <a:solidFill>
                  <a:schemeClr val="tx1"/>
                </a:solidFill>
              </a:rPr>
              <a:t>}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>
                <a:solidFill>
                  <a:srgbClr val="FF0000"/>
                </a:solidFill>
              </a:rPr>
              <a:t>a</a:t>
            </a:r>
            <a:r>
              <a:rPr lang="en-US" altLang="zh-CN" sz="2500" b="1" baseline="30000" dirty="0">
                <a:solidFill>
                  <a:srgbClr val="FF0000"/>
                </a:solidFill>
              </a:rPr>
              <a:t>*</a:t>
            </a:r>
            <a:r>
              <a:rPr lang="en-US" altLang="zh-CN" sz="2500" b="1" dirty="0">
                <a:solidFill>
                  <a:schemeClr val="tx1"/>
                </a:solidFill>
              </a:rPr>
              <a:t>) =</a:t>
            </a:r>
            <a:r>
              <a:rPr lang="pt-BR" altLang="zh-CN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 (</a:t>
            </a:r>
            <a:r>
              <a:rPr lang="pt-BR" altLang="zh-CN" sz="2400" b="1" i="1" dirty="0">
                <a:solidFill>
                  <a:srgbClr val="000000"/>
                </a:solidFill>
                <a:cs typeface="Times New Roman" panose="02020603050405020304" pitchFamily="18" charset="0"/>
              </a:rPr>
              <a:t>L</a:t>
            </a:r>
            <a:r>
              <a:rPr lang="pt-BR" altLang="zh-CN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cs typeface="Times New Roman" panose="02020603050405020304" pitchFamily="18" charset="0"/>
              </a:rPr>
              <a:t>a</a:t>
            </a:r>
            <a:r>
              <a:rPr lang="pt-BR" altLang="zh-CN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))</a:t>
            </a:r>
            <a:r>
              <a:rPr lang="pt-BR" altLang="zh-CN" sz="2400" b="1" baseline="30000" dirty="0">
                <a:solidFill>
                  <a:srgbClr val="000000"/>
                </a:solidFill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chemeClr val="tx1"/>
                </a:solidFill>
              </a:rPr>
              <a:t>= {</a:t>
            </a:r>
            <a:r>
              <a:rPr lang="en-US" altLang="zh-CN" sz="2500" b="1" i="1" dirty="0">
                <a:solidFill>
                  <a:schemeClr val="tx1"/>
                </a:solidFill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</a:rPr>
              <a:t>}</a:t>
            </a:r>
            <a:r>
              <a:rPr lang="en-US" altLang="zh-CN" sz="2500" b="1" baseline="30000" dirty="0">
                <a:solidFill>
                  <a:schemeClr val="tx1"/>
                </a:solidFill>
              </a:rPr>
              <a:t>*</a:t>
            </a:r>
            <a:r>
              <a:rPr lang="en-US" altLang="zh-CN" sz="2500" b="1" dirty="0">
                <a:solidFill>
                  <a:schemeClr val="tx1"/>
                </a:solidFill>
              </a:rPr>
              <a:t>= { </a:t>
            </a:r>
            <a:r>
              <a:rPr lang="en-US" altLang="zh-CN" sz="2500" b="1" i="1" dirty="0">
                <a:solidFill>
                  <a:schemeClr val="tx1"/>
                </a:solidFill>
              </a:rPr>
              <a:t>ε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aa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aaa</a:t>
            </a:r>
            <a:r>
              <a:rPr lang="en-US" altLang="zh-CN" sz="2500" b="1" dirty="0">
                <a:solidFill>
                  <a:schemeClr val="tx1"/>
                </a:solidFill>
              </a:rPr>
              <a:t>, . . . }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dirty="0">
                <a:solidFill>
                  <a:srgbClr val="FF0000"/>
                </a:solidFill>
              </a:rPr>
              <a:t>(</a:t>
            </a:r>
            <a:r>
              <a:rPr lang="en-US" altLang="zh-CN" sz="2500" b="1" i="1" dirty="0" err="1">
                <a:solidFill>
                  <a:srgbClr val="FF0000"/>
                </a:solidFill>
              </a:rPr>
              <a:t>a</a:t>
            </a:r>
            <a:r>
              <a:rPr lang="en-US" altLang="zh-CN" sz="2500" b="1" dirty="0" err="1">
                <a:solidFill>
                  <a:srgbClr val="FF0000"/>
                </a:solidFill>
              </a:rPr>
              <a:t>|</a:t>
            </a:r>
            <a:r>
              <a:rPr lang="en-US" altLang="zh-CN" sz="2500" b="1" i="1" dirty="0" err="1">
                <a:solidFill>
                  <a:srgbClr val="FF0000"/>
                </a:solidFill>
              </a:rPr>
              <a:t>b</a:t>
            </a:r>
            <a:r>
              <a:rPr lang="en-US" altLang="zh-CN" sz="2500" b="1" dirty="0">
                <a:solidFill>
                  <a:srgbClr val="FF0000"/>
                </a:solidFill>
              </a:rPr>
              <a:t>)</a:t>
            </a:r>
            <a:r>
              <a:rPr lang="en-US" altLang="zh-CN" sz="2500" b="1" baseline="30000" dirty="0">
                <a:solidFill>
                  <a:srgbClr val="FF0000"/>
                </a:solidFill>
              </a:rPr>
              <a:t>*</a:t>
            </a:r>
            <a:r>
              <a:rPr lang="en-US" altLang="zh-CN" sz="2500" b="1" dirty="0">
                <a:solidFill>
                  <a:schemeClr val="tx1"/>
                </a:solidFill>
              </a:rPr>
              <a:t>) = </a:t>
            </a:r>
            <a:r>
              <a:rPr lang="pt-BR" altLang="zh-CN" sz="2500" b="1" dirty="0">
                <a:solidFill>
                  <a:schemeClr val="tx1"/>
                </a:solidFill>
              </a:rPr>
              <a:t>(</a:t>
            </a:r>
            <a:r>
              <a:rPr lang="pt-BR" altLang="zh-CN" sz="2500" b="1" i="1" dirty="0">
                <a:solidFill>
                  <a:schemeClr val="tx1"/>
                </a:solidFill>
              </a:rPr>
              <a:t>L</a:t>
            </a:r>
            <a:r>
              <a:rPr lang="pt-BR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a</a:t>
            </a:r>
            <a:r>
              <a:rPr lang="en-US" altLang="zh-CN" sz="2500" b="1" dirty="0" err="1">
                <a:solidFill>
                  <a:schemeClr val="tx1"/>
                </a:solidFill>
              </a:rPr>
              <a:t>|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b</a:t>
            </a:r>
            <a:r>
              <a:rPr lang="pt-BR" altLang="zh-CN" sz="2500" b="1" dirty="0">
                <a:solidFill>
                  <a:schemeClr val="tx1"/>
                </a:solidFill>
              </a:rPr>
              <a:t>))</a:t>
            </a:r>
            <a:r>
              <a:rPr lang="pt-BR" altLang="zh-CN" sz="2500" b="1" baseline="30000" dirty="0">
                <a:solidFill>
                  <a:schemeClr val="tx1"/>
                </a:solidFill>
                <a:latin typeface="Arial" panose="020B0604020202020204" pitchFamily="34" charset="0"/>
              </a:rPr>
              <a:t>*</a:t>
            </a:r>
            <a:r>
              <a:rPr lang="pt-BR" altLang="zh-CN" sz="25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</a:rPr>
              <a:t>= {</a:t>
            </a:r>
            <a:r>
              <a:rPr lang="en-US" altLang="zh-CN" sz="2500" b="1" i="1" dirty="0">
                <a:solidFill>
                  <a:schemeClr val="tx1"/>
                </a:solidFill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}</a:t>
            </a:r>
            <a:r>
              <a:rPr lang="en-US" altLang="zh-CN" sz="2500" b="1" baseline="30000" dirty="0">
                <a:solidFill>
                  <a:schemeClr val="tx1"/>
                </a:solidFill>
              </a:rPr>
              <a:t>*</a:t>
            </a:r>
            <a:r>
              <a:rPr lang="en-US" altLang="zh-CN" sz="2500" b="1" dirty="0">
                <a:solidFill>
                  <a:schemeClr val="tx1"/>
                </a:solidFill>
              </a:rPr>
              <a:t>= { </a:t>
            </a:r>
            <a:r>
              <a:rPr lang="en-US" altLang="zh-CN" sz="2500" b="1" i="1" dirty="0">
                <a:solidFill>
                  <a:schemeClr val="tx1"/>
                </a:solidFill>
              </a:rPr>
              <a:t>ε, </a:t>
            </a:r>
            <a:r>
              <a:rPr lang="en-US" altLang="zh-CN" sz="2500" b="1" i="1" u="sng" dirty="0">
                <a:solidFill>
                  <a:schemeClr val="tx1"/>
                </a:solidFill>
              </a:rPr>
              <a:t>a</a:t>
            </a:r>
            <a:r>
              <a:rPr lang="en-US" altLang="zh-CN" sz="2500" b="1" u="sng" dirty="0">
                <a:solidFill>
                  <a:schemeClr val="tx1"/>
                </a:solidFill>
              </a:rPr>
              <a:t>, </a:t>
            </a:r>
            <a:r>
              <a:rPr lang="en-US" altLang="zh-CN" sz="2500" b="1" i="1" u="sng" dirty="0">
                <a:solidFill>
                  <a:schemeClr val="tx1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u="sng" dirty="0" err="1">
                <a:solidFill>
                  <a:schemeClr val="tx1"/>
                </a:solidFill>
              </a:rPr>
              <a:t>aa</a:t>
            </a:r>
            <a:r>
              <a:rPr lang="en-US" altLang="zh-CN" sz="2500" b="1" u="sng" dirty="0">
                <a:solidFill>
                  <a:schemeClr val="tx1"/>
                </a:solidFill>
              </a:rPr>
              <a:t>, </a:t>
            </a:r>
            <a:r>
              <a:rPr lang="en-US" altLang="zh-CN" sz="2500" b="1" i="1" u="sng" dirty="0">
                <a:solidFill>
                  <a:schemeClr val="tx1"/>
                </a:solidFill>
              </a:rPr>
              <a:t>ab</a:t>
            </a:r>
            <a:r>
              <a:rPr lang="en-US" altLang="zh-CN" sz="2500" b="1" u="sng" dirty="0">
                <a:solidFill>
                  <a:schemeClr val="tx1"/>
                </a:solidFill>
              </a:rPr>
              <a:t>, </a:t>
            </a:r>
            <a:r>
              <a:rPr lang="en-US" altLang="zh-CN" sz="2500" b="1" i="1" u="sng" dirty="0" err="1">
                <a:solidFill>
                  <a:schemeClr val="tx1"/>
                </a:solidFill>
              </a:rPr>
              <a:t>ba</a:t>
            </a:r>
            <a:r>
              <a:rPr lang="en-US" altLang="zh-CN" sz="2500" b="1" u="sng" dirty="0">
                <a:solidFill>
                  <a:schemeClr val="tx1"/>
                </a:solidFill>
              </a:rPr>
              <a:t>, </a:t>
            </a:r>
            <a:r>
              <a:rPr lang="en-US" altLang="zh-CN" sz="2500" b="1" i="1" u="sng" dirty="0">
                <a:solidFill>
                  <a:schemeClr val="tx1"/>
                </a:solidFill>
              </a:rPr>
              <a:t>bb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u="sng" dirty="0" err="1">
                <a:solidFill>
                  <a:schemeClr val="tx1"/>
                </a:solidFill>
              </a:rPr>
              <a:t>aaa</a:t>
            </a:r>
            <a:r>
              <a:rPr lang="en-US" altLang="zh-CN" sz="2500" b="1" u="sng" dirty="0">
                <a:solidFill>
                  <a:schemeClr val="tx1"/>
                </a:solidFill>
              </a:rPr>
              <a:t>, .</a:t>
            </a:r>
            <a:r>
              <a:rPr lang="en-US" altLang="zh-CN" sz="2500" b="1" dirty="0">
                <a:solidFill>
                  <a:schemeClr val="tx1"/>
                </a:solidFill>
              </a:rPr>
              <a:t> . .}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 err="1">
                <a:solidFill>
                  <a:srgbClr val="FF0000"/>
                </a:solidFill>
              </a:rPr>
              <a:t>a</a:t>
            </a:r>
            <a:r>
              <a:rPr lang="en-US" altLang="zh-CN" sz="2500" b="1" dirty="0" err="1">
                <a:solidFill>
                  <a:srgbClr val="FF0000"/>
                </a:solidFill>
              </a:rPr>
              <a:t>|</a:t>
            </a:r>
            <a:r>
              <a:rPr lang="en-US" altLang="zh-CN" sz="2500" b="1" i="1" dirty="0" err="1">
                <a:solidFill>
                  <a:srgbClr val="FF0000"/>
                </a:solidFill>
              </a:rPr>
              <a:t>a</a:t>
            </a:r>
            <a:r>
              <a:rPr lang="en-US" altLang="zh-CN" sz="2500" b="1" baseline="30000" dirty="0">
                <a:solidFill>
                  <a:srgbClr val="FF0000"/>
                </a:solidFill>
              </a:rPr>
              <a:t>*</a:t>
            </a:r>
            <a:r>
              <a:rPr lang="en-US" altLang="zh-CN" sz="2500" b="1" i="1" dirty="0">
                <a:solidFill>
                  <a:srgbClr val="FF0000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) = </a:t>
            </a:r>
            <a:r>
              <a:rPr lang="en-US" altLang="zh-CN" sz="2500" b="1" i="1" dirty="0">
                <a:solidFill>
                  <a:schemeClr val="tx1"/>
                </a:solidFill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</a:rPr>
              <a:t>)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∪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</a:rPr>
              <a:t>a</a:t>
            </a:r>
            <a:r>
              <a:rPr lang="en-US" altLang="zh-CN" sz="2500" b="1" baseline="30000" dirty="0">
                <a:solidFill>
                  <a:schemeClr val="tx1"/>
                </a:solidFill>
              </a:rPr>
              <a:t>*</a:t>
            </a:r>
            <a:r>
              <a:rPr lang="en-US" altLang="zh-CN" sz="2500" b="1" i="1" dirty="0">
                <a:solidFill>
                  <a:schemeClr val="tx1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) = { </a:t>
            </a:r>
            <a:r>
              <a:rPr lang="en-US" altLang="zh-CN" sz="2500" b="1" i="1" dirty="0">
                <a:solidFill>
                  <a:schemeClr val="tx1"/>
                </a:solidFill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ab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aab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aaab</a:t>
            </a:r>
            <a:r>
              <a:rPr lang="en-US" altLang="zh-CN" sz="2500" b="1" dirty="0">
                <a:solidFill>
                  <a:schemeClr val="tx1"/>
                </a:solidFill>
              </a:rPr>
              <a:t>, . . .}</a:t>
            </a:r>
            <a:endParaRPr lang="en-US" altLang="zh-CN" sz="2500" b="1" dirty="0">
              <a:solidFill>
                <a:schemeClr val="tx1"/>
              </a:solidFill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zh-CN" altLang="en-US" sz="3000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7892" name="组合 5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37894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/>
          </p:cNvSpPr>
          <p:nvPr>
            <p:ph idx="1"/>
          </p:nvPr>
        </p:nvSpPr>
        <p:spPr>
          <a:xfrm>
            <a:off x="800100" y="928688"/>
            <a:ext cx="7443788" cy="3587750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  <a:latin typeface="楷体" panose="02010609060101010101" pitchFamily="49" charset="-122"/>
              </a:rPr>
              <a:t>十进制整数的</a:t>
            </a:r>
            <a:r>
              <a:rPr lang="en-US" altLang="zh-CN" sz="3000" b="1" i="1" dirty="0">
                <a:solidFill>
                  <a:schemeClr val="tx1"/>
                </a:solidFill>
              </a:rPr>
              <a:t>RE</a:t>
            </a:r>
            <a:endParaRPr lang="zh-CN" altLang="en-US" sz="3000" b="1" i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algn="just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(1|...|9)(0|...|9)</a:t>
            </a:r>
            <a:r>
              <a:rPr lang="en-US" altLang="zh-CN" sz="2500" b="1" baseline="30000" dirty="0">
                <a:solidFill>
                  <a:schemeClr val="tx1"/>
                </a:solidFill>
                <a:ea typeface="楷体_GB2312"/>
                <a:cs typeface="楷体_GB2312"/>
              </a:rPr>
              <a:t>*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|0</a:t>
            </a:r>
            <a:endParaRPr lang="en-US" altLang="zh-CN" sz="2500" b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algn="just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  <a:latin typeface="楷体" panose="02010609060101010101" pitchFamily="49" charset="-122"/>
              </a:rPr>
              <a:t>八进制整数的</a:t>
            </a:r>
            <a:r>
              <a:rPr lang="en-US" altLang="zh-CN" sz="3000" b="1" i="1" dirty="0">
                <a:solidFill>
                  <a:schemeClr val="tx1"/>
                </a:solidFill>
              </a:rPr>
              <a:t>RE</a:t>
            </a:r>
            <a:endParaRPr lang="en-US" altLang="zh-CN" sz="3000" b="1" i="1" dirty="0">
              <a:solidFill>
                <a:schemeClr val="tx1"/>
              </a:solidFill>
            </a:endParaRPr>
          </a:p>
          <a:p>
            <a:pPr lvl="1" algn="just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0(0|1|2|3|4|5|6|7)(0|1|2|3|4|5|6|7)</a:t>
            </a:r>
            <a:r>
              <a:rPr lang="en-US" altLang="zh-CN" sz="2500" b="1" baseline="30000" dirty="0">
                <a:solidFill>
                  <a:schemeClr val="tx1"/>
                </a:solidFill>
                <a:ea typeface="楷体_GB2312"/>
                <a:cs typeface="楷体_GB2312"/>
              </a:rPr>
              <a:t>*</a:t>
            </a:r>
            <a:endParaRPr lang="en-US" altLang="zh-CN" sz="2500" b="1" baseline="30000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algn="just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  <a:latin typeface="楷体" panose="02010609060101010101" pitchFamily="49" charset="-122"/>
              </a:rPr>
              <a:t>十六进制整数的</a:t>
            </a:r>
            <a:r>
              <a:rPr lang="en-US" altLang="zh-CN" sz="3000" b="1" i="1" dirty="0">
                <a:solidFill>
                  <a:schemeClr val="tx1"/>
                </a:solidFill>
              </a:rPr>
              <a:t>RE</a:t>
            </a:r>
            <a:endParaRPr lang="zh-CN" altLang="en-US" sz="3000" b="1" i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algn="just" eaLnBrk="1" hangingPunct="1">
              <a:lnSpc>
                <a:spcPct val="120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0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x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(0|1|...|9|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|...| 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f 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|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|…|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F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)(0|...|9|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|...| 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f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 |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|…|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F 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)</a:t>
            </a:r>
            <a:r>
              <a:rPr lang="en-US" altLang="zh-CN" sz="2500" b="1" baseline="30000" dirty="0">
                <a:solidFill>
                  <a:schemeClr val="tx1"/>
                </a:solidFill>
                <a:ea typeface="楷体_GB2312"/>
                <a:cs typeface="楷体_GB2312"/>
              </a:rPr>
              <a:t>*</a:t>
            </a:r>
            <a:endParaRPr lang="en-US" altLang="zh-CN" sz="2500" b="1" baseline="30000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eaLnBrk="1" hangingPunct="1">
              <a:lnSpc>
                <a:spcPct val="80000"/>
              </a:lnSpc>
            </a:pPr>
            <a:endParaRPr lang="zh-CN" altLang="en-US" sz="2500" dirty="0"/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语言无符号整数的</a:t>
            </a:r>
            <a:r>
              <a:rPr lang="en-US" altLang="zh-CN" sz="3000" i="1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RE</a:t>
            </a:r>
            <a:endParaRPr lang="zh-CN" altLang="en-US" sz="3000" i="1" dirty="0">
              <a:solidFill>
                <a:schemeClr val="tx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39940" name="组合 5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39942" name="五边形 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内容占位符 2"/>
          <p:cNvSpPr>
            <a:spLocks noGrp="1"/>
          </p:cNvSpPr>
          <p:nvPr>
            <p:ph idx="1"/>
          </p:nvPr>
        </p:nvSpPr>
        <p:spPr>
          <a:xfrm>
            <a:off x="401638" y="1000125"/>
            <a:ext cx="8347075" cy="3155950"/>
          </a:xfrm>
        </p:spPr>
        <p:txBody>
          <a:bodyPr/>
          <a:lstStyle/>
          <a:p>
            <a:pPr eaLnBrk="1" hangingPunct="1">
              <a:lnSpc>
                <a:spcPts val="5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</a:rPr>
              <a:t>可以用</a:t>
            </a:r>
            <a:r>
              <a:rPr lang="en-US" altLang="zh-CN" sz="3000" b="1" i="1" dirty="0">
                <a:solidFill>
                  <a:schemeClr val="tx1"/>
                </a:solidFill>
              </a:rPr>
              <a:t>RE</a:t>
            </a:r>
            <a:r>
              <a:rPr lang="zh-CN" altLang="en-US" sz="3000" b="1" dirty="0">
                <a:solidFill>
                  <a:schemeClr val="tx1"/>
                </a:solidFill>
              </a:rPr>
              <a:t>定义的语言叫做</a:t>
            </a:r>
            <a:endParaRPr lang="en-US" altLang="zh-CN" sz="30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5000"/>
              </a:lnSpc>
              <a:buClrTx/>
              <a:buFont typeface="Symbol" panose="05050102010706020507" pitchFamily="18" charset="2"/>
              <a:buNone/>
            </a:pPr>
            <a:r>
              <a:rPr lang="en-US" altLang="zh-CN" sz="3000" b="1" dirty="0">
                <a:solidFill>
                  <a:schemeClr val="tx1"/>
                </a:solidFill>
              </a:rPr>
              <a:t>   </a:t>
            </a:r>
            <a:r>
              <a:rPr lang="zh-CN" altLang="en-US" sz="3000" b="1" dirty="0">
                <a:solidFill>
                  <a:srgbClr val="FF0000"/>
                </a:solidFill>
              </a:rPr>
              <a:t>正则语言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</a:rPr>
              <a:t>regular language</a:t>
            </a:r>
            <a:r>
              <a:rPr lang="en-US" altLang="zh-CN" sz="2500" b="1" dirty="0">
                <a:solidFill>
                  <a:schemeClr val="tx1"/>
                </a:solidFill>
              </a:rPr>
              <a:t>)</a:t>
            </a:r>
            <a:r>
              <a:rPr lang="zh-CN" altLang="en-US" sz="3000" b="1" dirty="0">
                <a:solidFill>
                  <a:schemeClr val="tx1"/>
                </a:solidFill>
              </a:rPr>
              <a:t>或</a:t>
            </a:r>
            <a:r>
              <a:rPr lang="zh-CN" altLang="en-US" sz="3000" b="1" dirty="0">
                <a:solidFill>
                  <a:srgbClr val="FF0000"/>
                </a:solidFill>
              </a:rPr>
              <a:t>正则集合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</a:rPr>
              <a:t>regular set</a:t>
            </a:r>
            <a:r>
              <a:rPr lang="en-US" altLang="zh-CN" sz="2500" b="1" dirty="0">
                <a:solidFill>
                  <a:schemeClr val="tx1"/>
                </a:solidFill>
              </a:rPr>
              <a:t>)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5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dirty="0">
                <a:solidFill>
                  <a:schemeClr val="tx1"/>
                </a:solidFill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</a:rPr>
              <a:t>如果两个正则表达式</a:t>
            </a:r>
            <a:r>
              <a:rPr lang="en-US" altLang="zh-CN" sz="3200" b="1" dirty="0">
                <a:solidFill>
                  <a:schemeClr val="tx1"/>
                </a:solidFill>
              </a:rPr>
              <a:t>r</a:t>
            </a:r>
            <a:r>
              <a:rPr lang="zh-CN" altLang="en-US" sz="3200" b="1" dirty="0">
                <a:solidFill>
                  <a:schemeClr val="tx1"/>
                </a:solidFill>
              </a:rPr>
              <a:t>和</a:t>
            </a:r>
            <a:r>
              <a:rPr lang="en-US" altLang="zh-CN" sz="3200" b="1" dirty="0">
                <a:solidFill>
                  <a:schemeClr val="tx1"/>
                </a:solidFill>
              </a:rPr>
              <a:t>s</a:t>
            </a:r>
            <a:r>
              <a:rPr lang="zh-CN" altLang="en-US" sz="3200" b="1" dirty="0">
                <a:solidFill>
                  <a:schemeClr val="tx1"/>
                </a:solidFill>
              </a:rPr>
              <a:t>表示</a:t>
            </a:r>
            <a:r>
              <a:rPr lang="zh-CN" altLang="en-US" sz="3200" b="1" dirty="0">
                <a:solidFill>
                  <a:srgbClr val="0070C0"/>
                </a:solidFill>
              </a:rPr>
              <a:t>同样的语言</a:t>
            </a:r>
            <a:r>
              <a:rPr lang="zh-CN" altLang="en-US" sz="3200" b="1" dirty="0">
                <a:solidFill>
                  <a:schemeClr val="tx1"/>
                </a:solidFill>
              </a:rPr>
              <a:t>，则称</a:t>
            </a:r>
            <a:r>
              <a:rPr lang="en-US" altLang="zh-CN" sz="3200" b="1" dirty="0">
                <a:solidFill>
                  <a:srgbClr val="FF0000"/>
                </a:solidFill>
              </a:rPr>
              <a:t>r</a:t>
            </a:r>
            <a:r>
              <a:rPr lang="zh-CN" altLang="en-US" sz="3200" b="1" dirty="0">
                <a:solidFill>
                  <a:srgbClr val="FF0000"/>
                </a:solidFill>
              </a:rPr>
              <a:t>和</a:t>
            </a:r>
            <a:r>
              <a:rPr lang="en-US" altLang="zh-CN" sz="3200" b="1" dirty="0">
                <a:solidFill>
                  <a:srgbClr val="FF0000"/>
                </a:solidFill>
              </a:rPr>
              <a:t>s</a:t>
            </a:r>
            <a:r>
              <a:rPr lang="zh-CN" altLang="en-US" sz="3200" b="1" dirty="0">
                <a:solidFill>
                  <a:srgbClr val="FF0000"/>
                </a:solidFill>
              </a:rPr>
              <a:t>等价</a:t>
            </a:r>
            <a:r>
              <a:rPr lang="zh-CN" altLang="en-US" sz="3200" b="1" dirty="0">
                <a:solidFill>
                  <a:schemeClr val="tx1"/>
                </a:solidFill>
              </a:rPr>
              <a:t>，记作</a:t>
            </a:r>
            <a:r>
              <a:rPr lang="en-US" altLang="zh-CN" sz="3200" b="1" dirty="0">
                <a:solidFill>
                  <a:srgbClr val="0070C0"/>
                </a:solidFill>
              </a:rPr>
              <a:t>r=s</a:t>
            </a:r>
            <a:r>
              <a:rPr lang="en-US" altLang="zh-CN" sz="3200" b="1" dirty="0">
                <a:solidFill>
                  <a:schemeClr val="tx1"/>
                </a:solidFill>
              </a:rPr>
              <a:t> .</a:t>
            </a:r>
            <a:endParaRPr lang="zh-CN" altLang="en-US" sz="3200" b="1" dirty="0">
              <a:solidFill>
                <a:schemeClr val="tx1"/>
              </a:solidFill>
            </a:endParaRPr>
          </a:p>
          <a:p>
            <a:pPr eaLnBrk="1" hangingPunct="1">
              <a:buClrTx/>
              <a:buFont typeface="Symbol" panose="05050102010706020507" pitchFamily="18" charset="2"/>
              <a:buNone/>
            </a:pP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2292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正则语言</a:t>
            </a:r>
            <a:endParaRPr lang="zh-CN" altLang="en-US" sz="3000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1988" name="组合 5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41990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i="1" spc="3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RE</a:t>
            </a: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的代数定律</a:t>
            </a:r>
            <a:endParaRPr lang="zh-CN" altLang="en-US" sz="3000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4035" name="组合 5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44066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aphicFrame>
        <p:nvGraphicFramePr>
          <p:cNvPr id="7" name="Group 18"/>
          <p:cNvGraphicFramePr>
            <a:graphicFrameLocks noGrp="1"/>
          </p:cNvGraphicFramePr>
          <p:nvPr/>
        </p:nvGraphicFramePr>
        <p:xfrm>
          <a:off x="849313" y="785813"/>
          <a:ext cx="7437437" cy="4090987"/>
        </p:xfrm>
        <a:graphic>
          <a:graphicData uri="http://schemas.openxmlformats.org/drawingml/2006/table">
            <a:tbl>
              <a:tblPr/>
              <a:tblGrid>
                <a:gridCol w="4032624"/>
                <a:gridCol w="3404813"/>
              </a:tblGrid>
              <a:tr h="5019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定律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0255" marR="100255" marT="37589" marB="375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描述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0255" marR="100255" marT="37589" marB="375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43434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r</a:t>
                      </a: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｜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CN" sz="24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= 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｜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r</a:t>
                      </a:r>
                      <a:endParaRPr lang="zh-CN" altLang="en-US" sz="2400" b="1" i="1" spc="-3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｜是</a:t>
                      </a:r>
                      <a:r>
                        <a:rPr kumimoji="0" lang="zh-CN" altLang="en-US" sz="2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可以交换的</a:t>
                      </a:r>
                      <a:endParaRPr kumimoji="0" lang="zh-CN" altLang="en-US" sz="2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434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r</a:t>
                      </a:r>
                      <a:r>
                        <a:rPr kumimoji="0" lang="zh-CN" altLang="en-US" sz="2400" b="1" i="0" u="none" strike="noStrike" kern="1900" cap="none" spc="-15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｜</a:t>
                      </a:r>
                      <a:r>
                        <a:rPr lang="zh-CN" altLang="en-US" sz="2400" b="1" i="0" kern="1900" spc="-15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（   </a:t>
                      </a:r>
                      <a:r>
                        <a:rPr lang="zh-CN" altLang="en-US" sz="2400" b="1" i="0" spc="-15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    </a:t>
                      </a:r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｜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   </a:t>
                      </a:r>
                      <a:r>
                        <a:rPr lang="en-US" altLang="zh-CN" sz="2400" b="1" i="1" spc="-3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）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（  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kumimoji="0" lang="zh-CN" altLang="en-US" sz="2400" b="1" i="0" u="none" strike="noStrike" kern="1900" cap="none" spc="-15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｜</a:t>
                      </a:r>
                      <a:r>
                        <a:rPr lang="zh-CN" altLang="en-US" sz="2400" b="1" i="0" spc="-3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s  </a:t>
                      </a:r>
                      <a:r>
                        <a:rPr lang="zh-CN" altLang="en-US" sz="2400" b="1" i="0" spc="-15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）   </a:t>
                      </a:r>
                      <a:r>
                        <a:rPr kumimoji="0" lang="zh-CN" altLang="en-US" sz="2400" b="1" i="0" u="none" strike="noStrike" kern="0" cap="none" spc="-15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    ｜</a:t>
                      </a: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</a:t>
                      </a:r>
                      <a:endParaRPr lang="zh-CN" altLang="en-US" sz="2400" b="1" i="1" spc="-3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｜是</a:t>
                      </a:r>
                      <a:r>
                        <a:rPr kumimoji="0" lang="zh-CN" altLang="en-US" sz="2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可结合的</a:t>
                      </a:r>
                      <a:endParaRPr kumimoji="0" lang="zh-CN" altLang="en-US" sz="2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434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 r</a:t>
                      </a:r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（ </a:t>
                      </a:r>
                      <a:r>
                        <a:rPr lang="en-US" altLang="zh-CN" sz="2400" b="1" i="0" spc="-3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b="1" i="1" spc="-3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    t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）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（  </a:t>
                      </a:r>
                      <a:r>
                        <a:rPr lang="en-US" altLang="zh-CN" sz="2400" b="1" i="1" spc="-3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r    s  </a:t>
                      </a:r>
                      <a:r>
                        <a:rPr lang="zh-CN" altLang="en-US" sz="2400" b="1" i="0" spc="-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）</a:t>
                      </a:r>
                      <a:r>
                        <a:rPr lang="en-US" altLang="zh-CN" sz="2400" b="1" i="1" spc="-6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t</a:t>
                      </a:r>
                      <a:endParaRPr lang="zh-CN" altLang="en-US" sz="2400" b="1" i="0" spc="-6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连接是可结合的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001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     r</a:t>
                      </a:r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（ </a:t>
                      </a:r>
                      <a:r>
                        <a:rPr lang="en-US" altLang="zh-CN" sz="2400" b="1" i="0" spc="-3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b="1" i="1" spc="-3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｜</a:t>
                      </a:r>
                      <a:r>
                        <a:rPr lang="en-US" altLang="zh-CN" sz="2400" b="1" i="1" spc="-3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）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=  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r    s</a:t>
                      </a: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｜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r   t     </a:t>
                      </a:r>
                      <a:r>
                        <a:rPr lang="en-US" altLang="zh-CN" sz="2400" b="1" i="0" spc="-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;</a:t>
                      </a:r>
                      <a:r>
                        <a:rPr lang="en-US" altLang="zh-CN" sz="2400" b="1" i="0" spc="-3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   </a:t>
                      </a:r>
                      <a:endParaRPr lang="en-US" altLang="zh-CN" sz="2400" b="1" i="0" spc="-3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              （  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｜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  </a:t>
                      </a:r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）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    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= 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｜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    r                                                               </a:t>
                      </a:r>
                      <a:endParaRPr lang="zh-CN" altLang="en-US" sz="2400" b="1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连接对</a:t>
                      </a:r>
                      <a:r>
                        <a:rPr kumimoji="0" lang="zh-CN" altLang="en-US" sz="2400" b="1" i="0" u="none" strike="noStrike" kern="0" cap="none" spc="-3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｜</a:t>
                      </a:r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是可分配的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530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i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ε</a:t>
                      </a:r>
                      <a:r>
                        <a:rPr lang="en-US" altLang="zh-CN" sz="2400" b="1" i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altLang="zh-CN" sz="24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=  </a:t>
                      </a:r>
                      <a:r>
                        <a:rPr lang="en-US" altLang="zh-CN" sz="2400" b="1" i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altLang="zh-CN" sz="2400" b="1" i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ε</a:t>
                      </a:r>
                      <a:r>
                        <a:rPr lang="en-US" altLang="zh-CN" sz="24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=  </a:t>
                      </a:r>
                      <a:r>
                        <a:rPr lang="en-US" altLang="zh-CN" sz="24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r</a:t>
                      </a:r>
                      <a:endParaRPr lang="zh-CN" altLang="en-US" sz="2400" b="1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en-US" altLang="zh-CN" sz="28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ε</a:t>
                      </a:r>
                      <a:r>
                        <a:rPr lang="en-US" altLang="zh-CN" sz="24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是连接的单位元</a:t>
                      </a:r>
                      <a:endParaRPr kumimoji="0" lang="zh-CN" altLang="en-US" sz="2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530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r </a:t>
                      </a:r>
                      <a:r>
                        <a:rPr lang="en-US" altLang="zh-CN" sz="2800" b="0" i="0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* </a:t>
                      </a:r>
                      <a:r>
                        <a:rPr lang="en-US" altLang="zh-CN" sz="2400" b="1" spc="-5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= </a:t>
                      </a:r>
                      <a:r>
                        <a:rPr lang="zh-CN" altLang="en-US" sz="2400" b="1" i="0" spc="-5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zh-CN" altLang="en-US" sz="2400" b="1" i="0" spc="-3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altLang="zh-CN" sz="2400" b="1" i="1" spc="-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kumimoji="0" lang="zh-CN" altLang="en-US" sz="2400" b="1" i="0" u="none" strike="noStrike" kern="1900" cap="none" spc="-15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｜</a:t>
                      </a:r>
                      <a:r>
                        <a:rPr lang="zh-CN" altLang="en-US" sz="2400" b="1" i="0" spc="-3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altLang="zh-CN" sz="24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ε</a:t>
                      </a:r>
                      <a:r>
                        <a:rPr lang="en-US" altLang="zh-CN" sz="24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altLang="en-US" sz="2400" b="1" i="0" spc="-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）        </a:t>
                      </a:r>
                      <a:r>
                        <a:rPr lang="en-US" altLang="zh-CN" sz="2400" b="0" i="0" spc="-1000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*</a:t>
                      </a:r>
                      <a:r>
                        <a:rPr lang="zh-CN" altLang="en-US" sz="2400" b="1" i="0" spc="-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endParaRPr lang="zh-CN" altLang="en-US" sz="2400" b="0" i="0" spc="-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zh-CN" altLang="en-US" sz="2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闭包中一定包含 </a:t>
                      </a:r>
                      <a:r>
                        <a:rPr lang="en-US" altLang="zh-CN" sz="28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ε</a:t>
                      </a:r>
                      <a:endParaRPr kumimoji="0" lang="zh-CN" altLang="en-US" sz="2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530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 r </a:t>
                      </a:r>
                      <a:r>
                        <a:rPr lang="en-US" altLang="zh-CN" sz="2800" b="0" i="0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**</a:t>
                      </a:r>
                      <a:r>
                        <a:rPr lang="en-US" altLang="zh-CN" sz="2400" b="1" spc="-15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=   </a:t>
                      </a:r>
                      <a:r>
                        <a:rPr lang="en-US" altLang="zh-CN" sz="2400" b="1" i="1" spc="-15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r </a:t>
                      </a:r>
                      <a:r>
                        <a:rPr lang="en-US" altLang="zh-CN" sz="2800" b="0" i="0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*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en-US" altLang="zh-CN" sz="2400" b="1" i="1" spc="-15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800" b="0" i="0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* </a:t>
                      </a:r>
                      <a:r>
                        <a:rPr kumimoji="0" lang="zh-CN" altLang="en-US" sz="2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具有幂等性</a:t>
                      </a:r>
                      <a:endParaRPr kumimoji="0" lang="zh-CN" altLang="en-US" sz="2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51" marR="91451" marT="34279" marB="3427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428625" y="843558"/>
            <a:ext cx="8103815" cy="4031653"/>
          </a:xfrm>
        </p:spPr>
        <p:txBody>
          <a:bodyPr/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</a:rPr>
              <a:t>对任何正则文法 </a:t>
            </a:r>
            <a:r>
              <a:rPr lang="en-US" altLang="zh-CN" sz="2800" b="1" i="1" dirty="0">
                <a:solidFill>
                  <a:srgbClr val="FF0000"/>
                </a:solidFill>
              </a:rPr>
              <a:t>G</a:t>
            </a:r>
            <a:r>
              <a:rPr lang="zh-CN" altLang="en-US" sz="2800" b="1" dirty="0">
                <a:solidFill>
                  <a:schemeClr val="tx1"/>
                </a:solidFill>
              </a:rPr>
              <a:t>，存在定义同一语言的正则表达式 </a:t>
            </a:r>
            <a:r>
              <a:rPr lang="en-US" altLang="zh-CN" sz="2800" b="1" i="1" dirty="0">
                <a:solidFill>
                  <a:srgbClr val="FF0000"/>
                </a:solidFill>
              </a:rPr>
              <a:t>r</a:t>
            </a:r>
            <a:endParaRPr lang="zh-CN" altLang="en-US" sz="2800" b="1" dirty="0">
              <a:solidFill>
                <a:srgbClr val="FF0000"/>
              </a:solidFill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</a:rPr>
              <a:t>对任何正则表达式 </a:t>
            </a:r>
            <a:r>
              <a:rPr lang="en-US" altLang="zh-CN" sz="2800" b="1" i="1" dirty="0">
                <a:solidFill>
                  <a:srgbClr val="FF0000"/>
                </a:solidFill>
              </a:rPr>
              <a:t>r</a:t>
            </a:r>
            <a:r>
              <a:rPr lang="zh-CN" altLang="en-US" sz="2800" b="1" dirty="0">
                <a:solidFill>
                  <a:schemeClr val="tx1"/>
                </a:solidFill>
              </a:rPr>
              <a:t>，存在生成同一语言的正则文法 </a:t>
            </a:r>
            <a:r>
              <a:rPr lang="en-US" altLang="zh-CN" sz="2800" b="1" i="1" dirty="0">
                <a:solidFill>
                  <a:srgbClr val="FF0000"/>
                </a:solidFill>
              </a:rPr>
              <a:t>G</a:t>
            </a:r>
            <a:r>
              <a:rPr lang="en-US" altLang="zh-CN" sz="2800" b="1" dirty="0">
                <a:solidFill>
                  <a:srgbClr val="FF0000"/>
                </a:solidFill>
              </a:rPr>
              <a:t> 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eaLnBrk="1" hangingPunct="1">
              <a:lnSpc>
                <a:spcPts val="2000"/>
              </a:lnSpc>
              <a:buClr>
                <a:schemeClr val="folHlink"/>
              </a:buClr>
              <a:buSzPct val="60000"/>
              <a:buNone/>
              <a:defRPr/>
            </a:pPr>
            <a:r>
              <a:rPr lang="zh-CN" altLang="en-US" sz="28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: C</a:t>
            </a:r>
            <a:r>
              <a:rPr lang="zh-CN" altLang="en-US" sz="28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标识符的右线性文法</a:t>
            </a:r>
            <a:endParaRPr lang="en-US" altLang="zh-CN" sz="2800" b="1" dirty="0">
              <a:solidFill>
                <a:schemeClr val="tx1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buClr>
                <a:schemeClr val="folHlink"/>
              </a:buClr>
              <a:buSzPct val="60000"/>
              <a:buNone/>
              <a:defRPr/>
            </a:pPr>
            <a:r>
              <a:rPr kumimoji="1"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① </a:t>
            </a:r>
            <a:r>
              <a:rPr kumimoji="1" lang="en-US" altLang="zh-CN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S → </a:t>
            </a:r>
            <a:r>
              <a:rPr lang="en-US" altLang="zh-CN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a </a:t>
            </a:r>
            <a:r>
              <a:rPr lang="en-US" altLang="zh-CN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| </a:t>
            </a:r>
            <a:r>
              <a:rPr lang="en-US" altLang="zh-CN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b </a:t>
            </a:r>
            <a:r>
              <a:rPr lang="en-US" altLang="zh-CN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| </a:t>
            </a:r>
            <a:r>
              <a:rPr lang="en-US" altLang="zh-CN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| … | </a:t>
            </a:r>
            <a:r>
              <a:rPr lang="en-US" altLang="zh-CN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z | </a:t>
            </a:r>
            <a:r>
              <a:rPr lang="en-US" altLang="zh-CN" b="1" i="1" dirty="0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_</a:t>
            </a:r>
            <a:endParaRPr kumimoji="1" lang="en-US" altLang="zh-CN" b="1" i="1" dirty="0">
              <a:solidFill>
                <a:srgbClr val="FF0000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buClr>
                <a:schemeClr val="folHlink"/>
              </a:buClr>
              <a:buSzPct val="60000"/>
              <a:buNone/>
              <a:defRPr/>
            </a:pPr>
            <a:r>
              <a:rPr kumimoji="1"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② </a:t>
            </a:r>
            <a:r>
              <a:rPr kumimoji="1" lang="en-US" altLang="zh-CN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S → </a:t>
            </a:r>
            <a:r>
              <a:rPr lang="en-US" altLang="zh-CN" b="1" i="1" dirty="0" err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aT</a:t>
            </a:r>
            <a:r>
              <a:rPr lang="en-US" altLang="zh-CN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| </a:t>
            </a:r>
            <a:r>
              <a:rPr lang="en-US" altLang="zh-CN" b="1" i="1" dirty="0" err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bT</a:t>
            </a:r>
            <a:r>
              <a:rPr lang="en-US" altLang="zh-CN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| </a:t>
            </a:r>
            <a:r>
              <a:rPr lang="en-US" altLang="zh-CN" b="1" i="1" dirty="0" err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cT</a:t>
            </a:r>
            <a:r>
              <a:rPr lang="en-US" altLang="zh-CN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| dT | … | </a:t>
            </a:r>
            <a:r>
              <a:rPr lang="en-US" altLang="zh-CN" b="1" i="1" dirty="0" err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zT</a:t>
            </a:r>
            <a:r>
              <a:rPr lang="en-US" altLang="zh-CN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| </a:t>
            </a:r>
            <a:r>
              <a:rPr lang="en-US" altLang="zh-CN" b="1" i="1" dirty="0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_T</a:t>
            </a:r>
            <a:endParaRPr kumimoji="1" lang="en-US" altLang="zh-CN" b="1" i="1" dirty="0">
              <a:solidFill>
                <a:schemeClr val="tx1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buClr>
                <a:schemeClr val="folHlink"/>
              </a:buClr>
              <a:buSzPct val="60000"/>
              <a:buNone/>
              <a:defRPr/>
            </a:pPr>
            <a:r>
              <a:rPr kumimoji="1"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③ </a:t>
            </a:r>
            <a:r>
              <a:rPr kumimoji="1" lang="en-US" altLang="zh-CN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T → </a:t>
            </a:r>
            <a:r>
              <a:rPr lang="en-US" altLang="zh-CN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| </a:t>
            </a:r>
            <a:r>
              <a:rPr lang="en-US" altLang="zh-CN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| </a:t>
            </a:r>
            <a:r>
              <a:rPr lang="en-US" altLang="zh-CN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|</a:t>
            </a:r>
            <a:r>
              <a:rPr lang="en-US" altLang="zh-CN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d | </a:t>
            </a:r>
            <a:r>
              <a:rPr lang="en-US" altLang="zh-CN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… | </a:t>
            </a:r>
            <a:r>
              <a:rPr lang="en-US" altLang="zh-CN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z </a:t>
            </a:r>
            <a:r>
              <a:rPr kumimoji="1" lang="en-US" altLang="zh-CN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| </a:t>
            </a:r>
            <a:r>
              <a:rPr kumimoji="1" lang="en-US" altLang="zh-CN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0 | 1 | 2 | 3 | … | 9</a:t>
            </a:r>
            <a:endParaRPr kumimoji="1" lang="en-US" altLang="zh-CN" b="1" dirty="0">
              <a:solidFill>
                <a:schemeClr val="tx1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buClr>
                <a:schemeClr val="folHlink"/>
              </a:buClr>
              <a:buSzPct val="60000"/>
              <a:buNone/>
              <a:defRPr/>
            </a:pPr>
            <a:r>
              <a:rPr kumimoji="1"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④ </a:t>
            </a:r>
            <a:r>
              <a:rPr kumimoji="1" lang="en-US" altLang="zh-CN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T → </a:t>
            </a:r>
            <a:r>
              <a:rPr lang="en-US" altLang="zh-CN" b="1" i="1" dirty="0" err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aT</a:t>
            </a:r>
            <a:r>
              <a:rPr lang="en-US" altLang="zh-CN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| </a:t>
            </a:r>
            <a:r>
              <a:rPr lang="en-US" altLang="zh-CN" b="1" i="1" dirty="0" err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bT</a:t>
            </a:r>
            <a:r>
              <a:rPr lang="en-US" altLang="zh-CN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| </a:t>
            </a:r>
            <a:r>
              <a:rPr lang="en-US" altLang="zh-CN" b="1" i="1" dirty="0" err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cT</a:t>
            </a:r>
            <a:r>
              <a:rPr lang="en-US" altLang="zh-CN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| </a:t>
            </a:r>
            <a:r>
              <a:rPr lang="en-US" altLang="zh-CN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… | </a:t>
            </a:r>
            <a:r>
              <a:rPr lang="en-US" altLang="zh-CN" b="1" i="1" dirty="0" err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zT</a:t>
            </a:r>
            <a:r>
              <a:rPr lang="en-US" altLang="zh-CN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| </a:t>
            </a:r>
            <a:r>
              <a:rPr lang="en-US" altLang="zh-CN" b="1" i="1" dirty="0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_ T </a:t>
            </a:r>
            <a:r>
              <a:rPr kumimoji="1" lang="en-US" altLang="zh-CN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| </a:t>
            </a:r>
            <a:r>
              <a:rPr kumimoji="1" lang="en-US" altLang="zh-CN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1" lang="en-US" altLang="zh-CN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T | </a:t>
            </a:r>
            <a:r>
              <a:rPr kumimoji="1" lang="en-US" altLang="zh-CN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T | </a:t>
            </a:r>
            <a:r>
              <a:rPr kumimoji="1" lang="en-US" altLang="zh-CN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en-US" altLang="zh-CN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T | </a:t>
            </a:r>
            <a:r>
              <a:rPr kumimoji="1" lang="en-US" altLang="zh-CN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en-US" altLang="zh-CN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T |</a:t>
            </a:r>
            <a:r>
              <a:rPr kumimoji="1" lang="en-US" altLang="zh-CN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… | 9</a:t>
            </a:r>
            <a:r>
              <a:rPr kumimoji="1" lang="en-US" altLang="zh-CN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T</a:t>
            </a:r>
            <a:endParaRPr kumimoji="1" lang="zh-CN" altLang="en-US" b="1" i="1" dirty="0">
              <a:solidFill>
                <a:schemeClr val="tx1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正则文法与正则表达式等价</a:t>
            </a:r>
            <a:endParaRPr lang="zh-CN" altLang="en-US" sz="3000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/>
            </a:endParaRPr>
          </a:p>
        </p:txBody>
      </p:sp>
      <p:grpSp>
        <p:nvGrpSpPr>
          <p:cNvPr id="46084" name="组合 5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46086" name="五边形 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内容占位符 2"/>
          <p:cNvSpPr>
            <a:spLocks noGrp="1"/>
          </p:cNvSpPr>
          <p:nvPr>
            <p:ph idx="1"/>
          </p:nvPr>
        </p:nvSpPr>
        <p:spPr>
          <a:xfrm>
            <a:off x="357188" y="857250"/>
            <a:ext cx="8001000" cy="3929063"/>
          </a:xfrm>
        </p:spPr>
        <p:txBody>
          <a:bodyPr rtlCol="0">
            <a:noAutofit/>
          </a:bodyPr>
          <a:lstStyle/>
          <a:p>
            <a:pPr marL="274320" indent="-274320" eaLnBrk="1" fontAlgn="auto" hangingPunct="1">
              <a:lnSpc>
                <a:spcPts val="3200"/>
              </a:lnSpc>
              <a:spcAft>
                <a:spcPts val="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 </a:t>
            </a:r>
            <a:r>
              <a:rPr lang="zh-CN" altLang="en-US" sz="2500" b="1" dirty="0">
                <a:solidFill>
                  <a:srgbClr val="FF0000"/>
                </a:solidFill>
              </a:rPr>
              <a:t>正则定义</a:t>
            </a:r>
            <a:r>
              <a:rPr lang="zh-CN" altLang="en-US" sz="2500" b="1" dirty="0">
                <a:solidFill>
                  <a:schemeClr val="tx1"/>
                </a:solidFill>
              </a:rPr>
              <a:t>是具有如下形式的</a:t>
            </a:r>
            <a:r>
              <a:rPr lang="zh-CN" altLang="en-US" sz="2500" b="1" dirty="0">
                <a:solidFill>
                  <a:srgbClr val="0070C0"/>
                </a:solidFill>
              </a:rPr>
              <a:t>定义序列</a:t>
            </a:r>
            <a:r>
              <a:rPr lang="zh-CN" altLang="en-US" sz="2500" b="1" dirty="0">
                <a:solidFill>
                  <a:schemeClr val="tx1"/>
                </a:solidFill>
              </a:rPr>
              <a:t>：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marL="457200" lvl="1" indent="0" eaLnBrk="1" fontAlgn="auto" hangingPunct="1">
              <a:lnSpc>
                <a:spcPts val="2500"/>
              </a:lnSpc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			d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1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→r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1</a:t>
            </a:r>
            <a:endParaRPr lang="en-US" altLang="zh-CN" sz="2500" b="1" baseline="-25000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marL="457200" lvl="1" indent="0" eaLnBrk="1" fontAlgn="auto" hangingPunct="1">
              <a:lnSpc>
                <a:spcPts val="2500"/>
              </a:lnSpc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			d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2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→r</a:t>
            </a:r>
            <a:r>
              <a:rPr lang="en-US" altLang="zh-CN" sz="25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2</a:t>
            </a:r>
            <a:endParaRPr lang="en-US" altLang="zh-CN" sz="2500" b="1" baseline="-25000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marL="457200" lvl="1" indent="0" eaLnBrk="1" fontAlgn="auto" hangingPunct="1">
              <a:lnSpc>
                <a:spcPts val="2500"/>
              </a:lnSpc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 			   …</a:t>
            </a:r>
            <a:endParaRPr lang="en-US" altLang="zh-CN" sz="2500" b="1" i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marL="457200" lvl="1" indent="0" eaLnBrk="1" fontAlgn="auto" hangingPunct="1">
              <a:lnSpc>
                <a:spcPts val="2500"/>
              </a:lnSpc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			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/>
                <a:cs typeface="楷体_GB2312"/>
              </a:rPr>
              <a:t>d</a:t>
            </a:r>
            <a:r>
              <a:rPr lang="en-US" altLang="zh-CN" sz="2500" b="1" i="1" baseline="-25000" dirty="0" err="1">
                <a:solidFill>
                  <a:schemeClr val="tx1"/>
                </a:solidFill>
                <a:ea typeface="楷体_GB2312"/>
                <a:cs typeface="楷体_GB2312"/>
              </a:rPr>
              <a:t>n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/>
                <a:cs typeface="楷体_GB2312"/>
              </a:rPr>
              <a:t>→r</a:t>
            </a:r>
            <a:r>
              <a:rPr lang="en-US" altLang="zh-CN" sz="2500" b="1" i="1" baseline="-25000" dirty="0" err="1">
                <a:solidFill>
                  <a:schemeClr val="tx1"/>
                </a:solidFill>
                <a:ea typeface="楷体_GB2312"/>
                <a:cs typeface="楷体_GB2312"/>
              </a:rPr>
              <a:t>n</a:t>
            </a:r>
            <a:endParaRPr lang="en-US" altLang="zh-CN" sz="2500" b="1" i="1" baseline="-25000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marL="274320" indent="-274320" eaLnBrk="1" fontAlgn="auto" hangingPunct="1">
              <a:lnSpc>
                <a:spcPts val="2800"/>
              </a:lnSpc>
              <a:spcAft>
                <a:spcPts val="0"/>
              </a:spcAft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500" b="1" dirty="0">
                <a:solidFill>
                  <a:schemeClr val="tx1"/>
                </a:solidFill>
              </a:rPr>
              <a:t>     </a:t>
            </a:r>
            <a:r>
              <a:rPr lang="zh-CN" altLang="en-US" sz="2500" b="1" dirty="0">
                <a:solidFill>
                  <a:schemeClr val="tx1"/>
                </a:solidFill>
              </a:rPr>
              <a:t>其中：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marL="457200" lvl="1" indent="0" eaLnBrk="1" fontAlgn="auto" hangingPunct="1">
              <a:lnSpc>
                <a:spcPts val="3500"/>
              </a:lnSpc>
              <a:spcAft>
                <a:spcPts val="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每个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/>
                <a:cs typeface="楷体_GB2312"/>
              </a:rPr>
              <a:t>d</a:t>
            </a:r>
            <a:r>
              <a:rPr lang="en-US" altLang="zh-CN" sz="2500" b="1" i="1" baseline="-25000" dirty="0" err="1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zh-CN" altLang="en-US" sz="2500" b="1" dirty="0">
                <a:solidFill>
                  <a:schemeClr val="tx1"/>
                </a:solidFill>
              </a:rPr>
              <a:t>都是一个</a:t>
            </a:r>
            <a:r>
              <a:rPr lang="zh-CN" altLang="en-US" sz="2500" b="1" dirty="0">
                <a:solidFill>
                  <a:srgbClr val="0070C0"/>
                </a:solidFill>
              </a:rPr>
              <a:t>新符号</a:t>
            </a:r>
            <a:r>
              <a:rPr lang="zh-CN" altLang="en-US" sz="2500" b="1" dirty="0">
                <a:solidFill>
                  <a:schemeClr val="tx1"/>
                </a:solidFill>
              </a:rPr>
              <a:t>，它们都不在字母表 </a:t>
            </a:r>
            <a:r>
              <a:rPr lang="en-US" altLang="zh-CN" sz="2500" b="1" i="1" dirty="0">
                <a:solidFill>
                  <a:schemeClr val="tx1"/>
                </a:solidFill>
              </a:rPr>
              <a:t>Σ</a:t>
            </a:r>
            <a:r>
              <a:rPr lang="zh-CN" altLang="en-US" sz="2500" b="1" dirty="0">
                <a:solidFill>
                  <a:schemeClr val="tx1"/>
                </a:solidFill>
              </a:rPr>
              <a:t>中，而且</a:t>
            </a:r>
            <a:r>
              <a:rPr lang="zh-CN" altLang="en-US" sz="2500" b="1" dirty="0">
                <a:solidFill>
                  <a:srgbClr val="0070C0"/>
                </a:solidFill>
              </a:rPr>
              <a:t>各不相同</a:t>
            </a:r>
            <a:endParaRPr lang="en-US" altLang="zh-CN" sz="2500" b="1" dirty="0">
              <a:solidFill>
                <a:srgbClr val="0070C0"/>
              </a:solidFill>
            </a:endParaRPr>
          </a:p>
          <a:p>
            <a:pPr marL="457200" lvl="1" indent="0" eaLnBrk="1" fontAlgn="auto" hangingPunct="1">
              <a:lnSpc>
                <a:spcPts val="3500"/>
              </a:lnSpc>
              <a:spcAft>
                <a:spcPts val="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每个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/>
                <a:cs typeface="楷体_GB2312"/>
              </a:rPr>
              <a:t>r</a:t>
            </a:r>
            <a:r>
              <a:rPr lang="en-US" altLang="zh-CN" sz="2500" b="1" i="1" baseline="-25000" dirty="0" err="1">
                <a:solidFill>
                  <a:schemeClr val="tx1"/>
                </a:solidFill>
                <a:ea typeface="楷体_GB2312"/>
                <a:cs typeface="楷体_GB2312"/>
              </a:rPr>
              <a:t>i</a:t>
            </a:r>
            <a:r>
              <a:rPr lang="zh-CN" altLang="en-US" sz="2500" b="1" dirty="0">
                <a:solidFill>
                  <a:schemeClr val="tx1"/>
                </a:solidFill>
              </a:rPr>
              <a:t>是字母表 </a:t>
            </a:r>
            <a:r>
              <a:rPr lang="en-US" altLang="zh-CN" sz="2500" b="1" i="1" dirty="0">
                <a:solidFill>
                  <a:srgbClr val="0070C0"/>
                </a:solidFill>
                <a:ea typeface="楷体_GB2312"/>
                <a:cs typeface="楷体_GB2312"/>
              </a:rPr>
              <a:t>Σ</a:t>
            </a:r>
            <a:r>
              <a:rPr lang="en-US" altLang="zh-CN" sz="2500" b="1" dirty="0">
                <a:solidFill>
                  <a:srgbClr val="007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∪</a:t>
            </a:r>
            <a:r>
              <a:rPr lang="en-US" altLang="zh-CN" sz="2500" b="1" dirty="0">
                <a:solidFill>
                  <a:srgbClr val="0070C0"/>
                </a:solidFill>
              </a:rPr>
              <a:t>{</a:t>
            </a:r>
            <a:r>
              <a:rPr lang="en-US" altLang="zh-CN" sz="2500" b="1" i="1" dirty="0">
                <a:solidFill>
                  <a:srgbClr val="0070C0"/>
                </a:solidFill>
                <a:ea typeface="楷体_GB2312"/>
                <a:cs typeface="楷体_GB2312"/>
              </a:rPr>
              <a:t>d</a:t>
            </a:r>
            <a:r>
              <a:rPr lang="en-US" altLang="zh-CN" sz="2500" b="1" baseline="-25000" dirty="0">
                <a:solidFill>
                  <a:srgbClr val="0070C0"/>
                </a:solidFill>
                <a:ea typeface="楷体_GB2312"/>
                <a:cs typeface="楷体_GB2312"/>
              </a:rPr>
              <a:t>1 </a:t>
            </a:r>
            <a:r>
              <a:rPr lang="en-US" altLang="zh-CN" sz="2500" b="1" dirty="0">
                <a:solidFill>
                  <a:srgbClr val="0070C0"/>
                </a:solidFill>
                <a:ea typeface="楷体_GB2312"/>
                <a:cs typeface="楷体_GB2312"/>
              </a:rPr>
              <a:t>,</a:t>
            </a:r>
            <a:r>
              <a:rPr lang="en-US" altLang="zh-CN" sz="2500" b="1" i="1" dirty="0">
                <a:solidFill>
                  <a:srgbClr val="0070C0"/>
                </a:solidFill>
                <a:ea typeface="楷体_GB2312"/>
                <a:cs typeface="楷体_GB2312"/>
              </a:rPr>
              <a:t>d</a:t>
            </a:r>
            <a:r>
              <a:rPr lang="en-US" altLang="zh-CN" sz="2500" b="1" baseline="-25000" dirty="0">
                <a:solidFill>
                  <a:srgbClr val="0070C0"/>
                </a:solidFill>
                <a:ea typeface="楷体_GB2312"/>
                <a:cs typeface="楷体_GB2312"/>
              </a:rPr>
              <a:t>2 </a:t>
            </a:r>
            <a:r>
              <a:rPr lang="en-US" altLang="zh-CN" sz="2500" b="1" dirty="0">
                <a:solidFill>
                  <a:srgbClr val="0070C0"/>
                </a:solidFill>
                <a:ea typeface="楷体_GB2312"/>
                <a:cs typeface="楷体_GB2312"/>
              </a:rPr>
              <a:t>, … ,</a:t>
            </a:r>
            <a:r>
              <a:rPr lang="en-US" altLang="zh-CN" sz="2500" b="1" i="1" dirty="0">
                <a:solidFill>
                  <a:srgbClr val="0070C0"/>
                </a:solidFill>
                <a:ea typeface="楷体_GB2312"/>
                <a:cs typeface="楷体_GB2312"/>
              </a:rPr>
              <a:t>d</a:t>
            </a:r>
            <a:r>
              <a:rPr lang="en-US" altLang="zh-CN" sz="2500" b="1" i="1" baseline="-25000" dirty="0">
                <a:solidFill>
                  <a:srgbClr val="0070C0"/>
                </a:solidFill>
                <a:ea typeface="楷体_GB2312"/>
                <a:cs typeface="楷体_GB2312"/>
              </a:rPr>
              <a:t>i</a:t>
            </a:r>
            <a:r>
              <a:rPr lang="en-US" altLang="zh-CN" sz="2500" b="1" baseline="-25000" dirty="0">
                <a:solidFill>
                  <a:srgbClr val="0070C0"/>
                </a:solidFill>
                <a:ea typeface="楷体_GB2312"/>
                <a:cs typeface="楷体_GB2312"/>
              </a:rPr>
              <a:t>-1</a:t>
            </a:r>
            <a:r>
              <a:rPr lang="en-US" altLang="zh-CN" sz="2500" b="1" dirty="0">
                <a:solidFill>
                  <a:srgbClr val="0070C0"/>
                </a:solidFill>
              </a:rPr>
              <a:t>}</a:t>
            </a:r>
            <a:r>
              <a:rPr lang="zh-CN" altLang="en-US" sz="2500" b="1" dirty="0">
                <a:solidFill>
                  <a:schemeClr val="tx1"/>
                </a:solidFill>
              </a:rPr>
              <a:t>上的</a:t>
            </a:r>
            <a:r>
              <a:rPr lang="zh-CN" altLang="en-US" sz="2500" b="1" dirty="0">
                <a:solidFill>
                  <a:srgbClr val="0070C0"/>
                </a:solidFill>
              </a:rPr>
              <a:t>正则表达式</a:t>
            </a:r>
            <a:endParaRPr lang="zh-CN" altLang="en-US" sz="2500" b="1" dirty="0">
              <a:solidFill>
                <a:srgbClr val="0070C0"/>
              </a:solidFill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正则定</a:t>
            </a:r>
            <a:r>
              <a:rPr lang="zh-CN" altLang="en-US" sz="3000" spc="-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义</a:t>
            </a:r>
            <a:r>
              <a:rPr lang="zh-CN" altLang="en-US" sz="2500" spc="-5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（  </a:t>
            </a:r>
            <a:r>
              <a:rPr lang="en-US" altLang="zh-CN" sz="2500" i="1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Regular</a:t>
            </a:r>
            <a:r>
              <a:rPr lang="zh-CN" altLang="en-US" sz="2500" i="1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500" i="1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Definition</a:t>
            </a:r>
            <a:r>
              <a:rPr lang="zh-CN" altLang="en-US" sz="25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）</a:t>
            </a:r>
            <a:endParaRPr lang="zh-CN" altLang="en-US" sz="2500" dirty="0">
              <a:solidFill>
                <a:schemeClr val="tx1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48132" name="组合 5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48135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4427538" y="1611313"/>
            <a:ext cx="3859212" cy="12461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给一些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RE</a:t>
            </a:r>
            <a:r>
              <a:rPr lang="zh-CN" altLang="en-US" sz="2500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命名</a:t>
            </a: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，并在之后的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RE</a:t>
            </a: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中像使用</a:t>
            </a:r>
            <a:r>
              <a:rPr lang="zh-CN" altLang="en-US" sz="2500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字母表中的符号</a:t>
            </a: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一样使用这些</a:t>
            </a:r>
            <a:r>
              <a:rPr lang="zh-CN" altLang="en-US" sz="2500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名字</a:t>
            </a:r>
            <a:endParaRPr lang="zh-CN" altLang="en-US" sz="25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5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5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5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3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3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3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/>
          <p:cNvSpPr>
            <a:spLocks noGrp="1"/>
          </p:cNvSpPr>
          <p:nvPr>
            <p:ph idx="1"/>
          </p:nvPr>
        </p:nvSpPr>
        <p:spPr>
          <a:xfrm>
            <a:off x="1144588" y="928688"/>
            <a:ext cx="5927725" cy="3225800"/>
          </a:xfrm>
        </p:spPr>
        <p:txBody>
          <a:bodyPr/>
          <a:lstStyle/>
          <a:p>
            <a:pPr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3000" b="1" i="1">
                <a:solidFill>
                  <a:schemeClr val="tx1"/>
                </a:solidFill>
              </a:rPr>
              <a:t>C</a:t>
            </a:r>
            <a:r>
              <a:rPr lang="zh-CN" altLang="en-US" sz="3000" b="1">
                <a:solidFill>
                  <a:schemeClr val="tx1"/>
                </a:solidFill>
              </a:rPr>
              <a:t>语言中标识符的正则定义</a:t>
            </a:r>
            <a:endParaRPr lang="en-US" altLang="zh-CN" sz="3000" b="1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800" b="1" i="1">
                <a:solidFill>
                  <a:schemeClr val="tx1"/>
                </a:solidFill>
                <a:ea typeface="楷体_GB2312"/>
                <a:cs typeface="楷体_GB2312"/>
              </a:rPr>
              <a:t>digit 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楷体_GB2312"/>
              </a:rPr>
              <a:t>→ </a:t>
            </a:r>
            <a:r>
              <a:rPr lang="zh-CN" altLang="en-US" sz="2800" b="1">
                <a:solidFill>
                  <a:schemeClr val="tx1"/>
                </a:solidFill>
                <a:ea typeface="楷体_GB2312"/>
                <a:cs typeface="楷体_GB2312"/>
              </a:rPr>
              <a:t>0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楷体_GB2312"/>
              </a:rPr>
              <a:t>|1|2|…|9</a:t>
            </a:r>
            <a:endParaRPr lang="zh-CN" altLang="en-US" sz="2800" b="1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800" b="1" i="1">
                <a:solidFill>
                  <a:schemeClr val="tx1"/>
                </a:solidFill>
                <a:ea typeface="楷体_GB2312"/>
                <a:cs typeface="楷体_GB2312"/>
              </a:rPr>
              <a:t>letter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楷体_GB2312"/>
              </a:rPr>
              <a:t>_ →</a:t>
            </a:r>
            <a:r>
              <a:rPr lang="zh-CN" altLang="en-US" sz="2800" b="1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sz="2800" b="1" i="1">
                <a:solidFill>
                  <a:schemeClr val="tx1"/>
                </a:solidFill>
                <a:ea typeface="楷体_GB2312"/>
                <a:cs typeface="楷体_GB2312"/>
              </a:rPr>
              <a:t>A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楷体_GB2312"/>
              </a:rPr>
              <a:t>|</a:t>
            </a:r>
            <a:r>
              <a:rPr lang="en-US" altLang="zh-CN" sz="2800" b="1" i="1">
                <a:solidFill>
                  <a:schemeClr val="tx1"/>
                </a:solidFill>
                <a:ea typeface="楷体_GB2312"/>
                <a:cs typeface="楷体_GB2312"/>
              </a:rPr>
              <a:t>B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楷体_GB2312"/>
              </a:rPr>
              <a:t>|…|</a:t>
            </a:r>
            <a:r>
              <a:rPr lang="en-US" altLang="zh-CN" sz="2800" b="1" i="1">
                <a:solidFill>
                  <a:schemeClr val="tx1"/>
                </a:solidFill>
                <a:ea typeface="楷体_GB2312"/>
                <a:cs typeface="楷体_GB2312"/>
              </a:rPr>
              <a:t>Z|a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楷体_GB2312"/>
              </a:rPr>
              <a:t>|</a:t>
            </a:r>
            <a:r>
              <a:rPr lang="en-US" altLang="zh-CN" sz="2800" b="1" i="1">
                <a:solidFill>
                  <a:schemeClr val="tx1"/>
                </a:solidFill>
                <a:ea typeface="楷体_GB2312"/>
                <a:cs typeface="楷体_GB2312"/>
              </a:rPr>
              <a:t>b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楷体_GB2312"/>
              </a:rPr>
              <a:t>|…|</a:t>
            </a:r>
            <a:r>
              <a:rPr lang="en-US" altLang="zh-CN" sz="2800" b="1" i="1">
                <a:solidFill>
                  <a:schemeClr val="tx1"/>
                </a:solidFill>
                <a:ea typeface="楷体_GB2312"/>
                <a:cs typeface="楷体_GB2312"/>
              </a:rPr>
              <a:t>z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楷体_GB2312"/>
              </a:rPr>
              <a:t>|_</a:t>
            </a:r>
            <a:endParaRPr lang="en-US" altLang="zh-CN" sz="2800" b="1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800" b="1" i="1">
                <a:solidFill>
                  <a:schemeClr val="tx1"/>
                </a:solidFill>
                <a:ea typeface="楷体_GB2312"/>
                <a:cs typeface="楷体_GB2312"/>
              </a:rPr>
              <a:t>id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楷体_GB2312"/>
              </a:rPr>
              <a:t> → </a:t>
            </a:r>
            <a:r>
              <a:rPr lang="en-US" altLang="zh-CN" sz="2800" b="1" i="1">
                <a:solidFill>
                  <a:schemeClr val="tx1"/>
                </a:solidFill>
                <a:ea typeface="楷体_GB2312"/>
                <a:cs typeface="楷体_GB2312"/>
              </a:rPr>
              <a:t>letter_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楷体_GB2312"/>
              </a:rPr>
              <a:t>(</a:t>
            </a:r>
            <a:r>
              <a:rPr lang="en-US" altLang="zh-CN" sz="2800" b="1" i="1">
                <a:solidFill>
                  <a:schemeClr val="tx1"/>
                </a:solidFill>
                <a:ea typeface="楷体_GB2312"/>
                <a:cs typeface="楷体_GB2312"/>
              </a:rPr>
              <a:t>letter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楷体_GB2312"/>
              </a:rPr>
              <a:t>_|</a:t>
            </a:r>
            <a:r>
              <a:rPr lang="en-US" altLang="zh-CN" sz="2800" b="1" i="1">
                <a:solidFill>
                  <a:schemeClr val="tx1"/>
                </a:solidFill>
                <a:ea typeface="楷体_GB2312"/>
                <a:cs typeface="楷体_GB2312"/>
              </a:rPr>
              <a:t>digit</a:t>
            </a:r>
            <a:r>
              <a:rPr lang="en-US" altLang="zh-CN" sz="2800" b="1">
                <a:solidFill>
                  <a:schemeClr val="tx1"/>
                </a:solidFill>
                <a:ea typeface="楷体_GB2312"/>
                <a:cs typeface="楷体_GB2312"/>
              </a:rPr>
              <a:t>)</a:t>
            </a:r>
            <a:r>
              <a:rPr lang="en-US" altLang="zh-CN" sz="2800" b="1" baseline="30000">
                <a:solidFill>
                  <a:schemeClr val="tx1"/>
                </a:solidFill>
                <a:ea typeface="楷体_GB2312"/>
                <a:cs typeface="楷体_GB2312"/>
              </a:rPr>
              <a:t>*</a:t>
            </a:r>
            <a:endParaRPr lang="en-US" altLang="zh-CN" sz="2800" b="1" baseline="30000">
              <a:solidFill>
                <a:schemeClr val="tx1"/>
              </a:solidFill>
              <a:ea typeface="楷体_GB2312"/>
              <a:cs typeface="楷体_GB2312"/>
            </a:endParaRPr>
          </a:p>
          <a:p>
            <a:pPr eaLnBrk="1" hangingPunct="1">
              <a:lnSpc>
                <a:spcPts val="4500"/>
              </a:lnSpc>
              <a:buFont typeface="Symbol" panose="05050102010706020507" pitchFamily="18" charset="2"/>
              <a:buNone/>
            </a:pPr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3000" dirty="0">
              <a:solidFill>
                <a:schemeClr val="tx1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50180" name="组合 5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50182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>
            <a:spLocks noGrp="1"/>
          </p:cNvSpPr>
          <p:nvPr>
            <p:ph idx="1"/>
          </p:nvPr>
        </p:nvSpPr>
        <p:spPr>
          <a:xfrm>
            <a:off x="157163" y="714374"/>
            <a:ext cx="8087245" cy="3513559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</a:rPr>
              <a:t>（整型或浮点型）无符号数的正则定义</a:t>
            </a:r>
            <a:endParaRPr lang="zh-CN" altLang="en-US" sz="2800" b="1" dirty="0">
              <a:solidFill>
                <a:schemeClr val="tx1"/>
              </a:solidFill>
              <a:latin typeface="楷体_GB2312"/>
              <a:ea typeface="楷体_GB2312"/>
              <a:cs typeface="楷体_GB2312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digit 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→ </a:t>
            </a:r>
            <a:r>
              <a:rPr lang="zh-CN" altLang="en-US" sz="2400" b="1" dirty="0">
                <a:solidFill>
                  <a:schemeClr val="tx1"/>
                </a:solidFill>
                <a:ea typeface="楷体_GB2312"/>
                <a:cs typeface="楷体_GB2312"/>
              </a:rPr>
              <a:t>0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|1|2|…|9</a:t>
            </a:r>
            <a:endParaRPr lang="zh-CN" altLang="en-US" sz="2400" b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digits 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→ 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digit digit</a:t>
            </a:r>
            <a:r>
              <a:rPr lang="en-US" altLang="zh-CN" sz="2400" b="1" i="1" baseline="30000" dirty="0">
                <a:solidFill>
                  <a:schemeClr val="tx1"/>
                </a:solidFill>
                <a:ea typeface="楷体_GB2312"/>
                <a:cs typeface="楷体_GB2312"/>
              </a:rPr>
              <a:t>*</a:t>
            </a:r>
            <a:endParaRPr lang="en-US" altLang="zh-CN" sz="2400" b="1" i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400" b="1" i="1" dirty="0" err="1">
                <a:solidFill>
                  <a:schemeClr val="tx1"/>
                </a:solidFill>
                <a:ea typeface="楷体_GB2312"/>
                <a:cs typeface="楷体_GB2312"/>
              </a:rPr>
              <a:t>optionalFraction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→ .</a:t>
            </a:r>
            <a:r>
              <a:rPr lang="en-US" altLang="zh-CN" sz="2400" b="1" i="1" dirty="0" err="1">
                <a:solidFill>
                  <a:schemeClr val="tx1"/>
                </a:solidFill>
                <a:ea typeface="楷体_GB2312"/>
                <a:cs typeface="楷体_GB2312"/>
              </a:rPr>
              <a:t>digits</a:t>
            </a:r>
            <a:r>
              <a:rPr lang="en-US" altLang="zh-CN" sz="2400" b="1" dirty="0" err="1">
                <a:solidFill>
                  <a:schemeClr val="tx1"/>
                </a:solidFill>
                <a:ea typeface="楷体_GB2312"/>
                <a:cs typeface="楷体_GB2312"/>
              </a:rPr>
              <a:t>|</a:t>
            </a:r>
            <a:r>
              <a:rPr lang="en-US" altLang="zh-CN" sz="2400" b="1" i="1" dirty="0" err="1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endParaRPr lang="en-US" altLang="zh-CN" sz="2400" b="1" i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400" b="1" i="1" dirty="0" err="1">
                <a:solidFill>
                  <a:schemeClr val="tx1"/>
                </a:solidFill>
                <a:ea typeface="楷体_GB2312"/>
                <a:cs typeface="楷体_GB2312"/>
              </a:rPr>
              <a:t>optionalExponent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→ (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 E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(+|-|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)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digits 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)|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endParaRPr lang="en-US" altLang="zh-CN" sz="2400" b="1" i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number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 → 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digits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  </a:t>
            </a:r>
            <a:r>
              <a:rPr lang="en-US" altLang="zh-CN" sz="2400" b="1" i="1" dirty="0" err="1">
                <a:solidFill>
                  <a:schemeClr val="tx1"/>
                </a:solidFill>
                <a:ea typeface="楷体_GB2312"/>
                <a:cs typeface="楷体_GB2312"/>
              </a:rPr>
              <a:t>optionalFraction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  </a:t>
            </a:r>
            <a:r>
              <a:rPr lang="en-US" altLang="zh-CN" sz="2400" b="1" i="1" dirty="0" err="1">
                <a:solidFill>
                  <a:schemeClr val="tx1"/>
                </a:solidFill>
                <a:ea typeface="楷体_GB2312"/>
                <a:cs typeface="楷体_GB2312"/>
              </a:rPr>
              <a:t>optionalExponent</a:t>
            </a:r>
            <a:endParaRPr lang="en-US" altLang="zh-CN" sz="2400" b="1" i="1" dirty="0">
              <a:solidFill>
                <a:schemeClr val="tx1"/>
              </a:solidFill>
              <a:ea typeface="楷体_GB2312"/>
              <a:cs typeface="楷体_GB2312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3000" dirty="0">
              <a:solidFill>
                <a:schemeClr val="tx1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36868" name="组合 5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36871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428625" y="4357688"/>
            <a:ext cx="8280400" cy="4619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lvl="1" eaLnBrk="1" hangingPunct="1">
              <a:spcBef>
                <a:spcPct val="30000"/>
              </a:spcBef>
              <a:defRPr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	2.15	2.15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+3	2.15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-3	2.15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3		2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-3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851920" y="1522879"/>
            <a:ext cx="4968552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b="1" dirty="0">
                <a:latin typeface="+mn-ea"/>
                <a:ea typeface="+mn-ea"/>
              </a:rPr>
              <a:t>思考：假设整数部分不能以</a:t>
            </a:r>
            <a:r>
              <a:rPr lang="en-US" altLang="zh-CN" sz="2400" b="1" dirty="0">
                <a:latin typeface="+mn-ea"/>
                <a:ea typeface="+mn-ea"/>
              </a:rPr>
              <a:t>0</a:t>
            </a:r>
            <a:r>
              <a:rPr lang="zh-CN" altLang="en-US" sz="2400" b="1" dirty="0">
                <a:latin typeface="+mn-ea"/>
                <a:ea typeface="+mn-ea"/>
              </a:rPr>
              <a:t>开头，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defRPr/>
            </a:pPr>
            <a:r>
              <a:rPr lang="zh-CN" altLang="en-US" sz="2400" b="1" dirty="0">
                <a:latin typeface="+mn-ea"/>
                <a:ea typeface="+mn-ea"/>
              </a:rPr>
              <a:t>如何修改？</a:t>
            </a:r>
            <a:endParaRPr lang="en-US" altLang="zh-CN" sz="2400" b="1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/>
          <p:cNvSpPr>
            <a:spLocks noGrp="1"/>
          </p:cNvSpPr>
          <p:nvPr>
            <p:ph idx="1"/>
          </p:nvPr>
        </p:nvSpPr>
        <p:spPr>
          <a:xfrm>
            <a:off x="883920" y="929005"/>
            <a:ext cx="7590155" cy="3225800"/>
          </a:xfrm>
        </p:spPr>
        <p:txBody>
          <a:bodyPr/>
          <a:lstStyle/>
          <a:p>
            <a:pPr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tx1"/>
                </a:solidFill>
              </a:rPr>
              <a:t>列出</a:t>
            </a:r>
            <a:r>
              <a:rPr lang="en-US" altLang="zh-CN" sz="2800" b="1" i="1">
                <a:solidFill>
                  <a:schemeClr val="tx1"/>
                </a:solidFill>
              </a:rPr>
              <a:t>C--</a:t>
            </a:r>
            <a:r>
              <a:rPr lang="zh-CN" altLang="en-US" sz="2800" b="1">
                <a:solidFill>
                  <a:schemeClr val="tx1"/>
                </a:solidFill>
              </a:rPr>
              <a:t>语言中合法的所有符号的正则定义</a:t>
            </a:r>
            <a:endParaRPr lang="zh-CN" altLang="en-US" sz="2800" b="1">
              <a:solidFill>
                <a:schemeClr val="tx1"/>
              </a:solidFill>
            </a:endParaRPr>
          </a:p>
          <a:p>
            <a:pPr marL="0" indent="0" eaLnBrk="1" hangingPunct="1">
              <a:lnSpc>
                <a:spcPts val="4500"/>
              </a:lnSpc>
              <a:buClrTx/>
              <a:buFont typeface="Wingdings" panose="05000000000000000000" pitchFamily="2" charset="2"/>
              <a:buNone/>
            </a:pPr>
            <a:r>
              <a:rPr lang="zh-CN" altLang="en-US" b="1"/>
              <a:t>参考材料：</a:t>
            </a:r>
            <a:r>
              <a:rPr lang="en-US" altLang="zh-CN" b="1"/>
              <a:t>QQ</a:t>
            </a:r>
            <a:r>
              <a:rPr lang="zh-CN" altLang="en-US" b="1"/>
              <a:t>群文件</a:t>
            </a:r>
            <a:r>
              <a:rPr lang="en-US" altLang="zh-CN" b="1"/>
              <a:t>/</a:t>
            </a:r>
            <a:r>
              <a:rPr lang="zh-CN" altLang="en-US" b="1"/>
              <a:t>实验教程</a:t>
            </a:r>
            <a:r>
              <a:rPr lang="en-US" altLang="zh-CN" b="1"/>
              <a:t>/</a:t>
            </a:r>
            <a:r>
              <a:rPr lang="zh-CN" altLang="en-US" b="1"/>
              <a:t>附录</a:t>
            </a:r>
            <a:r>
              <a:rPr lang="en-US" altLang="zh-CN" b="1"/>
              <a:t>_A_C−−</a:t>
            </a:r>
            <a:r>
              <a:rPr lang="zh-CN" altLang="en-US" b="1"/>
              <a:t>语言文法</a:t>
            </a:r>
            <a:endParaRPr lang="zh-CN" altLang="en-US" b="1"/>
          </a:p>
          <a:p>
            <a:pPr marL="0" indent="0" eaLnBrk="1" hangingPunct="1">
              <a:lnSpc>
                <a:spcPts val="4500"/>
              </a:lnSpc>
              <a:buClrTx/>
              <a:buFont typeface="Wingdings" panose="05000000000000000000" pitchFamily="2" charset="2"/>
              <a:buNone/>
            </a:pPr>
            <a:endParaRPr lang="en-US" altLang="zh-CN" b="1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实验准备</a:t>
            </a:r>
            <a:endParaRPr lang="zh-CN" altLang="en-US" sz="3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50180" name="组合 5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50182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95" y="2284095"/>
            <a:ext cx="7520305" cy="218630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900430" y="2571750"/>
            <a:ext cx="7487920" cy="115252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b="58025"/>
          <a:stretch>
            <a:fillRect/>
          </a:stretch>
        </p:blipFill>
        <p:spPr>
          <a:xfrm>
            <a:off x="883920" y="4490085"/>
            <a:ext cx="6889750" cy="431800"/>
          </a:xfrm>
          <a:prstGeom prst="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内容占位符 2"/>
          <p:cNvSpPr>
            <a:spLocks noGrp="1"/>
          </p:cNvSpPr>
          <p:nvPr>
            <p:ph idx="1"/>
          </p:nvPr>
        </p:nvSpPr>
        <p:spPr>
          <a:xfrm>
            <a:off x="4524375" y="1357313"/>
            <a:ext cx="4619625" cy="3246437"/>
          </a:xfrm>
        </p:spPr>
        <p:txBody>
          <a:bodyPr/>
          <a:lstStyle/>
          <a:p>
            <a:pPr eaLnBrk="1" hangingPunct="1">
              <a:lnSpc>
                <a:spcPts val="4000"/>
              </a:lnSpc>
              <a:buFont typeface="Symbol" panose="05050102010706020507" pitchFamily="18" charset="2"/>
              <a:buNone/>
              <a:defRPr/>
            </a:pPr>
            <a:r>
              <a:rPr lang="en-US" altLang="zh-CN" sz="25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25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单词的描述</a:t>
            </a:r>
            <a:endParaRPr lang="zh-CN" altLang="en-US" sz="25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ts val="4000"/>
              </a:lnSpc>
              <a:buFont typeface="Symbol" panose="05050102010706020507" pitchFamily="18" charset="2"/>
              <a:buNone/>
              <a:defRPr/>
            </a:pP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单词的识别</a:t>
            </a:r>
            <a:endParaRPr lang="zh-CN" altLang="en-US" sz="25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ts val="4000"/>
              </a:lnSpc>
              <a:buFont typeface="Symbol" panose="05050102010706020507" pitchFamily="18" charset="2"/>
              <a:buNone/>
              <a:defRPr/>
            </a:pPr>
            <a:r>
              <a:rPr lang="en-US" altLang="zh-CN" sz="25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5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词法分析阶段的错误处理</a:t>
            </a:r>
            <a:endParaRPr lang="en-US" altLang="zh-CN" sz="25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ts val="4000"/>
              </a:lnSpc>
              <a:buFont typeface="Symbol" panose="05050102010706020507" pitchFamily="18" charset="2"/>
              <a:buNone/>
              <a:defRPr/>
            </a:pPr>
            <a:r>
              <a:rPr lang="en-US" altLang="zh-CN" sz="25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altLang="en-US" sz="25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词法分析器生成工具</a:t>
            </a:r>
            <a:r>
              <a:rPr lang="en-US" altLang="zh-CN" sz="2500" b="1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Lex</a:t>
            </a:r>
            <a:br>
              <a:rPr lang="en-US" altLang="zh-CN" sz="25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en-US" sz="25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0"/>
            <a:ext cx="9144000" cy="1500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6324" name="Picture 7" descr="E:\工大编译\ppt\制作\0330e9c554c768200000158fc50d53d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38" r="21837"/>
          <a:stretch>
            <a:fillRect/>
          </a:stretch>
        </p:blipFill>
        <p:spPr bwMode="auto">
          <a:xfrm>
            <a:off x="-6350" y="0"/>
            <a:ext cx="429577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/>
          <p:cNvSpPr/>
          <p:nvPr/>
        </p:nvSpPr>
        <p:spPr>
          <a:xfrm>
            <a:off x="4143375" y="357188"/>
            <a:ext cx="1928813" cy="7858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b="1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提纲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内容占位符 2"/>
          <p:cNvSpPr>
            <a:spLocks noGrp="1"/>
          </p:cNvSpPr>
          <p:nvPr>
            <p:ph idx="1"/>
          </p:nvPr>
        </p:nvSpPr>
        <p:spPr>
          <a:xfrm>
            <a:off x="500063" y="1001713"/>
            <a:ext cx="8215312" cy="3225800"/>
          </a:xfrm>
        </p:spPr>
        <p:txBody>
          <a:bodyPr/>
          <a:lstStyle/>
          <a:p>
            <a:pPr eaLnBrk="1" hangingPunct="1">
              <a:lnSpc>
                <a:spcPts val="38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dirty="0">
                <a:solidFill>
                  <a:schemeClr val="tx1"/>
                </a:solidFill>
              </a:rPr>
              <a:t>3.2.1 </a:t>
            </a:r>
            <a:r>
              <a:rPr lang="zh-CN" altLang="en-US" sz="2500" b="1" dirty="0">
                <a:solidFill>
                  <a:schemeClr val="tx1"/>
                </a:solidFill>
              </a:rPr>
              <a:t>有穷自动机 </a:t>
            </a:r>
            <a:r>
              <a:rPr lang="en-US" altLang="zh-CN" sz="2000" b="1" dirty="0">
                <a:solidFill>
                  <a:schemeClr val="tx1"/>
                </a:solidFill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</a:rPr>
              <a:t>Finite Automata</a:t>
            </a:r>
            <a:r>
              <a:rPr lang="en-US" altLang="zh-CN" sz="2000" b="1" dirty="0">
                <a:solidFill>
                  <a:schemeClr val="tx1"/>
                </a:solidFill>
              </a:rPr>
              <a:t>)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38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dirty="0">
                <a:solidFill>
                  <a:schemeClr val="tx1"/>
                </a:solidFill>
              </a:rPr>
              <a:t>3.2.2 </a:t>
            </a:r>
            <a:r>
              <a:rPr lang="zh-CN" altLang="en-US" sz="2500" b="1" dirty="0">
                <a:solidFill>
                  <a:schemeClr val="tx1"/>
                </a:solidFill>
              </a:rPr>
              <a:t>有穷自动机的分类</a:t>
            </a:r>
            <a:endParaRPr lang="zh-CN" altLang="en-US" sz="25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38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dirty="0">
                <a:solidFill>
                  <a:schemeClr val="tx1"/>
                </a:solidFill>
              </a:rPr>
              <a:t>3.2.3 </a:t>
            </a:r>
            <a:r>
              <a:rPr lang="zh-CN" altLang="en-US" sz="2500" b="1" dirty="0">
                <a:solidFill>
                  <a:schemeClr val="tx1"/>
                </a:solidFill>
              </a:rPr>
              <a:t>从正则表达式到有穷自动机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38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dirty="0">
                <a:solidFill>
                  <a:schemeClr val="tx1"/>
                </a:solidFill>
              </a:rPr>
              <a:t>3.2.4 </a:t>
            </a:r>
            <a:r>
              <a:rPr lang="zh-CN" altLang="en-US" sz="2500" b="1" dirty="0">
                <a:solidFill>
                  <a:schemeClr val="tx1"/>
                </a:solidFill>
              </a:rPr>
              <a:t>识别单词的</a:t>
            </a:r>
            <a:r>
              <a:rPr lang="en-US" altLang="zh-CN" sz="2500" b="1" i="1" dirty="0">
                <a:solidFill>
                  <a:schemeClr val="tx1"/>
                </a:solidFill>
              </a:rPr>
              <a:t>DFA</a:t>
            </a:r>
            <a:r>
              <a:rPr lang="en-US" altLang="zh-CN" sz="2500" b="1" dirty="0">
                <a:solidFill>
                  <a:schemeClr val="tx1"/>
                </a:solidFill>
              </a:rPr>
              <a:t> </a:t>
            </a:r>
            <a:endParaRPr lang="zh-CN" altLang="en-US" sz="25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3800"/>
              </a:lnSpc>
              <a:buClrTx/>
              <a:buFont typeface="Wingdings" panose="05000000000000000000" pitchFamily="2" charset="2"/>
              <a:buChar char="Ø"/>
            </a:pPr>
            <a:endParaRPr lang="zh-CN" altLang="en-US" sz="2500" b="1" dirty="0">
              <a:solidFill>
                <a:schemeClr val="tx1"/>
              </a:solidFill>
            </a:endParaRPr>
          </a:p>
        </p:txBody>
      </p:sp>
      <p:sp>
        <p:nvSpPr>
          <p:cNvPr id="24580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单词的识别</a:t>
            </a:r>
            <a:endParaRPr lang="zh-CN" altLang="en-US" sz="3000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8372" name="组合 5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58374" name="五边形 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063" y="703263"/>
            <a:ext cx="8215313" cy="322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ts val="38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有穷自动机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 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Finite Automata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FA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由两位神经物理学家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MeCuloch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和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Pitts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于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1948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年首先提出，是对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一类处理系统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建立的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数学模型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38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这类系统具有一系列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离散的输入输出信息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和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有穷数目的内部状态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（状态：概括了对过去输入信息处理的状况）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38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系统只需要根据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当前所处的状态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和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当前面临的输入信息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就可以决定系统的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后继行为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。每当系统处理了当前的输入后，系统的内部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状态也将发生改变</a:t>
            </a:r>
            <a:endParaRPr kumimoji="0" lang="zh-CN" altLang="en-US" sz="25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4580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3.2.1 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有穷自动机 </a:t>
            </a:r>
            <a:endParaRPr kumimoji="0" lang="zh-CN" altLang="en-US" sz="3000" b="1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43012" name="组合 5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43014" name="五边形 6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Grp="1" noChangeArrowheads="1"/>
          </p:cNvSpPr>
          <p:nvPr>
            <p:ph idx="1"/>
          </p:nvPr>
        </p:nvSpPr>
        <p:spPr>
          <a:xfrm>
            <a:off x="428625" y="1000125"/>
            <a:ext cx="8201025" cy="39052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" panose="02010609060101010101" pitchFamily="49" charset="-122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+mn-ea"/>
                <a:cs typeface="+mn-cs"/>
              </a:rPr>
              <a:t> 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+mn-ea"/>
                <a:cs typeface="+mn-cs"/>
              </a:rPr>
              <a:t>输入带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input tape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+mn-ea"/>
                <a:cs typeface="+mn-cs"/>
              </a:rPr>
              <a:t>：用来存放输入符号串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+mn-ea"/>
                <a:cs typeface="+mn-cs"/>
              </a:rPr>
              <a:t> 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+mn-ea"/>
                <a:cs typeface="+mn-cs"/>
              </a:rPr>
              <a:t>读头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head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+mn-ea"/>
                <a:cs typeface="+mn-cs"/>
              </a:rPr>
              <a:t>：从左向右逐个读取输入符号，不能修改（只读）、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anose="05050102010706020507" pitchFamily="18" charset="2"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+mn-ea"/>
                <a:cs typeface="+mn-cs"/>
              </a:rPr>
              <a:t>   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+mn-ea"/>
                <a:cs typeface="+mn-cs"/>
              </a:rPr>
              <a:t>不能往返移动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+mn-ea"/>
                <a:cs typeface="+mn-cs"/>
              </a:rPr>
              <a:t> 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+mn-ea"/>
                <a:cs typeface="+mn-cs"/>
              </a:rPr>
              <a:t>有穷控制器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finite control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+mn-ea"/>
                <a:cs typeface="+mn-cs"/>
              </a:rPr>
              <a:t>：具有有穷个状态数，根据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+mn-ea"/>
                <a:cs typeface="+mn-cs"/>
              </a:rPr>
              <a:t>当前的 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anose="05050102010706020507" pitchFamily="18" charset="2"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+mn-ea"/>
                <a:cs typeface="+mn-cs"/>
              </a:rPr>
              <a:t>   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+mn-ea"/>
                <a:cs typeface="+mn-cs"/>
              </a:rPr>
              <a:t>状态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+mn-ea"/>
                <a:cs typeface="+mn-cs"/>
              </a:rPr>
              <a:t>和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+mn-ea"/>
                <a:cs typeface="+mn-cs"/>
              </a:rPr>
              <a:t>当前输入符号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+mn-ea"/>
                <a:cs typeface="+mn-cs"/>
              </a:rPr>
              <a:t>控制转入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+mn-ea"/>
                <a:cs typeface="+mn-cs"/>
              </a:rPr>
              <a:t>下一状态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+mn-ea"/>
              <a:cs typeface="+mn-cs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755650" y="268288"/>
            <a:ext cx="793115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3000" b="1" i="1" kern="1200" cap="none" spc="0" normalizeH="0" baseline="0" noProof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FA</a:t>
            </a:r>
            <a:r>
              <a:rPr kumimoji="0" lang="zh-CN" altLang="en-US" sz="3000" b="1" kern="1200" cap="none" spc="300" normalizeH="0" baseline="0" noProof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模型</a:t>
            </a:r>
            <a:endParaRPr kumimoji="0" lang="zh-CN" altLang="en-US" sz="3000" b="1" kern="1200" cap="none" spc="300" normalizeH="0" baseline="0" noProof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47108" name="组合 5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47126" name="五边形 8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47109" name="组合 36"/>
          <p:cNvGrpSpPr/>
          <p:nvPr/>
        </p:nvGrpSpPr>
        <p:grpSpPr>
          <a:xfrm>
            <a:off x="2157413" y="857250"/>
            <a:ext cx="4286250" cy="1744663"/>
            <a:chOff x="642910" y="714362"/>
            <a:chExt cx="4286280" cy="1745290"/>
          </a:xfrm>
        </p:grpSpPr>
        <p:grpSp>
          <p:nvGrpSpPr>
            <p:cNvPr id="47110" name="组合 33"/>
            <p:cNvGrpSpPr/>
            <p:nvPr/>
          </p:nvGrpSpPr>
          <p:grpSpPr>
            <a:xfrm>
              <a:off x="1643042" y="714362"/>
              <a:ext cx="3286148" cy="1745290"/>
              <a:chOff x="1643042" y="714362"/>
              <a:chExt cx="3286148" cy="1745290"/>
            </a:xfrm>
          </p:grpSpPr>
          <p:sp>
            <p:nvSpPr>
              <p:cNvPr id="47113" name="TextBox 10"/>
              <p:cNvSpPr txBox="1"/>
              <p:nvPr/>
            </p:nvSpPr>
            <p:spPr>
              <a:xfrm>
                <a:off x="1643042" y="714362"/>
                <a:ext cx="3286148" cy="553998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endParaRPr lang="zh-CN" altLang="en-US" sz="3000" dirty="0">
                  <a:latin typeface="Tahoma" panose="020B0604030504040204" pitchFamily="34" charset="0"/>
                </a:endParaRPr>
              </a:p>
            </p:txBody>
          </p:sp>
          <p:cxnSp>
            <p:nvCxnSpPr>
              <p:cNvPr id="13" name="直接连接符 12"/>
              <p:cNvCxnSpPr/>
              <p:nvPr/>
            </p:nvCxnSpPr>
            <p:spPr>
              <a:xfrm rot="5400000" flipH="1" flipV="1">
                <a:off x="1846144" y="1000215"/>
                <a:ext cx="57170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 rot="5400000" flipH="1" flipV="1">
                <a:off x="2307315" y="999421"/>
                <a:ext cx="571705" cy="15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/>
              <p:cNvCxnSpPr/>
              <p:nvPr/>
            </p:nvCxnSpPr>
            <p:spPr>
              <a:xfrm rot="5400000" flipH="1" flipV="1">
                <a:off x="2778806" y="999421"/>
                <a:ext cx="57170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/>
              <p:cNvCxnSpPr/>
              <p:nvPr/>
            </p:nvCxnSpPr>
            <p:spPr>
              <a:xfrm rot="5400000" flipH="1" flipV="1">
                <a:off x="3246329" y="1000215"/>
                <a:ext cx="57170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/>
              <p:cNvCxnSpPr/>
              <p:nvPr/>
            </p:nvCxnSpPr>
            <p:spPr>
              <a:xfrm rot="5400000" flipH="1" flipV="1">
                <a:off x="3713850" y="999421"/>
                <a:ext cx="571705" cy="15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/>
            </p:nvCxnSpPr>
            <p:spPr>
              <a:xfrm rot="5400000" flipH="1" flipV="1">
                <a:off x="4182166" y="999421"/>
                <a:ext cx="57170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120" name="TextBox 26"/>
              <p:cNvSpPr txBox="1"/>
              <p:nvPr/>
            </p:nvSpPr>
            <p:spPr>
              <a:xfrm>
                <a:off x="1643042" y="1278488"/>
                <a:ext cx="3286148" cy="107722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txBody>
              <a:bodyPr>
                <a:spAutoFit/>
              </a:bodyPr>
              <a:lstStyle/>
              <a:p>
                <a:endParaRPr lang="zh-CN" altLang="en-US" sz="100" dirty="0">
                  <a:latin typeface="Tahoma" panose="020B0604030504040204" pitchFamily="34" charset="0"/>
                </a:endParaRPr>
              </a:p>
            </p:txBody>
          </p:sp>
          <p:cxnSp>
            <p:nvCxnSpPr>
              <p:cNvPr id="28" name="直接连接符 27"/>
              <p:cNvCxnSpPr/>
              <p:nvPr/>
            </p:nvCxnSpPr>
            <p:spPr>
              <a:xfrm rot="5400000" flipH="1" flipV="1">
                <a:off x="2572430" y="1571126"/>
                <a:ext cx="57170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>
              <a:xfrm rot="5400000" flipH="1" flipV="1">
                <a:off x="2751100" y="1321018"/>
                <a:ext cx="142926" cy="7302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/>
            </p:nvCxnSpPr>
            <p:spPr>
              <a:xfrm rot="16200000" flipV="1">
                <a:off x="2822537" y="1322606"/>
                <a:ext cx="142926" cy="6985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TextBox 32"/>
              <p:cNvSpPr txBox="1"/>
              <p:nvPr/>
            </p:nvSpPr>
            <p:spPr>
              <a:xfrm>
                <a:off x="2428859" y="1875242"/>
                <a:ext cx="857256" cy="58441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anchor="ctr">
                <a:spAutoFit/>
              </a:bodyPr>
              <a:lstStyle/>
              <a:p>
                <a:pPr marR="0" algn="ctr" defTabSz="914400"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kern="1200" cap="none" spc="0" normalizeH="0" baseline="0" noProof="0" dirty="0">
                    <a:latin typeface="+mn-ea"/>
                    <a:ea typeface="+mn-ea"/>
                    <a:cs typeface="+mn-cs"/>
                  </a:rPr>
                  <a:t>有穷</a:t>
                </a:r>
                <a:endParaRPr kumimoji="0" lang="en-US" altLang="zh-CN" sz="1600" b="1" kern="1200" cap="none" spc="0" normalizeH="0" baseline="0" noProof="0" dirty="0">
                  <a:latin typeface="+mn-ea"/>
                  <a:ea typeface="+mn-ea"/>
                  <a:cs typeface="+mn-cs"/>
                </a:endParaRPr>
              </a:p>
              <a:p>
                <a:pPr marR="0" algn="ctr" defTabSz="914400"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kern="1200" cap="none" spc="0" normalizeH="0" baseline="0" noProof="0" dirty="0">
                    <a:latin typeface="+mn-ea"/>
                    <a:ea typeface="+mn-ea"/>
                    <a:cs typeface="+mn-cs"/>
                  </a:rPr>
                  <a:t>控制器</a:t>
                </a:r>
                <a:endParaRPr kumimoji="0" lang="zh-CN" altLang="en-US" sz="1600" b="1" kern="1200" cap="none" spc="0" normalizeH="0" baseline="0" noProof="0" dirty="0">
                  <a:latin typeface="+mn-ea"/>
                  <a:ea typeface="+mn-ea"/>
                  <a:cs typeface="+mn-cs"/>
                </a:endParaRPr>
              </a:p>
            </p:txBody>
          </p:sp>
        </p:grpSp>
        <p:sp>
          <p:nvSpPr>
            <p:cNvPr id="35" name="TextBox 34"/>
            <p:cNvSpPr txBox="1"/>
            <p:nvPr/>
          </p:nvSpPr>
          <p:spPr>
            <a:xfrm>
              <a:off x="3000363" y="1357531"/>
              <a:ext cx="642943" cy="368432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>
              <a:spAutoFit/>
            </a:bodyPr>
            <a:lstStyle/>
            <a:p>
              <a:pPr marR="0" algn="ctr" defTabSz="914400">
                <a:buClrTx/>
                <a:buSzTx/>
                <a:buFontTx/>
                <a:buNone/>
                <a:defRPr/>
              </a:pPr>
              <a:r>
                <a:rPr kumimoji="0" lang="zh-CN" altLang="en-US" b="1" kern="1200" cap="none" spc="0" normalizeH="0" baseline="0" noProof="0" dirty="0">
                  <a:latin typeface="+mn-ea"/>
                  <a:ea typeface="+mn-ea"/>
                  <a:cs typeface="+mn-cs"/>
                </a:rPr>
                <a:t>读头</a:t>
              </a:r>
              <a:endParaRPr kumimoji="0" lang="zh-CN" altLang="en-US" b="1" kern="1200" cap="none" spc="0" normalizeH="0" baseline="0" noProof="0" dirty="0">
                <a:latin typeface="+mn-ea"/>
                <a:ea typeface="+mn-ea"/>
                <a:cs typeface="+mn-cs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42910" y="844584"/>
              <a:ext cx="1071569" cy="370021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>
              <a:spAutoFit/>
            </a:bodyPr>
            <a:lstStyle/>
            <a:p>
              <a:pPr marR="0" algn="ctr" defTabSz="914400">
                <a:buClrTx/>
                <a:buSzTx/>
                <a:buFontTx/>
                <a:buNone/>
                <a:defRPr/>
              </a:pPr>
              <a:r>
                <a:rPr kumimoji="0" lang="zh-CN" altLang="en-US" b="1" kern="1200" cap="none" spc="0" normalizeH="0" baseline="0" noProof="0" dirty="0">
                  <a:latin typeface="+mn-ea"/>
                  <a:ea typeface="+mn-ea"/>
                  <a:cs typeface="+mn-cs"/>
                </a:rPr>
                <a:t>输入带</a:t>
              </a:r>
              <a:endParaRPr kumimoji="0" lang="zh-CN" altLang="en-US" b="1" kern="1200" cap="none" spc="0" normalizeH="0" baseline="0" noProof="0" dirty="0">
                <a:latin typeface="+mn-ea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内容占位符 2"/>
          <p:cNvSpPr>
            <a:spLocks noGrp="1"/>
          </p:cNvSpPr>
          <p:nvPr>
            <p:ph idx="1"/>
          </p:nvPr>
        </p:nvSpPr>
        <p:spPr>
          <a:xfrm>
            <a:off x="285750" y="703263"/>
            <a:ext cx="8606730" cy="3225800"/>
          </a:xfrm>
        </p:spPr>
        <p:txBody>
          <a:bodyPr/>
          <a:lstStyle/>
          <a:p>
            <a:pPr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楷体" panose="02010609060101010101" pitchFamily="49" charset="-122"/>
              </a:rPr>
              <a:t> </a:t>
            </a:r>
            <a:r>
              <a:rPr lang="zh-CN" altLang="en-US" sz="2500" b="1" dirty="0">
                <a:solidFill>
                  <a:srgbClr val="FF0000"/>
                </a:solidFill>
                <a:latin typeface="楷体" panose="02010609060101010101" pitchFamily="49" charset="-122"/>
              </a:rPr>
              <a:t>转换图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楷体_GB2312"/>
              </a:rPr>
              <a:t>(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楷体_GB2312"/>
              </a:rPr>
              <a:t>Transition Graph</a:t>
            </a: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楷体_GB2312"/>
              </a:rPr>
              <a:t>)</a:t>
            </a:r>
            <a:endParaRPr lang="en-US" altLang="zh-CN" sz="2200" b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结点</a:t>
            </a:r>
            <a:r>
              <a:rPr lang="zh-CN" altLang="en-US" b="1" dirty="0">
                <a:solidFill>
                  <a:schemeClr val="tx1"/>
                </a:solidFill>
              </a:rPr>
              <a:t>：</a:t>
            </a:r>
            <a:r>
              <a:rPr lang="en-US" altLang="zh-CN" b="1" i="1" dirty="0">
                <a:solidFill>
                  <a:schemeClr val="tx1"/>
                </a:solidFill>
              </a:rPr>
              <a:t>FA</a:t>
            </a:r>
            <a:r>
              <a:rPr lang="zh-CN" altLang="en-US" b="1" dirty="0">
                <a:solidFill>
                  <a:schemeClr val="tx1"/>
                </a:solidFill>
              </a:rPr>
              <a:t>的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状态</a:t>
            </a:r>
            <a:endParaRPr lang="zh-CN" altLang="en-US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lvl="2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</a:rPr>
              <a:t>初始状态：只有一个，由</a:t>
            </a:r>
            <a:r>
              <a:rPr lang="en-US" altLang="zh-CN" sz="2200" b="1" i="1" dirty="0">
                <a:solidFill>
                  <a:schemeClr val="accent2">
                    <a:lumMod val="75000"/>
                  </a:schemeClr>
                </a:solidFill>
              </a:rPr>
              <a:t>start</a:t>
            </a:r>
            <a:r>
              <a:rPr lang="zh-CN" altLang="en-US" sz="2200" b="1" dirty="0">
                <a:solidFill>
                  <a:schemeClr val="accent2">
                    <a:lumMod val="75000"/>
                  </a:schemeClr>
                </a:solidFill>
              </a:rPr>
              <a:t>箭头</a:t>
            </a:r>
            <a:r>
              <a:rPr lang="zh-CN" altLang="en-US" sz="2200" b="1" dirty="0">
                <a:solidFill>
                  <a:schemeClr val="tx1"/>
                </a:solidFill>
              </a:rPr>
              <a:t>指向</a:t>
            </a:r>
            <a:endParaRPr lang="zh-CN" altLang="en-US" sz="2200" b="1" dirty="0">
              <a:solidFill>
                <a:schemeClr val="tx1"/>
              </a:solidFill>
            </a:endParaRPr>
          </a:p>
          <a:p>
            <a:pPr lvl="2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</a:rPr>
              <a:t>接收状态：可以有多个，用</a:t>
            </a:r>
            <a:r>
              <a:rPr lang="zh-CN" altLang="en-US" sz="2200" b="1" dirty="0">
                <a:solidFill>
                  <a:schemeClr val="accent2">
                    <a:lumMod val="75000"/>
                  </a:schemeClr>
                </a:solidFill>
              </a:rPr>
              <a:t>双圈</a:t>
            </a:r>
            <a:r>
              <a:rPr lang="zh-CN" altLang="en-US" sz="2200" b="1" dirty="0">
                <a:solidFill>
                  <a:schemeClr val="tx1"/>
                </a:solidFill>
              </a:rPr>
              <a:t>表示</a:t>
            </a:r>
            <a:endParaRPr lang="zh-CN" altLang="en-US" sz="22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</a:rPr>
              <a:t> 带标记的</a:t>
            </a: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</a:rPr>
              <a:t>有向边（转换函数）</a:t>
            </a:r>
            <a:r>
              <a:rPr lang="zh-CN" altLang="en-US" b="1" dirty="0">
                <a:solidFill>
                  <a:schemeClr val="tx1"/>
                </a:solidFill>
              </a:rPr>
              <a:t>：如果对于</a:t>
            </a: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</a:rPr>
              <a:t>输入</a:t>
            </a:r>
            <a:r>
              <a:rPr lang="en-US" altLang="zh-CN" b="1" i="1" dirty="0">
                <a:solidFill>
                  <a:schemeClr val="accent2">
                    <a:lumMod val="75000"/>
                  </a:schemeClr>
                </a:solidFill>
              </a:rPr>
              <a:t>a</a:t>
            </a:r>
            <a:r>
              <a:rPr lang="zh-CN" altLang="en-US" b="1" dirty="0">
                <a:solidFill>
                  <a:schemeClr val="tx1"/>
                </a:solidFill>
              </a:rPr>
              <a:t>，存在一个从状态</a:t>
            </a:r>
            <a:r>
              <a:rPr lang="en-US" altLang="zh-CN" b="1" i="1" dirty="0">
                <a:solidFill>
                  <a:schemeClr val="tx1"/>
                </a:solidFill>
              </a:rPr>
              <a:t>p</a:t>
            </a:r>
            <a:r>
              <a:rPr lang="zh-CN" altLang="en-US" b="1" dirty="0">
                <a:solidFill>
                  <a:schemeClr val="tx1"/>
                </a:solidFill>
              </a:rPr>
              <a:t>到状 态</a:t>
            </a:r>
            <a:r>
              <a:rPr lang="en-US" altLang="zh-CN" b="1" i="1" dirty="0">
                <a:solidFill>
                  <a:schemeClr val="tx1"/>
                </a:solidFill>
              </a:rPr>
              <a:t>q</a:t>
            </a:r>
            <a:r>
              <a:rPr lang="zh-CN" altLang="en-US" b="1" dirty="0">
                <a:solidFill>
                  <a:schemeClr val="tx1"/>
                </a:solidFill>
              </a:rPr>
              <a:t>的转换，就在</a:t>
            </a:r>
            <a:r>
              <a:rPr lang="en-US" altLang="zh-CN" b="1" i="1" dirty="0">
                <a:solidFill>
                  <a:schemeClr val="tx1"/>
                </a:solidFill>
              </a:rPr>
              <a:t>p</a:t>
            </a:r>
            <a:r>
              <a:rPr lang="zh-CN" altLang="en-US" b="1" dirty="0">
                <a:solidFill>
                  <a:schemeClr val="tx1"/>
                </a:solidFill>
              </a:rPr>
              <a:t>、</a:t>
            </a:r>
            <a:r>
              <a:rPr lang="en-US" altLang="zh-CN" b="1" i="1" dirty="0">
                <a:solidFill>
                  <a:schemeClr val="tx1"/>
                </a:solidFill>
              </a:rPr>
              <a:t>q</a:t>
            </a:r>
            <a:r>
              <a:rPr lang="zh-CN" altLang="en-US" b="1" dirty="0">
                <a:solidFill>
                  <a:schemeClr val="tx1"/>
                </a:solidFill>
              </a:rPr>
              <a:t>之间画一条有向边，并标记上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endParaRPr lang="en-US" altLang="zh-CN" b="1" i="1" dirty="0">
              <a:solidFill>
                <a:schemeClr val="tx1"/>
              </a:solidFill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755650" y="268288"/>
            <a:ext cx="793115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30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FA</a:t>
            </a:r>
            <a:r>
              <a:rPr lang="zh-CN" altLang="en-US" sz="3000" b="1" spc="3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的表示</a:t>
            </a:r>
            <a:endParaRPr lang="zh-CN" altLang="en-US" sz="3000" b="1" spc="3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66564" name="组合 5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9" name="五边形 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6585" name="五边形 9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66565" name="组合 37"/>
          <p:cNvGrpSpPr/>
          <p:nvPr/>
        </p:nvGrpSpPr>
        <p:grpSpPr bwMode="auto">
          <a:xfrm>
            <a:off x="1907704" y="3565525"/>
            <a:ext cx="5500688" cy="1506538"/>
            <a:chOff x="928662" y="3675780"/>
            <a:chExt cx="5500726" cy="1506714"/>
          </a:xfrm>
        </p:grpSpPr>
        <p:grpSp>
          <p:nvGrpSpPr>
            <p:cNvPr id="66566" name="组合 9"/>
            <p:cNvGrpSpPr/>
            <p:nvPr/>
          </p:nvGrpSpPr>
          <p:grpSpPr bwMode="auto">
            <a:xfrm>
              <a:off x="928662" y="3675780"/>
              <a:ext cx="5500726" cy="1090001"/>
              <a:chOff x="2339752" y="4162003"/>
              <a:chExt cx="3622043" cy="790575"/>
            </a:xfrm>
          </p:grpSpPr>
          <p:sp>
            <p:nvSpPr>
              <p:cNvPr id="66575" name="Oval 10"/>
              <p:cNvSpPr>
                <a:spLocks noChangeArrowheads="1"/>
              </p:cNvSpPr>
              <p:nvPr/>
            </p:nvSpPr>
            <p:spPr bwMode="auto">
              <a:xfrm>
                <a:off x="3097415" y="4576104"/>
                <a:ext cx="289198" cy="2924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latin typeface="Times New Roman" panose="02020603050405020304" pitchFamily="18" charset="0"/>
                    <a:ea typeface="楷体_GB2312"/>
                    <a:cs typeface="楷体_GB2312"/>
                  </a:rPr>
                  <a:t>0</a:t>
                </a:r>
                <a:endPara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66576" name="Line 13"/>
              <p:cNvSpPr>
                <a:spLocks noChangeShapeType="1"/>
              </p:cNvSpPr>
              <p:nvPr/>
            </p:nvSpPr>
            <p:spPr bwMode="auto">
              <a:xfrm>
                <a:off x="3381580" y="4731545"/>
                <a:ext cx="568919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66577" name="Line 16"/>
              <p:cNvSpPr>
                <a:spLocks noChangeShapeType="1"/>
              </p:cNvSpPr>
              <p:nvPr/>
            </p:nvSpPr>
            <p:spPr bwMode="auto">
              <a:xfrm>
                <a:off x="4221333" y="4726809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578" name="Line 21"/>
              <p:cNvSpPr>
                <a:spLocks noChangeShapeType="1"/>
              </p:cNvSpPr>
              <p:nvPr/>
            </p:nvSpPr>
            <p:spPr bwMode="auto">
              <a:xfrm>
                <a:off x="5021004" y="4723834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579" name="Oval 23"/>
              <p:cNvSpPr>
                <a:spLocks noChangeArrowheads="1"/>
              </p:cNvSpPr>
              <p:nvPr/>
            </p:nvSpPr>
            <p:spPr bwMode="auto">
              <a:xfrm>
                <a:off x="5594506" y="4572591"/>
                <a:ext cx="289198" cy="2924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latin typeface="Times New Roman" panose="02020603050405020304" pitchFamily="18" charset="0"/>
                    <a:ea typeface="楷体_GB2312"/>
                    <a:cs typeface="楷体_GB2312"/>
                  </a:rPr>
                  <a:t>3</a:t>
                </a:r>
                <a:endPara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66580" name="Oval 39"/>
              <p:cNvSpPr>
                <a:spLocks noChangeArrowheads="1"/>
              </p:cNvSpPr>
              <p:nvPr/>
            </p:nvSpPr>
            <p:spPr bwMode="auto">
              <a:xfrm>
                <a:off x="5521481" y="4501154"/>
                <a:ext cx="440314" cy="45142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581" name="Rectangle 22"/>
              <p:cNvSpPr>
                <a:spLocks noChangeArrowheads="1"/>
              </p:cNvSpPr>
              <p:nvPr/>
            </p:nvSpPr>
            <p:spPr bwMode="auto">
              <a:xfrm>
                <a:off x="2339752" y="4581913"/>
                <a:ext cx="504927" cy="2872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  <a:endPara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66582" name="Line 21"/>
              <p:cNvSpPr>
                <a:spLocks noChangeShapeType="1"/>
              </p:cNvSpPr>
              <p:nvPr/>
            </p:nvSpPr>
            <p:spPr bwMode="auto">
              <a:xfrm flipV="1">
                <a:off x="2844679" y="4725144"/>
                <a:ext cx="252464" cy="895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583" name="Rectangle 22"/>
              <p:cNvSpPr>
                <a:spLocks noChangeArrowheads="1"/>
              </p:cNvSpPr>
              <p:nvPr/>
            </p:nvSpPr>
            <p:spPr bwMode="auto">
              <a:xfrm>
                <a:off x="3139424" y="4162003"/>
                <a:ext cx="504825" cy="287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  <a:endPara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</p:grpSp>
        <p:sp>
          <p:nvSpPr>
            <p:cNvPr id="66567" name="Rectangle 22"/>
            <p:cNvSpPr>
              <a:spLocks noChangeArrowheads="1"/>
            </p:cNvSpPr>
            <p:nvPr/>
          </p:nvSpPr>
          <p:spPr bwMode="auto">
            <a:xfrm>
              <a:off x="2214546" y="4786328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  <a:endParaRPr lang="en-US" altLang="zh-CN" b="1" i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66568" name="Oval 10"/>
            <p:cNvSpPr>
              <a:spLocks noChangeArrowheads="1"/>
            </p:cNvSpPr>
            <p:nvPr/>
          </p:nvSpPr>
          <p:spPr bwMode="auto">
            <a:xfrm>
              <a:off x="3346982" y="4240252"/>
              <a:ext cx="439200" cy="4032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  <a:endParaRPr lang="en-US" altLang="zh-CN" sz="2000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66569" name="Oval 10"/>
            <p:cNvSpPr>
              <a:spLocks noChangeArrowheads="1"/>
            </p:cNvSpPr>
            <p:nvPr/>
          </p:nvSpPr>
          <p:spPr bwMode="auto">
            <a:xfrm>
              <a:off x="4561428" y="4240252"/>
              <a:ext cx="439200" cy="4032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  <a:endParaRPr lang="en-US" altLang="zh-CN" sz="2000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66570" name="Rectangle 22"/>
            <p:cNvSpPr>
              <a:spLocks noChangeArrowheads="1"/>
            </p:cNvSpPr>
            <p:nvPr/>
          </p:nvSpPr>
          <p:spPr bwMode="auto">
            <a:xfrm>
              <a:off x="2519448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  <a:endParaRPr lang="en-US" altLang="zh-CN" b="1" i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66571" name="Rectangle 22"/>
            <p:cNvSpPr>
              <a:spLocks noChangeArrowheads="1"/>
            </p:cNvSpPr>
            <p:nvPr/>
          </p:nvSpPr>
          <p:spPr bwMode="auto">
            <a:xfrm>
              <a:off x="3786182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  <a:endParaRPr lang="en-US" altLang="zh-CN" b="1" i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66572" name="Rectangle 22"/>
            <p:cNvSpPr>
              <a:spLocks noChangeArrowheads="1"/>
            </p:cNvSpPr>
            <p:nvPr/>
          </p:nvSpPr>
          <p:spPr bwMode="auto">
            <a:xfrm>
              <a:off x="4948340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  <a:endParaRPr lang="en-US" altLang="zh-CN" b="1" i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66573" name="Freeform 11"/>
            <p:cNvSpPr/>
            <p:nvPr/>
          </p:nvSpPr>
          <p:spPr bwMode="auto">
            <a:xfrm flipH="1">
              <a:off x="1991843" y="3840019"/>
              <a:ext cx="534010" cy="429463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74" name="Freeform 11"/>
            <p:cNvSpPr/>
            <p:nvPr/>
          </p:nvSpPr>
          <p:spPr bwMode="auto">
            <a:xfrm flipH="1" flipV="1">
              <a:off x="1991843" y="4627806"/>
              <a:ext cx="534010" cy="419104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内容占位符 2"/>
          <p:cNvSpPr>
            <a:spLocks noGrp="1"/>
          </p:cNvSpPr>
          <p:nvPr>
            <p:ph idx="1"/>
          </p:nvPr>
        </p:nvSpPr>
        <p:spPr>
          <a:xfrm>
            <a:off x="442913" y="714375"/>
            <a:ext cx="7986712" cy="3225800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给定输入串</a:t>
            </a:r>
            <a:r>
              <a:rPr lang="en-US" altLang="zh-CN" sz="2500" b="1" i="1" dirty="0">
                <a:solidFill>
                  <a:schemeClr val="tx1"/>
                </a:solidFill>
              </a:rPr>
              <a:t>x</a:t>
            </a:r>
            <a:r>
              <a:rPr lang="zh-CN" altLang="en-US" sz="2500" b="1" i="1" dirty="0">
                <a:solidFill>
                  <a:schemeClr val="tx1"/>
                </a:solidFill>
              </a:rPr>
              <a:t>，</a:t>
            </a:r>
            <a:r>
              <a:rPr lang="zh-CN" altLang="en-US" sz="2500" b="1" dirty="0">
                <a:solidFill>
                  <a:schemeClr val="tx1"/>
                </a:solidFill>
              </a:rPr>
              <a:t>如果存在一个对应于串</a:t>
            </a:r>
            <a:r>
              <a:rPr lang="en-US" altLang="zh-CN" sz="2500" b="1" i="1" dirty="0">
                <a:solidFill>
                  <a:schemeClr val="tx1"/>
                </a:solidFill>
              </a:rPr>
              <a:t>x</a:t>
            </a:r>
            <a:r>
              <a:rPr lang="zh-CN" altLang="en-US" sz="2500" b="1" dirty="0">
                <a:solidFill>
                  <a:schemeClr val="tx1"/>
                </a:solidFill>
              </a:rPr>
              <a:t>的从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初始状态</a:t>
            </a:r>
            <a:r>
              <a:rPr lang="zh-CN" altLang="en-US" sz="2500" b="1" dirty="0">
                <a:solidFill>
                  <a:schemeClr val="tx1"/>
                </a:solidFill>
              </a:rPr>
              <a:t>到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某个接收状态</a:t>
            </a:r>
            <a:r>
              <a:rPr lang="zh-CN" altLang="en-US" sz="2500" b="1" dirty="0">
                <a:solidFill>
                  <a:schemeClr val="tx1"/>
                </a:solidFill>
              </a:rPr>
              <a:t>的转换序列，则称</a:t>
            </a:r>
            <a:r>
              <a:rPr lang="zh-CN" altLang="en-US" sz="2500" b="1" dirty="0">
                <a:solidFill>
                  <a:srgbClr val="FF0000"/>
                </a:solidFill>
              </a:rPr>
              <a:t>串</a:t>
            </a:r>
            <a:r>
              <a:rPr lang="en-US" altLang="zh-CN" sz="2500" b="1" i="1" dirty="0">
                <a:solidFill>
                  <a:schemeClr val="tx1"/>
                </a:solidFill>
              </a:rPr>
              <a:t>x</a:t>
            </a:r>
            <a:r>
              <a:rPr lang="zh-CN" altLang="en-US" sz="2500" b="1" dirty="0">
                <a:solidFill>
                  <a:schemeClr val="tx1"/>
                </a:solidFill>
              </a:rPr>
              <a:t>被该</a:t>
            </a:r>
            <a:r>
              <a:rPr lang="en-US" altLang="zh-CN" sz="2500" b="1" i="1" dirty="0">
                <a:solidFill>
                  <a:srgbClr val="FF0000"/>
                </a:solidFill>
              </a:rPr>
              <a:t>FA</a:t>
            </a:r>
            <a:r>
              <a:rPr lang="zh-CN" altLang="en-US" sz="2500" b="1" dirty="0">
                <a:solidFill>
                  <a:srgbClr val="FF0000"/>
                </a:solidFill>
              </a:rPr>
              <a:t>接收</a:t>
            </a:r>
            <a:endParaRPr lang="en-US" altLang="zh-CN" sz="2500" b="1" dirty="0">
              <a:solidFill>
                <a:srgbClr val="FF0000"/>
              </a:solidFill>
            </a:endParaRP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由一个有穷自动机</a:t>
            </a:r>
            <a:r>
              <a:rPr lang="en-US" altLang="zh-CN" sz="2500" b="1" i="1" dirty="0">
                <a:solidFill>
                  <a:schemeClr val="tx1"/>
                </a:solidFill>
              </a:rPr>
              <a:t>M</a:t>
            </a:r>
            <a:r>
              <a:rPr lang="zh-CN" altLang="en-US" sz="2500" b="1" dirty="0">
                <a:solidFill>
                  <a:schemeClr val="tx1"/>
                </a:solidFill>
              </a:rPr>
              <a:t>接收的所有串构成的集合称为该</a:t>
            </a:r>
            <a:r>
              <a:rPr lang="en-US" altLang="zh-CN" sz="2500" b="1" i="1" dirty="0">
                <a:solidFill>
                  <a:srgbClr val="FF0000"/>
                </a:solidFill>
              </a:rPr>
              <a:t>FA</a:t>
            </a:r>
            <a:r>
              <a:rPr lang="zh-CN" altLang="en-US" sz="2500" b="1" dirty="0">
                <a:solidFill>
                  <a:srgbClr val="FF0000"/>
                </a:solidFill>
              </a:rPr>
              <a:t>定义（或接收）的语言</a:t>
            </a:r>
            <a:r>
              <a:rPr lang="zh-CN" altLang="en-US" sz="2500" b="1" dirty="0">
                <a:solidFill>
                  <a:schemeClr val="tx1"/>
                </a:solidFill>
              </a:rPr>
              <a:t>，记为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L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 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  <a:endParaRPr lang="en-US" altLang="zh-CN" sz="25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8676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i="1" dirty="0">
                <a:solidFill>
                  <a:schemeClr val="tx1"/>
                </a:solidFill>
              </a:rPr>
              <a:t>FA</a:t>
            </a: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</a:t>
            </a:r>
            <a:r>
              <a:rPr lang="zh-CN" altLang="en-US" sz="3000" spc="-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义（接 收）的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</a:t>
            </a:r>
            <a:endParaRPr lang="zh-CN" altLang="en-US" sz="3000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797" name="矩形 4"/>
          <p:cNvSpPr>
            <a:spLocks noChangeArrowheads="1"/>
          </p:cNvSpPr>
          <p:nvPr/>
        </p:nvSpPr>
        <p:spPr bwMode="auto">
          <a:xfrm>
            <a:off x="863600" y="4337197"/>
            <a:ext cx="7416800" cy="4778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zh-CN" sz="25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500" b="1" i="1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500" b="1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5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500" b="1" dirty="0">
                <a:latin typeface="楷体" panose="02010609060101010101" pitchFamily="49" charset="-122"/>
                <a:ea typeface="楷体" panose="02010609060101010101" pitchFamily="49" charset="-122"/>
              </a:rPr>
              <a:t>字母表</a:t>
            </a:r>
            <a:r>
              <a:rPr lang="en-US" altLang="zh-CN" sz="2500" b="1" dirty="0">
                <a:latin typeface="Times New Roman" panose="02020603050405020304" pitchFamily="18" charset="0"/>
              </a:rPr>
              <a:t>{</a:t>
            </a:r>
            <a:r>
              <a:rPr lang="en-US" altLang="zh-CN" sz="2500" b="1" i="1" dirty="0">
                <a:latin typeface="Times New Roman" panose="02020603050405020304" pitchFamily="18" charset="0"/>
              </a:rPr>
              <a:t>a, b</a:t>
            </a:r>
            <a:r>
              <a:rPr lang="en-US" altLang="zh-CN" sz="2500" b="1" dirty="0">
                <a:latin typeface="Times New Roman" panose="02020603050405020304" pitchFamily="18" charset="0"/>
              </a:rPr>
              <a:t>}</a:t>
            </a:r>
            <a:r>
              <a:rPr lang="zh-CN" altLang="en-US" sz="2500" b="1" dirty="0">
                <a:latin typeface="楷体" panose="02010609060101010101" pitchFamily="49" charset="-122"/>
                <a:ea typeface="楷体" panose="02010609060101010101" pitchFamily="49" charset="-122"/>
              </a:rPr>
              <a:t>上所有以</a:t>
            </a:r>
            <a:r>
              <a:rPr lang="en-US" altLang="zh-CN" sz="2500" b="1" i="1" dirty="0" err="1">
                <a:latin typeface="Times New Roman" panose="02020603050405020304" pitchFamily="18" charset="0"/>
              </a:rPr>
              <a:t>abb</a:t>
            </a:r>
            <a:r>
              <a:rPr lang="zh-CN" altLang="en-US" sz="2500" b="1" dirty="0">
                <a:latin typeface="楷体" panose="02010609060101010101" pitchFamily="49" charset="-122"/>
                <a:ea typeface="楷体" panose="02010609060101010101" pitchFamily="49" charset="-122"/>
              </a:rPr>
              <a:t>结尾的串的集合</a:t>
            </a:r>
            <a:endParaRPr lang="zh-CN" altLang="en-US" sz="2500" b="1" dirty="0"/>
          </a:p>
        </p:txBody>
      </p:sp>
      <p:grpSp>
        <p:nvGrpSpPr>
          <p:cNvPr id="68613" name="组合 5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8635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4" name="组合 8"/>
          <p:cNvGrpSpPr/>
          <p:nvPr/>
        </p:nvGrpSpPr>
        <p:grpSpPr bwMode="auto">
          <a:xfrm>
            <a:off x="2613823" y="2846863"/>
            <a:ext cx="5500688" cy="1506538"/>
            <a:chOff x="928659" y="3675785"/>
            <a:chExt cx="5500722" cy="1506709"/>
          </a:xfrm>
        </p:grpSpPr>
        <p:grpSp>
          <p:nvGrpSpPr>
            <p:cNvPr id="68616" name="组合 9"/>
            <p:cNvGrpSpPr/>
            <p:nvPr/>
          </p:nvGrpSpPr>
          <p:grpSpPr bwMode="auto">
            <a:xfrm>
              <a:off x="928659" y="3675785"/>
              <a:ext cx="5500722" cy="1090002"/>
              <a:chOff x="2339752" y="4162003"/>
              <a:chExt cx="3622043" cy="790575"/>
            </a:xfrm>
          </p:grpSpPr>
          <p:sp>
            <p:nvSpPr>
              <p:cNvPr id="68625" name="Oval 10"/>
              <p:cNvSpPr>
                <a:spLocks noChangeArrowheads="1"/>
              </p:cNvSpPr>
              <p:nvPr/>
            </p:nvSpPr>
            <p:spPr bwMode="auto">
              <a:xfrm>
                <a:off x="3097415" y="4576104"/>
                <a:ext cx="289198" cy="2924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latin typeface="Times New Roman" panose="02020603050405020304" pitchFamily="18" charset="0"/>
                    <a:ea typeface="楷体_GB2312"/>
                    <a:cs typeface="楷体_GB2312"/>
                  </a:rPr>
                  <a:t>0</a:t>
                </a:r>
                <a:endPara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68626" name="Line 13"/>
              <p:cNvSpPr>
                <a:spLocks noChangeShapeType="1"/>
              </p:cNvSpPr>
              <p:nvPr/>
            </p:nvSpPr>
            <p:spPr bwMode="auto">
              <a:xfrm>
                <a:off x="3419690" y="4731545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627" name="Line 16"/>
              <p:cNvSpPr>
                <a:spLocks noChangeShapeType="1"/>
              </p:cNvSpPr>
              <p:nvPr/>
            </p:nvSpPr>
            <p:spPr bwMode="auto">
              <a:xfrm>
                <a:off x="4221333" y="4726809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628" name="Line 21"/>
              <p:cNvSpPr>
                <a:spLocks noChangeShapeType="1"/>
              </p:cNvSpPr>
              <p:nvPr/>
            </p:nvSpPr>
            <p:spPr bwMode="auto">
              <a:xfrm>
                <a:off x="5021004" y="4723834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629" name="Oval 23"/>
              <p:cNvSpPr>
                <a:spLocks noChangeArrowheads="1"/>
              </p:cNvSpPr>
              <p:nvPr/>
            </p:nvSpPr>
            <p:spPr bwMode="auto">
              <a:xfrm>
                <a:off x="5594506" y="4572591"/>
                <a:ext cx="289198" cy="2924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latin typeface="Times New Roman" panose="02020603050405020304" pitchFamily="18" charset="0"/>
                    <a:ea typeface="楷体_GB2312"/>
                    <a:cs typeface="楷体_GB2312"/>
                  </a:rPr>
                  <a:t>3</a:t>
                </a:r>
                <a:endPara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68630" name="Oval 39"/>
              <p:cNvSpPr>
                <a:spLocks noChangeArrowheads="1"/>
              </p:cNvSpPr>
              <p:nvPr/>
            </p:nvSpPr>
            <p:spPr bwMode="auto">
              <a:xfrm>
                <a:off x="5521481" y="4501154"/>
                <a:ext cx="440314" cy="45142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8631" name="Rectangle 22"/>
              <p:cNvSpPr>
                <a:spLocks noChangeArrowheads="1"/>
              </p:cNvSpPr>
              <p:nvPr/>
            </p:nvSpPr>
            <p:spPr bwMode="auto">
              <a:xfrm>
                <a:off x="2339752" y="4581913"/>
                <a:ext cx="504927" cy="2872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  <a:endPara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68632" name="Line 21"/>
              <p:cNvSpPr>
                <a:spLocks noChangeShapeType="1"/>
              </p:cNvSpPr>
              <p:nvPr/>
            </p:nvSpPr>
            <p:spPr bwMode="auto">
              <a:xfrm flipV="1">
                <a:off x="2844679" y="4725144"/>
                <a:ext cx="252464" cy="895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633" name="Rectangle 22"/>
              <p:cNvSpPr>
                <a:spLocks noChangeArrowheads="1"/>
              </p:cNvSpPr>
              <p:nvPr/>
            </p:nvSpPr>
            <p:spPr bwMode="auto">
              <a:xfrm>
                <a:off x="3139424" y="4162003"/>
                <a:ext cx="504825" cy="287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  <a:endPara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</p:grpSp>
        <p:sp>
          <p:nvSpPr>
            <p:cNvPr id="68617" name="Rectangle 22"/>
            <p:cNvSpPr>
              <a:spLocks noChangeArrowheads="1"/>
            </p:cNvSpPr>
            <p:nvPr/>
          </p:nvSpPr>
          <p:spPr bwMode="auto">
            <a:xfrm>
              <a:off x="2214546" y="4786328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  <a:endParaRPr lang="en-US" altLang="zh-CN" b="1" i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68618" name="Oval 10"/>
            <p:cNvSpPr>
              <a:spLocks noChangeArrowheads="1"/>
            </p:cNvSpPr>
            <p:nvPr/>
          </p:nvSpPr>
          <p:spPr bwMode="auto">
            <a:xfrm>
              <a:off x="3346982" y="4240252"/>
              <a:ext cx="439200" cy="4032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dirty="0"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68619" name="Oval 10"/>
            <p:cNvSpPr>
              <a:spLocks noChangeArrowheads="1"/>
            </p:cNvSpPr>
            <p:nvPr/>
          </p:nvSpPr>
          <p:spPr bwMode="auto">
            <a:xfrm>
              <a:off x="4561428" y="4240252"/>
              <a:ext cx="439200" cy="4032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  <a:endParaRPr lang="en-US" altLang="zh-CN" sz="2000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68620" name="Rectangle 22"/>
            <p:cNvSpPr>
              <a:spLocks noChangeArrowheads="1"/>
            </p:cNvSpPr>
            <p:nvPr/>
          </p:nvSpPr>
          <p:spPr bwMode="auto">
            <a:xfrm>
              <a:off x="2519448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  <a:endParaRPr lang="en-US" altLang="zh-CN" b="1" i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68621" name="Rectangle 22"/>
            <p:cNvSpPr>
              <a:spLocks noChangeArrowheads="1"/>
            </p:cNvSpPr>
            <p:nvPr/>
          </p:nvSpPr>
          <p:spPr bwMode="auto">
            <a:xfrm>
              <a:off x="3786182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  <a:endParaRPr lang="en-US" altLang="zh-CN" b="1" i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68622" name="Rectangle 22"/>
            <p:cNvSpPr>
              <a:spLocks noChangeArrowheads="1"/>
            </p:cNvSpPr>
            <p:nvPr/>
          </p:nvSpPr>
          <p:spPr bwMode="auto">
            <a:xfrm>
              <a:off x="4948340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  <a:endParaRPr lang="en-US" altLang="zh-CN" b="1" i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68623" name="Freeform 11"/>
            <p:cNvSpPr/>
            <p:nvPr/>
          </p:nvSpPr>
          <p:spPr bwMode="auto">
            <a:xfrm flipH="1">
              <a:off x="1983454" y="3840019"/>
              <a:ext cx="534010" cy="429463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4" name="Freeform 11"/>
            <p:cNvSpPr/>
            <p:nvPr/>
          </p:nvSpPr>
          <p:spPr bwMode="auto">
            <a:xfrm flipH="1" flipV="1">
              <a:off x="1983454" y="4627806"/>
              <a:ext cx="534010" cy="419104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矩形 1"/>
          <p:cNvSpPr/>
          <p:nvPr/>
        </p:nvSpPr>
        <p:spPr>
          <a:xfrm>
            <a:off x="684213" y="3409181"/>
            <a:ext cx="1954915" cy="4616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a|b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endParaRPr lang="zh-CN" altLang="en-US" sz="3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37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37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7" grpId="0" bldLvl="0" animBg="1"/>
      <p:bldP spid="2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625" y="785813"/>
            <a:ext cx="7915275" cy="4233862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</a:rPr>
              <a:t>当输入串的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多个前缀</a:t>
            </a:r>
            <a:r>
              <a:rPr lang="zh-CN" altLang="en-US" sz="2800" b="1" dirty="0">
                <a:solidFill>
                  <a:schemeClr val="tx1"/>
                </a:solidFill>
              </a:rPr>
              <a:t>与一个或多个模式匹配时，总是选择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最长的前缀</a:t>
            </a:r>
            <a:r>
              <a:rPr lang="zh-CN" altLang="en-US" sz="2800" b="1" dirty="0">
                <a:solidFill>
                  <a:schemeClr val="tx1"/>
                </a:solidFill>
              </a:rPr>
              <a:t>进行匹配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endParaRPr lang="en-US" altLang="zh-CN" sz="25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endParaRPr lang="en-US" altLang="zh-CN" sz="2500" b="1" dirty="0">
              <a:solidFill>
                <a:schemeClr val="tx1"/>
              </a:solidFill>
            </a:endParaRPr>
          </a:p>
          <a:p>
            <a:pPr marL="303530" lvl="1" indent="0" eaLnBrk="1" hangingPunct="1">
              <a:lnSpc>
                <a:spcPts val="4000"/>
              </a:lnSpc>
              <a:buClrTx/>
              <a:buNone/>
              <a:defRPr/>
            </a:pPr>
            <a:endParaRPr lang="en-US" altLang="zh-CN" sz="25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在到达某个终态之后，只要输入带上还有符号，</a:t>
            </a:r>
            <a:r>
              <a:rPr lang="en-US" altLang="zh-CN" sz="2500" b="1" i="1" dirty="0">
                <a:solidFill>
                  <a:schemeClr val="tx1"/>
                </a:solidFill>
              </a:rPr>
              <a:t>DFA</a:t>
            </a:r>
            <a:r>
              <a:rPr lang="zh-CN" altLang="en-US" sz="2500" b="1" dirty="0">
                <a:solidFill>
                  <a:schemeClr val="tx1"/>
                </a:solidFill>
              </a:rPr>
              <a:t>就继续前进，以便寻找</a:t>
            </a:r>
            <a:r>
              <a:rPr lang="zh-CN" altLang="en-US" sz="2500" b="1" dirty="0">
                <a:solidFill>
                  <a:srgbClr val="0070C0"/>
                </a:solidFill>
              </a:rPr>
              <a:t>尽可能长的匹配</a:t>
            </a:r>
            <a:endParaRPr lang="zh-CN" altLang="en-US" sz="2500" b="1" dirty="0">
              <a:solidFill>
                <a:srgbClr val="0070C0"/>
              </a:solidFill>
            </a:endParaRPr>
          </a:p>
        </p:txBody>
      </p:sp>
      <p:sp>
        <p:nvSpPr>
          <p:cNvPr id="29700" name="标题 1"/>
          <p:cNvSpPr>
            <a:spLocks noGrp="1"/>
          </p:cNvSpPr>
          <p:nvPr>
            <p:ph type="title"/>
          </p:nvPr>
        </p:nvSpPr>
        <p:spPr>
          <a:xfrm>
            <a:off x="571500" y="284163"/>
            <a:ext cx="83883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最长子串匹配原则</a:t>
            </a:r>
            <a:r>
              <a:rPr lang="en-US" altLang="zh-CN" sz="2300" dirty="0">
                <a:solidFill>
                  <a:schemeClr val="tx1"/>
                </a:solidFill>
              </a:rPr>
              <a:t>(</a:t>
            </a:r>
            <a:r>
              <a:rPr lang="en-US" altLang="zh-CN" sz="2300" i="1" dirty="0">
                <a:solidFill>
                  <a:schemeClr val="tx1"/>
                </a:solidFill>
              </a:rPr>
              <a:t>Longest String Matching Principle</a:t>
            </a:r>
            <a:r>
              <a:rPr lang="en-US" altLang="zh-CN" sz="2300" dirty="0">
                <a:solidFill>
                  <a:schemeClr val="tx1"/>
                </a:solidFill>
              </a:rPr>
              <a:t>)</a:t>
            </a:r>
            <a:endParaRPr lang="zh-CN" altLang="en-US" sz="2300" dirty="0">
              <a:solidFill>
                <a:schemeClr val="tx1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 bwMode="auto">
          <a:xfrm>
            <a:off x="1974850" y="1928813"/>
            <a:ext cx="4811713" cy="1685925"/>
            <a:chOff x="2339752" y="4366444"/>
            <a:chExt cx="3168352" cy="1222796"/>
          </a:xfrm>
        </p:grpSpPr>
        <p:sp>
          <p:nvSpPr>
            <p:cNvPr id="70664" name="Oval 10"/>
            <p:cNvSpPr>
              <a:spLocks noChangeArrowheads="1"/>
            </p:cNvSpPr>
            <p:nvPr/>
          </p:nvSpPr>
          <p:spPr bwMode="auto">
            <a:xfrm>
              <a:off x="3129755" y="4510906"/>
              <a:ext cx="360363" cy="36036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  <a:ea typeface="楷体_GB2312"/>
                  <a:cs typeface="楷体_GB2312"/>
                </a:rPr>
                <a:t>0</a:t>
              </a:r>
              <a:endParaRPr lang="en-US" altLang="zh-CN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70665" name="Line 13"/>
            <p:cNvSpPr>
              <a:spLocks noChangeShapeType="1"/>
            </p:cNvSpPr>
            <p:nvPr/>
          </p:nvSpPr>
          <p:spPr bwMode="auto">
            <a:xfrm>
              <a:off x="3488530" y="4726806"/>
              <a:ext cx="504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66" name="Rectangle 14"/>
            <p:cNvSpPr>
              <a:spLocks noChangeArrowheads="1"/>
            </p:cNvSpPr>
            <p:nvPr/>
          </p:nvSpPr>
          <p:spPr bwMode="auto">
            <a:xfrm>
              <a:off x="3438369" y="4368912"/>
              <a:ext cx="504825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  <a:ea typeface="楷体_GB2312"/>
                  <a:cs typeface="楷体_GB2312"/>
                </a:rPr>
                <a:t>&lt;</a:t>
              </a:r>
              <a:endParaRPr lang="en-US" altLang="zh-CN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70667" name="Oval 15"/>
            <p:cNvSpPr>
              <a:spLocks noChangeArrowheads="1"/>
            </p:cNvSpPr>
            <p:nvPr/>
          </p:nvSpPr>
          <p:spPr bwMode="auto">
            <a:xfrm>
              <a:off x="4066181" y="4510906"/>
              <a:ext cx="360363" cy="36036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  <a:endParaRPr lang="en-US" altLang="zh-CN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70668" name="Line 16"/>
            <p:cNvSpPr>
              <a:spLocks noChangeShapeType="1"/>
            </p:cNvSpPr>
            <p:nvPr/>
          </p:nvSpPr>
          <p:spPr bwMode="auto">
            <a:xfrm>
              <a:off x="4496964" y="4726806"/>
              <a:ext cx="504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69" name="Rectangle 17"/>
            <p:cNvSpPr>
              <a:spLocks noChangeArrowheads="1"/>
            </p:cNvSpPr>
            <p:nvPr/>
          </p:nvSpPr>
          <p:spPr bwMode="auto">
            <a:xfrm>
              <a:off x="4496964" y="4366444"/>
              <a:ext cx="504825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  <a:ea typeface="楷体_GB2312"/>
                  <a:cs typeface="楷体_GB2312"/>
                </a:rPr>
                <a:t>=</a:t>
              </a:r>
              <a:endParaRPr lang="en-US" altLang="zh-CN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70670" name="Oval 18"/>
            <p:cNvSpPr>
              <a:spLocks noChangeArrowheads="1"/>
            </p:cNvSpPr>
            <p:nvPr/>
          </p:nvSpPr>
          <p:spPr bwMode="auto">
            <a:xfrm>
              <a:off x="5073797" y="4510906"/>
              <a:ext cx="360363" cy="36036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  <a:endParaRPr lang="en-US" altLang="zh-CN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70671" name="Line 21"/>
            <p:cNvSpPr>
              <a:spLocks noChangeShapeType="1"/>
            </p:cNvSpPr>
            <p:nvPr/>
          </p:nvSpPr>
          <p:spPr bwMode="auto">
            <a:xfrm>
              <a:off x="4499223" y="5376514"/>
              <a:ext cx="504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2" name="Rectangle 22"/>
            <p:cNvSpPr>
              <a:spLocks noChangeArrowheads="1"/>
            </p:cNvSpPr>
            <p:nvPr/>
          </p:nvSpPr>
          <p:spPr bwMode="auto">
            <a:xfrm>
              <a:off x="4499223" y="5014564"/>
              <a:ext cx="504825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  <a:ea typeface="楷体_GB2312"/>
                  <a:cs typeface="楷体_GB2312"/>
                </a:rPr>
                <a:t>+</a:t>
              </a:r>
              <a:endParaRPr lang="en-US" altLang="zh-CN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70673" name="Oval 23"/>
            <p:cNvSpPr>
              <a:spLocks noChangeArrowheads="1"/>
            </p:cNvSpPr>
            <p:nvPr/>
          </p:nvSpPr>
          <p:spPr bwMode="auto">
            <a:xfrm>
              <a:off x="5077072" y="5157439"/>
              <a:ext cx="360363" cy="36036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  <a:ea typeface="楷体_GB2312"/>
                  <a:cs typeface="楷体_GB2312"/>
                </a:rPr>
                <a:t>4</a:t>
              </a:r>
              <a:endParaRPr lang="en-US" altLang="zh-CN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70674" name="Oval 39"/>
            <p:cNvSpPr>
              <a:spLocks noChangeArrowheads="1"/>
            </p:cNvSpPr>
            <p:nvPr/>
          </p:nvSpPr>
          <p:spPr bwMode="auto">
            <a:xfrm>
              <a:off x="5004047" y="5086002"/>
              <a:ext cx="503238" cy="50323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675" name="Rectangle 22"/>
            <p:cNvSpPr>
              <a:spLocks noChangeArrowheads="1"/>
            </p:cNvSpPr>
            <p:nvPr/>
          </p:nvSpPr>
          <p:spPr bwMode="auto">
            <a:xfrm>
              <a:off x="2339752" y="4581913"/>
              <a:ext cx="504927" cy="287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  <a:endPara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70676" name="Line 21"/>
            <p:cNvSpPr>
              <a:spLocks noChangeShapeType="1"/>
            </p:cNvSpPr>
            <p:nvPr/>
          </p:nvSpPr>
          <p:spPr bwMode="auto">
            <a:xfrm flipV="1">
              <a:off x="2844679" y="4725144"/>
              <a:ext cx="252464" cy="89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7" name="Oval 39"/>
            <p:cNvSpPr>
              <a:spLocks noChangeArrowheads="1"/>
            </p:cNvSpPr>
            <p:nvPr/>
          </p:nvSpPr>
          <p:spPr bwMode="auto">
            <a:xfrm>
              <a:off x="5004866" y="4437112"/>
              <a:ext cx="503238" cy="50323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678" name="Line 21"/>
            <p:cNvSpPr>
              <a:spLocks noChangeShapeType="1"/>
            </p:cNvSpPr>
            <p:nvPr/>
          </p:nvSpPr>
          <p:spPr bwMode="auto">
            <a:xfrm>
              <a:off x="3456260" y="4797152"/>
              <a:ext cx="537094" cy="5390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9" name="Rectangle 22"/>
            <p:cNvSpPr>
              <a:spLocks noChangeArrowheads="1"/>
            </p:cNvSpPr>
            <p:nvPr/>
          </p:nvSpPr>
          <p:spPr bwMode="auto">
            <a:xfrm>
              <a:off x="3203848" y="5013176"/>
              <a:ext cx="504825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  <a:ea typeface="楷体_GB2312"/>
                  <a:cs typeface="楷体_GB2312"/>
                </a:rPr>
                <a:t>+</a:t>
              </a:r>
              <a:endParaRPr lang="en-US" altLang="zh-CN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70680" name="Oval 23"/>
            <p:cNvSpPr>
              <a:spLocks noChangeArrowheads="1"/>
            </p:cNvSpPr>
            <p:nvPr/>
          </p:nvSpPr>
          <p:spPr bwMode="auto">
            <a:xfrm>
              <a:off x="4069779" y="5156051"/>
              <a:ext cx="360363" cy="360363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  <a:ea typeface="楷体_GB2312"/>
                  <a:cs typeface="楷体_GB2312"/>
                </a:rPr>
                <a:t>3</a:t>
              </a:r>
              <a:endParaRPr lang="en-US" altLang="zh-CN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70681" name="Oval 39"/>
            <p:cNvSpPr>
              <a:spLocks noChangeArrowheads="1"/>
            </p:cNvSpPr>
            <p:nvPr/>
          </p:nvSpPr>
          <p:spPr bwMode="auto">
            <a:xfrm>
              <a:off x="3996754" y="5084614"/>
              <a:ext cx="503238" cy="50323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682" name="Oval 39"/>
            <p:cNvSpPr>
              <a:spLocks noChangeArrowheads="1"/>
            </p:cNvSpPr>
            <p:nvPr/>
          </p:nvSpPr>
          <p:spPr bwMode="auto">
            <a:xfrm>
              <a:off x="3996754" y="4437112"/>
              <a:ext cx="503238" cy="50323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0661" name="组合 5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26" name="五边形 2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70663" name="五边形 2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内容占位符 1"/>
          <p:cNvSpPr>
            <a:spLocks noGrp="1"/>
          </p:cNvSpPr>
          <p:nvPr>
            <p:ph idx="1"/>
          </p:nvPr>
        </p:nvSpPr>
        <p:spPr>
          <a:xfrm>
            <a:off x="714375" y="857250"/>
            <a:ext cx="7931150" cy="3225800"/>
          </a:xfrm>
        </p:spPr>
        <p:txBody>
          <a:bodyPr/>
          <a:lstStyle/>
          <a:p>
            <a:pPr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  <a:latin typeface="楷体" panose="02010609060101010101" pitchFamily="49" charset="-122"/>
              </a:rPr>
              <a:t>确定的</a:t>
            </a:r>
            <a:r>
              <a:rPr lang="en-US" altLang="zh-CN" sz="2800" b="1" i="1" dirty="0">
                <a:solidFill>
                  <a:schemeClr val="tx1"/>
                </a:solidFill>
                <a:ea typeface="宋体" panose="02010600030101010101" pitchFamily="2" charset="-122"/>
              </a:rPr>
              <a:t>FA</a:t>
            </a:r>
            <a:r>
              <a:rPr lang="en-US" altLang="zh-CN" sz="2800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300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300" b="1" i="1" dirty="0">
                <a:solidFill>
                  <a:schemeClr val="tx1"/>
                </a:solidFill>
                <a:ea typeface="宋体" panose="02010600030101010101" pitchFamily="2" charset="-122"/>
              </a:rPr>
              <a:t>Deterministic finite automata</a:t>
            </a:r>
            <a:r>
              <a:rPr lang="en-US" altLang="zh-CN" sz="2300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300" b="1" i="1" dirty="0">
                <a:solidFill>
                  <a:schemeClr val="tx1"/>
                </a:solidFill>
                <a:ea typeface="宋体" panose="02010600030101010101" pitchFamily="2" charset="-122"/>
              </a:rPr>
              <a:t>DFA</a:t>
            </a:r>
            <a:r>
              <a:rPr lang="en-US" altLang="zh-CN" sz="2300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endParaRPr lang="en-US" altLang="zh-CN" sz="2300" b="1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273050" lvl="1"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  <a:latin typeface="楷体" panose="02010609060101010101" pitchFamily="49" charset="-122"/>
              </a:rPr>
              <a:t>非确定的</a:t>
            </a:r>
            <a:r>
              <a:rPr lang="en-US" altLang="zh-CN" sz="2800" b="1" i="1" dirty="0">
                <a:solidFill>
                  <a:schemeClr val="tx1"/>
                </a:solidFill>
                <a:ea typeface="宋体" panose="02010600030101010101" pitchFamily="2" charset="-122"/>
              </a:rPr>
              <a:t>FA</a:t>
            </a:r>
            <a:r>
              <a:rPr lang="en-US" altLang="zh-CN" sz="2800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300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300" b="1" i="1" dirty="0">
                <a:solidFill>
                  <a:schemeClr val="tx1"/>
                </a:solidFill>
                <a:ea typeface="宋体" panose="02010600030101010101" pitchFamily="2" charset="-122"/>
              </a:rPr>
              <a:t>Nondeterministic finite automata</a:t>
            </a:r>
            <a:r>
              <a:rPr lang="en-US" altLang="zh-CN" sz="2300" b="1" dirty="0">
                <a:solidFill>
                  <a:schemeClr val="tx1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300" b="1" i="1" dirty="0">
                <a:solidFill>
                  <a:schemeClr val="tx1"/>
                </a:solidFill>
                <a:ea typeface="宋体" panose="02010600030101010101" pitchFamily="2" charset="-122"/>
              </a:rPr>
              <a:t>NFA</a:t>
            </a:r>
            <a:r>
              <a:rPr lang="en-US" altLang="zh-CN" sz="2300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endParaRPr lang="en-US" altLang="zh-CN" sz="23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2771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3.2.2 </a:t>
            </a:r>
            <a:r>
              <a:rPr lang="it-IT" altLang="zh-CN" sz="3000" i="1" dirty="0">
                <a:solidFill>
                  <a:schemeClr val="tx1"/>
                </a:solidFill>
                <a:ea typeface="宋体" panose="02010600030101010101" pitchFamily="2" charset="-122"/>
              </a:rPr>
              <a:t>FA</a:t>
            </a: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的分类</a:t>
            </a:r>
            <a:endParaRPr lang="zh-CN" altLang="en-US" sz="3000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2708" name="组合 5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72710" name="五边形 5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88" y="928688"/>
            <a:ext cx="8429625" cy="4060825"/>
          </a:xfrm>
        </p:spPr>
        <p:txBody>
          <a:bodyPr rtlCol="0">
            <a:noAutofit/>
          </a:bodyPr>
          <a:lstStyle/>
          <a:p>
            <a:pPr marL="0" indent="0" algn="ctr" eaLnBrk="1" fontAlgn="auto" hangingPunct="1">
              <a:spcBef>
                <a:spcPct val="3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楷体_GB2312" panose="02010609030101010101" pitchFamily="49" charset="-122"/>
              </a:rPr>
              <a:t>M </a:t>
            </a:r>
            <a:r>
              <a:rPr lang="en-US" altLang="zh-CN" sz="2500" b="1" dirty="0">
                <a:solidFill>
                  <a:schemeClr val="tx1"/>
                </a:solidFill>
                <a:ea typeface="楷体_GB2312" panose="02010609030101010101" pitchFamily="49" charset="-122"/>
              </a:rPr>
              <a:t>= (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anose="02010609030101010101" pitchFamily="49" charset="-122"/>
              </a:rPr>
              <a:t>S</a:t>
            </a:r>
            <a:r>
              <a:rPr lang="en-US" altLang="zh-CN" sz="2500" b="1" dirty="0">
                <a:solidFill>
                  <a:schemeClr val="tx1"/>
                </a:solidFill>
                <a:ea typeface="楷体_GB2312" panose="02010609030101010101" pitchFamily="49" charset="-122"/>
              </a:rPr>
              <a:t>，</a:t>
            </a:r>
            <a:r>
              <a:rPr lang="en-US" altLang="zh-CN" sz="2500" b="1" i="1" dirty="0">
                <a:solidFill>
                  <a:schemeClr val="tx1"/>
                </a:solidFill>
                <a:ea typeface="楷体_GB2312" panose="02010609030101010101" pitchFamily="49" charset="-122"/>
              </a:rPr>
              <a:t>Σ </a:t>
            </a:r>
            <a:r>
              <a:rPr lang="en-US" altLang="zh-CN" sz="2500" b="1" dirty="0">
                <a:solidFill>
                  <a:schemeClr val="tx1"/>
                </a:solidFill>
                <a:ea typeface="楷体_GB2312" panose="02010609030101010101" pitchFamily="49" charset="-122"/>
              </a:rPr>
              <a:t>，</a:t>
            </a:r>
            <a:r>
              <a:rPr lang="en-US" altLang="zh-CN" sz="2500" b="1" i="1" dirty="0">
                <a:solidFill>
                  <a:schemeClr val="tx1"/>
                </a:solidFill>
                <a:ea typeface="楷体_GB2312" panose="02010609030101010101" pitchFamily="49" charset="-122"/>
              </a:rPr>
              <a:t>δ</a:t>
            </a:r>
            <a:r>
              <a:rPr lang="en-US" altLang="zh-CN" sz="2500" b="1" dirty="0">
                <a:solidFill>
                  <a:schemeClr val="tx1"/>
                </a:solidFill>
                <a:ea typeface="楷体_GB2312" panose="02010609030101010101" pitchFamily="49" charset="-122"/>
              </a:rPr>
              <a:t>，</a:t>
            </a:r>
            <a:r>
              <a:rPr lang="en-US" altLang="zh-CN" sz="2500" b="1" i="1" dirty="0">
                <a:solidFill>
                  <a:schemeClr val="tx1"/>
                </a:solidFill>
                <a:ea typeface="楷体_GB2312" panose="02010609030101010101" pitchFamily="49" charset="-122"/>
              </a:rPr>
              <a:t>s</a:t>
            </a:r>
            <a:r>
              <a:rPr lang="en-US" altLang="zh-CN" sz="2500" b="1" i="1" baseline="-30000" dirty="0">
                <a:solidFill>
                  <a:schemeClr val="tx1"/>
                </a:solidFill>
                <a:ea typeface="楷体_GB2312" panose="02010609030101010101" pitchFamily="49" charset="-122"/>
              </a:rPr>
              <a:t>0</a:t>
            </a:r>
            <a:r>
              <a:rPr lang="en-US" altLang="zh-CN" sz="2500" b="1" dirty="0">
                <a:solidFill>
                  <a:schemeClr val="tx1"/>
                </a:solidFill>
                <a:ea typeface="楷体_GB2312" panose="02010609030101010101" pitchFamily="49" charset="-122"/>
              </a:rPr>
              <a:t>，</a:t>
            </a:r>
            <a:r>
              <a:rPr lang="en-US" altLang="zh-CN" sz="2500" b="1" i="1" dirty="0">
                <a:solidFill>
                  <a:schemeClr val="tx1"/>
                </a:solidFill>
                <a:ea typeface="楷体_GB2312" panose="02010609030101010101" pitchFamily="49" charset="-122"/>
              </a:rPr>
              <a:t>F </a:t>
            </a:r>
            <a:r>
              <a:rPr lang="en-US" altLang="zh-CN" sz="2500" b="1" dirty="0">
                <a:solidFill>
                  <a:schemeClr val="tx1"/>
                </a:solidFill>
                <a:ea typeface="楷体_GB2312" panose="02010609030101010101" pitchFamily="49" charset="-122"/>
              </a:rPr>
              <a:t>)</a:t>
            </a:r>
            <a:endParaRPr lang="en-US" altLang="zh-CN" sz="2500" b="1" dirty="0">
              <a:solidFill>
                <a:schemeClr val="tx1"/>
              </a:solidFill>
              <a:ea typeface="楷体_GB2312" panose="02010609030101010101" pitchFamily="49" charset="-122"/>
            </a:endParaRPr>
          </a:p>
          <a:p>
            <a:pPr marL="274320" indent="-274320" eaLnBrk="1" fontAlgn="auto" hangingPunct="1">
              <a:lnSpc>
                <a:spcPts val="4000"/>
              </a:lnSpc>
              <a:spcAft>
                <a:spcPts val="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</a:rPr>
              <a:t>S</a:t>
            </a:r>
            <a:r>
              <a:rPr lang="zh-CN" altLang="en-US" sz="2500" b="1" dirty="0">
                <a:solidFill>
                  <a:schemeClr val="tx1"/>
                </a:solidFill>
              </a:rPr>
              <a:t>：</a:t>
            </a:r>
            <a:r>
              <a:rPr lang="zh-CN" altLang="en-US" sz="2500" b="1" dirty="0">
                <a:solidFill>
                  <a:srgbClr val="FF0000"/>
                </a:solidFill>
              </a:rPr>
              <a:t>有穷状态集</a:t>
            </a:r>
            <a:endParaRPr lang="en-US" altLang="zh-CN" sz="2500" b="1" dirty="0">
              <a:solidFill>
                <a:srgbClr val="FF0000"/>
              </a:solidFill>
            </a:endParaRPr>
          </a:p>
          <a:p>
            <a:pPr marL="274320" indent="-274320" eaLnBrk="1" fontAlgn="auto" hangingPunct="1">
              <a:lnSpc>
                <a:spcPts val="4000"/>
              </a:lnSpc>
              <a:spcAft>
                <a:spcPts val="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lang="el-GR" altLang="zh-CN" sz="2500" b="1" i="1" dirty="0">
                <a:solidFill>
                  <a:schemeClr val="tx1"/>
                </a:solidFill>
              </a:rPr>
              <a:t>Σ</a:t>
            </a:r>
            <a:r>
              <a:rPr lang="zh-CN" altLang="el-GR" sz="2500" b="1" dirty="0">
                <a:solidFill>
                  <a:schemeClr val="tx1"/>
                </a:solidFill>
              </a:rPr>
              <a:t>：</a:t>
            </a:r>
            <a:r>
              <a:rPr lang="zh-CN" altLang="en-US" sz="2500" b="1" dirty="0">
                <a:solidFill>
                  <a:srgbClr val="FF0000"/>
                </a:solidFill>
              </a:rPr>
              <a:t>输入字母表</a:t>
            </a:r>
            <a:r>
              <a:rPr lang="zh-CN" altLang="en-US" sz="2500" b="1" dirty="0">
                <a:solidFill>
                  <a:schemeClr val="tx1"/>
                </a:solidFill>
              </a:rPr>
              <a:t>，即</a:t>
            </a:r>
            <a:r>
              <a:rPr lang="zh-CN" altLang="en-US" sz="2500" b="1" dirty="0">
                <a:solidFill>
                  <a:srgbClr val="0070C0"/>
                </a:solidFill>
              </a:rPr>
              <a:t>输入符号集合</a:t>
            </a:r>
            <a:r>
              <a:rPr lang="zh-CN" altLang="en-US" sz="2500" b="1" dirty="0">
                <a:solidFill>
                  <a:schemeClr val="tx1"/>
                </a:solidFill>
              </a:rPr>
              <a:t>。假设</a:t>
            </a:r>
            <a:r>
              <a:rPr lang="el-GR" altLang="zh-CN" sz="2500" b="1" i="1" dirty="0">
                <a:solidFill>
                  <a:srgbClr val="0070C0"/>
                </a:solidFill>
              </a:rPr>
              <a:t>ε</a:t>
            </a:r>
            <a:r>
              <a:rPr lang="zh-CN" altLang="en-US" sz="2500" b="1" dirty="0">
                <a:solidFill>
                  <a:srgbClr val="0070C0"/>
                </a:solidFill>
              </a:rPr>
              <a:t>不是 </a:t>
            </a:r>
            <a:r>
              <a:rPr lang="el-GR" altLang="zh-CN" sz="2500" b="1" i="1" dirty="0">
                <a:solidFill>
                  <a:srgbClr val="0070C0"/>
                </a:solidFill>
              </a:rPr>
              <a:t>Σ</a:t>
            </a:r>
            <a:r>
              <a:rPr lang="zh-CN" altLang="en-US" sz="2500" b="1" dirty="0">
                <a:solidFill>
                  <a:srgbClr val="0070C0"/>
                </a:solidFill>
              </a:rPr>
              <a:t>中的元素</a:t>
            </a:r>
            <a:endParaRPr lang="zh-CN" altLang="en-US" sz="2500" b="1" dirty="0">
              <a:solidFill>
                <a:srgbClr val="0070C0"/>
              </a:solidFill>
            </a:endParaRPr>
          </a:p>
          <a:p>
            <a:pPr marL="274320" indent="-274320" eaLnBrk="1" fontAlgn="auto" hangingPunct="1">
              <a:lnSpc>
                <a:spcPts val="4000"/>
              </a:lnSpc>
              <a:spcAft>
                <a:spcPts val="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lang="el-GR" altLang="zh-CN" sz="2500" b="1" i="1" dirty="0">
                <a:solidFill>
                  <a:srgbClr val="FF0000"/>
                </a:solidFill>
              </a:rPr>
              <a:t>δ</a:t>
            </a:r>
            <a:r>
              <a:rPr lang="zh-CN" altLang="el-GR" sz="2500" b="1" dirty="0">
                <a:solidFill>
                  <a:schemeClr val="tx1"/>
                </a:solidFill>
              </a:rPr>
              <a:t>：</a:t>
            </a:r>
            <a:r>
              <a:rPr lang="zh-CN" altLang="en-US" sz="2500" b="1" dirty="0">
                <a:solidFill>
                  <a:schemeClr val="tx1"/>
                </a:solidFill>
              </a:rPr>
              <a:t>将</a:t>
            </a:r>
            <a:r>
              <a:rPr lang="en-US" altLang="zh-CN" sz="2500" b="1" i="1" u="sng" dirty="0">
                <a:solidFill>
                  <a:srgbClr val="0070C0"/>
                </a:solidFill>
              </a:rPr>
              <a:t>S</a:t>
            </a:r>
            <a:r>
              <a:rPr lang="en-US" altLang="zh-CN" sz="2500" b="1" u="sng" dirty="0">
                <a:solidFill>
                  <a:srgbClr val="0070C0"/>
                </a:solidFill>
              </a:rPr>
              <a:t>×</a:t>
            </a:r>
            <a:r>
              <a:rPr lang="el-GR" altLang="zh-CN" sz="2500" b="1" i="1" u="sng" dirty="0">
                <a:solidFill>
                  <a:srgbClr val="0070C0"/>
                </a:solidFill>
              </a:rPr>
              <a:t>Σ</a:t>
            </a:r>
            <a:r>
              <a:rPr lang="zh-CN" altLang="en-US" sz="2800" b="1" dirty="0">
                <a:solidFill>
                  <a:srgbClr val="0070C0"/>
                </a:solidFill>
              </a:rPr>
              <a:t> </a:t>
            </a:r>
            <a:r>
              <a:rPr lang="zh-CN" altLang="en-US" sz="2800" b="1" u="sng" dirty="0">
                <a:solidFill>
                  <a:srgbClr val="0070C0"/>
                </a:solidFill>
              </a:rPr>
              <a:t>→ </a:t>
            </a:r>
            <a:r>
              <a:rPr lang="en-US" altLang="zh-CN" sz="2500" b="1" i="1" u="sng" dirty="0">
                <a:solidFill>
                  <a:srgbClr val="FF0000"/>
                </a:solidFill>
              </a:rPr>
              <a:t>S</a:t>
            </a:r>
            <a:r>
              <a:rPr lang="zh-CN" altLang="en-US" sz="2500" b="1" dirty="0">
                <a:solidFill>
                  <a:schemeClr val="tx1"/>
                </a:solidFill>
              </a:rPr>
              <a:t>的</a:t>
            </a:r>
            <a:r>
              <a:rPr lang="zh-CN" altLang="en-US" sz="2500" b="1" dirty="0">
                <a:solidFill>
                  <a:srgbClr val="FF0000"/>
                </a:solidFill>
              </a:rPr>
              <a:t>转换函数</a:t>
            </a:r>
            <a:r>
              <a:rPr lang="zh-CN" altLang="en-US" sz="2500" b="1" dirty="0">
                <a:solidFill>
                  <a:schemeClr val="tx1"/>
                </a:solidFill>
              </a:rPr>
              <a:t>。</a:t>
            </a:r>
            <a:r>
              <a:rPr lang="zh-CN" altLang="en-US" sz="1800" b="1" dirty="0">
                <a:solidFill>
                  <a:srgbClr val="073E87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5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500" b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∈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,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a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∈</a:t>
            </a:r>
            <a:r>
              <a:rPr lang="el-GR" altLang="zh-CN" sz="2500" b="1" i="1" dirty="0">
                <a:solidFill>
                  <a:schemeClr val="tx1"/>
                </a:solidFill>
              </a:rPr>
              <a:t>Σ</a:t>
            </a:r>
            <a:r>
              <a:rPr lang="en-US" altLang="zh-CN" sz="2500" b="1" dirty="0">
                <a:solidFill>
                  <a:schemeClr val="tx1"/>
                </a:solidFill>
              </a:rPr>
              <a:t>,</a:t>
            </a:r>
            <a:r>
              <a:rPr lang="el-GR" altLang="zh-CN" sz="2500" b="1" dirty="0">
                <a:solidFill>
                  <a:schemeClr val="tx1"/>
                </a:solidFill>
              </a:rPr>
              <a:t> </a:t>
            </a:r>
            <a:r>
              <a:rPr lang="el-GR" altLang="zh-CN" sz="2500" b="1" i="1" dirty="0">
                <a:solidFill>
                  <a:srgbClr val="FF0000"/>
                </a:solidFill>
              </a:rPr>
              <a:t>δ</a:t>
            </a:r>
            <a:r>
              <a:rPr lang="en-US" altLang="zh-CN" sz="2500" b="1" dirty="0">
                <a:solidFill>
                  <a:srgbClr val="FF0000"/>
                </a:solidFill>
              </a:rPr>
              <a:t>(</a:t>
            </a:r>
            <a:r>
              <a:rPr lang="en-US" altLang="zh-CN" sz="2500" b="1" i="1" dirty="0">
                <a:solidFill>
                  <a:srgbClr val="FF0000"/>
                </a:solidFill>
              </a:rPr>
              <a:t>s</a:t>
            </a:r>
            <a:r>
              <a:rPr lang="en-US" altLang="zh-CN" sz="2500" b="1" dirty="0">
                <a:solidFill>
                  <a:srgbClr val="FF0000"/>
                </a:solidFill>
              </a:rPr>
              <a:t>, </a:t>
            </a:r>
            <a:r>
              <a:rPr lang="en-US" altLang="zh-CN" sz="2500" b="1" i="1" dirty="0">
                <a:solidFill>
                  <a:srgbClr val="FF0000"/>
                </a:solidFill>
              </a:rPr>
              <a:t>a</a:t>
            </a:r>
            <a:r>
              <a:rPr lang="en-US" altLang="zh-CN" sz="2500" b="1" dirty="0">
                <a:solidFill>
                  <a:srgbClr val="FF0000"/>
                </a:solidFill>
              </a:rPr>
              <a:t>)</a:t>
            </a:r>
            <a:r>
              <a:rPr lang="zh-CN" altLang="en-US" sz="2500" b="1" dirty="0">
                <a:solidFill>
                  <a:schemeClr val="tx1"/>
                </a:solidFill>
              </a:rPr>
              <a:t>表示从</a:t>
            </a:r>
            <a:r>
              <a:rPr lang="zh-CN" altLang="en-US" sz="2500" b="1" dirty="0">
                <a:solidFill>
                  <a:srgbClr val="0070C0"/>
                </a:solidFill>
              </a:rPr>
              <a:t>状态</a:t>
            </a:r>
            <a:r>
              <a:rPr lang="en-US" altLang="zh-CN" sz="2500" b="1" i="1" dirty="0">
                <a:solidFill>
                  <a:srgbClr val="0070C0"/>
                </a:solidFill>
              </a:rPr>
              <a:t>s</a:t>
            </a:r>
            <a:r>
              <a:rPr lang="zh-CN" altLang="en-US" sz="2500" b="1" dirty="0">
                <a:solidFill>
                  <a:schemeClr val="tx1"/>
                </a:solidFill>
              </a:rPr>
              <a:t>出发，沿着标记为</a:t>
            </a:r>
            <a:r>
              <a:rPr lang="en-US" altLang="zh-CN" sz="2500" b="1" i="1" dirty="0">
                <a:solidFill>
                  <a:srgbClr val="0070C0"/>
                </a:solidFill>
              </a:rPr>
              <a:t>a</a:t>
            </a:r>
            <a:r>
              <a:rPr lang="zh-CN" altLang="en-US" sz="2500" b="1" dirty="0">
                <a:solidFill>
                  <a:schemeClr val="tx1"/>
                </a:solidFill>
              </a:rPr>
              <a:t>的</a:t>
            </a:r>
            <a:r>
              <a:rPr lang="zh-CN" altLang="en-US" sz="2500" b="1" dirty="0">
                <a:solidFill>
                  <a:srgbClr val="0070C0"/>
                </a:solidFill>
              </a:rPr>
              <a:t>边</a:t>
            </a:r>
            <a:r>
              <a:rPr lang="zh-CN" altLang="en-US" sz="2500" b="1" dirty="0">
                <a:solidFill>
                  <a:schemeClr val="tx1"/>
                </a:solidFill>
              </a:rPr>
              <a:t>所能到达的（唯一）</a:t>
            </a:r>
            <a:r>
              <a:rPr lang="zh-CN" altLang="en-US" sz="2500" b="1" dirty="0">
                <a:solidFill>
                  <a:srgbClr val="FF0000"/>
                </a:solidFill>
              </a:rPr>
              <a:t>状态</a:t>
            </a:r>
            <a:endParaRPr lang="en-US" altLang="zh-CN" sz="2500" b="1" dirty="0">
              <a:solidFill>
                <a:srgbClr val="FF0000"/>
              </a:solidFill>
            </a:endParaRPr>
          </a:p>
          <a:p>
            <a:pPr marL="274320" indent="-274320" eaLnBrk="1" fontAlgn="auto" hangingPunct="1">
              <a:lnSpc>
                <a:spcPts val="4000"/>
              </a:lnSpc>
              <a:spcAft>
                <a:spcPts val="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</a:rPr>
              <a:t>s</a:t>
            </a:r>
            <a:r>
              <a:rPr lang="en-US" altLang="zh-CN" sz="2500" b="1" i="1" baseline="-25000" dirty="0">
                <a:solidFill>
                  <a:schemeClr val="tx1"/>
                </a:solidFill>
              </a:rPr>
              <a:t>0</a:t>
            </a:r>
            <a:r>
              <a:rPr lang="zh-CN" altLang="en-US" sz="2500" b="1" dirty="0">
                <a:solidFill>
                  <a:schemeClr val="tx1"/>
                </a:solidFill>
              </a:rPr>
              <a:t>：</a:t>
            </a:r>
            <a:r>
              <a:rPr lang="zh-CN" altLang="en-US" sz="2500" b="1" dirty="0">
                <a:solidFill>
                  <a:srgbClr val="FF0000"/>
                </a:solidFill>
              </a:rPr>
              <a:t>开始状态 </a:t>
            </a:r>
            <a:r>
              <a:rPr lang="en-US" altLang="zh-CN" sz="2500" b="1" dirty="0">
                <a:solidFill>
                  <a:schemeClr val="tx1"/>
                </a:solidFill>
              </a:rPr>
              <a:t>(</a:t>
            </a:r>
            <a:r>
              <a:rPr lang="zh-CN" altLang="en-US" sz="2500" b="1" dirty="0">
                <a:solidFill>
                  <a:schemeClr val="tx1"/>
                </a:solidFill>
              </a:rPr>
              <a:t>或初始状态</a:t>
            </a:r>
            <a:r>
              <a:rPr lang="en-US" altLang="zh-CN" sz="2500" b="1" dirty="0">
                <a:solidFill>
                  <a:schemeClr val="tx1"/>
                </a:solidFill>
              </a:rPr>
              <a:t>)</a:t>
            </a:r>
            <a:r>
              <a:rPr lang="zh-CN" altLang="en-US" sz="2500" b="1" dirty="0">
                <a:solidFill>
                  <a:schemeClr val="tx1"/>
                </a:solidFill>
              </a:rPr>
              <a:t>，</a:t>
            </a:r>
            <a:r>
              <a:rPr lang="en-US" altLang="zh-CN" sz="2500" b="1" i="1" dirty="0">
                <a:solidFill>
                  <a:schemeClr val="tx1"/>
                </a:solidFill>
              </a:rPr>
              <a:t>s</a:t>
            </a:r>
            <a:r>
              <a:rPr lang="en-US" altLang="zh-CN" sz="2500" b="1" i="1" baseline="-25000" dirty="0">
                <a:solidFill>
                  <a:schemeClr val="tx1"/>
                </a:solidFill>
              </a:rPr>
              <a:t>0</a:t>
            </a:r>
            <a:r>
              <a:rPr lang="en-US" altLang="zh-CN" sz="2500" b="1" dirty="0">
                <a:solidFill>
                  <a:schemeClr val="tx1"/>
                </a:solidFill>
              </a:rPr>
              <a:t>∈ </a:t>
            </a:r>
            <a:r>
              <a:rPr lang="en-US" altLang="zh-CN" sz="2500" b="1" i="1" dirty="0">
                <a:solidFill>
                  <a:schemeClr val="tx1"/>
                </a:solidFill>
              </a:rPr>
              <a:t>S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marL="274320" indent="-274320" eaLnBrk="1" fontAlgn="auto" hangingPunct="1">
              <a:lnSpc>
                <a:spcPts val="4000"/>
              </a:lnSpc>
              <a:spcAft>
                <a:spcPts val="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</a:rPr>
              <a:t>F</a:t>
            </a:r>
            <a:r>
              <a:rPr lang="zh-CN" altLang="en-US" sz="2500" b="1" dirty="0">
                <a:solidFill>
                  <a:schemeClr val="tx1"/>
                </a:solidFill>
              </a:rPr>
              <a:t>：</a:t>
            </a:r>
            <a:r>
              <a:rPr lang="zh-CN" altLang="en-US" sz="2500" b="1" dirty="0">
                <a:solidFill>
                  <a:srgbClr val="FF0000"/>
                </a:solidFill>
              </a:rPr>
              <a:t>接收状态</a:t>
            </a:r>
            <a:r>
              <a:rPr lang="zh-CN" altLang="en-US" sz="2500" b="1" dirty="0">
                <a:solidFill>
                  <a:schemeClr val="tx1"/>
                </a:solidFill>
              </a:rPr>
              <a:t>（或终止状态）</a:t>
            </a:r>
            <a:r>
              <a:rPr lang="zh-CN" altLang="en-US" sz="2500" b="1" dirty="0">
                <a:solidFill>
                  <a:srgbClr val="FF0000"/>
                </a:solidFill>
              </a:rPr>
              <a:t>集合</a:t>
            </a:r>
            <a:r>
              <a:rPr lang="zh-CN" altLang="en-US" sz="2500" b="1" dirty="0">
                <a:solidFill>
                  <a:schemeClr val="tx1"/>
                </a:solidFill>
              </a:rPr>
              <a:t>，</a:t>
            </a:r>
            <a:r>
              <a:rPr lang="en-US" altLang="zh-CN" sz="2500" b="1" i="1" dirty="0">
                <a:solidFill>
                  <a:schemeClr val="tx1"/>
                </a:solidFill>
              </a:rPr>
              <a:t>F</a:t>
            </a:r>
            <a:r>
              <a:rPr lang="en-US" altLang="zh-CN" sz="2500" b="1" dirty="0">
                <a:solidFill>
                  <a:schemeClr val="tx1"/>
                </a:solidFill>
              </a:rPr>
              <a:t>⊆ </a:t>
            </a:r>
            <a:r>
              <a:rPr lang="en-US" altLang="zh-CN" sz="2500" b="1" i="1" dirty="0">
                <a:solidFill>
                  <a:schemeClr val="tx1"/>
                </a:solidFill>
              </a:rPr>
              <a:t>S</a:t>
            </a:r>
            <a:endParaRPr lang="zh-CN" altLang="en-US" sz="2500" b="1" dirty="0">
              <a:solidFill>
                <a:schemeClr val="tx1"/>
              </a:solidFill>
            </a:endParaRPr>
          </a:p>
        </p:txBody>
      </p:sp>
      <p:sp>
        <p:nvSpPr>
          <p:cNvPr id="33796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确定的有穷自动机 </a:t>
            </a:r>
            <a:r>
              <a:rPr lang="en-US" altLang="zh-CN" sz="3200" spc="300" dirty="0">
                <a:solidFill>
                  <a:schemeClr val="tx1"/>
                </a:solidFill>
                <a:ea typeface="楷体_GB2312" panose="02010609030101010101" pitchFamily="49" charset="-122"/>
              </a:rPr>
              <a:t>(</a:t>
            </a:r>
            <a:r>
              <a:rPr lang="en-US" altLang="zh-CN" sz="3200" i="1" dirty="0">
                <a:solidFill>
                  <a:schemeClr val="tx1"/>
                </a:solidFill>
                <a:cs typeface="Times New Roman" panose="02020603050405020304" pitchFamily="18" charset="0"/>
              </a:rPr>
              <a:t>DFA</a:t>
            </a:r>
            <a:r>
              <a:rPr lang="en-US" altLang="zh-CN" sz="3200" spc="300" dirty="0">
                <a:solidFill>
                  <a:schemeClr val="tx1"/>
                </a:solidFill>
                <a:ea typeface="楷体_GB2312" panose="02010609030101010101" pitchFamily="49" charset="-122"/>
              </a:rPr>
              <a:t>) </a:t>
            </a:r>
            <a:endParaRPr lang="zh-CN" altLang="en-US" sz="3000" spc="300" dirty="0">
              <a:solidFill>
                <a:schemeClr val="tx1"/>
              </a:solidFill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74756" name="组合 5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74758" name="五边形 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例：一个</a:t>
            </a:r>
            <a:r>
              <a:rPr lang="en-US" altLang="zh-CN" sz="3000" i="1" dirty="0">
                <a:solidFill>
                  <a:schemeClr val="tx1"/>
                </a:solidFill>
              </a:rPr>
              <a:t>DFA</a:t>
            </a:r>
            <a:endParaRPr lang="zh-CN" altLang="en-US" sz="3000" i="1" dirty="0">
              <a:solidFill>
                <a:schemeClr val="tx1"/>
              </a:solidFill>
            </a:endParaRPr>
          </a:p>
        </p:txBody>
      </p:sp>
      <p:grpSp>
        <p:nvGrpSpPr>
          <p:cNvPr id="76803" name="组合 5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9" name="五边形 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76866" name="五边形 10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76804" name="内容占位符 2"/>
          <p:cNvSpPr txBox="1"/>
          <p:nvPr/>
        </p:nvSpPr>
        <p:spPr bwMode="auto">
          <a:xfrm>
            <a:off x="357188" y="928688"/>
            <a:ext cx="842962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en-US" altLang="zh-CN" sz="2500" b="1" i="1">
                <a:latin typeface="Times New Roman" panose="02020603050405020304" pitchFamily="18" charset="0"/>
                <a:ea typeface="楷体_GB2312"/>
                <a:cs typeface="楷体_GB2312"/>
              </a:rPr>
              <a:t>M </a:t>
            </a:r>
            <a:r>
              <a:rPr lang="en-US" altLang="zh-CN" sz="2500" b="1">
                <a:latin typeface="Times New Roman" panose="02020603050405020304" pitchFamily="18" charset="0"/>
                <a:ea typeface="楷体_GB2312"/>
                <a:cs typeface="楷体_GB2312"/>
              </a:rPr>
              <a:t>= ( </a:t>
            </a:r>
            <a:r>
              <a:rPr lang="en-US" altLang="zh-CN" sz="2500" b="1" i="1"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2500" b="1">
                <a:latin typeface="Times New Roman" panose="02020603050405020304" pitchFamily="18" charset="0"/>
                <a:ea typeface="楷体_GB2312"/>
                <a:cs typeface="楷体_GB2312"/>
              </a:rPr>
              <a:t>，</a:t>
            </a:r>
            <a:r>
              <a:rPr lang="en-US" altLang="zh-CN" sz="2500" b="1" i="1">
                <a:latin typeface="Times New Roman" panose="02020603050405020304" pitchFamily="18" charset="0"/>
                <a:ea typeface="楷体_GB2312"/>
                <a:cs typeface="楷体_GB2312"/>
              </a:rPr>
              <a:t>Σ </a:t>
            </a:r>
            <a:r>
              <a:rPr lang="en-US" altLang="zh-CN" sz="2500" b="1">
                <a:latin typeface="Times New Roman" panose="02020603050405020304" pitchFamily="18" charset="0"/>
                <a:ea typeface="楷体_GB2312"/>
                <a:cs typeface="楷体_GB2312"/>
              </a:rPr>
              <a:t>，</a:t>
            </a:r>
            <a:r>
              <a:rPr lang="en-US" altLang="zh-CN" sz="2500" b="1" i="1">
                <a:latin typeface="Times New Roman" panose="02020603050405020304" pitchFamily="18" charset="0"/>
                <a:ea typeface="楷体_GB2312"/>
                <a:cs typeface="楷体_GB2312"/>
              </a:rPr>
              <a:t>δ</a:t>
            </a:r>
            <a:r>
              <a:rPr lang="en-US" altLang="zh-CN" sz="2500" b="1">
                <a:latin typeface="Times New Roman" panose="02020603050405020304" pitchFamily="18" charset="0"/>
                <a:ea typeface="楷体_GB2312"/>
                <a:cs typeface="楷体_GB2312"/>
              </a:rPr>
              <a:t>，</a:t>
            </a:r>
            <a:r>
              <a:rPr lang="en-US" altLang="zh-CN" sz="2500" b="1" i="1">
                <a:latin typeface="Times New Roman" panose="02020603050405020304" pitchFamily="18" charset="0"/>
                <a:ea typeface="楷体_GB2312"/>
                <a:cs typeface="楷体_GB2312"/>
              </a:rPr>
              <a:t>s</a:t>
            </a:r>
            <a:r>
              <a:rPr lang="en-US" altLang="zh-CN" sz="2500" b="1" i="1" baseline="-30000">
                <a:latin typeface="Times New Roman" panose="02020603050405020304" pitchFamily="18" charset="0"/>
                <a:ea typeface="楷体_GB2312"/>
                <a:cs typeface="楷体_GB2312"/>
              </a:rPr>
              <a:t>0</a:t>
            </a:r>
            <a:r>
              <a:rPr lang="en-US" altLang="zh-CN" sz="2500" b="1">
                <a:latin typeface="Times New Roman" panose="02020603050405020304" pitchFamily="18" charset="0"/>
                <a:ea typeface="楷体_GB2312"/>
                <a:cs typeface="楷体_GB2312"/>
              </a:rPr>
              <a:t>，</a:t>
            </a:r>
            <a:r>
              <a:rPr lang="en-US" altLang="zh-CN" sz="2500" b="1" i="1">
                <a:latin typeface="Times New Roman" panose="02020603050405020304" pitchFamily="18" charset="0"/>
                <a:ea typeface="楷体_GB2312"/>
                <a:cs typeface="楷体_GB2312"/>
              </a:rPr>
              <a:t>F </a:t>
            </a:r>
            <a:r>
              <a:rPr lang="en-US" altLang="zh-CN" sz="2500" b="1"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  <a:endParaRPr lang="en-US" altLang="zh-CN" sz="2500" b="1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aphicFrame>
        <p:nvGraphicFramePr>
          <p:cNvPr id="14" name="Group 18"/>
          <p:cNvGraphicFramePr>
            <a:graphicFrameLocks noGrp="1"/>
          </p:cNvGraphicFramePr>
          <p:nvPr/>
        </p:nvGraphicFramePr>
        <p:xfrm>
          <a:off x="5891213" y="1990725"/>
          <a:ext cx="3000375" cy="1866900"/>
        </p:xfrm>
        <a:graphic>
          <a:graphicData uri="http://schemas.openxmlformats.org/drawingml/2006/table">
            <a:tbl>
              <a:tblPr/>
              <a:tblGrid>
                <a:gridCol w="931385"/>
                <a:gridCol w="1042546"/>
                <a:gridCol w="1026444"/>
              </a:tblGrid>
              <a:tr h="209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a</a:t>
                      </a:r>
                      <a:endParaRPr kumimoji="0" lang="zh-CN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b</a:t>
                      </a:r>
                      <a:endParaRPr kumimoji="0" lang="zh-CN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0648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096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595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636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76831" name="组合 38"/>
          <p:cNvGrpSpPr/>
          <p:nvPr/>
        </p:nvGrpSpPr>
        <p:grpSpPr bwMode="auto">
          <a:xfrm>
            <a:off x="179388" y="1787525"/>
            <a:ext cx="5500687" cy="2000250"/>
            <a:chOff x="3500427" y="2928940"/>
            <a:chExt cx="5500722" cy="2000264"/>
          </a:xfrm>
        </p:grpSpPr>
        <p:grpSp>
          <p:nvGrpSpPr>
            <p:cNvPr id="76839" name="组合 35"/>
            <p:cNvGrpSpPr/>
            <p:nvPr/>
          </p:nvGrpSpPr>
          <p:grpSpPr bwMode="auto">
            <a:xfrm>
              <a:off x="3500427" y="2928940"/>
              <a:ext cx="5500722" cy="1928826"/>
              <a:chOff x="3500427" y="2928940"/>
              <a:chExt cx="5500722" cy="1928826"/>
            </a:xfrm>
          </p:grpSpPr>
          <p:grpSp>
            <p:nvGrpSpPr>
              <p:cNvPr id="76842" name="组合 10"/>
              <p:cNvGrpSpPr/>
              <p:nvPr/>
            </p:nvGrpSpPr>
            <p:grpSpPr bwMode="auto">
              <a:xfrm>
                <a:off x="3500427" y="3175719"/>
                <a:ext cx="5500722" cy="1348737"/>
                <a:chOff x="928659" y="3675785"/>
                <a:chExt cx="5500722" cy="1348737"/>
              </a:xfrm>
            </p:grpSpPr>
            <p:grpSp>
              <p:nvGrpSpPr>
                <p:cNvPr id="76848" name="组合 9"/>
                <p:cNvGrpSpPr/>
                <p:nvPr/>
              </p:nvGrpSpPr>
              <p:grpSpPr bwMode="auto">
                <a:xfrm>
                  <a:off x="928659" y="3675785"/>
                  <a:ext cx="5500722" cy="1090002"/>
                  <a:chOff x="2339752" y="4162003"/>
                  <a:chExt cx="3622043" cy="790575"/>
                </a:xfrm>
              </p:grpSpPr>
              <p:sp>
                <p:nvSpPr>
                  <p:cNvPr id="76856" name="Oval 10"/>
                  <p:cNvSpPr>
                    <a:spLocks noChangeArrowheads="1"/>
                  </p:cNvSpPr>
                  <p:nvPr/>
                </p:nvSpPr>
                <p:spPr bwMode="auto">
                  <a:xfrm>
                    <a:off x="3097415" y="4576104"/>
                    <a:ext cx="289198" cy="29244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round/>
                  </a:ln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sz="2000" b="1">
                        <a:latin typeface="Times New Roman" panose="02020603050405020304" pitchFamily="18" charset="0"/>
                        <a:ea typeface="楷体_GB2312"/>
                        <a:cs typeface="楷体_GB2312"/>
                      </a:rPr>
                      <a:t>0</a:t>
                    </a:r>
                    <a:endParaRPr lang="en-US" altLang="zh-CN" sz="2000" b="1">
                      <a:latin typeface="Times New Roman" panose="02020603050405020304" pitchFamily="18" charset="0"/>
                      <a:ea typeface="楷体_GB2312"/>
                      <a:cs typeface="楷体_GB2312"/>
                    </a:endParaRPr>
                  </a:p>
                </p:txBody>
              </p:sp>
              <p:sp>
                <p:nvSpPr>
                  <p:cNvPr id="76857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3419690" y="4731545"/>
                    <a:ext cx="504825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6858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4221333" y="4726809"/>
                    <a:ext cx="504825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6859" name="Line 21"/>
                  <p:cNvSpPr>
                    <a:spLocks noChangeShapeType="1"/>
                  </p:cNvSpPr>
                  <p:nvPr/>
                </p:nvSpPr>
                <p:spPr bwMode="auto">
                  <a:xfrm>
                    <a:off x="5021004" y="4723834"/>
                    <a:ext cx="504825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6860" name="Oval 23"/>
                  <p:cNvSpPr>
                    <a:spLocks noChangeArrowheads="1"/>
                  </p:cNvSpPr>
                  <p:nvPr/>
                </p:nvSpPr>
                <p:spPr bwMode="auto">
                  <a:xfrm>
                    <a:off x="5594506" y="4572591"/>
                    <a:ext cx="289198" cy="29244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round/>
                  </a:ln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sz="2000" b="1">
                        <a:latin typeface="Times New Roman" panose="02020603050405020304" pitchFamily="18" charset="0"/>
                        <a:ea typeface="楷体_GB2312"/>
                        <a:cs typeface="楷体_GB2312"/>
                      </a:rPr>
                      <a:t>3</a:t>
                    </a:r>
                    <a:endParaRPr lang="en-US" altLang="zh-CN" sz="2000" b="1">
                      <a:latin typeface="Times New Roman" panose="02020603050405020304" pitchFamily="18" charset="0"/>
                      <a:ea typeface="楷体_GB2312"/>
                      <a:cs typeface="楷体_GB2312"/>
                    </a:endParaRPr>
                  </a:p>
                </p:txBody>
              </p:sp>
              <p:sp>
                <p:nvSpPr>
                  <p:cNvPr id="76861" name="Oval 39"/>
                  <p:cNvSpPr>
                    <a:spLocks noChangeArrowheads="1"/>
                  </p:cNvSpPr>
                  <p:nvPr/>
                </p:nvSpPr>
                <p:spPr bwMode="auto">
                  <a:xfrm>
                    <a:off x="5521481" y="4501154"/>
                    <a:ext cx="440314" cy="451424"/>
                  </a:xfrm>
                  <a:prstGeom prst="ellips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 i="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6862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2339752" y="4581913"/>
                    <a:ext cx="504927" cy="28724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b="1" i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_GB2312"/>
                        <a:cs typeface="楷体_GB2312"/>
                      </a:rPr>
                      <a:t>start</a:t>
                    </a:r>
                    <a:endParaRPr lang="en-US" altLang="zh-CN" b="1" i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endParaRPr>
                  </a:p>
                </p:txBody>
              </p:sp>
              <p:sp>
                <p:nvSpPr>
                  <p:cNvPr id="76863" name="Line 2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4679" y="4725144"/>
                    <a:ext cx="252464" cy="8957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6864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3139424" y="4162003"/>
                    <a:ext cx="504825" cy="28733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b="1" i="1">
                        <a:latin typeface="Times New Roman" panose="02020603050405020304" pitchFamily="18" charset="0"/>
                        <a:ea typeface="楷体_GB2312"/>
                        <a:cs typeface="楷体_GB2312"/>
                      </a:rPr>
                      <a:t>b</a:t>
                    </a:r>
                    <a:endParaRPr lang="en-US" altLang="zh-CN" b="1" i="1">
                      <a:latin typeface="Times New Roman" panose="02020603050405020304" pitchFamily="18" charset="0"/>
                      <a:ea typeface="楷体_GB2312"/>
                      <a:cs typeface="楷体_GB2312"/>
                    </a:endParaRPr>
                  </a:p>
                </p:txBody>
              </p:sp>
            </p:grpSp>
            <p:sp>
              <p:nvSpPr>
                <p:cNvPr id="76849" name="Oval 10"/>
                <p:cNvSpPr>
                  <a:spLocks noChangeArrowheads="1"/>
                </p:cNvSpPr>
                <p:nvPr/>
              </p:nvSpPr>
              <p:spPr bwMode="auto">
                <a:xfrm>
                  <a:off x="3346982" y="4240252"/>
                  <a:ext cx="439200" cy="403200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>
                      <a:latin typeface="Times New Roman" panose="02020603050405020304" pitchFamily="18" charset="0"/>
                      <a:ea typeface="楷体_GB2312"/>
                      <a:cs typeface="楷体_GB2312"/>
                    </a:rPr>
                    <a:t>1</a:t>
                  </a:r>
                  <a:endParaRPr lang="en-US" altLang="zh-CN" sz="2000" b="1">
                    <a:latin typeface="Times New Roman" panose="02020603050405020304" pitchFamily="18" charset="0"/>
                    <a:ea typeface="楷体_GB2312"/>
                    <a:cs typeface="楷体_GB2312"/>
                  </a:endParaRPr>
                </a:p>
              </p:txBody>
            </p:sp>
            <p:sp>
              <p:nvSpPr>
                <p:cNvPr id="76850" name="Oval 10"/>
                <p:cNvSpPr>
                  <a:spLocks noChangeArrowheads="1"/>
                </p:cNvSpPr>
                <p:nvPr/>
              </p:nvSpPr>
              <p:spPr bwMode="auto">
                <a:xfrm>
                  <a:off x="4561428" y="4240252"/>
                  <a:ext cx="439200" cy="403200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>
                      <a:latin typeface="Times New Roman" panose="02020603050405020304" pitchFamily="18" charset="0"/>
                      <a:ea typeface="楷体_GB2312"/>
                      <a:cs typeface="楷体_GB2312"/>
                    </a:rPr>
                    <a:t>2</a:t>
                  </a:r>
                  <a:endParaRPr lang="en-US" altLang="zh-CN" sz="2000" b="1">
                    <a:latin typeface="Times New Roman" panose="02020603050405020304" pitchFamily="18" charset="0"/>
                    <a:ea typeface="楷体_GB2312"/>
                    <a:cs typeface="楷体_GB2312"/>
                  </a:endParaRPr>
                </a:p>
              </p:txBody>
            </p:sp>
            <p:sp>
              <p:nvSpPr>
                <p:cNvPr id="76851" name="Rectangle 22"/>
                <p:cNvSpPr>
                  <a:spLocks noChangeArrowheads="1"/>
                </p:cNvSpPr>
                <p:nvPr/>
              </p:nvSpPr>
              <p:spPr bwMode="auto">
                <a:xfrm>
                  <a:off x="2519448" y="4104410"/>
                  <a:ext cx="766668" cy="3961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 i="1">
                      <a:latin typeface="Times New Roman" panose="02020603050405020304" pitchFamily="18" charset="0"/>
                      <a:ea typeface="楷体_GB2312"/>
                      <a:cs typeface="楷体_GB2312"/>
                    </a:rPr>
                    <a:t>a</a:t>
                  </a:r>
                  <a:endPara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endParaRPr>
                </a:p>
              </p:txBody>
            </p:sp>
            <p:sp>
              <p:nvSpPr>
                <p:cNvPr id="76852" name="Rectangle 22"/>
                <p:cNvSpPr>
                  <a:spLocks noChangeArrowheads="1"/>
                </p:cNvSpPr>
                <p:nvPr/>
              </p:nvSpPr>
              <p:spPr bwMode="auto">
                <a:xfrm>
                  <a:off x="3786182" y="4104410"/>
                  <a:ext cx="766668" cy="3961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 i="1">
                      <a:latin typeface="Times New Roman" panose="02020603050405020304" pitchFamily="18" charset="0"/>
                      <a:ea typeface="楷体_GB2312"/>
                      <a:cs typeface="楷体_GB2312"/>
                    </a:rPr>
                    <a:t>b</a:t>
                  </a:r>
                  <a:endPara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endParaRPr>
                </a:p>
              </p:txBody>
            </p:sp>
            <p:sp>
              <p:nvSpPr>
                <p:cNvPr id="76853" name="Rectangle 22"/>
                <p:cNvSpPr>
                  <a:spLocks noChangeArrowheads="1"/>
                </p:cNvSpPr>
                <p:nvPr/>
              </p:nvSpPr>
              <p:spPr bwMode="auto">
                <a:xfrm>
                  <a:off x="4948340" y="4104410"/>
                  <a:ext cx="766668" cy="3961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 i="1">
                      <a:latin typeface="Times New Roman" panose="02020603050405020304" pitchFamily="18" charset="0"/>
                      <a:ea typeface="楷体_GB2312"/>
                      <a:cs typeface="楷体_GB2312"/>
                    </a:rPr>
                    <a:t>b</a:t>
                  </a:r>
                  <a:endPara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endParaRPr>
                </a:p>
              </p:txBody>
            </p:sp>
            <p:sp>
              <p:nvSpPr>
                <p:cNvPr id="76854" name="Freeform 11"/>
                <p:cNvSpPr/>
                <p:nvPr/>
              </p:nvSpPr>
              <p:spPr bwMode="auto">
                <a:xfrm flipH="1">
                  <a:off x="2000232" y="3856799"/>
                  <a:ext cx="534010" cy="429463"/>
                </a:xfrm>
                <a:custGeom>
                  <a:avLst/>
                  <a:gdLst>
                    <a:gd name="T0" fmla="*/ 2147483646 w 241"/>
                    <a:gd name="T1" fmla="*/ 2147483646 h 189"/>
                    <a:gd name="T2" fmla="*/ 2147483646 w 241"/>
                    <a:gd name="T3" fmla="*/ 2147483646 h 189"/>
                    <a:gd name="T4" fmla="*/ 2147483646 w 241"/>
                    <a:gd name="T5" fmla="*/ 2147483646 h 189"/>
                    <a:gd name="T6" fmla="*/ 2147483646 w 241"/>
                    <a:gd name="T7" fmla="*/ 2147483646 h 189"/>
                    <a:gd name="T8" fmla="*/ 2147483646 w 241"/>
                    <a:gd name="T9" fmla="*/ 2147483646 h 18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1"/>
                    <a:gd name="T16" fmla="*/ 0 h 189"/>
                    <a:gd name="T17" fmla="*/ 241 w 241"/>
                    <a:gd name="T18" fmla="*/ 189 h 18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1" h="189">
                      <a:moveTo>
                        <a:pt x="52" y="189"/>
                      </a:moveTo>
                      <a:cubicBezTo>
                        <a:pt x="26" y="181"/>
                        <a:pt x="0" y="173"/>
                        <a:pt x="7" y="143"/>
                      </a:cubicBezTo>
                      <a:cubicBezTo>
                        <a:pt x="14" y="113"/>
                        <a:pt x="59" y="14"/>
                        <a:pt x="97" y="7"/>
                      </a:cubicBezTo>
                      <a:cubicBezTo>
                        <a:pt x="135" y="0"/>
                        <a:pt x="225" y="68"/>
                        <a:pt x="233" y="98"/>
                      </a:cubicBezTo>
                      <a:cubicBezTo>
                        <a:pt x="241" y="128"/>
                        <a:pt x="192" y="158"/>
                        <a:pt x="143" y="189"/>
                      </a:cubicBezTo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6855" name="Freeform 11"/>
                <p:cNvSpPr/>
                <p:nvPr/>
              </p:nvSpPr>
              <p:spPr bwMode="auto">
                <a:xfrm rot="966700" flipH="1" flipV="1">
                  <a:off x="3119468" y="4605418"/>
                  <a:ext cx="534010" cy="419104"/>
                </a:xfrm>
                <a:custGeom>
                  <a:avLst/>
                  <a:gdLst>
                    <a:gd name="T0" fmla="*/ 2147483646 w 241"/>
                    <a:gd name="T1" fmla="*/ 2147483646 h 189"/>
                    <a:gd name="T2" fmla="*/ 2147483646 w 241"/>
                    <a:gd name="T3" fmla="*/ 2147483646 h 189"/>
                    <a:gd name="T4" fmla="*/ 2147483646 w 241"/>
                    <a:gd name="T5" fmla="*/ 2147483646 h 189"/>
                    <a:gd name="T6" fmla="*/ 2147483646 w 241"/>
                    <a:gd name="T7" fmla="*/ 2147483646 h 189"/>
                    <a:gd name="T8" fmla="*/ 2147483646 w 241"/>
                    <a:gd name="T9" fmla="*/ 2147483646 h 18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1"/>
                    <a:gd name="T16" fmla="*/ 0 h 189"/>
                    <a:gd name="T17" fmla="*/ 241 w 241"/>
                    <a:gd name="T18" fmla="*/ 189 h 18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1" h="189">
                      <a:moveTo>
                        <a:pt x="52" y="189"/>
                      </a:moveTo>
                      <a:cubicBezTo>
                        <a:pt x="26" y="181"/>
                        <a:pt x="0" y="173"/>
                        <a:pt x="7" y="143"/>
                      </a:cubicBezTo>
                      <a:cubicBezTo>
                        <a:pt x="14" y="113"/>
                        <a:pt x="59" y="14"/>
                        <a:pt x="97" y="7"/>
                      </a:cubicBezTo>
                      <a:cubicBezTo>
                        <a:pt x="135" y="0"/>
                        <a:pt x="225" y="68"/>
                        <a:pt x="233" y="98"/>
                      </a:cubicBezTo>
                      <a:cubicBezTo>
                        <a:pt x="241" y="128"/>
                        <a:pt x="192" y="158"/>
                        <a:pt x="143" y="189"/>
                      </a:cubicBezTo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1" name="任意多边形 30"/>
              <p:cNvSpPr/>
              <p:nvPr/>
            </p:nvSpPr>
            <p:spPr bwMode="auto">
              <a:xfrm rot="21323228" flipH="1" flipV="1">
                <a:off x="5057774" y="3330581"/>
                <a:ext cx="3429022" cy="500065"/>
              </a:xfrm>
              <a:custGeom>
                <a:avLst/>
                <a:gdLst>
                  <a:gd name="connsiteX0" fmla="*/ 0 w 1669143"/>
                  <a:gd name="connsiteY0" fmla="*/ 0 h 349055"/>
                  <a:gd name="connsiteX1" fmla="*/ 870857 w 1669143"/>
                  <a:gd name="connsiteY1" fmla="*/ 348343 h 349055"/>
                  <a:gd name="connsiteX2" fmla="*/ 1669143 w 1669143"/>
                  <a:gd name="connsiteY2" fmla="*/ 72571 h 349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69143" h="349055">
                    <a:moveTo>
                      <a:pt x="0" y="0"/>
                    </a:moveTo>
                    <a:cubicBezTo>
                      <a:pt x="296333" y="168124"/>
                      <a:pt x="592667" y="336248"/>
                      <a:pt x="870857" y="348343"/>
                    </a:cubicBezTo>
                    <a:cubicBezTo>
                      <a:pt x="1149047" y="360438"/>
                      <a:pt x="1409095" y="216504"/>
                      <a:pt x="1669143" y="72571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76844" name="Rectangle 22"/>
              <p:cNvSpPr>
                <a:spLocks noChangeArrowheads="1"/>
              </p:cNvSpPr>
              <p:nvPr/>
            </p:nvSpPr>
            <p:spPr bwMode="auto">
              <a:xfrm>
                <a:off x="6357950" y="2928940"/>
                <a:ext cx="766668" cy="3961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  <a:endPara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33" name="任意多边形 32"/>
              <p:cNvSpPr/>
              <p:nvPr/>
            </p:nvSpPr>
            <p:spPr bwMode="auto">
              <a:xfrm rot="278702" flipH="1">
                <a:off x="6230944" y="4130686"/>
                <a:ext cx="2278076" cy="488953"/>
              </a:xfrm>
              <a:custGeom>
                <a:avLst/>
                <a:gdLst>
                  <a:gd name="connsiteX0" fmla="*/ 0 w 1669143"/>
                  <a:gd name="connsiteY0" fmla="*/ 0 h 349055"/>
                  <a:gd name="connsiteX1" fmla="*/ 870857 w 1669143"/>
                  <a:gd name="connsiteY1" fmla="*/ 348343 h 349055"/>
                  <a:gd name="connsiteX2" fmla="*/ 1669143 w 1669143"/>
                  <a:gd name="connsiteY2" fmla="*/ 72571 h 349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69143" h="349055">
                    <a:moveTo>
                      <a:pt x="0" y="0"/>
                    </a:moveTo>
                    <a:cubicBezTo>
                      <a:pt x="296333" y="168124"/>
                      <a:pt x="592667" y="336248"/>
                      <a:pt x="870857" y="348343"/>
                    </a:cubicBezTo>
                    <a:cubicBezTo>
                      <a:pt x="1149047" y="360438"/>
                      <a:pt x="1409095" y="216504"/>
                      <a:pt x="1669143" y="72571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34" name="任意多边形 33"/>
              <p:cNvSpPr/>
              <p:nvPr/>
            </p:nvSpPr>
            <p:spPr bwMode="auto">
              <a:xfrm rot="278702" flipH="1">
                <a:off x="6345245" y="4011622"/>
                <a:ext cx="823917" cy="184151"/>
              </a:xfrm>
              <a:custGeom>
                <a:avLst/>
                <a:gdLst>
                  <a:gd name="connsiteX0" fmla="*/ 0 w 1669143"/>
                  <a:gd name="connsiteY0" fmla="*/ 0 h 349055"/>
                  <a:gd name="connsiteX1" fmla="*/ 870857 w 1669143"/>
                  <a:gd name="connsiteY1" fmla="*/ 348343 h 349055"/>
                  <a:gd name="connsiteX2" fmla="*/ 1669143 w 1669143"/>
                  <a:gd name="connsiteY2" fmla="*/ 72571 h 349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69143" h="349055">
                    <a:moveTo>
                      <a:pt x="0" y="0"/>
                    </a:moveTo>
                    <a:cubicBezTo>
                      <a:pt x="296333" y="168124"/>
                      <a:pt x="592667" y="336248"/>
                      <a:pt x="870857" y="348343"/>
                    </a:cubicBezTo>
                    <a:cubicBezTo>
                      <a:pt x="1149047" y="360438"/>
                      <a:pt x="1409095" y="216504"/>
                      <a:pt x="1669143" y="72571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76847" name="Rectangle 22"/>
              <p:cNvSpPr>
                <a:spLocks noChangeArrowheads="1"/>
              </p:cNvSpPr>
              <p:nvPr/>
            </p:nvSpPr>
            <p:spPr bwMode="auto">
              <a:xfrm>
                <a:off x="5591282" y="4461600"/>
                <a:ext cx="766668" cy="3961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  <a:endPara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</p:grpSp>
        <p:sp>
          <p:nvSpPr>
            <p:cNvPr id="76840" name="Rectangle 22"/>
            <p:cNvSpPr>
              <a:spLocks noChangeArrowheads="1"/>
            </p:cNvSpPr>
            <p:nvPr/>
          </p:nvSpPr>
          <p:spPr bwMode="auto">
            <a:xfrm>
              <a:off x="6591414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  <a:endParaRPr lang="en-US" altLang="zh-CN" b="1" i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76841" name="Rectangle 22"/>
            <p:cNvSpPr>
              <a:spLocks noChangeArrowheads="1"/>
            </p:cNvSpPr>
            <p:nvPr/>
          </p:nvSpPr>
          <p:spPr bwMode="auto">
            <a:xfrm>
              <a:off x="7072330" y="4533038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  <a:endParaRPr lang="en-US" altLang="zh-CN" b="1" i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</p:grpSp>
      <p:grpSp>
        <p:nvGrpSpPr>
          <p:cNvPr id="12" name="组合 7"/>
          <p:cNvGrpSpPr/>
          <p:nvPr/>
        </p:nvGrpSpPr>
        <p:grpSpPr bwMode="auto">
          <a:xfrm>
            <a:off x="5795963" y="1500188"/>
            <a:ext cx="2393950" cy="895350"/>
            <a:chOff x="1597494" y="2734581"/>
            <a:chExt cx="2392886" cy="895803"/>
          </a:xfrm>
        </p:grpSpPr>
        <p:sp>
          <p:nvSpPr>
            <p:cNvPr id="10" name="矩形 9"/>
            <p:cNvSpPr/>
            <p:nvPr/>
          </p:nvSpPr>
          <p:spPr>
            <a:xfrm>
              <a:off x="2335353" y="2734581"/>
              <a:ext cx="1655027" cy="48602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zh-CN" altLang="en-US" sz="2200" b="1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转换表</a:t>
              </a:r>
              <a:endParaRPr lang="zh-CN" altLang="en-US" sz="22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6836" name="矩形 1"/>
            <p:cNvSpPr>
              <a:spLocks noChangeArrowheads="1"/>
            </p:cNvSpPr>
            <p:nvPr/>
          </p:nvSpPr>
          <p:spPr bwMode="auto">
            <a:xfrm>
              <a:off x="1597494" y="3291830"/>
              <a:ext cx="59824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600" b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状态</a:t>
              </a:r>
              <a:endPara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76837" name="矩形 36"/>
            <p:cNvSpPr>
              <a:spLocks noChangeArrowheads="1"/>
            </p:cNvSpPr>
            <p:nvPr/>
          </p:nvSpPr>
          <p:spPr bwMode="auto">
            <a:xfrm>
              <a:off x="2101550" y="3147814"/>
              <a:ext cx="59824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600" b="1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输入</a:t>
              </a:r>
              <a:endPara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cxnSp>
          <p:nvCxnSpPr>
            <p:cNvPr id="4" name="直接连接符 3"/>
            <p:cNvCxnSpPr/>
            <p:nvPr/>
          </p:nvCxnSpPr>
          <p:spPr>
            <a:xfrm>
              <a:off x="1691114" y="3225366"/>
              <a:ext cx="896539" cy="36689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矩形 2"/>
          <p:cNvSpPr/>
          <p:nvPr/>
        </p:nvSpPr>
        <p:spPr>
          <a:xfrm>
            <a:off x="1712476" y="4184649"/>
            <a:ext cx="6149975" cy="5238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2800" b="1" i="1" dirty="0">
                <a:latin typeface="Courier New" panose="02070309020205020404" pitchFamily="49" charset="0"/>
                <a:ea typeface="楷体" panose="02010609060101010101" pitchFamily="49" charset="-122"/>
                <a:cs typeface="Courier New" panose="02070309020205020404" pitchFamily="49" charset="0"/>
              </a:rPr>
              <a:t>DFA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可以用</a:t>
            </a:r>
            <a:r>
              <a:rPr lang="zh-CN" altLang="en-US" sz="2800" b="1" u="sng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转换图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或</a:t>
            </a:r>
            <a:r>
              <a:rPr lang="zh-CN" altLang="en-US" sz="2800" b="1" u="sng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转换表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表示</a:t>
            </a:r>
            <a:endParaRPr lang="zh-CN" altLang="en-US" sz="2800" b="1" i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408738" y="3540125"/>
            <a:ext cx="300037" cy="2301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lang="zh-CN" altLang="en-US" sz="9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●</a:t>
            </a:r>
            <a:endParaRPr lang="zh-CN" altLang="en-US" sz="90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314521" y="3457774"/>
            <a:ext cx="1954915" cy="4616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a|b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endParaRPr lang="zh-CN" altLang="en-US" sz="3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7" grpId="0"/>
      <p:bldP spid="42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非确定的有穷自动机</a:t>
            </a:r>
            <a:r>
              <a:rPr lang="en-US" altLang="zh-CN" sz="3000" spc="300" dirty="0">
                <a:solidFill>
                  <a:schemeClr val="tx1"/>
                </a:solidFill>
                <a:ea typeface="楷体_GB2312" panose="02010609030101010101" pitchFamily="49" charset="-122"/>
              </a:rPr>
              <a:t>(</a:t>
            </a:r>
            <a:r>
              <a:rPr lang="en-US" altLang="zh-CN" sz="3000" i="1" dirty="0">
                <a:solidFill>
                  <a:schemeClr val="tx1"/>
                </a:solidFill>
                <a:ea typeface="楷体_GB2312" panose="02010609030101010101" pitchFamily="49" charset="-122"/>
              </a:rPr>
              <a:t>N</a:t>
            </a:r>
            <a:r>
              <a:rPr lang="en-US" altLang="zh-CN" sz="3000" i="1" dirty="0">
                <a:solidFill>
                  <a:schemeClr val="tx1"/>
                </a:solidFill>
                <a:cs typeface="Times New Roman" panose="02020603050405020304" pitchFamily="18" charset="0"/>
              </a:rPr>
              <a:t>FA</a:t>
            </a:r>
            <a:r>
              <a:rPr lang="en-US" altLang="zh-CN" sz="3000" spc="300" dirty="0">
                <a:solidFill>
                  <a:schemeClr val="tx1"/>
                </a:solidFill>
                <a:ea typeface="楷体_GB2312" panose="02010609030101010101" pitchFamily="49" charset="-122"/>
              </a:rPr>
              <a:t>) </a:t>
            </a:r>
            <a:endParaRPr lang="zh-CN" altLang="en-US" sz="3000" spc="300" dirty="0">
              <a:solidFill>
                <a:schemeClr val="tx1"/>
              </a:solidFill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78851" name="组合 5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78854" name="五边形 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8" name="内容占位符 2"/>
          <p:cNvSpPr txBox="1"/>
          <p:nvPr/>
        </p:nvSpPr>
        <p:spPr bwMode="auto">
          <a:xfrm>
            <a:off x="357188" y="928688"/>
            <a:ext cx="8429625" cy="4060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ctr" eaLnBrk="1" fontAlgn="auto" hangingPunct="1">
              <a:spcBef>
                <a:spcPct val="3000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500" b="1" i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M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= (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S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，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Σ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，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δ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，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s</a:t>
            </a:r>
            <a:r>
              <a:rPr lang="en-US" altLang="zh-CN" sz="2500" b="1" i="1" baseline="-300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0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，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F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)</a:t>
            </a:r>
            <a:endParaRPr lang="en-US" altLang="zh-CN" sz="2500" b="1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marL="274320" indent="-274320" eaLnBrk="1" fontAlgn="auto" hangingPunct="1">
              <a:lnSpc>
                <a:spcPts val="4000"/>
              </a:lnSpc>
              <a:spcBef>
                <a:spcPct val="200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500" b="1" i="1" dirty="0">
                <a:latin typeface="Times New Roman" panose="02020603050405020304" pitchFamily="18" charset="0"/>
                <a:ea typeface="+mn-ea"/>
              </a:rPr>
              <a:t>S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</a:rPr>
              <a:t>：有穷状态集</a:t>
            </a:r>
            <a:endParaRPr lang="en-US" altLang="zh-CN" sz="2500" b="1" dirty="0">
              <a:latin typeface="Times New Roman" panose="02020603050405020304" pitchFamily="18" charset="0"/>
              <a:ea typeface="+mn-ea"/>
            </a:endParaRPr>
          </a:p>
          <a:p>
            <a:pPr marL="274320" indent="-274320" eaLnBrk="1" fontAlgn="auto" hangingPunct="1">
              <a:lnSpc>
                <a:spcPts val="4000"/>
              </a:lnSpc>
              <a:spcBef>
                <a:spcPct val="200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l-GR" altLang="zh-CN" sz="2500" b="1" i="1" dirty="0">
                <a:latin typeface="Times New Roman" panose="02020603050405020304" pitchFamily="18" charset="0"/>
                <a:ea typeface="+mn-ea"/>
              </a:rPr>
              <a:t>Σ</a:t>
            </a:r>
            <a:r>
              <a:rPr lang="zh-CN" altLang="el-GR" sz="2500" b="1" dirty="0">
                <a:latin typeface="Times New Roman" panose="02020603050405020304" pitchFamily="18" charset="0"/>
                <a:ea typeface="+mn-ea"/>
              </a:rPr>
              <a:t>：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</a:rPr>
              <a:t>输入符号集合，即输入字母表。假设</a:t>
            </a:r>
            <a:r>
              <a:rPr lang="el-GR" altLang="zh-CN" sz="2500" b="1" i="1" dirty="0">
                <a:latin typeface="Times New Roman" panose="02020603050405020304" pitchFamily="18" charset="0"/>
                <a:ea typeface="+mn-ea"/>
              </a:rPr>
              <a:t>ε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</a:rPr>
              <a:t>不是</a:t>
            </a:r>
            <a:r>
              <a:rPr lang="el-GR" altLang="zh-CN" sz="2500" b="1" i="1" dirty="0">
                <a:latin typeface="Times New Roman" panose="02020603050405020304" pitchFamily="18" charset="0"/>
                <a:ea typeface="+mn-ea"/>
              </a:rPr>
              <a:t>Σ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</a:rPr>
              <a:t>中的元素</a:t>
            </a:r>
            <a:endParaRPr lang="zh-CN" altLang="en-US" sz="2500" b="1" dirty="0">
              <a:latin typeface="Times New Roman" panose="02020603050405020304" pitchFamily="18" charset="0"/>
              <a:ea typeface="+mn-ea"/>
            </a:endParaRPr>
          </a:p>
          <a:p>
            <a:pPr marL="274320" indent="-274320" eaLnBrk="1" fontAlgn="auto" hangingPunct="1">
              <a:lnSpc>
                <a:spcPts val="4000"/>
              </a:lnSpc>
              <a:spcBef>
                <a:spcPct val="200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l-GR" altLang="zh-CN" sz="2500" b="1" i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</a:rPr>
              <a:t>δ</a:t>
            </a:r>
            <a:r>
              <a:rPr lang="zh-CN" altLang="el-GR" sz="2500" b="1" dirty="0">
                <a:latin typeface="Times New Roman" panose="02020603050405020304" pitchFamily="18" charset="0"/>
                <a:ea typeface="+mn-ea"/>
              </a:rPr>
              <a:t>：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</a:rPr>
              <a:t>将</a:t>
            </a:r>
            <a:r>
              <a:rPr lang="en-US" altLang="zh-CN" sz="2500" b="1" i="1" u="sng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</a:rPr>
              <a:t>S</a:t>
            </a:r>
            <a:r>
              <a:rPr lang="en-US" altLang="zh-CN" sz="2500" b="1" u="sng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</a:rPr>
              <a:t>×</a:t>
            </a:r>
            <a:r>
              <a:rPr lang="el-GR" altLang="zh-CN" sz="2500" b="1" i="1" u="sng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</a:rPr>
              <a:t>Σ</a:t>
            </a:r>
            <a:r>
              <a:rPr lang="zh-CN" altLang="en-US" sz="2800" b="1" u="sng" dirty="0">
                <a:solidFill>
                  <a:srgbClr val="0070C0"/>
                </a:solidFill>
                <a:latin typeface="Times New Roman" panose="02020603050405020304" pitchFamily="18" charset="0"/>
              </a:rPr>
              <a:t> → </a:t>
            </a:r>
            <a:r>
              <a:rPr lang="en-US" altLang="zh-CN" sz="2800" b="1" u="sng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i="1" u="sng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</a:rPr>
              <a:t>的</a:t>
            </a:r>
            <a:r>
              <a:rPr lang="zh-CN" altLang="en-US" sz="25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</a:rPr>
              <a:t>转换函数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</a:rPr>
              <a:t>。</a:t>
            </a: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5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500" b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∈</a:t>
            </a:r>
            <a:r>
              <a:rPr lang="en-US" altLang="zh-CN" sz="25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a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∈</a:t>
            </a:r>
            <a:r>
              <a:rPr lang="el-GR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Σ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,</a:t>
            </a:r>
            <a:r>
              <a:rPr lang="el-GR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l-GR" altLang="zh-CN" sz="25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δ</a:t>
            </a:r>
            <a:r>
              <a: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5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</a:t>
            </a:r>
            <a:r>
              <a: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, </a:t>
            </a:r>
            <a:r>
              <a:rPr lang="en-US" altLang="zh-CN" sz="25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表示从状态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</a:t>
            </a: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出发，沿着标记为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的边所能到达的</a:t>
            </a:r>
            <a:r>
              <a:rPr lang="zh-CN" altLang="en-US" sz="25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状态集合</a:t>
            </a:r>
            <a:endParaRPr lang="en-US" altLang="zh-CN" sz="2500" b="1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274320" indent="-274320" eaLnBrk="1" fontAlgn="auto" hangingPunct="1">
              <a:lnSpc>
                <a:spcPts val="4000"/>
              </a:lnSpc>
              <a:spcBef>
                <a:spcPct val="200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500" b="1" i="1" dirty="0">
                <a:latin typeface="Times New Roman" panose="02020603050405020304" pitchFamily="18" charset="0"/>
                <a:ea typeface="+mn-ea"/>
              </a:rPr>
              <a:t>s</a:t>
            </a:r>
            <a:r>
              <a:rPr lang="en-US" altLang="zh-CN" sz="2500" b="1" i="1" baseline="-25000" dirty="0">
                <a:latin typeface="Times New Roman" panose="02020603050405020304" pitchFamily="18" charset="0"/>
                <a:ea typeface="+mn-ea"/>
              </a:rPr>
              <a:t>0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</a:rPr>
              <a:t>：开始状态 </a:t>
            </a:r>
            <a:r>
              <a:rPr lang="en-US" altLang="zh-CN" sz="2500" b="1" dirty="0">
                <a:latin typeface="Times New Roman" panose="02020603050405020304" pitchFamily="18" charset="0"/>
                <a:ea typeface="+mn-ea"/>
              </a:rPr>
              <a:t>(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</a:rPr>
              <a:t>或初始状态</a:t>
            </a:r>
            <a:r>
              <a:rPr lang="en-US" altLang="zh-CN" sz="2500" b="1" dirty="0">
                <a:latin typeface="Times New Roman" panose="02020603050405020304" pitchFamily="18" charset="0"/>
                <a:ea typeface="+mn-ea"/>
              </a:rPr>
              <a:t>)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</a:rPr>
              <a:t>，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</a:rPr>
              <a:t>s</a:t>
            </a:r>
            <a:r>
              <a:rPr lang="en-US" altLang="zh-CN" sz="2500" b="1" i="1" baseline="-25000" dirty="0">
                <a:latin typeface="Times New Roman" panose="02020603050405020304" pitchFamily="18" charset="0"/>
                <a:ea typeface="+mn-ea"/>
              </a:rPr>
              <a:t>0</a:t>
            </a:r>
            <a:r>
              <a:rPr lang="en-US" altLang="zh-CN" sz="2500" b="1" dirty="0">
                <a:latin typeface="Times New Roman" panose="02020603050405020304" pitchFamily="18" charset="0"/>
                <a:ea typeface="+mn-ea"/>
              </a:rPr>
              <a:t>∈ 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</a:rPr>
              <a:t>S</a:t>
            </a:r>
            <a:endParaRPr lang="en-US" altLang="zh-CN" sz="2500" b="1" dirty="0">
              <a:latin typeface="Times New Roman" panose="02020603050405020304" pitchFamily="18" charset="0"/>
              <a:ea typeface="+mn-ea"/>
            </a:endParaRPr>
          </a:p>
          <a:p>
            <a:pPr marL="274320" indent="-274320" eaLnBrk="1" fontAlgn="auto" hangingPunct="1">
              <a:lnSpc>
                <a:spcPts val="4000"/>
              </a:lnSpc>
              <a:spcBef>
                <a:spcPct val="200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500" b="1" i="1" dirty="0">
                <a:latin typeface="Times New Roman" panose="02020603050405020304" pitchFamily="18" charset="0"/>
                <a:ea typeface="+mn-ea"/>
              </a:rPr>
              <a:t>F</a:t>
            </a:r>
            <a:r>
              <a:rPr lang="zh-CN" altLang="en-US" sz="2500" b="1" dirty="0">
                <a:latin typeface="Times New Roman" panose="02020603050405020304" pitchFamily="18" charset="0"/>
                <a:ea typeface="+mn-ea"/>
              </a:rPr>
              <a:t>：接收状态（或终止状态）集合，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</a:rPr>
              <a:t>F</a:t>
            </a:r>
            <a:r>
              <a:rPr lang="en-US" altLang="zh-CN" sz="2500" b="1" dirty="0">
                <a:latin typeface="Times New Roman" panose="02020603050405020304" pitchFamily="18" charset="0"/>
                <a:ea typeface="+mn-ea"/>
              </a:rPr>
              <a:t>⊆ </a:t>
            </a:r>
            <a:r>
              <a:rPr lang="en-US" altLang="zh-CN" sz="2500" b="1" i="1" dirty="0">
                <a:latin typeface="Times New Roman" panose="02020603050405020304" pitchFamily="18" charset="0"/>
                <a:ea typeface="+mn-ea"/>
              </a:rPr>
              <a:t>S</a:t>
            </a:r>
            <a:endParaRPr lang="zh-CN" altLang="en-US" sz="2500" b="1" dirty="0">
              <a:latin typeface="Times New Roman" panose="02020603050405020304" pitchFamily="18" charset="0"/>
              <a:ea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 bwMode="auto">
          <a:xfrm>
            <a:off x="755650" y="268288"/>
            <a:ext cx="793115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eaLnBrk="1" hangingPunct="1">
              <a:defRPr/>
            </a:pPr>
            <a:r>
              <a:rPr lang="zh-CN" altLang="en-US" sz="30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例：一个</a:t>
            </a:r>
            <a:r>
              <a:rPr lang="en-US" altLang="zh-CN" sz="3000" b="1" i="1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NFA</a:t>
            </a:r>
            <a:endParaRPr lang="zh-CN" altLang="en-US" sz="3000" b="1" i="1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grpSp>
        <p:nvGrpSpPr>
          <p:cNvPr id="80899" name="组合 5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9" name="五边形 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80953" name="五边形 9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6383338" y="1428750"/>
            <a:ext cx="1655762" cy="485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sz="22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转换表</a:t>
            </a:r>
            <a:endParaRPr lang="zh-CN" altLang="en-US" sz="2200" b="1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16" name="Group 18"/>
          <p:cNvGraphicFramePr>
            <a:graphicFrameLocks noGrp="1"/>
          </p:cNvGraphicFramePr>
          <p:nvPr/>
        </p:nvGraphicFramePr>
        <p:xfrm>
          <a:off x="5740400" y="1919288"/>
          <a:ext cx="3000375" cy="1866900"/>
        </p:xfrm>
        <a:graphic>
          <a:graphicData uri="http://schemas.openxmlformats.org/drawingml/2006/table">
            <a:tbl>
              <a:tblPr/>
              <a:tblGrid>
                <a:gridCol w="931385"/>
                <a:gridCol w="1042546"/>
                <a:gridCol w="1026444"/>
              </a:tblGrid>
              <a:tr h="209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a</a:t>
                      </a:r>
                      <a:endParaRPr kumimoji="0" lang="zh-CN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b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0648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｛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0, 1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｝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｛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｝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096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｛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｝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595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｛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｝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636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6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0" lang="zh-CN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80927" name="组合 9"/>
          <p:cNvGrpSpPr/>
          <p:nvPr/>
        </p:nvGrpSpPr>
        <p:grpSpPr bwMode="auto">
          <a:xfrm>
            <a:off x="71438" y="1928813"/>
            <a:ext cx="5500687" cy="1506537"/>
            <a:chOff x="928659" y="3675785"/>
            <a:chExt cx="5500722" cy="1506709"/>
          </a:xfrm>
        </p:grpSpPr>
        <p:grpSp>
          <p:nvGrpSpPr>
            <p:cNvPr id="80934" name="组合 9"/>
            <p:cNvGrpSpPr/>
            <p:nvPr/>
          </p:nvGrpSpPr>
          <p:grpSpPr bwMode="auto">
            <a:xfrm>
              <a:off x="928659" y="3675785"/>
              <a:ext cx="5500722" cy="1090002"/>
              <a:chOff x="2339752" y="4162003"/>
              <a:chExt cx="3622043" cy="790575"/>
            </a:xfrm>
          </p:grpSpPr>
          <p:sp>
            <p:nvSpPr>
              <p:cNvPr id="80943" name="Oval 10"/>
              <p:cNvSpPr>
                <a:spLocks noChangeArrowheads="1"/>
              </p:cNvSpPr>
              <p:nvPr/>
            </p:nvSpPr>
            <p:spPr bwMode="auto">
              <a:xfrm>
                <a:off x="3097415" y="4576104"/>
                <a:ext cx="289198" cy="2924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latin typeface="Times New Roman" panose="02020603050405020304" pitchFamily="18" charset="0"/>
                    <a:ea typeface="楷体_GB2312"/>
                    <a:cs typeface="楷体_GB2312"/>
                  </a:rPr>
                  <a:t>0</a:t>
                </a:r>
                <a:endPara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80944" name="Line 13"/>
              <p:cNvSpPr>
                <a:spLocks noChangeShapeType="1"/>
              </p:cNvSpPr>
              <p:nvPr/>
            </p:nvSpPr>
            <p:spPr bwMode="auto">
              <a:xfrm>
                <a:off x="3419690" y="4731545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45" name="Line 16"/>
              <p:cNvSpPr>
                <a:spLocks noChangeShapeType="1"/>
              </p:cNvSpPr>
              <p:nvPr/>
            </p:nvSpPr>
            <p:spPr bwMode="auto">
              <a:xfrm>
                <a:off x="4221333" y="4726809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46" name="Line 21"/>
              <p:cNvSpPr>
                <a:spLocks noChangeShapeType="1"/>
              </p:cNvSpPr>
              <p:nvPr/>
            </p:nvSpPr>
            <p:spPr bwMode="auto">
              <a:xfrm>
                <a:off x="5021004" y="4723834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47" name="Oval 23"/>
              <p:cNvSpPr>
                <a:spLocks noChangeArrowheads="1"/>
              </p:cNvSpPr>
              <p:nvPr/>
            </p:nvSpPr>
            <p:spPr bwMode="auto">
              <a:xfrm>
                <a:off x="5594506" y="4572591"/>
                <a:ext cx="289198" cy="2924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latin typeface="Times New Roman" panose="02020603050405020304" pitchFamily="18" charset="0"/>
                    <a:ea typeface="楷体_GB2312"/>
                    <a:cs typeface="楷体_GB2312"/>
                  </a:rPr>
                  <a:t>3</a:t>
                </a:r>
                <a:endPara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80948" name="Oval 39"/>
              <p:cNvSpPr>
                <a:spLocks noChangeArrowheads="1"/>
              </p:cNvSpPr>
              <p:nvPr/>
            </p:nvSpPr>
            <p:spPr bwMode="auto">
              <a:xfrm>
                <a:off x="5521481" y="4501154"/>
                <a:ext cx="440314" cy="45142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0949" name="Rectangle 22"/>
              <p:cNvSpPr>
                <a:spLocks noChangeArrowheads="1"/>
              </p:cNvSpPr>
              <p:nvPr/>
            </p:nvSpPr>
            <p:spPr bwMode="auto">
              <a:xfrm>
                <a:off x="2339752" y="4581913"/>
                <a:ext cx="504927" cy="2872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  <a:endPara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80950" name="Line 21"/>
              <p:cNvSpPr>
                <a:spLocks noChangeShapeType="1"/>
              </p:cNvSpPr>
              <p:nvPr/>
            </p:nvSpPr>
            <p:spPr bwMode="auto">
              <a:xfrm flipV="1">
                <a:off x="2844679" y="4725144"/>
                <a:ext cx="252464" cy="895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51" name="Rectangle 22"/>
              <p:cNvSpPr>
                <a:spLocks noChangeArrowheads="1"/>
              </p:cNvSpPr>
              <p:nvPr/>
            </p:nvSpPr>
            <p:spPr bwMode="auto">
              <a:xfrm>
                <a:off x="3139424" y="4162003"/>
                <a:ext cx="504825" cy="287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70C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  <a:endParaRPr lang="en-US" altLang="zh-CN" b="1" i="1">
                  <a:solidFill>
                    <a:srgbClr val="0070C0"/>
                  </a:solidFill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</p:grpSp>
        <p:sp>
          <p:nvSpPr>
            <p:cNvPr id="80935" name="Rectangle 22"/>
            <p:cNvSpPr>
              <a:spLocks noChangeArrowheads="1"/>
            </p:cNvSpPr>
            <p:nvPr/>
          </p:nvSpPr>
          <p:spPr bwMode="auto">
            <a:xfrm>
              <a:off x="2214546" y="4786328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  <a:endParaRPr lang="en-US" altLang="zh-CN" b="1" i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0936" name="Oval 10"/>
            <p:cNvSpPr>
              <a:spLocks noChangeArrowheads="1"/>
            </p:cNvSpPr>
            <p:nvPr/>
          </p:nvSpPr>
          <p:spPr bwMode="auto">
            <a:xfrm>
              <a:off x="3346982" y="4240252"/>
              <a:ext cx="439200" cy="4032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  <a:endParaRPr lang="en-US" altLang="zh-CN" sz="2000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0937" name="Oval 10"/>
            <p:cNvSpPr>
              <a:spLocks noChangeArrowheads="1"/>
            </p:cNvSpPr>
            <p:nvPr/>
          </p:nvSpPr>
          <p:spPr bwMode="auto">
            <a:xfrm>
              <a:off x="4561428" y="4240252"/>
              <a:ext cx="439200" cy="4032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  <a:endParaRPr lang="en-US" altLang="zh-CN" sz="2000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0938" name="Rectangle 22"/>
            <p:cNvSpPr>
              <a:spLocks noChangeArrowheads="1"/>
            </p:cNvSpPr>
            <p:nvPr/>
          </p:nvSpPr>
          <p:spPr bwMode="auto">
            <a:xfrm>
              <a:off x="2519448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solidFill>
                    <a:srgbClr val="0070C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  <a:endParaRPr lang="en-US" altLang="zh-CN" b="1" i="1">
                <a:solidFill>
                  <a:srgbClr val="0070C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0939" name="Rectangle 22"/>
            <p:cNvSpPr>
              <a:spLocks noChangeArrowheads="1"/>
            </p:cNvSpPr>
            <p:nvPr/>
          </p:nvSpPr>
          <p:spPr bwMode="auto">
            <a:xfrm>
              <a:off x="3786182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  <a:endParaRPr lang="en-US" altLang="zh-CN" b="1" i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0940" name="Rectangle 22"/>
            <p:cNvSpPr>
              <a:spLocks noChangeArrowheads="1"/>
            </p:cNvSpPr>
            <p:nvPr/>
          </p:nvSpPr>
          <p:spPr bwMode="auto">
            <a:xfrm>
              <a:off x="4948340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  <a:endParaRPr lang="en-US" altLang="zh-CN" b="1" i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0941" name="Freeform 11"/>
            <p:cNvSpPr/>
            <p:nvPr/>
          </p:nvSpPr>
          <p:spPr bwMode="auto">
            <a:xfrm flipH="1">
              <a:off x="1975065" y="3840019"/>
              <a:ext cx="534010" cy="429463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42" name="Freeform 11"/>
            <p:cNvSpPr/>
            <p:nvPr/>
          </p:nvSpPr>
          <p:spPr bwMode="auto">
            <a:xfrm flipH="1" flipV="1">
              <a:off x="1991843" y="4627806"/>
              <a:ext cx="534010" cy="419104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0928" name="矩形 1"/>
          <p:cNvSpPr>
            <a:spLocks noChangeArrowheads="1"/>
          </p:cNvSpPr>
          <p:nvPr/>
        </p:nvSpPr>
        <p:spPr bwMode="auto">
          <a:xfrm>
            <a:off x="5643563" y="2003425"/>
            <a:ext cx="598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状态</a:t>
            </a:r>
            <a:endParaRPr lang="zh-CN" altLang="en-US" sz="1600" b="1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80929" name="矩形 36"/>
          <p:cNvSpPr>
            <a:spLocks noChangeArrowheads="1"/>
          </p:cNvSpPr>
          <p:nvPr/>
        </p:nvSpPr>
        <p:spPr bwMode="auto">
          <a:xfrm>
            <a:off x="6148388" y="1860550"/>
            <a:ext cx="59848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输入</a:t>
            </a:r>
            <a:endParaRPr lang="zh-CN" altLang="en-US" sz="1600" b="1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cxnSp>
        <p:nvCxnSpPr>
          <p:cNvPr id="33" name="直接连接符 32"/>
          <p:cNvCxnSpPr/>
          <p:nvPr/>
        </p:nvCxnSpPr>
        <p:spPr bwMode="auto">
          <a:xfrm>
            <a:off x="5737225" y="1938338"/>
            <a:ext cx="896938" cy="3556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539433" y="3995738"/>
            <a:ext cx="8075612" cy="8620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500" b="1" dirty="0">
                <a:latin typeface="+mn-ea"/>
                <a:ea typeface="+mn-ea"/>
              </a:rPr>
              <a:t>如果转换函数没有给出对应于某个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状态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-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输入</a:t>
            </a:r>
            <a:r>
              <a:rPr lang="zh-CN" altLang="en-US" sz="2500" b="1" dirty="0">
                <a:latin typeface="+mn-ea"/>
                <a:ea typeface="+mn-ea"/>
              </a:rPr>
              <a:t>对的信息，就把</a:t>
            </a:r>
            <a:r>
              <a:rPr lang="en-US" altLang="zh-CN" sz="25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Ø</a:t>
            </a:r>
            <a:r>
              <a:rPr lang="zh-CN" altLang="en-US" sz="2500" b="1" dirty="0">
                <a:latin typeface="+mn-ea"/>
                <a:ea typeface="+mn-ea"/>
              </a:rPr>
              <a:t>放入相应的表项中。</a:t>
            </a:r>
            <a:endParaRPr lang="zh-CN" altLang="en-US" sz="2500" b="1" dirty="0">
              <a:latin typeface="+mn-ea"/>
              <a:ea typeface="+mn-ea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208713" y="3502025"/>
            <a:ext cx="300037" cy="2301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lang="zh-CN" altLang="en-US" sz="9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●</a:t>
            </a:r>
            <a:endParaRPr lang="zh-CN" altLang="en-US" sz="90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80933" name="内容占位符 2"/>
          <p:cNvSpPr>
            <a:spLocks noGrp="1"/>
          </p:cNvSpPr>
          <p:nvPr>
            <p:ph idx="1"/>
          </p:nvPr>
        </p:nvSpPr>
        <p:spPr>
          <a:xfrm>
            <a:off x="357188" y="928688"/>
            <a:ext cx="8429625" cy="642937"/>
          </a:xfrm>
        </p:spPr>
        <p:txBody>
          <a:bodyPr/>
          <a:lstStyle/>
          <a:p>
            <a:pPr marL="0" indent="0" algn="ctr" eaLnBrk="1" hangingPunct="1">
              <a:spcBef>
                <a:spcPct val="3000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M 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楷体_GB2312"/>
              </a:rPr>
              <a:t>= ( 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S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楷体_GB2312"/>
              </a:rPr>
              <a:t>，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Σ 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楷体_GB2312"/>
              </a:rPr>
              <a:t>，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δ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楷体_GB2312"/>
              </a:rPr>
              <a:t>，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s</a:t>
            </a:r>
            <a:r>
              <a:rPr lang="en-US" altLang="zh-CN" sz="2500" b="1" i="1" baseline="-30000">
                <a:solidFill>
                  <a:schemeClr val="tx1"/>
                </a:solidFill>
                <a:ea typeface="楷体_GB2312"/>
                <a:cs typeface="楷体_GB2312"/>
              </a:rPr>
              <a:t>0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楷体_GB2312"/>
              </a:rPr>
              <a:t>，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F 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楷体_GB2312"/>
              </a:rPr>
              <a:t>)</a:t>
            </a:r>
            <a:endParaRPr lang="zh-CN" altLang="en-US" sz="2500" b="1">
              <a:solidFill>
                <a:schemeClr val="tx1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539805" y="3409181"/>
            <a:ext cx="1954915" cy="4616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a|b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endParaRPr lang="zh-CN" altLang="en-US" sz="3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</a:t>
            </a:r>
            <a:r>
              <a:rPr lang="zh-CN" altLang="en-US" sz="3000" spc="-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有“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ε</a:t>
            </a:r>
            <a:r>
              <a:rPr lang="en-US" altLang="zh-CN" sz="3000" spc="3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</a:t>
            </a:r>
            <a:r>
              <a:rPr lang="zh-CN" altLang="en-US" sz="3000" spc="-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”的 </a:t>
            </a:r>
            <a:r>
              <a:rPr lang="en-US" altLang="zh-CN" sz="3000" i="1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NFA</a:t>
            </a:r>
            <a:endParaRPr lang="zh-CN" altLang="en-US" sz="3000" i="1" dirty="0">
              <a:solidFill>
                <a:schemeClr val="tx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4"/>
          <p:cNvGrpSpPr/>
          <p:nvPr/>
        </p:nvGrpSpPr>
        <p:grpSpPr bwMode="auto">
          <a:xfrm>
            <a:off x="1358900" y="3714750"/>
            <a:ext cx="3921125" cy="1211263"/>
            <a:chOff x="2571750" y="3090863"/>
            <a:chExt cx="3282950" cy="1047750"/>
          </a:xfrm>
        </p:grpSpPr>
        <p:sp>
          <p:nvSpPr>
            <p:cNvPr id="70666" name="Oval 10"/>
            <p:cNvSpPr>
              <a:spLocks noChangeArrowheads="1"/>
            </p:cNvSpPr>
            <p:nvPr/>
          </p:nvSpPr>
          <p:spPr bwMode="auto">
            <a:xfrm>
              <a:off x="3620434" y="3707429"/>
              <a:ext cx="361523" cy="35977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  <a:endParaRPr lang="en-US" altLang="zh-CN" b="1" i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7051" name="Freeform 11"/>
            <p:cNvSpPr/>
            <p:nvPr/>
          </p:nvSpPr>
          <p:spPr bwMode="auto">
            <a:xfrm>
              <a:off x="3631046" y="3421288"/>
              <a:ext cx="382588" cy="300038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52" name="Rectangle 12"/>
            <p:cNvSpPr>
              <a:spLocks noChangeArrowheads="1"/>
            </p:cNvSpPr>
            <p:nvPr/>
          </p:nvSpPr>
          <p:spPr bwMode="auto">
            <a:xfrm>
              <a:off x="3548063" y="3130550"/>
              <a:ext cx="504825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  <a:ea typeface="楷体_GB2312"/>
                  <a:cs typeface="楷体_GB2312"/>
                </a:rPr>
                <a:t>0</a:t>
              </a:r>
              <a:endParaRPr lang="en-US" altLang="zh-CN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7053" name="Line 13"/>
            <p:cNvSpPr>
              <a:spLocks noChangeShapeType="1"/>
            </p:cNvSpPr>
            <p:nvPr/>
          </p:nvSpPr>
          <p:spPr bwMode="auto">
            <a:xfrm>
              <a:off x="3979863" y="3922713"/>
              <a:ext cx="504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54" name="Rectangle 14"/>
            <p:cNvSpPr>
              <a:spLocks noChangeArrowheads="1"/>
            </p:cNvSpPr>
            <p:nvPr/>
          </p:nvSpPr>
          <p:spPr bwMode="auto">
            <a:xfrm>
              <a:off x="3979863" y="3621157"/>
              <a:ext cx="504825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 dirty="0">
                  <a:latin typeface="Times New Roman" panose="02020603050405020304" pitchFamily="18" charset="0"/>
                  <a:ea typeface="楷体_GB2312"/>
                  <a:cs typeface="楷体_GB2312"/>
                </a:rPr>
                <a:t>ε</a:t>
              </a:r>
              <a:endParaRPr lang="en-US" altLang="zh-CN" b="1" i="1" dirty="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70671" name="Oval 15"/>
            <p:cNvSpPr>
              <a:spLocks noChangeArrowheads="1"/>
            </p:cNvSpPr>
            <p:nvPr/>
          </p:nvSpPr>
          <p:spPr bwMode="auto">
            <a:xfrm>
              <a:off x="4484368" y="3707429"/>
              <a:ext cx="360194" cy="35977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  <a:endParaRPr lang="en-US" altLang="zh-CN" b="1" i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7056" name="Line 16"/>
            <p:cNvSpPr>
              <a:spLocks noChangeShapeType="1"/>
            </p:cNvSpPr>
            <p:nvPr/>
          </p:nvSpPr>
          <p:spPr bwMode="auto">
            <a:xfrm>
              <a:off x="4843463" y="3922713"/>
              <a:ext cx="504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57" name="Rectangle 17"/>
            <p:cNvSpPr>
              <a:spLocks noChangeArrowheads="1"/>
            </p:cNvSpPr>
            <p:nvPr/>
          </p:nvSpPr>
          <p:spPr bwMode="auto">
            <a:xfrm>
              <a:off x="4843463" y="3621157"/>
              <a:ext cx="504825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ε</a:t>
              </a:r>
              <a:endPara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70674" name="Oval 18"/>
            <p:cNvSpPr>
              <a:spLocks noChangeArrowheads="1"/>
            </p:cNvSpPr>
            <p:nvPr/>
          </p:nvSpPr>
          <p:spPr bwMode="auto">
            <a:xfrm>
              <a:off x="5421404" y="3707429"/>
              <a:ext cx="360195" cy="35977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C</a:t>
              </a:r>
              <a:endParaRPr lang="en-US" altLang="zh-CN" b="1" i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7059" name="Freeform 19"/>
            <p:cNvSpPr/>
            <p:nvPr/>
          </p:nvSpPr>
          <p:spPr bwMode="auto">
            <a:xfrm>
              <a:off x="4494646" y="3412445"/>
              <a:ext cx="382588" cy="300037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60" name="Rectangle 20"/>
            <p:cNvSpPr>
              <a:spLocks noChangeArrowheads="1"/>
            </p:cNvSpPr>
            <p:nvPr/>
          </p:nvSpPr>
          <p:spPr bwMode="auto">
            <a:xfrm>
              <a:off x="4411663" y="3128963"/>
              <a:ext cx="504825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  <a:endParaRPr lang="en-US" altLang="zh-CN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7061" name="Line 21"/>
            <p:cNvSpPr>
              <a:spLocks noChangeShapeType="1"/>
            </p:cNvSpPr>
            <p:nvPr/>
          </p:nvSpPr>
          <p:spPr bwMode="auto">
            <a:xfrm>
              <a:off x="3105150" y="3910013"/>
              <a:ext cx="5048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62" name="Rectangle 22"/>
            <p:cNvSpPr>
              <a:spLocks noChangeArrowheads="1"/>
            </p:cNvSpPr>
            <p:nvPr/>
          </p:nvSpPr>
          <p:spPr bwMode="auto">
            <a:xfrm>
              <a:off x="2571750" y="3722688"/>
              <a:ext cx="504825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  <a:endPara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7063" name="Freeform 30"/>
            <p:cNvSpPr/>
            <p:nvPr/>
          </p:nvSpPr>
          <p:spPr bwMode="auto">
            <a:xfrm>
              <a:off x="5439883" y="3338062"/>
              <a:ext cx="382587" cy="300037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64" name="Rectangle 31"/>
            <p:cNvSpPr>
              <a:spLocks noChangeArrowheads="1"/>
            </p:cNvSpPr>
            <p:nvPr/>
          </p:nvSpPr>
          <p:spPr bwMode="auto">
            <a:xfrm>
              <a:off x="5349875" y="3090863"/>
              <a:ext cx="504825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  <a:endParaRPr lang="en-US" altLang="zh-CN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7065" name="Oval 39"/>
            <p:cNvSpPr>
              <a:spLocks noChangeArrowheads="1"/>
            </p:cNvSpPr>
            <p:nvPr/>
          </p:nvSpPr>
          <p:spPr bwMode="auto">
            <a:xfrm>
              <a:off x="5348288" y="3635375"/>
              <a:ext cx="503237" cy="50323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2" name="矩形 21"/>
          <p:cNvSpPr/>
          <p:nvPr/>
        </p:nvSpPr>
        <p:spPr>
          <a:xfrm>
            <a:off x="1042988" y="4010025"/>
            <a:ext cx="3652837" cy="9128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 altLang="zh-CN" sz="24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defRPr/>
            </a:pPr>
            <a:endParaRPr lang="en-US" altLang="zh-CN" sz="24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defRPr/>
            </a:pPr>
            <a:endParaRPr lang="en-US" altLang="zh-CN" sz="24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87045" name="组合 5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24" name="五边形 23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87049" name="五边形 24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6" name="内容占位符 2"/>
          <p:cNvSpPr txBox="1"/>
          <p:nvPr/>
        </p:nvSpPr>
        <p:spPr bwMode="auto">
          <a:xfrm>
            <a:off x="179388" y="714375"/>
            <a:ext cx="8856662" cy="32035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ctr" eaLnBrk="1" fontAlgn="auto" hangingPunct="1">
              <a:spcBef>
                <a:spcPct val="3000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500" b="1" i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M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= ( 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S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，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Σ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，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δ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，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s</a:t>
            </a:r>
            <a:r>
              <a:rPr lang="en-US" altLang="zh-CN" sz="2500" b="1" i="1" baseline="-300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0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，</a:t>
            </a:r>
            <a:r>
              <a:rPr lang="en-US" altLang="zh-CN" sz="2500" b="1" i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F </a:t>
            </a:r>
            <a:r>
              <a:rPr lang="en-US" altLang="zh-CN" sz="25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)</a:t>
            </a:r>
            <a:endParaRPr lang="en-US" altLang="zh-CN" sz="2500" b="1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marL="274320" indent="-274320" eaLnBrk="1" fontAlgn="auto" hangingPunct="1">
              <a:spcBef>
                <a:spcPct val="200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400" b="1" i="1" dirty="0">
                <a:latin typeface="Times New Roman" panose="02020603050405020304" pitchFamily="18" charset="0"/>
                <a:ea typeface="+mn-ea"/>
              </a:rPr>
              <a:t>S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：有穷状态集</a:t>
            </a:r>
            <a:endParaRPr lang="en-US" altLang="zh-CN" sz="2400" b="1" dirty="0">
              <a:latin typeface="Times New Roman" panose="02020603050405020304" pitchFamily="18" charset="0"/>
              <a:ea typeface="+mn-ea"/>
            </a:endParaRPr>
          </a:p>
          <a:p>
            <a:pPr marL="274320" indent="-274320" eaLnBrk="1" fontAlgn="auto" hangingPunct="1">
              <a:spcBef>
                <a:spcPct val="200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l-GR" altLang="zh-CN" sz="2400" b="1" i="1" dirty="0">
                <a:latin typeface="Times New Roman" panose="02020603050405020304" pitchFamily="18" charset="0"/>
                <a:ea typeface="+mn-ea"/>
              </a:rPr>
              <a:t>Σ</a:t>
            </a:r>
            <a:r>
              <a:rPr lang="zh-CN" altLang="el-GR" sz="2400" b="1" dirty="0">
                <a:latin typeface="Times New Roman" panose="02020603050405020304" pitchFamily="18" charset="0"/>
                <a:ea typeface="+mn-ea"/>
              </a:rPr>
              <a:t>：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输入符号集合，即输入字母表。假设</a:t>
            </a:r>
            <a:r>
              <a:rPr lang="el-GR" altLang="zh-CN" sz="2400" b="1" i="1" dirty="0">
                <a:latin typeface="Times New Roman" panose="02020603050405020304" pitchFamily="18" charset="0"/>
                <a:ea typeface="+mn-ea"/>
              </a:rPr>
              <a:t>ε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不是</a:t>
            </a:r>
            <a:r>
              <a:rPr lang="el-GR" altLang="zh-CN" sz="2400" b="1" i="1" dirty="0">
                <a:latin typeface="Times New Roman" panose="02020603050405020304" pitchFamily="18" charset="0"/>
                <a:ea typeface="+mn-ea"/>
              </a:rPr>
              <a:t>Σ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中的元素</a:t>
            </a:r>
            <a:endParaRPr lang="zh-CN" altLang="en-US" sz="2400" b="1" dirty="0">
              <a:latin typeface="Times New Roman" panose="02020603050405020304" pitchFamily="18" charset="0"/>
              <a:ea typeface="+mn-ea"/>
            </a:endParaRPr>
          </a:p>
          <a:p>
            <a:pPr marL="274320" indent="-274320" eaLnBrk="1" fontAlgn="auto" hangingPunct="1">
              <a:spcBef>
                <a:spcPct val="200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l-GR" altLang="zh-CN" sz="2400" b="1" dirty="0">
                <a:latin typeface="Times New Roman" panose="02020603050405020304" pitchFamily="18" charset="0"/>
                <a:ea typeface="+mn-ea"/>
              </a:rPr>
              <a:t>δ</a:t>
            </a:r>
            <a:r>
              <a:rPr lang="zh-CN" altLang="el-GR" sz="2400" b="1" dirty="0">
                <a:latin typeface="Times New Roman" panose="02020603050405020304" pitchFamily="18" charset="0"/>
                <a:ea typeface="+mn-ea"/>
              </a:rPr>
              <a:t>：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将</a:t>
            </a:r>
            <a:r>
              <a:rPr lang="en-US" altLang="zh-CN" sz="2400" b="1" i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</a:rPr>
              <a:t>S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</a:rPr>
              <a:t>×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( </a:t>
            </a:r>
            <a:r>
              <a:rPr lang="en-US" altLang="zh-CN" sz="2400" b="1" i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Σ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∪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{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ε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} 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</a:rPr>
              <a:t>→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i="1" baseline="300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的转换函数。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400" b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∈</a:t>
            </a:r>
            <a:r>
              <a:rPr lang="en-US" altLang="zh-CN" sz="24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a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∈</a:t>
            </a:r>
            <a:r>
              <a:rPr lang="el-GR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Σ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∪{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ε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}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,</a:t>
            </a:r>
            <a:r>
              <a:rPr lang="el-GR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l-GR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δ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4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</a:t>
            </a:r>
            <a:r>
              <a:rPr lang="en-US" altLang="zh-CN" sz="2400" b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, </a:t>
            </a:r>
            <a:r>
              <a:rPr lang="en-US" altLang="zh-CN" sz="24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表示从状态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出发，沿着标记为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的边所能到达的状态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集合</a:t>
            </a:r>
            <a:endParaRPr lang="en-US" altLang="zh-CN" sz="2400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274320" indent="-274320" eaLnBrk="1" fontAlgn="auto" hangingPunct="1">
              <a:spcBef>
                <a:spcPct val="200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400" b="1" i="1" dirty="0">
                <a:latin typeface="Times New Roman" panose="02020603050405020304" pitchFamily="18" charset="0"/>
                <a:ea typeface="+mn-ea"/>
              </a:rPr>
              <a:t>s</a:t>
            </a:r>
            <a:r>
              <a:rPr lang="en-US" altLang="zh-CN" sz="2400" b="1" i="1" baseline="-25000" dirty="0">
                <a:latin typeface="Times New Roman" panose="02020603050405020304" pitchFamily="18" charset="0"/>
                <a:ea typeface="+mn-ea"/>
              </a:rPr>
              <a:t>0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：开始状态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</a:rPr>
              <a:t>(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或初始状态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，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</a:rPr>
              <a:t>s</a:t>
            </a:r>
            <a:r>
              <a:rPr lang="en-US" altLang="zh-CN" sz="2400" b="1" i="1" baseline="-25000" dirty="0">
                <a:latin typeface="Times New Roman" panose="02020603050405020304" pitchFamily="18" charset="0"/>
                <a:ea typeface="+mn-ea"/>
              </a:rPr>
              <a:t>0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</a:rPr>
              <a:t>∈ 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</a:rPr>
              <a:t>S</a:t>
            </a:r>
            <a:endParaRPr lang="en-US" altLang="zh-CN" sz="2400" b="1" dirty="0">
              <a:latin typeface="Times New Roman" panose="02020603050405020304" pitchFamily="18" charset="0"/>
              <a:ea typeface="+mn-ea"/>
            </a:endParaRPr>
          </a:p>
          <a:p>
            <a:pPr marL="274320" indent="-274320" eaLnBrk="1" fontAlgn="auto" hangingPunct="1">
              <a:spcBef>
                <a:spcPct val="200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400" b="1" i="1" dirty="0">
                <a:latin typeface="Times New Roman" panose="02020603050405020304" pitchFamily="18" charset="0"/>
                <a:ea typeface="+mn-ea"/>
              </a:rPr>
              <a:t>F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</a:rPr>
              <a:t>：接收状态（或终止状态）集合，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</a:rPr>
              <a:t>⊆ 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</a:rPr>
              <a:t>S</a:t>
            </a:r>
            <a:endParaRPr lang="zh-CN" altLang="en-US" sz="2400" b="1" dirty="0"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715000" y="4357688"/>
            <a:ext cx="1455738" cy="47783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5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zh-CN" altLang="en-US" sz="2500" b="1" baseline="30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0213" y="868363"/>
            <a:ext cx="5927725" cy="631825"/>
          </a:xfrm>
        </p:spPr>
        <p:txBody>
          <a:bodyPr/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3000" b="1">
                <a:solidFill>
                  <a:schemeClr val="tx1"/>
                </a:solidFill>
              </a:rPr>
              <a:t>例</a:t>
            </a:r>
            <a:endParaRPr lang="zh-CN" altLang="en-US" sz="3000" b="1">
              <a:solidFill>
                <a:schemeClr val="tx1"/>
              </a:solidFill>
            </a:endParaRPr>
          </a:p>
        </p:txBody>
      </p:sp>
      <p:sp>
        <p:nvSpPr>
          <p:cNvPr id="39939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带有和不带</a:t>
            </a:r>
            <a:r>
              <a:rPr lang="zh-CN" altLang="en-US" sz="3000" spc="-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有“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ε</a:t>
            </a:r>
            <a:r>
              <a:rPr lang="en-US" altLang="zh-CN" sz="3000" spc="3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</a:t>
            </a:r>
            <a:r>
              <a:rPr lang="zh-CN" altLang="en-US" sz="3000" spc="-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”的 </a:t>
            </a:r>
            <a:r>
              <a:rPr lang="en-US" altLang="zh-CN" sz="3000" i="1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NFA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的等价性</a:t>
            </a:r>
            <a:endParaRPr lang="zh-CN" altLang="en-US" sz="3000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48"/>
          <p:cNvGrpSpPr/>
          <p:nvPr/>
        </p:nvGrpSpPr>
        <p:grpSpPr bwMode="auto">
          <a:xfrm>
            <a:off x="642938" y="1303338"/>
            <a:ext cx="5297487" cy="1500187"/>
            <a:chOff x="2202490" y="1071552"/>
            <a:chExt cx="5298468" cy="1500198"/>
          </a:xfrm>
        </p:grpSpPr>
        <p:grpSp>
          <p:nvGrpSpPr>
            <p:cNvPr id="89123" name="组合 46"/>
            <p:cNvGrpSpPr/>
            <p:nvPr/>
          </p:nvGrpSpPr>
          <p:grpSpPr bwMode="auto">
            <a:xfrm>
              <a:off x="2857488" y="1071552"/>
              <a:ext cx="4643470" cy="1500198"/>
              <a:chOff x="1902792" y="2139945"/>
              <a:chExt cx="3305782" cy="785812"/>
            </a:xfrm>
          </p:grpSpPr>
          <p:sp>
            <p:nvSpPr>
              <p:cNvPr id="72741" name="Oval 10"/>
              <p:cNvSpPr>
                <a:spLocks noChangeArrowheads="1"/>
              </p:cNvSpPr>
              <p:nvPr/>
            </p:nvSpPr>
            <p:spPr bwMode="auto">
              <a:xfrm>
                <a:off x="2974937" y="2602285"/>
                <a:ext cx="360593" cy="270253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  <a:endPara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89126" name="Freeform 11"/>
              <p:cNvSpPr/>
              <p:nvPr/>
            </p:nvSpPr>
            <p:spPr bwMode="auto">
              <a:xfrm>
                <a:off x="2993843" y="2381447"/>
                <a:ext cx="382702" cy="224957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127" name="Rectangle 12"/>
              <p:cNvSpPr>
                <a:spLocks noChangeArrowheads="1"/>
              </p:cNvSpPr>
              <p:nvPr/>
            </p:nvSpPr>
            <p:spPr bwMode="auto">
              <a:xfrm>
                <a:off x="2902045" y="2169950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0</a:t>
                </a:r>
                <a:endPara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89128" name="Line 13"/>
              <p:cNvSpPr>
                <a:spLocks noChangeShapeType="1"/>
              </p:cNvSpPr>
              <p:nvPr/>
            </p:nvSpPr>
            <p:spPr bwMode="auto">
              <a:xfrm>
                <a:off x="3333974" y="2763883"/>
                <a:ext cx="50497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129" name="Rectangle 14"/>
              <p:cNvSpPr>
                <a:spLocks noChangeArrowheads="1"/>
              </p:cNvSpPr>
              <p:nvPr/>
            </p:nvSpPr>
            <p:spPr bwMode="auto">
              <a:xfrm>
                <a:off x="3333974" y="2551704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ε</a:t>
                </a:r>
                <a:endPara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72746" name="Oval 15"/>
              <p:cNvSpPr>
                <a:spLocks noChangeArrowheads="1"/>
              </p:cNvSpPr>
              <p:nvPr/>
            </p:nvSpPr>
            <p:spPr bwMode="auto">
              <a:xfrm>
                <a:off x="3839680" y="2602285"/>
                <a:ext cx="359462" cy="270253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  <a:endPara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89131" name="Line 16"/>
              <p:cNvSpPr>
                <a:spLocks noChangeShapeType="1"/>
              </p:cNvSpPr>
              <p:nvPr/>
            </p:nvSpPr>
            <p:spPr bwMode="auto">
              <a:xfrm>
                <a:off x="4197831" y="2763883"/>
                <a:ext cx="50497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132" name="Rectangle 17"/>
              <p:cNvSpPr>
                <a:spLocks noChangeArrowheads="1"/>
              </p:cNvSpPr>
              <p:nvPr/>
            </p:nvSpPr>
            <p:spPr bwMode="auto">
              <a:xfrm>
                <a:off x="4197831" y="2531283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ε</a:t>
                </a:r>
                <a:endPara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72749" name="Oval 18"/>
              <p:cNvSpPr>
                <a:spLocks noChangeArrowheads="1"/>
              </p:cNvSpPr>
              <p:nvPr/>
            </p:nvSpPr>
            <p:spPr bwMode="auto">
              <a:xfrm>
                <a:off x="4775638" y="2602285"/>
                <a:ext cx="360592" cy="270253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C</a:t>
                </a:r>
                <a:endPara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89134" name="Freeform 19"/>
              <p:cNvSpPr/>
              <p:nvPr/>
            </p:nvSpPr>
            <p:spPr bwMode="auto">
              <a:xfrm>
                <a:off x="3863673" y="2384650"/>
                <a:ext cx="382702" cy="224957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135" name="Rectangle 20"/>
              <p:cNvSpPr>
                <a:spLocks noChangeArrowheads="1"/>
              </p:cNvSpPr>
              <p:nvPr/>
            </p:nvSpPr>
            <p:spPr bwMode="auto">
              <a:xfrm>
                <a:off x="3765903" y="2168759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1</a:t>
                </a:r>
                <a:endPara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89136" name="Line 21"/>
              <p:cNvSpPr>
                <a:spLocks noChangeShapeType="1"/>
              </p:cNvSpPr>
              <p:nvPr/>
            </p:nvSpPr>
            <p:spPr bwMode="auto">
              <a:xfrm>
                <a:off x="2459001" y="2754361"/>
                <a:ext cx="50497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137" name="Rectangle 22"/>
              <p:cNvSpPr>
                <a:spLocks noChangeArrowheads="1"/>
              </p:cNvSpPr>
              <p:nvPr/>
            </p:nvSpPr>
            <p:spPr bwMode="auto">
              <a:xfrm>
                <a:off x="1902792" y="2623406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  <a:endPara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89138" name="Freeform 30"/>
              <p:cNvSpPr/>
              <p:nvPr/>
            </p:nvSpPr>
            <p:spPr bwMode="auto">
              <a:xfrm>
                <a:off x="4777477" y="2329471"/>
                <a:ext cx="382702" cy="224957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139" name="Rectangle 31"/>
              <p:cNvSpPr>
                <a:spLocks noChangeArrowheads="1"/>
              </p:cNvSpPr>
              <p:nvPr/>
            </p:nvSpPr>
            <p:spPr bwMode="auto">
              <a:xfrm>
                <a:off x="4703599" y="2139945"/>
                <a:ext cx="504975" cy="215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2</a:t>
                </a:r>
                <a:endPara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89140" name="Oval 39"/>
              <p:cNvSpPr>
                <a:spLocks noChangeArrowheads="1"/>
              </p:cNvSpPr>
              <p:nvPr/>
            </p:nvSpPr>
            <p:spPr bwMode="auto">
              <a:xfrm>
                <a:off x="4702807" y="2548448"/>
                <a:ext cx="503388" cy="377309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9" name="矩形 38"/>
            <p:cNvSpPr/>
            <p:nvPr/>
          </p:nvSpPr>
          <p:spPr bwMode="auto">
            <a:xfrm>
              <a:off x="2202490" y="1349366"/>
              <a:ext cx="2014910" cy="34449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带“</a:t>
              </a:r>
              <a:r>
                <a:rPr lang="en-US" altLang="zh-CN" sz="24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ε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-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边”</a:t>
              </a:r>
              <a:endPara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" name="组合 49"/>
          <p:cNvGrpSpPr/>
          <p:nvPr/>
        </p:nvGrpSpPr>
        <p:grpSpPr bwMode="auto">
          <a:xfrm>
            <a:off x="587375" y="3089275"/>
            <a:ext cx="5424488" cy="1785938"/>
            <a:chOff x="2147659" y="2857502"/>
            <a:chExt cx="5424737" cy="1785950"/>
          </a:xfrm>
        </p:grpSpPr>
        <p:sp>
          <p:nvSpPr>
            <p:cNvPr id="41" name="矩形 40"/>
            <p:cNvSpPr/>
            <p:nvPr/>
          </p:nvSpPr>
          <p:spPr bwMode="auto">
            <a:xfrm>
              <a:off x="2147659" y="3211517"/>
              <a:ext cx="2014630" cy="3460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不带“</a:t>
              </a:r>
              <a:r>
                <a:rPr lang="en-US" altLang="zh-CN" sz="24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ε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-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边”</a:t>
              </a:r>
              <a:endPara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89102" name="组合 47"/>
            <p:cNvGrpSpPr/>
            <p:nvPr/>
          </p:nvGrpSpPr>
          <p:grpSpPr bwMode="auto">
            <a:xfrm>
              <a:off x="2928926" y="2857502"/>
              <a:ext cx="4643470" cy="1785950"/>
              <a:chOff x="2101129" y="3446463"/>
              <a:chExt cx="3596409" cy="1020762"/>
            </a:xfrm>
          </p:grpSpPr>
          <p:sp>
            <p:nvSpPr>
              <p:cNvPr id="72719" name="Oval 10"/>
              <p:cNvSpPr>
                <a:spLocks noChangeArrowheads="1"/>
              </p:cNvSpPr>
              <p:nvPr/>
            </p:nvSpPr>
            <p:spPr bwMode="auto">
              <a:xfrm>
                <a:off x="3249425" y="3929170"/>
                <a:ext cx="360270" cy="270388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  <a:endPara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89104" name="Freeform 11"/>
              <p:cNvSpPr/>
              <p:nvPr/>
            </p:nvSpPr>
            <p:spPr bwMode="auto">
              <a:xfrm>
                <a:off x="3264097" y="3653662"/>
                <a:ext cx="382665" cy="225061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105" name="Rectangle 12"/>
              <p:cNvSpPr>
                <a:spLocks noChangeArrowheads="1"/>
              </p:cNvSpPr>
              <p:nvPr/>
            </p:nvSpPr>
            <p:spPr bwMode="auto">
              <a:xfrm>
                <a:off x="3176182" y="3446463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0</a:t>
                </a:r>
                <a:endPara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89106" name="Line 13"/>
              <p:cNvSpPr>
                <a:spLocks noChangeShapeType="1"/>
              </p:cNvSpPr>
              <p:nvPr/>
            </p:nvSpPr>
            <p:spPr bwMode="auto">
              <a:xfrm>
                <a:off x="3681083" y="4091527"/>
                <a:ext cx="50492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107" name="Rectangle 14"/>
              <p:cNvSpPr>
                <a:spLocks noChangeArrowheads="1"/>
              </p:cNvSpPr>
              <p:nvPr/>
            </p:nvSpPr>
            <p:spPr bwMode="auto">
              <a:xfrm>
                <a:off x="3649579" y="3890737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0,1</a:t>
                </a:r>
                <a:endPara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72724" name="Oval 15"/>
              <p:cNvSpPr>
                <a:spLocks noChangeArrowheads="1"/>
              </p:cNvSpPr>
              <p:nvPr/>
            </p:nvSpPr>
            <p:spPr bwMode="auto">
              <a:xfrm>
                <a:off x="4265066" y="3939151"/>
                <a:ext cx="360270" cy="269481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  <a:endPara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89109" name="Line 16"/>
              <p:cNvSpPr>
                <a:spLocks noChangeShapeType="1"/>
              </p:cNvSpPr>
              <p:nvPr/>
            </p:nvSpPr>
            <p:spPr bwMode="auto">
              <a:xfrm>
                <a:off x="4686893" y="4100652"/>
                <a:ext cx="50492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110" name="Rectangle 17"/>
              <p:cNvSpPr>
                <a:spLocks noChangeArrowheads="1"/>
              </p:cNvSpPr>
              <p:nvPr/>
            </p:nvSpPr>
            <p:spPr bwMode="auto">
              <a:xfrm>
                <a:off x="4686893" y="3890737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1,2</a:t>
                </a:r>
                <a:endPara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72727" name="Oval 18"/>
              <p:cNvSpPr>
                <a:spLocks noChangeArrowheads="1"/>
              </p:cNvSpPr>
              <p:nvPr/>
            </p:nvSpPr>
            <p:spPr bwMode="auto">
              <a:xfrm>
                <a:off x="5264723" y="3939151"/>
                <a:ext cx="360269" cy="269481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C</a:t>
                </a:r>
                <a:endPara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89112" name="Freeform 19"/>
              <p:cNvSpPr/>
              <p:nvPr/>
            </p:nvSpPr>
            <p:spPr bwMode="auto">
              <a:xfrm>
                <a:off x="4280204" y="3666392"/>
                <a:ext cx="382665" cy="225061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113" name="Rectangle 20"/>
              <p:cNvSpPr>
                <a:spLocks noChangeArrowheads="1"/>
              </p:cNvSpPr>
              <p:nvPr/>
            </p:nvSpPr>
            <p:spPr bwMode="auto">
              <a:xfrm>
                <a:off x="4192289" y="3454397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1</a:t>
                </a:r>
                <a:endPara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89114" name="Line 21"/>
              <p:cNvSpPr>
                <a:spLocks noChangeShapeType="1"/>
              </p:cNvSpPr>
              <p:nvPr/>
            </p:nvSpPr>
            <p:spPr bwMode="auto">
              <a:xfrm>
                <a:off x="2671242" y="4072538"/>
                <a:ext cx="50492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115" name="Rectangle 22"/>
              <p:cNvSpPr>
                <a:spLocks noChangeArrowheads="1"/>
              </p:cNvSpPr>
              <p:nvPr/>
            </p:nvSpPr>
            <p:spPr bwMode="auto">
              <a:xfrm>
                <a:off x="2101129" y="3938703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  <a:endPara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89116" name="Freeform 30"/>
              <p:cNvSpPr/>
              <p:nvPr/>
            </p:nvSpPr>
            <p:spPr bwMode="auto">
              <a:xfrm>
                <a:off x="5280528" y="3669239"/>
                <a:ext cx="382665" cy="225061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117" name="Rectangle 31"/>
              <p:cNvSpPr>
                <a:spLocks noChangeArrowheads="1"/>
              </p:cNvSpPr>
              <p:nvPr/>
            </p:nvSpPr>
            <p:spPr bwMode="auto">
              <a:xfrm>
                <a:off x="5192612" y="3476424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2</a:t>
                </a:r>
                <a:endPara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89118" name="Oval 39"/>
              <p:cNvSpPr>
                <a:spLocks noChangeArrowheads="1"/>
              </p:cNvSpPr>
              <p:nvPr/>
            </p:nvSpPr>
            <p:spPr bwMode="auto">
              <a:xfrm>
                <a:off x="5191820" y="3885117"/>
                <a:ext cx="503339" cy="37748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任意多边形 4"/>
              <p:cNvSpPr/>
              <p:nvPr/>
            </p:nvSpPr>
            <p:spPr bwMode="auto">
              <a:xfrm>
                <a:off x="3490425" y="4240389"/>
                <a:ext cx="1993165" cy="226836"/>
              </a:xfrm>
              <a:custGeom>
                <a:avLst/>
                <a:gdLst>
                  <a:gd name="connsiteX0" fmla="*/ 0 w 1669143"/>
                  <a:gd name="connsiteY0" fmla="*/ 0 h 349055"/>
                  <a:gd name="connsiteX1" fmla="*/ 870857 w 1669143"/>
                  <a:gd name="connsiteY1" fmla="*/ 348343 h 349055"/>
                  <a:gd name="connsiteX2" fmla="*/ 1669143 w 1669143"/>
                  <a:gd name="connsiteY2" fmla="*/ 72571 h 349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69143" h="349055">
                    <a:moveTo>
                      <a:pt x="0" y="0"/>
                    </a:moveTo>
                    <a:cubicBezTo>
                      <a:pt x="296333" y="168124"/>
                      <a:pt x="592667" y="336248"/>
                      <a:pt x="870857" y="348343"/>
                    </a:cubicBezTo>
                    <a:cubicBezTo>
                      <a:pt x="1149047" y="360438"/>
                      <a:pt x="1409095" y="216504"/>
                      <a:pt x="1669143" y="72571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89120" name="Rectangle 17"/>
              <p:cNvSpPr>
                <a:spLocks noChangeArrowheads="1"/>
              </p:cNvSpPr>
              <p:nvPr/>
            </p:nvSpPr>
            <p:spPr bwMode="auto">
              <a:xfrm>
                <a:off x="4234142" y="4251690"/>
                <a:ext cx="504926" cy="21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0,1,2</a:t>
                </a:r>
                <a:endPara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89121" name="Oval 39"/>
              <p:cNvSpPr>
                <a:spLocks noChangeArrowheads="1"/>
              </p:cNvSpPr>
              <p:nvPr/>
            </p:nvSpPr>
            <p:spPr bwMode="auto">
              <a:xfrm>
                <a:off x="3177770" y="3874205"/>
                <a:ext cx="503339" cy="37748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9122" name="Oval 39"/>
              <p:cNvSpPr>
                <a:spLocks noChangeArrowheads="1"/>
              </p:cNvSpPr>
              <p:nvPr/>
            </p:nvSpPr>
            <p:spPr bwMode="auto">
              <a:xfrm>
                <a:off x="4193877" y="3885117"/>
                <a:ext cx="503339" cy="37748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89094" name="组合 5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45" name="五边形 4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89100" name="五边形 45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4" name="矩形 3"/>
          <p:cNvSpPr/>
          <p:nvPr/>
        </p:nvSpPr>
        <p:spPr>
          <a:xfrm>
            <a:off x="6318250" y="3071813"/>
            <a:ext cx="1627188" cy="47783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状态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endParaRPr lang="zh-CN" altLang="en-US" sz="2500" b="1" baseline="300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318250" y="3714750"/>
            <a:ext cx="1968500" cy="47783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状态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endParaRPr lang="zh-CN" altLang="en-US" sz="2500" b="1" baseline="300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318250" y="4357688"/>
            <a:ext cx="2182813" cy="47783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状态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endParaRPr lang="zh-CN" altLang="en-US" sz="2500" b="1" baseline="300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6300788" y="2143125"/>
            <a:ext cx="1455737" cy="47783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5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0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5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zh-CN" altLang="en-US" sz="2500" b="1" baseline="30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7" grpId="0" bldLvl="0" animBg="1"/>
      <p:bldP spid="8" grpId="0" bldLvl="0" animBg="1"/>
      <p:bldP spid="52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内容占位符 2"/>
          <p:cNvSpPr>
            <a:spLocks noGrp="1"/>
          </p:cNvSpPr>
          <p:nvPr>
            <p:ph idx="1"/>
          </p:nvPr>
        </p:nvSpPr>
        <p:spPr>
          <a:xfrm>
            <a:off x="428625" y="785813"/>
            <a:ext cx="5927725" cy="589759"/>
          </a:xfrm>
        </p:spPr>
        <p:txBody>
          <a:bodyPr/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en-US" altLang="zh-CN" sz="3000" b="1" i="1" dirty="0">
                <a:solidFill>
                  <a:schemeClr val="tx1"/>
                </a:solidFill>
              </a:rPr>
              <a:t>DFA</a:t>
            </a:r>
            <a:r>
              <a:rPr lang="zh-CN" altLang="en-US" sz="3000" b="1" dirty="0">
                <a:solidFill>
                  <a:schemeClr val="tx1"/>
                </a:solidFill>
              </a:rPr>
              <a:t>和</a:t>
            </a:r>
            <a:r>
              <a:rPr lang="en-US" altLang="zh-CN" sz="3000" b="1" i="1" dirty="0">
                <a:solidFill>
                  <a:schemeClr val="tx1"/>
                </a:solidFill>
              </a:rPr>
              <a:t>NFA</a:t>
            </a:r>
            <a:r>
              <a:rPr lang="zh-CN" altLang="en-US" sz="3000" b="1" dirty="0">
                <a:solidFill>
                  <a:schemeClr val="tx1"/>
                </a:solidFill>
              </a:rPr>
              <a:t>可以识别相同的语言</a:t>
            </a:r>
            <a:endParaRPr lang="en-US" altLang="zh-CN" sz="3000" b="1" dirty="0">
              <a:solidFill>
                <a:schemeClr val="tx1"/>
              </a:solidFill>
            </a:endParaRPr>
          </a:p>
        </p:txBody>
      </p:sp>
      <p:sp>
        <p:nvSpPr>
          <p:cNvPr id="37892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i="1" dirty="0">
                <a:solidFill>
                  <a:schemeClr val="tx1"/>
                </a:solidFill>
              </a:rPr>
              <a:t>DFA</a:t>
            </a:r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3000" i="1" dirty="0">
                <a:solidFill>
                  <a:schemeClr val="tx1"/>
                </a:solidFill>
              </a:rPr>
              <a:t>NFA</a:t>
            </a: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的等价性</a:t>
            </a:r>
            <a:endParaRPr lang="zh-CN" altLang="en-US" sz="3000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1438" y="1797050"/>
            <a:ext cx="935037" cy="3460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sz="25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NFA</a:t>
            </a:r>
            <a:endParaRPr lang="zh-CN" altLang="en-US" sz="2500" b="1" i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1438" y="3292475"/>
            <a:ext cx="933450" cy="344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sz="25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DFA</a:t>
            </a:r>
            <a:endParaRPr lang="zh-CN" altLang="en-US" sz="2500" b="1" i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1428750" y="4483100"/>
            <a:ext cx="1900238" cy="4762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5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lang="en-US" altLang="zh-CN" sz="25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5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5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5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endParaRPr lang="zh-CN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4999" name="组合 5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1" name="五边形 10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85052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5" name="组合 11"/>
          <p:cNvGrpSpPr/>
          <p:nvPr/>
        </p:nvGrpSpPr>
        <p:grpSpPr bwMode="auto">
          <a:xfrm>
            <a:off x="863600" y="1214438"/>
            <a:ext cx="5500688" cy="1506537"/>
            <a:chOff x="928659" y="3675785"/>
            <a:chExt cx="5500722" cy="1506709"/>
          </a:xfrm>
        </p:grpSpPr>
        <p:grpSp>
          <p:nvGrpSpPr>
            <p:cNvPr id="85033" name="组合 9"/>
            <p:cNvGrpSpPr/>
            <p:nvPr/>
          </p:nvGrpSpPr>
          <p:grpSpPr bwMode="auto">
            <a:xfrm>
              <a:off x="928659" y="3675785"/>
              <a:ext cx="5500722" cy="1090002"/>
              <a:chOff x="2339752" y="4162003"/>
              <a:chExt cx="3622043" cy="790575"/>
            </a:xfrm>
          </p:grpSpPr>
          <p:sp>
            <p:nvSpPr>
              <p:cNvPr id="85042" name="Oval 10"/>
              <p:cNvSpPr>
                <a:spLocks noChangeArrowheads="1"/>
              </p:cNvSpPr>
              <p:nvPr/>
            </p:nvSpPr>
            <p:spPr bwMode="auto">
              <a:xfrm>
                <a:off x="3097415" y="4576104"/>
                <a:ext cx="289198" cy="2924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latin typeface="Times New Roman" panose="02020603050405020304" pitchFamily="18" charset="0"/>
                    <a:ea typeface="楷体_GB2312"/>
                    <a:cs typeface="楷体_GB2312"/>
                  </a:rPr>
                  <a:t>0</a:t>
                </a:r>
                <a:endPara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85043" name="Line 13"/>
              <p:cNvSpPr>
                <a:spLocks noChangeShapeType="1"/>
              </p:cNvSpPr>
              <p:nvPr/>
            </p:nvSpPr>
            <p:spPr bwMode="auto">
              <a:xfrm>
                <a:off x="3419690" y="4731545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044" name="Line 16"/>
              <p:cNvSpPr>
                <a:spLocks noChangeShapeType="1"/>
              </p:cNvSpPr>
              <p:nvPr/>
            </p:nvSpPr>
            <p:spPr bwMode="auto">
              <a:xfrm>
                <a:off x="4221333" y="4726809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045" name="Line 21"/>
              <p:cNvSpPr>
                <a:spLocks noChangeShapeType="1"/>
              </p:cNvSpPr>
              <p:nvPr/>
            </p:nvSpPr>
            <p:spPr bwMode="auto">
              <a:xfrm>
                <a:off x="5021004" y="4723834"/>
                <a:ext cx="5048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046" name="Oval 23"/>
              <p:cNvSpPr>
                <a:spLocks noChangeArrowheads="1"/>
              </p:cNvSpPr>
              <p:nvPr/>
            </p:nvSpPr>
            <p:spPr bwMode="auto">
              <a:xfrm>
                <a:off x="5594506" y="4572591"/>
                <a:ext cx="289198" cy="29244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>
                    <a:latin typeface="Times New Roman" panose="02020603050405020304" pitchFamily="18" charset="0"/>
                    <a:ea typeface="楷体_GB2312"/>
                    <a:cs typeface="楷体_GB2312"/>
                  </a:rPr>
                  <a:t>3</a:t>
                </a:r>
                <a:endPara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85047" name="Oval 39"/>
              <p:cNvSpPr>
                <a:spLocks noChangeArrowheads="1"/>
              </p:cNvSpPr>
              <p:nvPr/>
            </p:nvSpPr>
            <p:spPr bwMode="auto">
              <a:xfrm>
                <a:off x="5521481" y="4501154"/>
                <a:ext cx="440314" cy="45142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5048" name="Rectangle 22"/>
              <p:cNvSpPr>
                <a:spLocks noChangeArrowheads="1"/>
              </p:cNvSpPr>
              <p:nvPr/>
            </p:nvSpPr>
            <p:spPr bwMode="auto">
              <a:xfrm>
                <a:off x="2339752" y="4581913"/>
                <a:ext cx="504927" cy="2872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  <a:endParaRPr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85049" name="Line 21"/>
              <p:cNvSpPr>
                <a:spLocks noChangeShapeType="1"/>
              </p:cNvSpPr>
              <p:nvPr/>
            </p:nvSpPr>
            <p:spPr bwMode="auto">
              <a:xfrm flipV="1">
                <a:off x="2844679" y="4725144"/>
                <a:ext cx="252464" cy="895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050" name="Rectangle 22"/>
              <p:cNvSpPr>
                <a:spLocks noChangeArrowheads="1"/>
              </p:cNvSpPr>
              <p:nvPr/>
            </p:nvSpPr>
            <p:spPr bwMode="auto">
              <a:xfrm>
                <a:off x="3139424" y="4162003"/>
                <a:ext cx="504825" cy="287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  <a:endPara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</p:grpSp>
        <p:sp>
          <p:nvSpPr>
            <p:cNvPr id="85034" name="Rectangle 22"/>
            <p:cNvSpPr>
              <a:spLocks noChangeArrowheads="1"/>
            </p:cNvSpPr>
            <p:nvPr/>
          </p:nvSpPr>
          <p:spPr bwMode="auto">
            <a:xfrm>
              <a:off x="2214546" y="4786328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  <a:endParaRPr lang="en-US" altLang="zh-CN" b="1" i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5035" name="Oval 10"/>
            <p:cNvSpPr>
              <a:spLocks noChangeArrowheads="1"/>
            </p:cNvSpPr>
            <p:nvPr/>
          </p:nvSpPr>
          <p:spPr bwMode="auto">
            <a:xfrm>
              <a:off x="3346982" y="4240252"/>
              <a:ext cx="439200" cy="4032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  <a:endParaRPr lang="en-US" altLang="zh-CN" sz="2000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5036" name="Oval 10"/>
            <p:cNvSpPr>
              <a:spLocks noChangeArrowheads="1"/>
            </p:cNvSpPr>
            <p:nvPr/>
          </p:nvSpPr>
          <p:spPr bwMode="auto">
            <a:xfrm>
              <a:off x="4561428" y="4240252"/>
              <a:ext cx="439200" cy="4032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  <a:endParaRPr lang="en-US" altLang="zh-CN" sz="2000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5037" name="Rectangle 22"/>
            <p:cNvSpPr>
              <a:spLocks noChangeArrowheads="1"/>
            </p:cNvSpPr>
            <p:nvPr/>
          </p:nvSpPr>
          <p:spPr bwMode="auto">
            <a:xfrm>
              <a:off x="2519448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  <a:endParaRPr lang="en-US" altLang="zh-CN" b="1" i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5038" name="Rectangle 22"/>
            <p:cNvSpPr>
              <a:spLocks noChangeArrowheads="1"/>
            </p:cNvSpPr>
            <p:nvPr/>
          </p:nvSpPr>
          <p:spPr bwMode="auto">
            <a:xfrm>
              <a:off x="3786182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  <a:endParaRPr lang="en-US" altLang="zh-CN" b="1" i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5039" name="Rectangle 22"/>
            <p:cNvSpPr>
              <a:spLocks noChangeArrowheads="1"/>
            </p:cNvSpPr>
            <p:nvPr/>
          </p:nvSpPr>
          <p:spPr bwMode="auto">
            <a:xfrm>
              <a:off x="4948340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  <a:endParaRPr lang="en-US" altLang="zh-CN" b="1" i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5040" name="Freeform 11"/>
            <p:cNvSpPr/>
            <p:nvPr/>
          </p:nvSpPr>
          <p:spPr bwMode="auto">
            <a:xfrm flipH="1">
              <a:off x="1983454" y="3831629"/>
              <a:ext cx="534010" cy="429463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41" name="Freeform 11"/>
            <p:cNvSpPr/>
            <p:nvPr/>
          </p:nvSpPr>
          <p:spPr bwMode="auto">
            <a:xfrm flipH="1" flipV="1">
              <a:off x="1991843" y="4619416"/>
              <a:ext cx="534010" cy="419104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组合 30"/>
          <p:cNvGrpSpPr/>
          <p:nvPr/>
        </p:nvGrpSpPr>
        <p:grpSpPr bwMode="auto">
          <a:xfrm>
            <a:off x="863600" y="2428875"/>
            <a:ext cx="5500688" cy="2000250"/>
            <a:chOff x="3500427" y="2928940"/>
            <a:chExt cx="5500722" cy="2000264"/>
          </a:xfrm>
        </p:grpSpPr>
        <p:grpSp>
          <p:nvGrpSpPr>
            <p:cNvPr id="85007" name="组合 35"/>
            <p:cNvGrpSpPr/>
            <p:nvPr/>
          </p:nvGrpSpPr>
          <p:grpSpPr bwMode="auto">
            <a:xfrm>
              <a:off x="3500427" y="2928940"/>
              <a:ext cx="5500722" cy="1928826"/>
              <a:chOff x="3500427" y="2928940"/>
              <a:chExt cx="5500722" cy="1928826"/>
            </a:xfrm>
          </p:grpSpPr>
          <p:grpSp>
            <p:nvGrpSpPr>
              <p:cNvPr id="85010" name="组合 10"/>
              <p:cNvGrpSpPr/>
              <p:nvPr/>
            </p:nvGrpSpPr>
            <p:grpSpPr bwMode="auto">
              <a:xfrm>
                <a:off x="3500427" y="3175719"/>
                <a:ext cx="5500722" cy="1348737"/>
                <a:chOff x="928659" y="3675785"/>
                <a:chExt cx="5500722" cy="1348737"/>
              </a:xfrm>
            </p:grpSpPr>
            <p:grpSp>
              <p:nvGrpSpPr>
                <p:cNvPr id="85016" name="组合 9"/>
                <p:cNvGrpSpPr/>
                <p:nvPr/>
              </p:nvGrpSpPr>
              <p:grpSpPr bwMode="auto">
                <a:xfrm>
                  <a:off x="928659" y="3675785"/>
                  <a:ext cx="5500722" cy="1090002"/>
                  <a:chOff x="2339752" y="4162003"/>
                  <a:chExt cx="3622043" cy="790575"/>
                </a:xfrm>
              </p:grpSpPr>
              <p:sp>
                <p:nvSpPr>
                  <p:cNvPr id="85024" name="Oval 10"/>
                  <p:cNvSpPr>
                    <a:spLocks noChangeArrowheads="1"/>
                  </p:cNvSpPr>
                  <p:nvPr/>
                </p:nvSpPr>
                <p:spPr bwMode="auto">
                  <a:xfrm>
                    <a:off x="3097415" y="4576104"/>
                    <a:ext cx="289198" cy="29244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round/>
                  </a:ln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sz="2000" b="1">
                        <a:latin typeface="Times New Roman" panose="02020603050405020304" pitchFamily="18" charset="0"/>
                        <a:ea typeface="楷体_GB2312"/>
                        <a:cs typeface="楷体_GB2312"/>
                      </a:rPr>
                      <a:t>0</a:t>
                    </a:r>
                    <a:endParaRPr lang="en-US" altLang="zh-CN" sz="2000" b="1">
                      <a:latin typeface="Times New Roman" panose="02020603050405020304" pitchFamily="18" charset="0"/>
                      <a:ea typeface="楷体_GB2312"/>
                      <a:cs typeface="楷体_GB2312"/>
                    </a:endParaRPr>
                  </a:p>
                </p:txBody>
              </p:sp>
              <p:sp>
                <p:nvSpPr>
                  <p:cNvPr id="85025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3419690" y="4731545"/>
                    <a:ext cx="504825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5026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4221333" y="4726809"/>
                    <a:ext cx="504825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5027" name="Line 21"/>
                  <p:cNvSpPr>
                    <a:spLocks noChangeShapeType="1"/>
                  </p:cNvSpPr>
                  <p:nvPr/>
                </p:nvSpPr>
                <p:spPr bwMode="auto">
                  <a:xfrm>
                    <a:off x="5021004" y="4723834"/>
                    <a:ext cx="504825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5028" name="Oval 23"/>
                  <p:cNvSpPr>
                    <a:spLocks noChangeArrowheads="1"/>
                  </p:cNvSpPr>
                  <p:nvPr/>
                </p:nvSpPr>
                <p:spPr bwMode="auto">
                  <a:xfrm>
                    <a:off x="5594506" y="4572591"/>
                    <a:ext cx="289198" cy="292440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round/>
                  </a:ln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sz="2000" b="1">
                        <a:latin typeface="Times New Roman" panose="02020603050405020304" pitchFamily="18" charset="0"/>
                        <a:ea typeface="楷体_GB2312"/>
                        <a:cs typeface="楷体_GB2312"/>
                      </a:rPr>
                      <a:t>3</a:t>
                    </a:r>
                    <a:endParaRPr lang="en-US" altLang="zh-CN" sz="2000" b="1">
                      <a:latin typeface="Times New Roman" panose="02020603050405020304" pitchFamily="18" charset="0"/>
                      <a:ea typeface="楷体_GB2312"/>
                      <a:cs typeface="楷体_GB2312"/>
                    </a:endParaRPr>
                  </a:p>
                </p:txBody>
              </p:sp>
              <p:sp>
                <p:nvSpPr>
                  <p:cNvPr id="85029" name="Oval 39"/>
                  <p:cNvSpPr>
                    <a:spLocks noChangeArrowheads="1"/>
                  </p:cNvSpPr>
                  <p:nvPr/>
                </p:nvSpPr>
                <p:spPr bwMode="auto">
                  <a:xfrm>
                    <a:off x="5521481" y="4501154"/>
                    <a:ext cx="440314" cy="451424"/>
                  </a:xfrm>
                  <a:prstGeom prst="ellips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 i="1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5030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2339752" y="4581913"/>
                    <a:ext cx="504927" cy="28724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b="1" i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_GB2312"/>
                        <a:cs typeface="楷体_GB2312"/>
                      </a:rPr>
                      <a:t>start</a:t>
                    </a:r>
                    <a:endParaRPr lang="en-US" altLang="zh-CN" b="1" i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endParaRPr>
                  </a:p>
                </p:txBody>
              </p:sp>
              <p:sp>
                <p:nvSpPr>
                  <p:cNvPr id="85031" name="Line 2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4679" y="4725144"/>
                    <a:ext cx="252464" cy="8957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5032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3139424" y="4162003"/>
                    <a:ext cx="504825" cy="28733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b="1" i="1">
                        <a:latin typeface="Times New Roman" panose="02020603050405020304" pitchFamily="18" charset="0"/>
                        <a:ea typeface="楷体_GB2312"/>
                        <a:cs typeface="楷体_GB2312"/>
                      </a:rPr>
                      <a:t>b</a:t>
                    </a:r>
                    <a:endParaRPr lang="en-US" altLang="zh-CN" b="1" i="1">
                      <a:latin typeface="Times New Roman" panose="02020603050405020304" pitchFamily="18" charset="0"/>
                      <a:ea typeface="楷体_GB2312"/>
                      <a:cs typeface="楷体_GB2312"/>
                    </a:endParaRPr>
                  </a:p>
                </p:txBody>
              </p:sp>
            </p:grpSp>
            <p:sp>
              <p:nvSpPr>
                <p:cNvPr id="85017" name="Oval 10"/>
                <p:cNvSpPr>
                  <a:spLocks noChangeArrowheads="1"/>
                </p:cNvSpPr>
                <p:nvPr/>
              </p:nvSpPr>
              <p:spPr bwMode="auto">
                <a:xfrm>
                  <a:off x="3346982" y="4240252"/>
                  <a:ext cx="439200" cy="403200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>
                      <a:latin typeface="Times New Roman" panose="02020603050405020304" pitchFamily="18" charset="0"/>
                      <a:ea typeface="楷体_GB2312"/>
                      <a:cs typeface="楷体_GB2312"/>
                    </a:rPr>
                    <a:t>1</a:t>
                  </a:r>
                  <a:endParaRPr lang="en-US" altLang="zh-CN" sz="2000" b="1">
                    <a:latin typeface="Times New Roman" panose="02020603050405020304" pitchFamily="18" charset="0"/>
                    <a:ea typeface="楷体_GB2312"/>
                    <a:cs typeface="楷体_GB2312"/>
                  </a:endParaRPr>
                </a:p>
              </p:txBody>
            </p:sp>
            <p:sp>
              <p:nvSpPr>
                <p:cNvPr id="85018" name="Oval 10"/>
                <p:cNvSpPr>
                  <a:spLocks noChangeArrowheads="1"/>
                </p:cNvSpPr>
                <p:nvPr/>
              </p:nvSpPr>
              <p:spPr bwMode="auto">
                <a:xfrm>
                  <a:off x="4561428" y="4240252"/>
                  <a:ext cx="439200" cy="403200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>
                      <a:latin typeface="Times New Roman" panose="02020603050405020304" pitchFamily="18" charset="0"/>
                      <a:ea typeface="楷体_GB2312"/>
                      <a:cs typeface="楷体_GB2312"/>
                    </a:rPr>
                    <a:t>2</a:t>
                  </a:r>
                  <a:endParaRPr lang="en-US" altLang="zh-CN" sz="2000" b="1">
                    <a:latin typeface="Times New Roman" panose="02020603050405020304" pitchFamily="18" charset="0"/>
                    <a:ea typeface="楷体_GB2312"/>
                    <a:cs typeface="楷体_GB2312"/>
                  </a:endParaRPr>
                </a:p>
              </p:txBody>
            </p:sp>
            <p:sp>
              <p:nvSpPr>
                <p:cNvPr id="85019" name="Rectangle 22"/>
                <p:cNvSpPr>
                  <a:spLocks noChangeArrowheads="1"/>
                </p:cNvSpPr>
                <p:nvPr/>
              </p:nvSpPr>
              <p:spPr bwMode="auto">
                <a:xfrm>
                  <a:off x="2519448" y="4104410"/>
                  <a:ext cx="766668" cy="3961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 i="1">
                      <a:latin typeface="Times New Roman" panose="02020603050405020304" pitchFamily="18" charset="0"/>
                      <a:ea typeface="楷体_GB2312"/>
                      <a:cs typeface="楷体_GB2312"/>
                    </a:rPr>
                    <a:t>a</a:t>
                  </a:r>
                  <a:endPara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endParaRPr>
                </a:p>
              </p:txBody>
            </p:sp>
            <p:sp>
              <p:nvSpPr>
                <p:cNvPr id="85020" name="Rectangle 22"/>
                <p:cNvSpPr>
                  <a:spLocks noChangeArrowheads="1"/>
                </p:cNvSpPr>
                <p:nvPr/>
              </p:nvSpPr>
              <p:spPr bwMode="auto">
                <a:xfrm>
                  <a:off x="3786182" y="4104410"/>
                  <a:ext cx="766668" cy="3961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 i="1">
                      <a:latin typeface="Times New Roman" panose="02020603050405020304" pitchFamily="18" charset="0"/>
                      <a:ea typeface="楷体_GB2312"/>
                      <a:cs typeface="楷体_GB2312"/>
                    </a:rPr>
                    <a:t>b</a:t>
                  </a:r>
                  <a:endPara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endParaRPr>
                </a:p>
              </p:txBody>
            </p:sp>
            <p:sp>
              <p:nvSpPr>
                <p:cNvPr id="85021" name="Rectangle 22"/>
                <p:cNvSpPr>
                  <a:spLocks noChangeArrowheads="1"/>
                </p:cNvSpPr>
                <p:nvPr/>
              </p:nvSpPr>
              <p:spPr bwMode="auto">
                <a:xfrm>
                  <a:off x="4948340" y="4104410"/>
                  <a:ext cx="766668" cy="3961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 i="1">
                      <a:latin typeface="Times New Roman" panose="02020603050405020304" pitchFamily="18" charset="0"/>
                      <a:ea typeface="楷体_GB2312"/>
                      <a:cs typeface="楷体_GB2312"/>
                    </a:rPr>
                    <a:t>b</a:t>
                  </a:r>
                  <a:endPara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endParaRPr>
                </a:p>
              </p:txBody>
            </p:sp>
            <p:sp>
              <p:nvSpPr>
                <p:cNvPr id="85022" name="Freeform 11"/>
                <p:cNvSpPr/>
                <p:nvPr/>
              </p:nvSpPr>
              <p:spPr bwMode="auto">
                <a:xfrm flipH="1">
                  <a:off x="1983454" y="3840021"/>
                  <a:ext cx="534010" cy="429463"/>
                </a:xfrm>
                <a:custGeom>
                  <a:avLst/>
                  <a:gdLst>
                    <a:gd name="T0" fmla="*/ 2147483646 w 241"/>
                    <a:gd name="T1" fmla="*/ 2147483646 h 189"/>
                    <a:gd name="T2" fmla="*/ 2147483646 w 241"/>
                    <a:gd name="T3" fmla="*/ 2147483646 h 189"/>
                    <a:gd name="T4" fmla="*/ 2147483646 w 241"/>
                    <a:gd name="T5" fmla="*/ 2147483646 h 189"/>
                    <a:gd name="T6" fmla="*/ 2147483646 w 241"/>
                    <a:gd name="T7" fmla="*/ 2147483646 h 189"/>
                    <a:gd name="T8" fmla="*/ 2147483646 w 241"/>
                    <a:gd name="T9" fmla="*/ 2147483646 h 18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1"/>
                    <a:gd name="T16" fmla="*/ 0 h 189"/>
                    <a:gd name="T17" fmla="*/ 241 w 241"/>
                    <a:gd name="T18" fmla="*/ 189 h 18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1" h="189">
                      <a:moveTo>
                        <a:pt x="52" y="189"/>
                      </a:moveTo>
                      <a:cubicBezTo>
                        <a:pt x="26" y="181"/>
                        <a:pt x="0" y="173"/>
                        <a:pt x="7" y="143"/>
                      </a:cubicBezTo>
                      <a:cubicBezTo>
                        <a:pt x="14" y="113"/>
                        <a:pt x="59" y="14"/>
                        <a:pt x="97" y="7"/>
                      </a:cubicBezTo>
                      <a:cubicBezTo>
                        <a:pt x="135" y="0"/>
                        <a:pt x="225" y="68"/>
                        <a:pt x="233" y="98"/>
                      </a:cubicBezTo>
                      <a:cubicBezTo>
                        <a:pt x="241" y="128"/>
                        <a:pt x="192" y="158"/>
                        <a:pt x="143" y="189"/>
                      </a:cubicBezTo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5023" name="Freeform 11"/>
                <p:cNvSpPr/>
                <p:nvPr/>
              </p:nvSpPr>
              <p:spPr bwMode="auto">
                <a:xfrm rot="966700" flipH="1" flipV="1">
                  <a:off x="3119468" y="4605418"/>
                  <a:ext cx="534010" cy="419104"/>
                </a:xfrm>
                <a:custGeom>
                  <a:avLst/>
                  <a:gdLst>
                    <a:gd name="T0" fmla="*/ 2147483646 w 241"/>
                    <a:gd name="T1" fmla="*/ 2147483646 h 189"/>
                    <a:gd name="T2" fmla="*/ 2147483646 w 241"/>
                    <a:gd name="T3" fmla="*/ 2147483646 h 189"/>
                    <a:gd name="T4" fmla="*/ 2147483646 w 241"/>
                    <a:gd name="T5" fmla="*/ 2147483646 h 189"/>
                    <a:gd name="T6" fmla="*/ 2147483646 w 241"/>
                    <a:gd name="T7" fmla="*/ 2147483646 h 189"/>
                    <a:gd name="T8" fmla="*/ 2147483646 w 241"/>
                    <a:gd name="T9" fmla="*/ 2147483646 h 18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1"/>
                    <a:gd name="T16" fmla="*/ 0 h 189"/>
                    <a:gd name="T17" fmla="*/ 241 w 241"/>
                    <a:gd name="T18" fmla="*/ 189 h 18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1" h="189">
                      <a:moveTo>
                        <a:pt x="52" y="189"/>
                      </a:moveTo>
                      <a:cubicBezTo>
                        <a:pt x="26" y="181"/>
                        <a:pt x="0" y="173"/>
                        <a:pt x="7" y="143"/>
                      </a:cubicBezTo>
                      <a:cubicBezTo>
                        <a:pt x="14" y="113"/>
                        <a:pt x="59" y="14"/>
                        <a:pt x="97" y="7"/>
                      </a:cubicBezTo>
                      <a:cubicBezTo>
                        <a:pt x="135" y="0"/>
                        <a:pt x="225" y="68"/>
                        <a:pt x="233" y="98"/>
                      </a:cubicBezTo>
                      <a:cubicBezTo>
                        <a:pt x="241" y="128"/>
                        <a:pt x="192" y="158"/>
                        <a:pt x="143" y="189"/>
                      </a:cubicBezTo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6" name="任意多边形 35"/>
              <p:cNvSpPr/>
              <p:nvPr/>
            </p:nvSpPr>
            <p:spPr bwMode="auto">
              <a:xfrm rot="21323228" flipH="1" flipV="1">
                <a:off x="5057775" y="3330581"/>
                <a:ext cx="3429021" cy="500065"/>
              </a:xfrm>
              <a:custGeom>
                <a:avLst/>
                <a:gdLst>
                  <a:gd name="connsiteX0" fmla="*/ 0 w 1669143"/>
                  <a:gd name="connsiteY0" fmla="*/ 0 h 349055"/>
                  <a:gd name="connsiteX1" fmla="*/ 870857 w 1669143"/>
                  <a:gd name="connsiteY1" fmla="*/ 348343 h 349055"/>
                  <a:gd name="connsiteX2" fmla="*/ 1669143 w 1669143"/>
                  <a:gd name="connsiteY2" fmla="*/ 72571 h 349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69143" h="349055">
                    <a:moveTo>
                      <a:pt x="0" y="0"/>
                    </a:moveTo>
                    <a:cubicBezTo>
                      <a:pt x="296333" y="168124"/>
                      <a:pt x="592667" y="336248"/>
                      <a:pt x="870857" y="348343"/>
                    </a:cubicBezTo>
                    <a:cubicBezTo>
                      <a:pt x="1149047" y="360438"/>
                      <a:pt x="1409095" y="216504"/>
                      <a:pt x="1669143" y="72571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85012" name="Rectangle 22"/>
              <p:cNvSpPr>
                <a:spLocks noChangeArrowheads="1"/>
              </p:cNvSpPr>
              <p:nvPr/>
            </p:nvSpPr>
            <p:spPr bwMode="auto">
              <a:xfrm>
                <a:off x="6357950" y="2928940"/>
                <a:ext cx="766668" cy="3961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  <a:endPara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38" name="任意多边形 37"/>
              <p:cNvSpPr/>
              <p:nvPr/>
            </p:nvSpPr>
            <p:spPr bwMode="auto">
              <a:xfrm rot="278702" flipH="1">
                <a:off x="6230944" y="4130686"/>
                <a:ext cx="2278077" cy="488953"/>
              </a:xfrm>
              <a:custGeom>
                <a:avLst/>
                <a:gdLst>
                  <a:gd name="connsiteX0" fmla="*/ 0 w 1669143"/>
                  <a:gd name="connsiteY0" fmla="*/ 0 h 349055"/>
                  <a:gd name="connsiteX1" fmla="*/ 870857 w 1669143"/>
                  <a:gd name="connsiteY1" fmla="*/ 348343 h 349055"/>
                  <a:gd name="connsiteX2" fmla="*/ 1669143 w 1669143"/>
                  <a:gd name="connsiteY2" fmla="*/ 72571 h 349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69143" h="349055">
                    <a:moveTo>
                      <a:pt x="0" y="0"/>
                    </a:moveTo>
                    <a:cubicBezTo>
                      <a:pt x="296333" y="168124"/>
                      <a:pt x="592667" y="336248"/>
                      <a:pt x="870857" y="348343"/>
                    </a:cubicBezTo>
                    <a:cubicBezTo>
                      <a:pt x="1149047" y="360438"/>
                      <a:pt x="1409095" y="216504"/>
                      <a:pt x="1669143" y="72571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39" name="任意多边形 38"/>
              <p:cNvSpPr/>
              <p:nvPr/>
            </p:nvSpPr>
            <p:spPr bwMode="auto">
              <a:xfrm rot="278702" flipH="1">
                <a:off x="6345245" y="4011622"/>
                <a:ext cx="823918" cy="184151"/>
              </a:xfrm>
              <a:custGeom>
                <a:avLst/>
                <a:gdLst>
                  <a:gd name="connsiteX0" fmla="*/ 0 w 1669143"/>
                  <a:gd name="connsiteY0" fmla="*/ 0 h 349055"/>
                  <a:gd name="connsiteX1" fmla="*/ 870857 w 1669143"/>
                  <a:gd name="connsiteY1" fmla="*/ 348343 h 349055"/>
                  <a:gd name="connsiteX2" fmla="*/ 1669143 w 1669143"/>
                  <a:gd name="connsiteY2" fmla="*/ 72571 h 349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69143" h="349055">
                    <a:moveTo>
                      <a:pt x="0" y="0"/>
                    </a:moveTo>
                    <a:cubicBezTo>
                      <a:pt x="296333" y="168124"/>
                      <a:pt x="592667" y="336248"/>
                      <a:pt x="870857" y="348343"/>
                    </a:cubicBezTo>
                    <a:cubicBezTo>
                      <a:pt x="1149047" y="360438"/>
                      <a:pt x="1409095" y="216504"/>
                      <a:pt x="1669143" y="72571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85015" name="Rectangle 22"/>
              <p:cNvSpPr>
                <a:spLocks noChangeArrowheads="1"/>
              </p:cNvSpPr>
              <p:nvPr/>
            </p:nvSpPr>
            <p:spPr bwMode="auto">
              <a:xfrm>
                <a:off x="5591282" y="4461600"/>
                <a:ext cx="766668" cy="3961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  <a:endPara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</p:grpSp>
        <p:sp>
          <p:nvSpPr>
            <p:cNvPr id="85008" name="Rectangle 22"/>
            <p:cNvSpPr>
              <a:spLocks noChangeArrowheads="1"/>
            </p:cNvSpPr>
            <p:nvPr/>
          </p:nvSpPr>
          <p:spPr bwMode="auto">
            <a:xfrm>
              <a:off x="6591414" y="4104410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  <a:endParaRPr lang="en-US" altLang="zh-CN" b="1" i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85009" name="Rectangle 22"/>
            <p:cNvSpPr>
              <a:spLocks noChangeArrowheads="1"/>
            </p:cNvSpPr>
            <p:nvPr/>
          </p:nvSpPr>
          <p:spPr bwMode="auto">
            <a:xfrm>
              <a:off x="7072330" y="4533038"/>
              <a:ext cx="766668" cy="3961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  <a:endParaRPr lang="en-US" altLang="zh-CN" b="1" i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3643313" y="4483100"/>
            <a:ext cx="4429125" cy="4778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5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           正则表达式 ⇔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FA</a:t>
            </a:r>
            <a:endParaRPr lang="zh-CN" altLang="en-US" sz="2500" i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408738" y="2786063"/>
            <a:ext cx="2268537" cy="4000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状态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：串以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结尾</a:t>
            </a:r>
            <a:endParaRPr lang="zh-CN" altLang="en-US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6408738" y="3300413"/>
            <a:ext cx="2411412" cy="4000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状态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：串以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ab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结尾</a:t>
            </a:r>
            <a:endParaRPr lang="zh-CN" altLang="en-US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6408738" y="3814763"/>
            <a:ext cx="2554287" cy="4000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状态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：串以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abb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结尾</a:t>
            </a:r>
            <a:endParaRPr lang="zh-CN" altLang="en-US" sz="20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3643313" y="4486275"/>
            <a:ext cx="1928812" cy="4762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正则文法 </a:t>
            </a:r>
            <a:r>
              <a:rPr lang="zh-CN" altLang="en-US" sz="2500" b="1" dirty="0"/>
              <a:t>⇔</a:t>
            </a:r>
            <a:endParaRPr lang="zh-CN" altLang="en-US" sz="2500" b="1" i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8" grpId="0" bldLvl="0" animBg="1"/>
      <p:bldP spid="9" grpId="0" bldLvl="0" animBg="1"/>
      <p:bldP spid="3" grpId="0" bldLvl="0" animBg="1"/>
      <p:bldP spid="7" grpId="0" bldLvl="0" animBg="1"/>
      <p:bldP spid="60" grpId="0" bldLvl="0" animBg="1"/>
      <p:bldP spid="61" grpId="0" bldLvl="0" animBg="1"/>
      <p:bldP spid="6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内容占位符 2"/>
          <p:cNvSpPr>
            <a:spLocks noGrp="1"/>
          </p:cNvSpPr>
          <p:nvPr>
            <p:ph idx="1"/>
          </p:nvPr>
        </p:nvSpPr>
        <p:spPr>
          <a:xfrm>
            <a:off x="428625" y="1276351"/>
            <a:ext cx="8258175" cy="1151384"/>
          </a:xfrm>
        </p:spPr>
        <p:txBody>
          <a:bodyPr/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</a:rPr>
              <a:t>对任何</a:t>
            </a:r>
            <a:r>
              <a:rPr lang="en-US" altLang="zh-CN" sz="2800" b="1" i="1" dirty="0">
                <a:solidFill>
                  <a:schemeClr val="tx1"/>
                </a:solidFill>
              </a:rPr>
              <a:t>NFA</a:t>
            </a:r>
            <a:r>
              <a:rPr lang="en-US" altLang="zh-CN" sz="2800" b="1" dirty="0">
                <a:solidFill>
                  <a:schemeClr val="tx1"/>
                </a:solidFill>
              </a:rPr>
              <a:t> </a:t>
            </a:r>
            <a:r>
              <a:rPr lang="en-US" altLang="zh-CN" sz="2800" b="1" i="1" dirty="0">
                <a:solidFill>
                  <a:srgbClr val="FF0000"/>
                </a:solidFill>
              </a:rPr>
              <a:t>N</a:t>
            </a:r>
            <a:r>
              <a:rPr lang="en-US" altLang="zh-CN" sz="2800" b="1" i="1" dirty="0">
                <a:solidFill>
                  <a:schemeClr val="tx1"/>
                </a:solidFill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</a:rPr>
              <a:t>，存在定义同一语言的</a:t>
            </a:r>
            <a:r>
              <a:rPr lang="en-US" altLang="zh-CN" sz="2800" b="1" i="1" dirty="0">
                <a:solidFill>
                  <a:schemeClr val="tx1"/>
                </a:solidFill>
              </a:rPr>
              <a:t>DFA</a:t>
            </a:r>
            <a:r>
              <a:rPr lang="en-US" altLang="zh-CN" sz="2800" b="1" dirty="0">
                <a:solidFill>
                  <a:schemeClr val="tx1"/>
                </a:solidFill>
              </a:rPr>
              <a:t> </a:t>
            </a:r>
            <a:r>
              <a:rPr lang="en-US" altLang="zh-CN" sz="2800" b="1" i="1" dirty="0">
                <a:solidFill>
                  <a:srgbClr val="FF0000"/>
                </a:solidFill>
              </a:rPr>
              <a:t>D</a:t>
            </a:r>
            <a:endParaRPr lang="en-US" altLang="zh-CN" sz="2800" b="1" i="1" dirty="0">
              <a:solidFill>
                <a:srgbClr val="FF0000"/>
              </a:solidFill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</a:rPr>
              <a:t>对任何</a:t>
            </a:r>
            <a:r>
              <a:rPr lang="en-US" altLang="zh-CN" sz="2800" b="1" i="1" dirty="0">
                <a:solidFill>
                  <a:schemeClr val="tx1"/>
                </a:solidFill>
              </a:rPr>
              <a:t>DFA </a:t>
            </a:r>
            <a:r>
              <a:rPr lang="en-US" altLang="zh-CN" sz="2800" b="1" i="1" dirty="0">
                <a:solidFill>
                  <a:srgbClr val="FF0000"/>
                </a:solidFill>
              </a:rPr>
              <a:t>D</a:t>
            </a:r>
            <a:r>
              <a:rPr lang="en-US" altLang="zh-CN" sz="2800" b="1" i="1" dirty="0">
                <a:solidFill>
                  <a:schemeClr val="tx1"/>
                </a:solidFill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</a:rPr>
              <a:t>，存在定义同一语言的</a:t>
            </a:r>
            <a:r>
              <a:rPr lang="en-US" altLang="zh-CN" sz="2800" b="1" i="1" dirty="0">
                <a:solidFill>
                  <a:schemeClr val="tx1"/>
                </a:solidFill>
              </a:rPr>
              <a:t>NFA </a:t>
            </a:r>
            <a:r>
              <a:rPr lang="en-US" altLang="zh-CN" sz="2800" b="1" i="1" dirty="0">
                <a:solidFill>
                  <a:srgbClr val="FF0000"/>
                </a:solidFill>
              </a:rPr>
              <a:t>N</a:t>
            </a:r>
            <a:endParaRPr lang="en-US" altLang="zh-CN" sz="1800" b="1" dirty="0"/>
          </a:p>
          <a:p>
            <a:pPr eaLnBrk="1" hangingPunct="1">
              <a:buFont typeface="Symbol" panose="05050102010706020507" pitchFamily="18" charset="2"/>
              <a:buNone/>
            </a:pPr>
            <a:endParaRPr lang="en-US" altLang="zh-CN" b="1" dirty="0"/>
          </a:p>
        </p:txBody>
      </p:sp>
      <p:sp>
        <p:nvSpPr>
          <p:cNvPr id="37892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i="1" dirty="0">
                <a:solidFill>
                  <a:schemeClr val="tx1"/>
                </a:solidFill>
              </a:rPr>
              <a:t>DFA</a:t>
            </a:r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3000" i="1" dirty="0">
                <a:solidFill>
                  <a:schemeClr val="tx1"/>
                </a:solidFill>
              </a:rPr>
              <a:t>NFA</a:t>
            </a: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的等价性</a:t>
            </a:r>
            <a:endParaRPr lang="zh-CN" altLang="en-US" sz="3000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2948" name="组合 5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1" name="五边形 10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82950" name="五边形 11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603250" y="2643505"/>
            <a:ext cx="7849235" cy="20059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NFA</a:t>
            </a:r>
            <a:r>
              <a:rPr lang="zh-CN" altLang="en-US" sz="2400" b="1" dirty="0">
                <a:solidFill>
                  <a:schemeClr val="tx1"/>
                </a:solidFill>
              </a:rPr>
              <a:t>在识别串时，从一个状态出发可能</a:t>
            </a:r>
            <a:r>
              <a:rPr lang="zh-CN" altLang="en-US" sz="2400" b="1" dirty="0">
                <a:solidFill>
                  <a:srgbClr val="0070C0"/>
                </a:solidFill>
              </a:rPr>
              <a:t>有多条标有相同符号的边</a:t>
            </a:r>
            <a:r>
              <a:rPr lang="zh-CN" altLang="en-US" sz="2400" b="1" dirty="0">
                <a:solidFill>
                  <a:schemeClr val="tx1"/>
                </a:solidFill>
              </a:rPr>
              <a:t>，导致算法在实现时需要</a:t>
            </a:r>
            <a:r>
              <a:rPr lang="zh-CN" altLang="en-US" sz="2400" b="1" dirty="0">
                <a:solidFill>
                  <a:srgbClr val="0070C0"/>
                </a:solidFill>
              </a:rPr>
              <a:t>回溯</a:t>
            </a:r>
            <a:r>
              <a:rPr lang="zh-CN" altLang="en-US" sz="2400" b="1" dirty="0">
                <a:solidFill>
                  <a:schemeClr val="tx1"/>
                </a:solidFill>
              </a:rPr>
              <a:t>，影响效率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  <a:r>
              <a:rPr lang="zh-CN" altLang="en-US" sz="2400" b="1" dirty="0">
                <a:solidFill>
                  <a:schemeClr val="tx1"/>
                </a:solidFill>
              </a:rPr>
              <a:t>在识别串时，给定当前状态和输入符号，每一步</a:t>
            </a:r>
            <a:r>
              <a:rPr lang="zh-CN" altLang="en-US" sz="2400" b="1" dirty="0">
                <a:solidFill>
                  <a:srgbClr val="0070C0"/>
                </a:solidFill>
              </a:rPr>
              <a:t>都有确定的转移状态</a:t>
            </a:r>
            <a:r>
              <a:rPr lang="zh-CN" altLang="en-US" sz="2400" b="1" dirty="0">
                <a:solidFill>
                  <a:schemeClr val="tx1"/>
                </a:solidFill>
              </a:rPr>
              <a:t>，</a:t>
            </a:r>
            <a:r>
              <a:rPr lang="zh-CN" altLang="en-US" sz="2400" b="1" dirty="0">
                <a:solidFill>
                  <a:srgbClr val="0070C0"/>
                </a:solidFill>
              </a:rPr>
              <a:t>识别效率高</a:t>
            </a:r>
            <a:r>
              <a:rPr lang="zh-CN" altLang="en-US" sz="2400" b="1" dirty="0">
                <a:solidFill>
                  <a:schemeClr val="tx1"/>
                </a:solidFill>
              </a:rPr>
              <a:t>。</a:t>
            </a:r>
            <a:endParaRPr lang="en-US" altLang="zh-CN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内容占位符 2"/>
          <p:cNvSpPr>
            <a:spLocks noGrp="1"/>
          </p:cNvSpPr>
          <p:nvPr>
            <p:ph idx="1"/>
          </p:nvPr>
        </p:nvSpPr>
        <p:spPr>
          <a:xfrm>
            <a:off x="409575" y="714375"/>
            <a:ext cx="8520113" cy="1928813"/>
          </a:xfrm>
        </p:spPr>
        <p:txBody>
          <a:bodyPr/>
          <a:lstStyle/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</a:rPr>
              <a:t>输入：以文件结束符</a:t>
            </a:r>
            <a:r>
              <a:rPr lang="en-US" altLang="zh-CN" b="1" dirty="0" err="1">
                <a:solidFill>
                  <a:schemeClr val="tx1"/>
                </a:solidFill>
              </a:rPr>
              <a:t>eof</a:t>
            </a:r>
            <a:r>
              <a:rPr lang="zh-CN" altLang="en-US" b="1" dirty="0">
                <a:solidFill>
                  <a:schemeClr val="tx1"/>
                </a:solidFill>
              </a:rPr>
              <a:t>结尾的字符串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x</a:t>
            </a:r>
            <a:r>
              <a:rPr lang="zh-CN" altLang="en-US" b="1" dirty="0">
                <a:solidFill>
                  <a:schemeClr val="tx1"/>
                </a:solidFill>
              </a:rPr>
              <a:t>。</a:t>
            </a:r>
            <a:r>
              <a:rPr lang="en-US" altLang="zh-CN" b="1" i="1" dirty="0">
                <a:solidFill>
                  <a:schemeClr val="tx1"/>
                </a:solidFill>
              </a:rPr>
              <a:t>DFA D</a:t>
            </a:r>
            <a:r>
              <a:rPr lang="en-US" altLang="zh-CN" b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</a:rPr>
              <a:t>的开始状态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</a:t>
            </a:r>
            <a:r>
              <a:rPr lang="en-US" altLang="zh-CN" b="1" i="1" baseline="-2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0</a:t>
            </a:r>
            <a:r>
              <a:rPr lang="zh-CN" altLang="en-US" b="1" dirty="0">
                <a:solidFill>
                  <a:schemeClr val="tx1"/>
                </a:solidFill>
              </a:rPr>
              <a:t>，接收状态集 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</a:t>
            </a:r>
            <a:r>
              <a:rPr lang="zh-CN" altLang="en-US" b="1" dirty="0">
                <a:solidFill>
                  <a:schemeClr val="tx1"/>
                </a:solidFill>
              </a:rPr>
              <a:t>，转换函数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move</a:t>
            </a:r>
            <a:r>
              <a:rPr lang="zh-CN" altLang="en-US" b="1" dirty="0">
                <a:solidFill>
                  <a:schemeClr val="tx1"/>
                </a:solidFill>
              </a:rPr>
              <a:t>。</a:t>
            </a:r>
            <a:endParaRPr lang="en-US" altLang="zh-CN" b="1" dirty="0">
              <a:solidFill>
                <a:schemeClr val="tx1"/>
              </a:solidFill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</a:rPr>
              <a:t>输出：如果 </a:t>
            </a:r>
            <a:r>
              <a:rPr lang="en-US" altLang="zh-CN" b="1" i="1" dirty="0">
                <a:solidFill>
                  <a:schemeClr val="tx1"/>
                </a:solidFill>
              </a:rPr>
              <a:t>D</a:t>
            </a:r>
            <a:r>
              <a:rPr lang="zh-CN" altLang="en-US" b="1" dirty="0">
                <a:solidFill>
                  <a:schemeClr val="tx1"/>
                </a:solidFill>
              </a:rPr>
              <a:t>接收 </a:t>
            </a:r>
            <a:r>
              <a:rPr lang="en-US" altLang="zh-CN" b="1" i="1" dirty="0">
                <a:solidFill>
                  <a:schemeClr val="tx1"/>
                </a:solidFill>
              </a:rPr>
              <a:t>x</a:t>
            </a:r>
            <a:r>
              <a:rPr lang="zh-CN" altLang="en-US" b="1" dirty="0">
                <a:solidFill>
                  <a:schemeClr val="tx1"/>
                </a:solidFill>
              </a:rPr>
              <a:t>，则回答“</a:t>
            </a:r>
            <a:r>
              <a:rPr lang="en-US" altLang="zh-CN" b="1" i="1" dirty="0">
                <a:solidFill>
                  <a:schemeClr val="tx1"/>
                </a:solidFill>
              </a:rPr>
              <a:t>yes</a:t>
            </a:r>
            <a:r>
              <a:rPr lang="en-US" altLang="zh-CN" b="1" dirty="0">
                <a:solidFill>
                  <a:schemeClr val="tx1"/>
                </a:solidFill>
              </a:rPr>
              <a:t>”</a:t>
            </a:r>
            <a:r>
              <a:rPr lang="zh-CN" altLang="en-US" b="1" dirty="0">
                <a:solidFill>
                  <a:schemeClr val="tx1"/>
                </a:solidFill>
              </a:rPr>
              <a:t>，否则回答“</a:t>
            </a:r>
            <a:r>
              <a:rPr lang="en-US" altLang="zh-CN" b="1" i="1" dirty="0">
                <a:solidFill>
                  <a:schemeClr val="tx1"/>
                </a:solidFill>
              </a:rPr>
              <a:t>no</a:t>
            </a:r>
            <a:r>
              <a:rPr lang="en-US" altLang="zh-CN" b="1" dirty="0">
                <a:solidFill>
                  <a:schemeClr val="tx1"/>
                </a:solidFill>
              </a:rPr>
              <a:t>”</a:t>
            </a:r>
            <a:r>
              <a:rPr lang="zh-CN" altLang="en-US" b="1" dirty="0">
                <a:solidFill>
                  <a:schemeClr val="tx1"/>
                </a:solidFill>
              </a:rPr>
              <a:t>。</a:t>
            </a:r>
            <a:endParaRPr lang="zh-CN" altLang="en-US" b="1" dirty="0">
              <a:solidFill>
                <a:schemeClr val="tx1"/>
              </a:solidFill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</a:rPr>
              <a:t>方法：将下述算法应用于输入串 </a:t>
            </a:r>
            <a:r>
              <a:rPr lang="en-US" altLang="zh-CN" b="1" i="1" dirty="0">
                <a:solidFill>
                  <a:schemeClr val="tx1"/>
                </a:solidFill>
              </a:rPr>
              <a:t>x</a:t>
            </a:r>
            <a:r>
              <a:rPr lang="zh-CN" altLang="en-US" b="1" dirty="0">
                <a:solidFill>
                  <a:schemeClr val="tx1"/>
                </a:solidFill>
              </a:rPr>
              <a:t>。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0963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i="1" dirty="0">
                <a:solidFill>
                  <a:schemeClr val="tx1"/>
                </a:solidFill>
              </a:rPr>
              <a:t>DFA</a:t>
            </a: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的算法实现（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DFA</a:t>
            </a: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模拟器）</a:t>
            </a:r>
            <a:endParaRPr lang="zh-CN" altLang="en-US" sz="3000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1140" name="组合 5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91145" name="五边形 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8" name="内容占位符 2"/>
          <p:cNvSpPr txBox="1"/>
          <p:nvPr/>
        </p:nvSpPr>
        <p:spPr bwMode="auto">
          <a:xfrm>
            <a:off x="571500" y="2500313"/>
            <a:ext cx="3295650" cy="2428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 anchor="ctr"/>
          <a:lstStyle/>
          <a:p>
            <a:pPr marL="273050" indent="-273050" eaLnBrk="1" hangingPunct="1">
              <a:lnSpc>
                <a:spcPts val="20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2200" b="1" i="1" dirty="0">
                <a:latin typeface="Times New Roman" panose="02020603050405020304" pitchFamily="18" charset="0"/>
                <a:ea typeface="+mn-ea"/>
              </a:rPr>
              <a:t>s =</a:t>
            </a:r>
            <a:r>
              <a:rPr lang="en-US" altLang="zh-CN" sz="2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zh-CN" sz="2200" b="1" dirty="0">
                <a:latin typeface="Times New Roman" panose="02020603050405020304" pitchFamily="18" charset="0"/>
              </a:rPr>
              <a:t>;</a:t>
            </a:r>
            <a:endParaRPr lang="en-US" altLang="zh-CN" sz="2200" b="1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3050" indent="-273050" eaLnBrk="1" hangingPunct="1">
              <a:lnSpc>
                <a:spcPts val="20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2200" b="1" i="1" dirty="0">
                <a:latin typeface="Times New Roman" panose="02020603050405020304" pitchFamily="18" charset="0"/>
              </a:rPr>
              <a:t>c = 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nextCha</a:t>
            </a:r>
            <a:r>
              <a:rPr lang="en-US" altLang="zh-CN" sz="2200" b="1" i="1" spc="-300" dirty="0" err="1">
                <a:latin typeface="Times New Roman" panose="02020603050405020304" pitchFamily="18" charset="0"/>
              </a:rPr>
              <a:t>r  </a:t>
            </a:r>
            <a:r>
              <a:rPr lang="en-US" altLang="zh-CN" sz="2200" b="1" spc="-300" dirty="0" err="1">
                <a:latin typeface="Times New Roman" panose="02020603050405020304" pitchFamily="18" charset="0"/>
              </a:rPr>
              <a:t>( </a:t>
            </a:r>
            <a:r>
              <a:rPr lang="en-US" altLang="zh-CN" sz="2200" b="1" spc="-300" dirty="0">
                <a:latin typeface="Times New Roman" panose="02020603050405020304" pitchFamily="18" charset="0"/>
              </a:rPr>
              <a:t> )  </a:t>
            </a:r>
            <a:r>
              <a:rPr lang="en-US" altLang="zh-CN" sz="2200" b="1" dirty="0">
                <a:latin typeface="Times New Roman" panose="02020603050405020304" pitchFamily="18" charset="0"/>
              </a:rPr>
              <a:t>;</a:t>
            </a:r>
            <a:endParaRPr lang="en-US" altLang="zh-CN" sz="2200" b="1" dirty="0">
              <a:latin typeface="Times New Roman" panose="02020603050405020304" pitchFamily="18" charset="0"/>
            </a:endParaRPr>
          </a:p>
          <a:p>
            <a:pPr marL="273050" indent="-273050" eaLnBrk="1" hangingPunct="1">
              <a:lnSpc>
                <a:spcPts val="20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22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whil</a:t>
            </a:r>
            <a:r>
              <a:rPr lang="en-US" altLang="zh-CN" sz="2200" b="1" spc="-3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   </a:t>
            </a:r>
            <a:r>
              <a:rPr lang="en-US" altLang="zh-CN" sz="2200" b="1" spc="-300" dirty="0">
                <a:latin typeface="Times New Roman" panose="02020603050405020304" pitchFamily="18" charset="0"/>
              </a:rPr>
              <a:t>(  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200" b="1" dirty="0">
                <a:latin typeface="Times New Roman" panose="02020603050405020304" pitchFamily="18" charset="0"/>
              </a:rPr>
              <a:t>!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 = </a:t>
            </a:r>
            <a:r>
              <a:rPr lang="en-US" altLang="zh-CN" sz="2200" b="1" dirty="0" err="1">
                <a:latin typeface="Times New Roman" panose="02020603050405020304" pitchFamily="18" charset="0"/>
              </a:rPr>
              <a:t>eof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200" b="1" dirty="0">
                <a:latin typeface="Times New Roman" panose="02020603050405020304" pitchFamily="18" charset="0"/>
              </a:rPr>
              <a:t>)</a:t>
            </a:r>
            <a:r>
              <a:rPr lang="zh-CN" altLang="en-US" sz="2200" b="1" spc="-1000" dirty="0">
                <a:latin typeface="Times New Roman" panose="02020603050405020304" pitchFamily="18" charset="0"/>
              </a:rPr>
              <a:t>｛</a:t>
            </a:r>
            <a:endParaRPr lang="en-US" altLang="zh-CN" sz="2200" b="1" spc="-1000" dirty="0">
              <a:latin typeface="Times New Roman" panose="02020603050405020304" pitchFamily="18" charset="0"/>
            </a:endParaRPr>
          </a:p>
          <a:p>
            <a:pPr marL="273050" indent="-273050" eaLnBrk="1" hangingPunct="1">
              <a:lnSpc>
                <a:spcPts val="20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2200" b="1" i="1" dirty="0">
                <a:latin typeface="Times New Roman" panose="02020603050405020304" pitchFamily="18" charset="0"/>
              </a:rPr>
              <a:t>              s = move </a:t>
            </a:r>
            <a:r>
              <a:rPr lang="en-US" altLang="zh-CN" sz="2200" b="1" dirty="0">
                <a:latin typeface="Times New Roman" panose="02020603050405020304" pitchFamily="18" charset="0"/>
              </a:rPr>
              <a:t>( 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s , c </a:t>
            </a:r>
            <a:r>
              <a:rPr lang="en-US" altLang="zh-CN" sz="2200" b="1" dirty="0">
                <a:latin typeface="Times New Roman" panose="02020603050405020304" pitchFamily="18" charset="0"/>
              </a:rPr>
              <a:t>) ;</a:t>
            </a:r>
            <a:endParaRPr lang="en-US" altLang="zh-CN" sz="2200" b="1" spc="-300" dirty="0">
              <a:latin typeface="Times New Roman" panose="02020603050405020304" pitchFamily="18" charset="0"/>
            </a:endParaRPr>
          </a:p>
          <a:p>
            <a:pPr marL="273050" indent="-273050" eaLnBrk="1" hangingPunct="1">
              <a:lnSpc>
                <a:spcPts val="18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2200" b="1" i="1" dirty="0">
                <a:latin typeface="Times New Roman" panose="02020603050405020304" pitchFamily="18" charset="0"/>
              </a:rPr>
              <a:t>              c = 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nextChar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200" b="1" dirty="0">
                <a:latin typeface="Times New Roman" panose="02020603050405020304" pitchFamily="18" charset="0"/>
              </a:rPr>
              <a:t>( ) ;</a:t>
            </a:r>
            <a:endParaRPr lang="en-US" altLang="zh-CN" sz="2200" b="1" dirty="0">
              <a:latin typeface="Times New Roman" panose="02020603050405020304" pitchFamily="18" charset="0"/>
            </a:endParaRPr>
          </a:p>
          <a:p>
            <a:pPr marL="273050" indent="-273050" eaLnBrk="1" hangingPunct="1">
              <a:lnSpc>
                <a:spcPts val="1800"/>
              </a:lnSpc>
              <a:spcBef>
                <a:spcPct val="20000"/>
              </a:spcBef>
              <a:buSzPct val="100000"/>
              <a:defRPr/>
            </a:pPr>
            <a:r>
              <a:rPr lang="zh-CN" altLang="en-US" sz="2200" b="1" spc="-300" dirty="0">
                <a:latin typeface="Times New Roman" panose="02020603050405020304" pitchFamily="18" charset="0"/>
              </a:rPr>
              <a:t>｝</a:t>
            </a:r>
            <a:endParaRPr lang="en-US" altLang="zh-CN" sz="2200" b="1" spc="-300" dirty="0">
              <a:latin typeface="Times New Roman" panose="02020603050405020304" pitchFamily="18" charset="0"/>
            </a:endParaRPr>
          </a:p>
          <a:p>
            <a:pPr marL="273050" indent="-273050" eaLnBrk="1" hangingPunct="1">
              <a:lnSpc>
                <a:spcPts val="18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2200" b="1" dirty="0">
                <a:latin typeface="Times New Roman" panose="02020603050405020304" pitchFamily="18" charset="0"/>
              </a:rPr>
              <a:t>if (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s</a:t>
            </a:r>
            <a:r>
              <a:rPr lang="zh-CN" altLang="en-US" sz="2200" b="1" dirty="0">
                <a:latin typeface="+mn-ea"/>
                <a:ea typeface="+mn-ea"/>
              </a:rPr>
              <a:t>在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F</a:t>
            </a:r>
            <a:r>
              <a:rPr lang="zh-CN" altLang="en-US" sz="2200" b="1" dirty="0">
                <a:latin typeface="+mn-ea"/>
                <a:ea typeface="+mn-ea"/>
              </a:rPr>
              <a:t>中</a:t>
            </a:r>
            <a:r>
              <a:rPr lang="en-US" altLang="zh-CN" sz="2200" b="1" dirty="0">
                <a:latin typeface="Times New Roman" panose="02020603050405020304" pitchFamily="18" charset="0"/>
              </a:rPr>
              <a:t>) return</a:t>
            </a:r>
            <a:r>
              <a:rPr lang="zh-CN" altLang="en-US" sz="2200" b="1" dirty="0">
                <a:latin typeface="Times New Roman" panose="02020603050405020304" pitchFamily="18" charset="0"/>
              </a:rPr>
              <a:t>“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yes</a:t>
            </a:r>
            <a:r>
              <a:rPr lang="zh-CN" altLang="en-US" sz="2200" b="1" spc="-300" dirty="0">
                <a:latin typeface="Times New Roman" panose="02020603050405020304" pitchFamily="18" charset="0"/>
              </a:rPr>
              <a:t>”</a:t>
            </a:r>
            <a:r>
              <a:rPr lang="en-US" altLang="zh-CN" sz="2200" b="1" spc="-300" dirty="0">
                <a:latin typeface="Times New Roman" panose="02020603050405020304" pitchFamily="18" charset="0"/>
              </a:rPr>
              <a:t> ;</a:t>
            </a:r>
            <a:endParaRPr lang="en-US" altLang="zh-CN" sz="2200" b="1" spc="-300" dirty="0">
              <a:latin typeface="Times New Roman" panose="02020603050405020304" pitchFamily="18" charset="0"/>
            </a:endParaRPr>
          </a:p>
          <a:p>
            <a:pPr marL="273050" indent="-273050" eaLnBrk="1" hangingPunct="1">
              <a:lnSpc>
                <a:spcPts val="20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2200" b="1" dirty="0">
                <a:latin typeface="Times New Roman" panose="02020603050405020304" pitchFamily="18" charset="0"/>
              </a:rPr>
              <a:t>else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  </a:t>
            </a:r>
            <a:r>
              <a:rPr lang="en-US" altLang="zh-CN" sz="2200" b="1" dirty="0">
                <a:latin typeface="Times New Roman" panose="02020603050405020304" pitchFamily="18" charset="0"/>
              </a:rPr>
              <a:t>return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 </a:t>
            </a:r>
            <a:r>
              <a:rPr lang="zh-CN" altLang="en-US" sz="2200" b="1" dirty="0">
                <a:latin typeface="Times New Roman" panose="02020603050405020304" pitchFamily="18" charset="0"/>
              </a:rPr>
              <a:t>“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no</a:t>
            </a:r>
            <a:r>
              <a:rPr lang="zh-CN" altLang="en-US" sz="2200" b="1" spc="-300" dirty="0">
                <a:latin typeface="Times New Roman" panose="02020603050405020304" pitchFamily="18" charset="0"/>
              </a:rPr>
              <a:t>”</a:t>
            </a:r>
            <a:r>
              <a:rPr lang="en-US" altLang="zh-CN" sz="2200" b="1" spc="-300" dirty="0">
                <a:latin typeface="Times New Roman" panose="02020603050405020304" pitchFamily="18" charset="0"/>
              </a:rPr>
              <a:t> ;</a:t>
            </a:r>
            <a:endParaRPr lang="zh-CN" altLang="en-US" sz="2200" b="1" spc="-3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033838" y="2500313"/>
            <a:ext cx="4573587" cy="14147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285750" indent="-285750">
              <a:spcBef>
                <a:spcPct val="300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函数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nextChar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 )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返回输入串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的下一个符号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85750" indent="-285750">
              <a:spcBef>
                <a:spcPct val="300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函数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move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表示从状态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出发，沿着标记为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的边所能到达的状态</a:t>
            </a: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033838" y="3940408"/>
            <a:ext cx="4573587" cy="9875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思考：此模拟器代码是否依赖正则表达式的定义？</a:t>
            </a: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move</a:t>
            </a:r>
            <a:r>
              <a:rPr lang="en-US" altLang="zh-CN" sz="2000" b="1" dirty="0">
                <a:solidFill>
                  <a:schemeClr val="tx1"/>
                </a:solidFill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="1" dirty="0">
                <a:solidFill>
                  <a:schemeClr val="tx1"/>
                </a:solidFill>
              </a:rPr>
              <a:t>, </a:t>
            </a: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000" b="1" dirty="0">
                <a:solidFill>
                  <a:schemeClr val="tx1"/>
                </a:solidFill>
              </a:rPr>
              <a:t>)</a:t>
            </a:r>
            <a:r>
              <a:rPr lang="zh-CN" altLang="en-US" sz="2000" b="1" dirty="0">
                <a:solidFill>
                  <a:schemeClr val="tx1"/>
                </a:solidFill>
              </a:rPr>
              <a:t>函数需访问</a:t>
            </a:r>
            <a:r>
              <a:rPr lang="en-US" altLang="zh-CN" sz="2000" b="1" dirty="0">
                <a:solidFill>
                  <a:schemeClr val="tx1"/>
                </a:solidFill>
              </a:rPr>
              <a:t>DFA</a:t>
            </a:r>
            <a:r>
              <a:rPr lang="zh-CN" altLang="en-US" sz="2000" b="1" dirty="0">
                <a:solidFill>
                  <a:schemeClr val="tx1"/>
                </a:solidFill>
              </a:rPr>
              <a:t>转换表？如何生成</a:t>
            </a:r>
            <a:r>
              <a:rPr lang="en-US" altLang="zh-CN" sz="2000" b="1" dirty="0">
                <a:solidFill>
                  <a:schemeClr val="tx1"/>
                </a:solidFill>
              </a:rPr>
              <a:t>DFA</a:t>
            </a:r>
            <a:r>
              <a:rPr lang="zh-CN" altLang="en-US" sz="2000" b="1" dirty="0">
                <a:solidFill>
                  <a:schemeClr val="tx1"/>
                </a:solidFill>
              </a:rPr>
              <a:t>转换表？</a:t>
            </a:r>
            <a:endParaRPr lang="zh-CN" altLang="en-US" sz="20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2" grpId="0" bldLvl="0" animBg="1"/>
      <p:bldP spid="3" grpId="0" bldLvl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3.2.3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从正则表达式到有穷自动机</a:t>
            </a:r>
            <a:endParaRPr lang="zh-CN" altLang="en-US" sz="3000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863005" y="1866602"/>
            <a:ext cx="865188" cy="3984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RE</a:t>
            </a:r>
            <a:endParaRPr lang="zh-CN" altLang="en-US" sz="2500" b="1" i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6143030" y="1866602"/>
            <a:ext cx="863600" cy="4000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DFA</a:t>
            </a:r>
            <a:endParaRPr lang="zh-CN" altLang="en-US" sz="2500" b="1" i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</a:endParaRPr>
          </a:p>
        </p:txBody>
      </p:sp>
      <p:sp>
        <p:nvSpPr>
          <p:cNvPr id="74757" name="矩形 8"/>
          <p:cNvSpPr>
            <a:spLocks noChangeArrowheads="1"/>
          </p:cNvSpPr>
          <p:nvPr/>
        </p:nvSpPr>
        <p:spPr bwMode="auto">
          <a:xfrm>
            <a:off x="237530" y="2365077"/>
            <a:ext cx="1693863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spcBef>
                <a:spcPct val="30000"/>
              </a:spcBef>
            </a:pPr>
            <a:r>
              <a:rPr lang="en-US" altLang="zh-CN" sz="2200" b="1" i="1">
                <a:latin typeface="Times New Roman" panose="02020603050405020304" pitchFamily="18" charset="0"/>
              </a:rPr>
              <a:t>r </a:t>
            </a:r>
            <a:r>
              <a:rPr lang="en-US" altLang="zh-CN" sz="2200" b="1">
                <a:latin typeface="Times New Roman" panose="02020603050405020304" pitchFamily="18" charset="0"/>
              </a:rPr>
              <a:t>= 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</a:rPr>
              <a:t>a|b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)*</a:t>
            </a:r>
            <a:r>
              <a:rPr lang="en-US" altLang="zh-CN" sz="2200" b="1" i="1">
                <a:solidFill>
                  <a:srgbClr val="000000"/>
                </a:solidFill>
                <a:latin typeface="Times New Roman" panose="02020603050405020304" pitchFamily="18" charset="0"/>
              </a:rPr>
              <a:t>abb</a:t>
            </a:r>
            <a:endParaRPr lang="en-US" altLang="zh-CN" sz="2200" b="1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>
            <a:off x="1803758" y="2066627"/>
            <a:ext cx="419989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3191" name="组合 44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6" name="五边形 1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199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3" name="组合 6"/>
          <p:cNvGrpSpPr/>
          <p:nvPr/>
        </p:nvGrpSpPr>
        <p:grpSpPr bwMode="auto">
          <a:xfrm>
            <a:off x="1763435" y="1131590"/>
            <a:ext cx="4365308" cy="782638"/>
            <a:chOff x="1849421" y="2146310"/>
            <a:chExt cx="4366218" cy="782629"/>
          </a:xfrm>
        </p:grpSpPr>
        <p:sp>
          <p:nvSpPr>
            <p:cNvPr id="6" name="矩形 5"/>
            <p:cNvSpPr/>
            <p:nvPr/>
          </p:nvSpPr>
          <p:spPr bwMode="auto">
            <a:xfrm>
              <a:off x="3563962" y="2146310"/>
              <a:ext cx="1133576" cy="40004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CN" sz="28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ε</a:t>
              </a:r>
              <a:r>
                <a:rPr lang="en-US" altLang="zh-CN" sz="28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-</a:t>
              </a:r>
              <a:r>
                <a:rPr lang="en-US" altLang="zh-CN" sz="25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</a:rPr>
                <a:t>NFA</a:t>
              </a:r>
              <a:endParaRPr lang="zh-CN" altLang="en-US" sz="25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endParaRPr>
            </a:p>
          </p:txBody>
        </p:sp>
        <p:cxnSp>
          <p:nvCxnSpPr>
            <p:cNvPr id="19" name="直接箭头连接符 18"/>
            <p:cNvCxnSpPr>
              <a:endCxn id="6" idx="1"/>
            </p:cNvCxnSpPr>
            <p:nvPr/>
          </p:nvCxnSpPr>
          <p:spPr>
            <a:xfrm flipV="1">
              <a:off x="1849421" y="2346333"/>
              <a:ext cx="1714857" cy="490214"/>
            </a:xfrm>
            <a:prstGeom prst="straightConnector1">
              <a:avLst/>
            </a:prstGeom>
            <a:ln w="38100">
              <a:solidFill>
                <a:srgbClr val="C00000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>
              <a:stCxn id="6" idx="3"/>
            </p:cNvCxnSpPr>
            <p:nvPr/>
          </p:nvCxnSpPr>
          <p:spPr>
            <a:xfrm>
              <a:off x="4697538" y="2346332"/>
              <a:ext cx="1518101" cy="582607"/>
            </a:xfrm>
            <a:prstGeom prst="straightConnector1">
              <a:avLst/>
            </a:prstGeom>
            <a:ln w="38100">
              <a:solidFill>
                <a:srgbClr val="C00000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>
          <a:xfrm rot="20690928">
            <a:off x="1583742" y="1241811"/>
            <a:ext cx="17011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Thompson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算法</a:t>
            </a:r>
            <a:endParaRPr lang="zh-CN" alt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 rot="1292215">
            <a:off x="4650470" y="1199105"/>
            <a:ext cx="13468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Helvetica Neue"/>
              </a:rPr>
              <a:t>子集构造法</a:t>
            </a:r>
            <a:endParaRPr lang="zh-CN" altLang="en-US" dirty="0">
              <a:solidFill>
                <a:srgbClr val="C00000"/>
              </a:solidFill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979675" y="2365077"/>
            <a:ext cx="3379463" cy="1646832"/>
            <a:chOff x="4979675" y="2365077"/>
            <a:chExt cx="3379463" cy="1646832"/>
          </a:xfrm>
        </p:grpSpPr>
        <p:sp>
          <p:nvSpPr>
            <p:cNvPr id="18" name="矩形 17"/>
            <p:cNvSpPr/>
            <p:nvPr/>
          </p:nvSpPr>
          <p:spPr bwMode="auto">
            <a:xfrm>
              <a:off x="5580112" y="3506190"/>
              <a:ext cx="2016224" cy="505719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zh-CN" altLang="en-US" sz="25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</a:rPr>
                <a:t>最小化</a:t>
              </a:r>
              <a:r>
                <a:rPr lang="en-US" altLang="zh-CN" sz="25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</a:rPr>
                <a:t>DFA</a:t>
              </a:r>
              <a:endParaRPr lang="zh-CN" altLang="en-US" sz="25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</a:endParaRPr>
            </a:p>
          </p:txBody>
        </p:sp>
        <p:cxnSp>
          <p:nvCxnSpPr>
            <p:cNvPr id="7" name="直接箭头连接符 6"/>
            <p:cNvCxnSpPr>
              <a:endCxn id="18" idx="0"/>
            </p:cNvCxnSpPr>
            <p:nvPr/>
          </p:nvCxnSpPr>
          <p:spPr>
            <a:xfrm>
              <a:off x="6574830" y="2365077"/>
              <a:ext cx="13394" cy="114111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矩形 21"/>
            <p:cNvSpPr/>
            <p:nvPr/>
          </p:nvSpPr>
          <p:spPr>
            <a:xfrm>
              <a:off x="4979675" y="2784435"/>
              <a:ext cx="3379463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Hopcroft</a:t>
              </a: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算法：</a:t>
              </a:r>
              <a:r>
                <a: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DFA</a:t>
              </a: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状态最小化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8" grpId="0" bldLvl="0" animBg="1"/>
      <p:bldP spid="74757" grpId="0"/>
      <p:bldP spid="2" grpId="0"/>
      <p:bldP spid="1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内容占位符 2"/>
          <p:cNvSpPr>
            <a:spLocks noGrp="1"/>
          </p:cNvSpPr>
          <p:nvPr>
            <p:ph idx="1"/>
          </p:nvPr>
        </p:nvSpPr>
        <p:spPr>
          <a:xfrm>
            <a:off x="428625" y="1000125"/>
            <a:ext cx="8247831" cy="2285328"/>
          </a:xfrm>
        </p:spPr>
        <p:txBody>
          <a:bodyPr/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</a:rPr>
              <a:t> 算法</a:t>
            </a:r>
            <a:r>
              <a:rPr lang="en-US" altLang="zh-CN" sz="2800" b="1" dirty="0">
                <a:solidFill>
                  <a:schemeClr val="tx1"/>
                </a:solidFill>
              </a:rPr>
              <a:t>3.25 </a:t>
            </a:r>
            <a:r>
              <a:rPr lang="en-US" altLang="zh-CN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Thompson</a:t>
            </a:r>
            <a:r>
              <a:rPr lang="zh-CN" altLang="en-US" sz="2800" b="1" dirty="0">
                <a:solidFill>
                  <a:schemeClr val="tx1"/>
                </a:solidFill>
                <a:latin typeface="Helvetica Neue"/>
              </a:rPr>
              <a:t>算法</a:t>
            </a:r>
            <a:r>
              <a:rPr lang="en-US" altLang="zh-CN" sz="2800" b="1" dirty="0">
                <a:solidFill>
                  <a:schemeClr val="tx1"/>
                </a:solidFill>
                <a:latin typeface="Helvetica Neue"/>
              </a:rPr>
              <a:t>: </a:t>
            </a:r>
            <a:endParaRPr lang="en-US" altLang="zh-CN" sz="2800" b="1" dirty="0">
              <a:solidFill>
                <a:schemeClr val="tx1"/>
              </a:solidFill>
              <a:latin typeface="Helvetica Neue"/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en-US" altLang="zh-CN" sz="2600" b="1" dirty="0">
                <a:solidFill>
                  <a:srgbClr val="333333"/>
                </a:solidFill>
                <a:latin typeface="Helvetica Neue"/>
              </a:rPr>
              <a:t> </a:t>
            </a:r>
            <a:r>
              <a:rPr lang="zh-CN" altLang="en-US" sz="2600" b="1" dirty="0">
                <a:solidFill>
                  <a:srgbClr val="333333"/>
                </a:solidFill>
                <a:latin typeface="Helvetica Neue"/>
              </a:rPr>
              <a:t>对于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cs typeface="楷体_GB2312"/>
              </a:rPr>
              <a:t>、符号</a:t>
            </a:r>
            <a:r>
              <a:rPr lang="en-US" altLang="zh-CN" sz="24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等基本符号，直接构造其</a:t>
            </a:r>
            <a:r>
              <a:rPr lang="en-US" altLang="zh-CN" sz="24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ε-</a:t>
            </a:r>
            <a:r>
              <a:rPr lang="en-US" altLang="zh-CN" sz="24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NFA</a:t>
            </a:r>
            <a:endParaRPr lang="en-US" altLang="zh-CN" sz="2400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对于复合正则表达式（连接、或和闭包），使用归纳规则构造其</a:t>
            </a:r>
            <a:r>
              <a:rPr lang="en-US" altLang="zh-CN" sz="24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ε-</a:t>
            </a:r>
            <a:r>
              <a:rPr lang="en-US" altLang="zh-CN" sz="24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NFA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marL="0" indent="0" eaLnBrk="1" hangingPunct="1">
              <a:buClrTx/>
              <a:buNone/>
            </a:pPr>
            <a:r>
              <a:rPr lang="zh-CN" altLang="en-US" b="1" dirty="0">
                <a:solidFill>
                  <a:schemeClr val="tx1"/>
                </a:solidFill>
              </a:rPr>
              <a:t>基本规则：基本符号的</a:t>
            </a:r>
            <a:r>
              <a:rPr lang="en-US" altLang="zh-CN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ε-</a:t>
            </a:r>
            <a:r>
              <a:rPr lang="en-US" altLang="zh-CN" b="1" i="1" dirty="0">
                <a:solidFill>
                  <a:schemeClr val="tx1"/>
                </a:solidFill>
              </a:rPr>
              <a:t>NFA</a:t>
            </a:r>
            <a:endParaRPr lang="en-US" altLang="zh-CN" b="1" i="1" dirty="0">
              <a:solidFill>
                <a:schemeClr val="tx1"/>
              </a:solidFill>
            </a:endParaRPr>
          </a:p>
        </p:txBody>
      </p:sp>
      <p:sp>
        <p:nvSpPr>
          <p:cNvPr id="52228" name="标题 3"/>
          <p:cNvSpPr>
            <a:spLocks noGrp="1"/>
          </p:cNvSpPr>
          <p:nvPr>
            <p:ph type="title"/>
          </p:nvPr>
        </p:nvSpPr>
        <p:spPr>
          <a:xfrm>
            <a:off x="755650" y="268288"/>
            <a:ext cx="8064822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</a:t>
            </a:r>
            <a:r>
              <a:rPr lang="en-US" altLang="zh-CN" sz="3000" i="1" dirty="0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RE </a:t>
            </a:r>
            <a:r>
              <a:rPr lang="zh-CN" altLang="en-US" sz="3000" spc="3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构造</a:t>
            </a:r>
            <a:r>
              <a:rPr lang="en-US" altLang="zh-CN" sz="30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ε-</a:t>
            </a:r>
            <a:r>
              <a:rPr lang="en-US" altLang="zh-CN" sz="3000" i="1" dirty="0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NFA</a:t>
            </a:r>
            <a:r>
              <a:rPr lang="zh-CN" altLang="en-US" sz="3000" dirty="0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3000" dirty="0">
                <a:solidFill>
                  <a:srgbClr val="333333"/>
                </a:solidFill>
                <a:cs typeface="Times New Roman" panose="02020603050405020304" pitchFamily="18" charset="0"/>
              </a:rPr>
              <a:t>Thompson</a:t>
            </a:r>
            <a:r>
              <a:rPr lang="zh-CN" altLang="en-US" sz="3000" dirty="0">
                <a:solidFill>
                  <a:srgbClr val="333333"/>
                </a:solidFill>
                <a:latin typeface="Helvetica Neue"/>
              </a:rPr>
              <a:t>算法</a:t>
            </a:r>
            <a:r>
              <a:rPr lang="zh-CN" altLang="en-US" sz="3000" dirty="0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zh-CN" altLang="en-US" sz="3000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5238" name="组合 44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22" name="五边形 21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5240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4" name="内容占位符 2"/>
          <p:cNvSpPr txBox="1"/>
          <p:nvPr/>
        </p:nvSpPr>
        <p:spPr bwMode="auto">
          <a:xfrm>
            <a:off x="4571999" y="3363900"/>
            <a:ext cx="3600401" cy="503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57658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85598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46240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prstClr val="black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b="1" i="1" dirty="0" err="1">
                <a:solidFill>
                  <a:srgbClr val="FF0000"/>
                </a:solidFill>
              </a:rPr>
              <a:t>a</a:t>
            </a:r>
            <a:r>
              <a:rPr lang="en-US" altLang="zh-CN" b="1" dirty="0" err="1">
                <a:solidFill>
                  <a:prstClr val="black"/>
                </a:solidFill>
                <a:ea typeface="楷体_GB2312"/>
                <a:cs typeface="Times New Roman" panose="02020603050405020304" pitchFamily="18" charset="0"/>
              </a:rPr>
              <a:t>∈</a:t>
            </a:r>
            <a:r>
              <a:rPr lang="en-US" altLang="zh-CN" b="1" i="1" dirty="0" err="1">
                <a:solidFill>
                  <a:schemeClr val="tx1"/>
                </a:solidFill>
              </a:rPr>
              <a:t>Σ</a:t>
            </a:r>
            <a:r>
              <a:rPr lang="en-US" altLang="zh-CN" b="1" i="1" dirty="0">
                <a:solidFill>
                  <a:schemeClr val="tx1"/>
                </a:solidFill>
              </a:rPr>
              <a:t>, </a:t>
            </a:r>
            <a:r>
              <a:rPr lang="zh-CN" altLang="en-US" b="1" dirty="0">
                <a:solidFill>
                  <a:schemeClr val="tx1"/>
                </a:solidFill>
              </a:rPr>
              <a:t>对于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en-US" altLang="zh-CN" b="1" dirty="0">
                <a:solidFill>
                  <a:schemeClr val="tx1"/>
                </a:solidFill>
              </a:rPr>
              <a:t>,  </a:t>
            </a:r>
            <a:r>
              <a:rPr lang="zh-CN" altLang="en-US" b="1" dirty="0">
                <a:solidFill>
                  <a:schemeClr val="tx1"/>
                </a:solidFill>
              </a:rPr>
              <a:t>有</a:t>
            </a:r>
            <a:r>
              <a:rPr lang="en-US" altLang="zh-CN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ε-</a:t>
            </a:r>
            <a:r>
              <a:rPr lang="en-US" altLang="zh-CN" b="1" i="1" dirty="0">
                <a:solidFill>
                  <a:schemeClr val="tx1"/>
                </a:solidFill>
              </a:rPr>
              <a:t>NFA</a:t>
            </a:r>
            <a:endParaRPr lang="en-US" altLang="zh-CN" b="1" i="1" dirty="0">
              <a:solidFill>
                <a:schemeClr val="tx1"/>
              </a:solidFill>
            </a:endParaRPr>
          </a:p>
        </p:txBody>
      </p:sp>
      <p:sp>
        <p:nvSpPr>
          <p:cNvPr id="25" name="内容占位符 2"/>
          <p:cNvSpPr txBox="1"/>
          <p:nvPr/>
        </p:nvSpPr>
        <p:spPr bwMode="auto">
          <a:xfrm>
            <a:off x="683568" y="3366393"/>
            <a:ext cx="3147095" cy="573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57658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85598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46240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+mn-ea"/>
                <a:cs typeface="楷体_GB2312"/>
              </a:rPr>
              <a:t>对于</a:t>
            </a:r>
            <a:r>
              <a:rPr lang="en-US" altLang="zh-CN" b="1" i="1" dirty="0">
                <a:solidFill>
                  <a:srgbClr val="FF0000"/>
                </a:solidFill>
                <a:cs typeface="Times New Roman" panose="02020603050405020304" pitchFamily="18" charset="0"/>
              </a:rPr>
              <a:t>ε</a:t>
            </a:r>
            <a:r>
              <a:rPr lang="zh-CN" altLang="en-US" b="1" dirty="0">
                <a:solidFill>
                  <a:schemeClr val="tx1"/>
                </a:solidFill>
                <a:latin typeface="+mn-ea"/>
                <a:cs typeface="楷体_GB2312"/>
              </a:rPr>
              <a:t>，有</a:t>
            </a:r>
            <a:r>
              <a:rPr lang="en-US" altLang="zh-CN" b="1" i="1" dirty="0">
                <a:solidFill>
                  <a:schemeClr val="tx1"/>
                </a:solidFill>
              </a:rPr>
              <a:t>ε-NFA</a:t>
            </a:r>
            <a:endParaRPr lang="en-US" altLang="zh-CN" b="1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52" name="组合 51"/>
          <p:cNvGrpSpPr/>
          <p:nvPr/>
        </p:nvGrpSpPr>
        <p:grpSpPr bwMode="auto">
          <a:xfrm>
            <a:off x="581934" y="3939904"/>
            <a:ext cx="2925713" cy="748435"/>
            <a:chOff x="3131840" y="3382730"/>
            <a:chExt cx="2652573" cy="659016"/>
          </a:xfrm>
        </p:grpSpPr>
        <p:sp>
          <p:nvSpPr>
            <p:cNvPr id="53" name="Oval 10"/>
            <p:cNvSpPr>
              <a:spLocks noChangeArrowheads="1"/>
            </p:cNvSpPr>
            <p:nvPr/>
          </p:nvSpPr>
          <p:spPr bwMode="auto">
            <a:xfrm>
              <a:off x="4164103" y="3613021"/>
              <a:ext cx="329884" cy="30680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 anchorCtr="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q</a:t>
              </a:r>
              <a:r>
                <a:rPr lang="en-US" altLang="zh-CN" sz="2000" b="1" i="1" baseline="-25000">
                  <a:latin typeface="Times New Roman" panose="02020603050405020304" pitchFamily="18" charset="0"/>
                  <a:ea typeface="楷体_GB2312"/>
                  <a:cs typeface="楷体_GB2312"/>
                </a:rPr>
                <a:t>0</a:t>
              </a:r>
              <a:endParaRPr lang="en-US" altLang="zh-CN" sz="20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54" name="Line 13"/>
            <p:cNvSpPr>
              <a:spLocks noChangeShapeType="1"/>
            </p:cNvSpPr>
            <p:nvPr/>
          </p:nvSpPr>
          <p:spPr bwMode="auto">
            <a:xfrm>
              <a:off x="4513953" y="3768596"/>
              <a:ext cx="6596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Rectangle 14"/>
            <p:cNvSpPr>
              <a:spLocks noChangeArrowheads="1"/>
            </p:cNvSpPr>
            <p:nvPr/>
          </p:nvSpPr>
          <p:spPr bwMode="auto">
            <a:xfrm>
              <a:off x="4594980" y="3382730"/>
              <a:ext cx="403662" cy="3946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5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ε</a:t>
              </a:r>
              <a:endPara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56" name="Oval 15"/>
            <p:cNvSpPr>
              <a:spLocks noChangeArrowheads="1"/>
            </p:cNvSpPr>
            <p:nvPr/>
          </p:nvSpPr>
          <p:spPr bwMode="auto">
            <a:xfrm>
              <a:off x="5299595" y="3608730"/>
              <a:ext cx="373052" cy="342594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 anchorCtr="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q</a:t>
              </a:r>
              <a:r>
                <a:rPr lang="en-US" altLang="zh-CN" sz="2000" b="1" i="1" baseline="-25000">
                  <a:latin typeface="Times New Roman" panose="02020603050405020304" pitchFamily="18" charset="0"/>
                  <a:ea typeface="楷体_GB2312"/>
                  <a:cs typeface="楷体_GB2312"/>
                </a:rPr>
                <a:t>f</a:t>
              </a:r>
              <a:endParaRPr lang="en-US" altLang="zh-CN" sz="20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57" name="Rectangle 22"/>
            <p:cNvSpPr>
              <a:spLocks noChangeArrowheads="1"/>
            </p:cNvSpPr>
            <p:nvPr/>
          </p:nvSpPr>
          <p:spPr bwMode="auto">
            <a:xfrm>
              <a:off x="3131840" y="3538847"/>
              <a:ext cx="659767" cy="4149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5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  <a:endParaRPr lang="en-US" altLang="zh-CN" sz="25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58" name="Line 21"/>
            <p:cNvSpPr>
              <a:spLocks noChangeShapeType="1"/>
            </p:cNvSpPr>
            <p:nvPr/>
          </p:nvSpPr>
          <p:spPr bwMode="auto">
            <a:xfrm flipV="1">
              <a:off x="3791607" y="3766199"/>
              <a:ext cx="3298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Oval 39"/>
            <p:cNvSpPr>
              <a:spLocks noChangeArrowheads="1"/>
            </p:cNvSpPr>
            <p:nvPr/>
          </p:nvSpPr>
          <p:spPr bwMode="auto">
            <a:xfrm>
              <a:off x="5189330" y="3492140"/>
              <a:ext cx="595083" cy="54960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0" name="组合 27"/>
          <p:cNvGrpSpPr/>
          <p:nvPr/>
        </p:nvGrpSpPr>
        <p:grpSpPr bwMode="auto">
          <a:xfrm>
            <a:off x="4736855" y="3992056"/>
            <a:ext cx="2926705" cy="680687"/>
            <a:chOff x="3227737" y="3260692"/>
            <a:chExt cx="2926230" cy="908760"/>
          </a:xfrm>
        </p:grpSpPr>
        <p:sp>
          <p:nvSpPr>
            <p:cNvPr id="61" name="Oval 10"/>
            <p:cNvSpPr>
              <a:spLocks noChangeArrowheads="1"/>
            </p:cNvSpPr>
            <p:nvPr/>
          </p:nvSpPr>
          <p:spPr bwMode="auto">
            <a:xfrm>
              <a:off x="4358842" y="3509983"/>
              <a:ext cx="435798" cy="520464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q</a:t>
              </a:r>
              <a:r>
                <a:rPr lang="en-US" altLang="zh-CN" sz="2000" b="1" i="1" baseline="-25000">
                  <a:latin typeface="Times New Roman" panose="02020603050405020304" pitchFamily="18" charset="0"/>
                  <a:ea typeface="楷体_GB2312"/>
                  <a:cs typeface="楷体_GB2312"/>
                </a:rPr>
                <a:t>0</a:t>
              </a:r>
              <a:endParaRPr lang="en-US" altLang="zh-CN" sz="20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62" name="Line 13"/>
            <p:cNvSpPr>
              <a:spLocks noChangeShapeType="1"/>
            </p:cNvSpPr>
            <p:nvPr/>
          </p:nvSpPr>
          <p:spPr bwMode="auto">
            <a:xfrm>
              <a:off x="4797884" y="3768594"/>
              <a:ext cx="6596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Rectangle 14"/>
            <p:cNvSpPr>
              <a:spLocks noChangeArrowheads="1"/>
            </p:cNvSpPr>
            <p:nvPr/>
          </p:nvSpPr>
          <p:spPr bwMode="auto">
            <a:xfrm>
              <a:off x="4726443" y="3260692"/>
              <a:ext cx="659634" cy="415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5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  <a:endPara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64" name="Oval 15"/>
            <p:cNvSpPr>
              <a:spLocks noChangeArrowheads="1"/>
            </p:cNvSpPr>
            <p:nvPr/>
          </p:nvSpPr>
          <p:spPr bwMode="auto">
            <a:xfrm>
              <a:off x="5595372" y="3485318"/>
              <a:ext cx="463015" cy="570301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i="1" dirty="0" err="1">
                  <a:latin typeface="Times New Roman" panose="02020603050405020304" pitchFamily="18" charset="0"/>
                  <a:ea typeface="楷体_GB2312"/>
                  <a:cs typeface="楷体_GB2312"/>
                </a:rPr>
                <a:t>q</a:t>
              </a:r>
              <a:r>
                <a:rPr lang="en-US" altLang="zh-CN" sz="2000" b="1" i="1" baseline="-25000" dirty="0" err="1">
                  <a:latin typeface="Times New Roman" panose="02020603050405020304" pitchFamily="18" charset="0"/>
                  <a:ea typeface="楷体_GB2312"/>
                  <a:cs typeface="楷体_GB2312"/>
                </a:rPr>
                <a:t>f</a:t>
              </a:r>
              <a:endParaRPr lang="en-US" altLang="zh-CN" sz="2000" b="1" i="1" baseline="-25000" dirty="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65" name="Rectangle 22"/>
            <p:cNvSpPr>
              <a:spLocks noChangeArrowheads="1"/>
            </p:cNvSpPr>
            <p:nvPr/>
          </p:nvSpPr>
          <p:spPr bwMode="auto">
            <a:xfrm>
              <a:off x="3227737" y="3559290"/>
              <a:ext cx="659767" cy="414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5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  <a:endPara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66" name="Line 21"/>
            <p:cNvSpPr>
              <a:spLocks noChangeShapeType="1"/>
            </p:cNvSpPr>
            <p:nvPr/>
          </p:nvSpPr>
          <p:spPr bwMode="auto">
            <a:xfrm flipV="1">
              <a:off x="3986266" y="3766195"/>
              <a:ext cx="3298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Oval 39"/>
            <p:cNvSpPr>
              <a:spLocks noChangeArrowheads="1"/>
            </p:cNvSpPr>
            <p:nvPr/>
          </p:nvSpPr>
          <p:spPr bwMode="auto">
            <a:xfrm>
              <a:off x="5483388" y="3336132"/>
              <a:ext cx="670579" cy="83332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4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4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4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42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42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42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42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42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42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42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42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42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411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730250"/>
            <a:ext cx="8748712" cy="4002088"/>
          </a:xfrm>
        </p:spPr>
        <p:txBody>
          <a:bodyPr>
            <a:normAutofit lnSpcReduction="10000"/>
          </a:bodyPr>
          <a:lstStyle/>
          <a:p>
            <a:pPr marL="0" indent="0" eaLnBrk="1" hangingPunct="1">
              <a:buClrTx/>
              <a:buNone/>
            </a:pPr>
            <a:r>
              <a:rPr lang="zh-CN" altLang="en-US" sz="2800" b="1" dirty="0">
                <a:solidFill>
                  <a:srgbClr val="000000"/>
                </a:solidFill>
              </a:rPr>
              <a:t>归纳规则：假设正则表达式</a:t>
            </a:r>
            <a:r>
              <a:rPr lang="en-US" altLang="zh-CN" sz="2800" b="1" i="1" dirty="0">
                <a:solidFill>
                  <a:srgbClr val="000000"/>
                </a:solidFill>
                <a:ea typeface="楷体_GB2312"/>
                <a:cs typeface="楷体_GB2312"/>
              </a:rPr>
              <a:t>r</a:t>
            </a:r>
            <a:r>
              <a:rPr lang="en-US" altLang="zh-CN" sz="2800" b="1" baseline="-25000" dirty="0">
                <a:solidFill>
                  <a:srgbClr val="000000"/>
                </a:solidFill>
                <a:ea typeface="楷体_GB2312"/>
                <a:cs typeface="楷体_GB2312"/>
              </a:rPr>
              <a:t>1</a:t>
            </a:r>
            <a:r>
              <a:rPr lang="zh-CN" altLang="en-US" sz="2800" b="1" dirty="0">
                <a:solidFill>
                  <a:srgbClr val="000000"/>
                </a:solidFill>
              </a:rPr>
              <a:t>和</a:t>
            </a:r>
            <a:r>
              <a:rPr lang="en-US" altLang="zh-CN" sz="2800" b="1" i="1" dirty="0">
                <a:solidFill>
                  <a:srgbClr val="000000"/>
                </a:solidFill>
                <a:ea typeface="楷体_GB2312"/>
                <a:cs typeface="楷体_GB2312"/>
              </a:rPr>
              <a:t>r</a:t>
            </a:r>
            <a:r>
              <a:rPr lang="en-US" altLang="zh-CN" sz="2800" b="1" baseline="-25000" dirty="0">
                <a:solidFill>
                  <a:srgbClr val="000000"/>
                </a:solidFill>
                <a:ea typeface="楷体_GB2312"/>
                <a:cs typeface="楷体_GB2312"/>
              </a:rPr>
              <a:t>2</a:t>
            </a:r>
            <a:r>
              <a:rPr lang="zh-CN" altLang="en-US" sz="2800" b="1" dirty="0">
                <a:solidFill>
                  <a:srgbClr val="000000"/>
                </a:solidFill>
              </a:rPr>
              <a:t>对应的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NFA</a:t>
            </a:r>
            <a:r>
              <a:rPr lang="zh-CN" altLang="en-US" sz="2800" b="1" dirty="0">
                <a:solidFill>
                  <a:srgbClr val="000000"/>
                </a:solidFill>
              </a:rPr>
              <a:t>分别为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N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ea typeface="楷体_GB2312"/>
                <a:cs typeface="楷体_GB2312"/>
              </a:rPr>
              <a:t>r</a:t>
            </a:r>
            <a:r>
              <a:rPr lang="en-US" altLang="zh-CN" sz="2800" b="1" baseline="-25000" dirty="0">
                <a:solidFill>
                  <a:srgbClr val="000000"/>
                </a:solidFill>
                <a:ea typeface="楷体_GB2312"/>
                <a:cs typeface="楷体_GB2312"/>
              </a:rPr>
              <a:t>1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)</a:t>
            </a:r>
            <a:r>
              <a:rPr lang="zh-CN" altLang="en-US" sz="2800" b="1" dirty="0">
                <a:solidFill>
                  <a:srgbClr val="000000"/>
                </a:solidFill>
              </a:rPr>
              <a:t>和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N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(</a:t>
            </a:r>
            <a:r>
              <a:rPr lang="en-US" altLang="zh-CN" sz="2800" b="1" i="1" dirty="0">
                <a:solidFill>
                  <a:schemeClr val="tx1"/>
                </a:solidFill>
                <a:ea typeface="楷体_GB2312"/>
                <a:cs typeface="楷体_GB2312"/>
              </a:rPr>
              <a:t>r</a:t>
            </a:r>
            <a:r>
              <a:rPr lang="en-US" altLang="zh-CN" sz="28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2</a:t>
            </a:r>
            <a:r>
              <a:rPr lang="en-US" altLang="zh-CN" sz="2800" b="1" dirty="0">
                <a:solidFill>
                  <a:schemeClr val="tx1"/>
                </a:solidFill>
                <a:ea typeface="楷体_GB2312"/>
                <a:cs typeface="楷体_GB2312"/>
              </a:rPr>
              <a:t>)</a:t>
            </a:r>
            <a:endParaRPr lang="en-US" altLang="zh-CN" sz="2800" b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endParaRPr lang="en-US" altLang="zh-CN" sz="1100" b="1" i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r 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= 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r</a:t>
            </a:r>
            <a:r>
              <a:rPr lang="en-US" altLang="zh-CN" sz="24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1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r</a:t>
            </a:r>
            <a:r>
              <a:rPr lang="en-US" altLang="zh-CN" sz="24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2</a:t>
            </a:r>
            <a:r>
              <a:rPr lang="zh-CN" altLang="en-US" sz="2400" b="1" dirty="0">
                <a:solidFill>
                  <a:srgbClr val="000000"/>
                </a:solidFill>
              </a:rPr>
              <a:t>对应的</a:t>
            </a:r>
            <a:r>
              <a:rPr lang="en-US" altLang="zh-CN" sz="2400" b="1" i="1" dirty="0">
                <a:solidFill>
                  <a:srgbClr val="000000"/>
                </a:solidFill>
              </a:rPr>
              <a:t>NFA</a:t>
            </a:r>
            <a:endParaRPr lang="en-US" altLang="zh-CN" sz="2400" b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eaLnBrk="1" hangingPunct="1">
              <a:buClrTx/>
              <a:buFont typeface="Symbol" panose="05050102010706020507" pitchFamily="18" charset="2"/>
              <a:buNone/>
            </a:pPr>
            <a:endParaRPr lang="en-US" altLang="zh-CN" sz="3600" b="1" i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r 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= 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r</a:t>
            </a:r>
            <a:r>
              <a:rPr lang="en-US" altLang="zh-CN" sz="24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1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|r</a:t>
            </a:r>
            <a:r>
              <a:rPr lang="en-US" altLang="zh-CN" sz="24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2</a:t>
            </a:r>
            <a:r>
              <a:rPr lang="zh-CN" altLang="en-US" sz="2400" b="1" dirty="0">
                <a:solidFill>
                  <a:srgbClr val="000000"/>
                </a:solidFill>
              </a:rPr>
              <a:t>对应的</a:t>
            </a:r>
            <a:r>
              <a:rPr lang="en-US" altLang="zh-CN" sz="2400" b="1" i="1" dirty="0">
                <a:solidFill>
                  <a:srgbClr val="000000"/>
                </a:solidFill>
              </a:rPr>
              <a:t>NFA</a:t>
            </a:r>
            <a:endParaRPr lang="en-US" altLang="zh-CN" sz="2400" b="1" i="1" baseline="-25000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eaLnBrk="1" hangingPunct="1">
              <a:buFont typeface="Symbol" panose="05050102010706020507" pitchFamily="18" charset="2"/>
              <a:buNone/>
            </a:pPr>
            <a:endParaRPr lang="en-US" altLang="zh-CN" sz="5400" b="1" i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r 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= (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r</a:t>
            </a:r>
            <a:r>
              <a:rPr lang="en-US" altLang="zh-CN" sz="2400" b="1" baseline="-25000" dirty="0">
                <a:solidFill>
                  <a:schemeClr val="tx1"/>
                </a:solidFill>
                <a:ea typeface="楷体_GB2312"/>
                <a:cs typeface="楷体_GB2312"/>
              </a:rPr>
              <a:t>1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)</a:t>
            </a:r>
            <a:r>
              <a:rPr lang="zh-CN" altLang="en-US" sz="2400" b="1" baseline="30000" dirty="0">
                <a:solidFill>
                  <a:schemeClr val="tx1"/>
                </a:solidFill>
                <a:ea typeface="楷体_GB2312"/>
                <a:cs typeface="楷体_GB2312"/>
              </a:rPr>
              <a:t>*</a:t>
            </a:r>
            <a:r>
              <a:rPr lang="zh-CN" altLang="en-US" sz="2400" b="1" dirty="0">
                <a:solidFill>
                  <a:srgbClr val="000000"/>
                </a:solidFill>
              </a:rPr>
              <a:t>对应的</a:t>
            </a:r>
            <a:r>
              <a:rPr lang="en-US" altLang="zh-CN" sz="2400" b="1" i="1" dirty="0">
                <a:solidFill>
                  <a:srgbClr val="000000"/>
                </a:solidFill>
              </a:rPr>
              <a:t>NFA</a:t>
            </a:r>
            <a:endParaRPr lang="en-US" altLang="zh-CN" sz="2400" b="1" baseline="-25000" dirty="0">
              <a:solidFill>
                <a:schemeClr val="tx1"/>
              </a:solidFill>
              <a:ea typeface="楷体_GB2312"/>
              <a:cs typeface="楷体_GB2312"/>
            </a:endParaRPr>
          </a:p>
        </p:txBody>
      </p:sp>
      <p:grpSp>
        <p:nvGrpSpPr>
          <p:cNvPr id="79875" name="组合 44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3" name="五边形 12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9894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10" name="组合 9"/>
          <p:cNvGrpSpPr/>
          <p:nvPr/>
        </p:nvGrpSpPr>
        <p:grpSpPr bwMode="auto">
          <a:xfrm>
            <a:off x="4684713" y="2157413"/>
            <a:ext cx="2523888" cy="1397000"/>
            <a:chOff x="4309454" y="1316285"/>
            <a:chExt cx="2350778" cy="1322688"/>
          </a:xfrm>
        </p:grpSpPr>
        <p:pic>
          <p:nvPicPr>
            <p:cNvPr id="79888" name="图片 1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09454" y="1316285"/>
              <a:ext cx="2350778" cy="1322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9889" name="矩形 2"/>
            <p:cNvSpPr>
              <a:spLocks noChangeArrowheads="1"/>
            </p:cNvSpPr>
            <p:nvPr/>
          </p:nvSpPr>
          <p:spPr bwMode="auto">
            <a:xfrm>
              <a:off x="4726436" y="1839128"/>
              <a:ext cx="31290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2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q</a:t>
              </a:r>
              <a:r>
                <a:rPr lang="en-US" altLang="zh-CN" sz="1200" b="1" i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0</a:t>
              </a:r>
              <a:endParaRPr lang="en-US" altLang="zh-CN" sz="12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79890" name="矩形 3"/>
            <p:cNvSpPr>
              <a:spLocks noChangeArrowheads="1"/>
            </p:cNvSpPr>
            <p:nvPr/>
          </p:nvSpPr>
          <p:spPr bwMode="auto">
            <a:xfrm>
              <a:off x="6299978" y="1839129"/>
              <a:ext cx="29527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2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q</a:t>
              </a:r>
              <a:r>
                <a:rPr lang="en-US" altLang="zh-CN" sz="1200" b="1" i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f</a:t>
              </a:r>
              <a:endParaRPr lang="en-US" altLang="zh-CN" sz="12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5436431" y="1460780"/>
              <a:ext cx="507933" cy="27628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200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j-cs"/>
                </a:rPr>
                <a:t>N</a:t>
              </a:r>
              <a:r>
                <a:rPr lang="en-US" altLang="zh-CN" sz="12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j-cs"/>
                </a:rPr>
                <a:t>(</a:t>
              </a:r>
              <a:r>
                <a:rPr lang="en-US" altLang="zh-CN" sz="1200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r</a:t>
              </a:r>
              <a:r>
                <a:rPr lang="en-US" altLang="zh-CN" sz="1200" b="1" baseline="-25000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  <a:r>
                <a:rPr lang="en-US" altLang="zh-CN" sz="12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j-cs"/>
                </a:rPr>
                <a:t>)</a:t>
              </a:r>
              <a:endParaRPr lang="zh-CN" altLang="en-US" sz="1050" dirty="0"/>
            </a:p>
          </p:txBody>
        </p:sp>
        <p:sp>
          <p:nvSpPr>
            <p:cNvPr id="44" name="矩形 43"/>
            <p:cNvSpPr/>
            <p:nvPr/>
          </p:nvSpPr>
          <p:spPr>
            <a:xfrm>
              <a:off x="5436431" y="2261062"/>
              <a:ext cx="507933" cy="27628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200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j-cs"/>
                </a:rPr>
                <a:t>N</a:t>
              </a:r>
              <a:r>
                <a:rPr lang="en-US" altLang="zh-CN" sz="12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j-cs"/>
                </a:rPr>
                <a:t>(</a:t>
              </a:r>
              <a:r>
                <a:rPr lang="en-US" altLang="zh-CN" sz="1200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r</a:t>
              </a:r>
              <a:r>
                <a:rPr lang="en-US" altLang="zh-CN" sz="1200" b="1" baseline="-25000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  <a:r>
                <a:rPr lang="en-US" altLang="zh-CN" sz="12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j-cs"/>
                </a:rPr>
                <a:t>)</a:t>
              </a:r>
              <a:endParaRPr lang="zh-CN" altLang="en-US" sz="1050" dirty="0"/>
            </a:p>
          </p:txBody>
        </p:sp>
      </p:grpSp>
      <p:grpSp>
        <p:nvGrpSpPr>
          <p:cNvPr id="12" name="组合 11"/>
          <p:cNvGrpSpPr/>
          <p:nvPr/>
        </p:nvGrpSpPr>
        <p:grpSpPr bwMode="auto">
          <a:xfrm>
            <a:off x="4426903" y="3554413"/>
            <a:ext cx="3384550" cy="1587500"/>
            <a:chOff x="4167912" y="3554303"/>
            <a:chExt cx="3384180" cy="1588361"/>
          </a:xfrm>
        </p:grpSpPr>
        <p:pic>
          <p:nvPicPr>
            <p:cNvPr id="79884" name="图片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67912" y="3554303"/>
              <a:ext cx="3384180" cy="1588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9885" name="矩形 47"/>
            <p:cNvSpPr>
              <a:spLocks noChangeArrowheads="1"/>
            </p:cNvSpPr>
            <p:nvPr/>
          </p:nvSpPr>
          <p:spPr bwMode="auto">
            <a:xfrm>
              <a:off x="4623912" y="4084135"/>
              <a:ext cx="31290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2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q</a:t>
              </a:r>
              <a:r>
                <a:rPr lang="en-US" altLang="zh-CN" sz="1200" b="1" i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0</a:t>
              </a:r>
              <a:endParaRPr lang="en-US" altLang="zh-CN" sz="12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79886" name="矩形 49"/>
            <p:cNvSpPr>
              <a:spLocks noChangeArrowheads="1"/>
            </p:cNvSpPr>
            <p:nvPr/>
          </p:nvSpPr>
          <p:spPr bwMode="auto">
            <a:xfrm>
              <a:off x="7164547" y="4085894"/>
              <a:ext cx="29527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2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q</a:t>
              </a:r>
              <a:r>
                <a:rPr lang="en-US" altLang="zh-CN" sz="1200" b="1" i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f</a:t>
              </a:r>
              <a:endParaRPr lang="en-US" altLang="zh-CN" sz="12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5767937" y="4095934"/>
              <a:ext cx="507944" cy="2779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200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j-cs"/>
                </a:rPr>
                <a:t>N</a:t>
              </a:r>
              <a:r>
                <a:rPr lang="en-US" altLang="zh-CN" sz="12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j-cs"/>
                </a:rPr>
                <a:t>(</a:t>
              </a:r>
              <a:r>
                <a:rPr lang="en-US" altLang="zh-CN" sz="1200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r</a:t>
              </a:r>
              <a:r>
                <a:rPr lang="en-US" altLang="zh-CN" sz="1200" b="1" baseline="-25000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  <a:r>
                <a:rPr lang="en-US" altLang="zh-CN" sz="12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j-cs"/>
                </a:rPr>
                <a:t>)</a:t>
              </a:r>
              <a:endParaRPr lang="zh-CN" altLang="en-US" sz="1050" dirty="0"/>
            </a:p>
          </p:txBody>
        </p:sp>
      </p:grpSp>
      <p:grpSp>
        <p:nvGrpSpPr>
          <p:cNvPr id="11" name="组合 10"/>
          <p:cNvGrpSpPr/>
          <p:nvPr/>
        </p:nvGrpSpPr>
        <p:grpSpPr bwMode="auto">
          <a:xfrm>
            <a:off x="4381500" y="1379538"/>
            <a:ext cx="2854325" cy="549275"/>
            <a:chOff x="4309454" y="2909595"/>
            <a:chExt cx="2854834" cy="548498"/>
          </a:xfrm>
        </p:grpSpPr>
        <p:pic>
          <p:nvPicPr>
            <p:cNvPr id="79879" name="图片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09454" y="2909595"/>
              <a:ext cx="2854834" cy="548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9880" name="矩形 46"/>
            <p:cNvSpPr>
              <a:spLocks noChangeArrowheads="1"/>
            </p:cNvSpPr>
            <p:nvPr/>
          </p:nvSpPr>
          <p:spPr bwMode="auto">
            <a:xfrm>
              <a:off x="4936818" y="3019000"/>
              <a:ext cx="31290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2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q</a:t>
              </a:r>
              <a:r>
                <a:rPr lang="en-US" altLang="zh-CN" sz="1200" b="1" i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0</a:t>
              </a:r>
              <a:endParaRPr lang="en-US" altLang="zh-CN" sz="12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79881" name="矩形 48"/>
            <p:cNvSpPr>
              <a:spLocks noChangeArrowheads="1"/>
            </p:cNvSpPr>
            <p:nvPr/>
          </p:nvSpPr>
          <p:spPr bwMode="auto">
            <a:xfrm>
              <a:off x="6663354" y="2988453"/>
              <a:ext cx="29527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2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q</a:t>
              </a:r>
              <a:r>
                <a:rPr lang="en-US" altLang="zh-CN" sz="1200" b="1" i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f</a:t>
              </a:r>
              <a:endParaRPr lang="en-US" altLang="zh-CN" sz="12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5200201" y="3018977"/>
              <a:ext cx="508091" cy="2774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200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j-cs"/>
                </a:rPr>
                <a:t>N</a:t>
              </a:r>
              <a:r>
                <a:rPr lang="en-US" altLang="zh-CN" sz="12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j-cs"/>
                </a:rPr>
                <a:t>(</a:t>
              </a:r>
              <a:r>
                <a:rPr lang="en-US" altLang="zh-CN" sz="1200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r</a:t>
              </a:r>
              <a:r>
                <a:rPr lang="en-US" altLang="zh-CN" sz="1200" b="1" baseline="-25000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  <a:r>
                <a:rPr lang="en-US" altLang="zh-CN" sz="12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j-cs"/>
                </a:rPr>
                <a:t>)</a:t>
              </a:r>
              <a:endParaRPr lang="zh-CN" altLang="en-US" sz="1050" dirty="0"/>
            </a:p>
          </p:txBody>
        </p:sp>
        <p:sp>
          <p:nvSpPr>
            <p:cNvPr id="53" name="矩形 52"/>
            <p:cNvSpPr/>
            <p:nvPr/>
          </p:nvSpPr>
          <p:spPr>
            <a:xfrm>
              <a:off x="6189389" y="3026904"/>
              <a:ext cx="509679" cy="27741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200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j-cs"/>
                </a:rPr>
                <a:t>N</a:t>
              </a:r>
              <a:r>
                <a:rPr lang="en-US" altLang="zh-CN" sz="12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j-cs"/>
                </a:rPr>
                <a:t>(</a:t>
              </a:r>
              <a:r>
                <a:rPr lang="en-US" altLang="zh-CN" sz="1200" b="1" i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r</a:t>
              </a:r>
              <a:r>
                <a:rPr lang="en-US" altLang="zh-CN" sz="1200" b="1" baseline="-25000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  <a:r>
                <a:rPr lang="en-US" altLang="zh-CN" sz="12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j-cs"/>
                </a:rPr>
                <a:t>)</a:t>
              </a:r>
              <a:endParaRPr lang="zh-CN" altLang="en-US" sz="1050" dirty="0"/>
            </a:p>
          </p:txBody>
        </p:sp>
      </p:grpSp>
      <p:sp>
        <p:nvSpPr>
          <p:cNvPr id="23" name="标题 3"/>
          <p:cNvSpPr>
            <a:spLocks noGrp="1"/>
          </p:cNvSpPr>
          <p:nvPr>
            <p:ph type="title"/>
          </p:nvPr>
        </p:nvSpPr>
        <p:spPr>
          <a:xfrm>
            <a:off x="755650" y="268288"/>
            <a:ext cx="8064822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</a:t>
            </a:r>
            <a:r>
              <a:rPr lang="en-US" altLang="zh-CN" sz="3000" i="1" dirty="0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RE </a:t>
            </a:r>
            <a:r>
              <a:rPr lang="zh-CN" altLang="en-US" sz="3000" spc="3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构造</a:t>
            </a:r>
            <a:r>
              <a:rPr lang="en-US" altLang="zh-CN" sz="30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ε-</a:t>
            </a:r>
            <a:r>
              <a:rPr lang="en-US" altLang="zh-CN" sz="3000" i="1" dirty="0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NFA</a:t>
            </a:r>
            <a:r>
              <a:rPr lang="zh-CN" altLang="en-US" sz="3000" dirty="0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3000" dirty="0">
                <a:solidFill>
                  <a:srgbClr val="333333"/>
                </a:solidFill>
                <a:cs typeface="Times New Roman" panose="02020603050405020304" pitchFamily="18" charset="0"/>
              </a:rPr>
              <a:t>Thompson</a:t>
            </a:r>
            <a:r>
              <a:rPr lang="zh-CN" altLang="en-US" sz="3000" dirty="0">
                <a:solidFill>
                  <a:srgbClr val="333333"/>
                </a:solidFill>
                <a:latin typeface="Helvetica Neue"/>
              </a:rPr>
              <a:t>算法</a:t>
            </a:r>
            <a:r>
              <a:rPr lang="zh-CN" altLang="en-US" sz="3000" dirty="0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zh-CN" altLang="en-US" sz="3000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29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29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29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29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29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29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29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29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29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4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3000" spc="3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3000" spc="3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=(</a:t>
            </a:r>
            <a:r>
              <a:rPr lang="en-US" altLang="zh-CN" sz="3000" i="1" spc="300" dirty="0" err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3000" spc="300" dirty="0" err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3000" i="1" spc="300" dirty="0" err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3000" spc="3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3000" spc="300" baseline="300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*</a:t>
            </a:r>
            <a:r>
              <a:rPr lang="en-US" altLang="zh-CN" sz="3000" i="1" dirty="0" err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abb</a:t>
            </a:r>
            <a:r>
              <a:rPr lang="en-US" altLang="zh-CN" sz="3000" i="1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3000" spc="3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对应的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NFA</a:t>
            </a:r>
            <a:endParaRPr lang="zh-CN" altLang="en-US" sz="3000" i="1" spc="300" dirty="0">
              <a:solidFill>
                <a:schemeClr val="tx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99331" name="组合 44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9" name="五边形 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9398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5" name="组合 16"/>
          <p:cNvGrpSpPr/>
          <p:nvPr/>
        </p:nvGrpSpPr>
        <p:grpSpPr bwMode="auto">
          <a:xfrm>
            <a:off x="2569729" y="928689"/>
            <a:ext cx="3515159" cy="471361"/>
            <a:chOff x="2569628" y="1071397"/>
            <a:chExt cx="3514540" cy="471785"/>
          </a:xfrm>
        </p:grpSpPr>
        <p:sp>
          <p:nvSpPr>
            <p:cNvPr id="99390" name="Oval 10"/>
            <p:cNvSpPr>
              <a:spLocks noChangeArrowheads="1"/>
            </p:cNvSpPr>
            <p:nvPr/>
          </p:nvSpPr>
          <p:spPr bwMode="auto">
            <a:xfrm>
              <a:off x="3545582" y="1323219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99391" name="Line 13"/>
            <p:cNvSpPr>
              <a:spLocks noChangeShapeType="1"/>
            </p:cNvSpPr>
            <p:nvPr/>
          </p:nvSpPr>
          <p:spPr bwMode="auto">
            <a:xfrm flipV="1">
              <a:off x="3723173" y="1427598"/>
              <a:ext cx="2095310" cy="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92" name="Rectangle 14"/>
            <p:cNvSpPr>
              <a:spLocks noChangeArrowheads="1"/>
            </p:cNvSpPr>
            <p:nvPr/>
          </p:nvSpPr>
          <p:spPr bwMode="auto">
            <a:xfrm>
              <a:off x="3821627" y="1071397"/>
              <a:ext cx="1780861" cy="3107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dirty="0">
                  <a:latin typeface="Times New Roman" panose="02020603050405020304" pitchFamily="18" charset="0"/>
                  <a:ea typeface="楷体_GB2312"/>
                  <a:cs typeface="楷体_GB2312"/>
                </a:rPr>
                <a:t>(</a:t>
              </a:r>
              <a:r>
                <a:rPr lang="en-US" altLang="zh-CN" sz="2000" b="1" i="1" dirty="0" err="1">
                  <a:latin typeface="Times New Roman" panose="02020603050405020304" pitchFamily="18" charset="0"/>
                  <a:ea typeface="楷体_GB2312"/>
                  <a:cs typeface="楷体_GB2312"/>
                </a:rPr>
                <a:t>a|b</a:t>
              </a:r>
              <a:r>
                <a:rPr lang="en-US" altLang="zh-CN" sz="2000" b="1" dirty="0">
                  <a:latin typeface="Times New Roman" panose="02020603050405020304" pitchFamily="18" charset="0"/>
                  <a:ea typeface="楷体_GB2312"/>
                  <a:cs typeface="楷体_GB2312"/>
                </a:rPr>
                <a:t>)</a:t>
              </a:r>
              <a:r>
                <a:rPr lang="en-US" altLang="zh-CN" sz="2000" b="1" i="1" baseline="30000" dirty="0">
                  <a:latin typeface="Times New Roman" panose="02020603050405020304" pitchFamily="18" charset="0"/>
                  <a:ea typeface="楷体_GB2312"/>
                  <a:cs typeface="楷体_GB2312"/>
                </a:rPr>
                <a:t>*</a:t>
              </a:r>
              <a:r>
                <a:rPr lang="en-US" altLang="zh-CN" sz="2000" b="1" i="1" dirty="0">
                  <a:latin typeface="Times New Roman" panose="02020603050405020304" pitchFamily="18" charset="0"/>
                  <a:ea typeface="楷体_GB2312"/>
                  <a:cs typeface="楷体_GB2312"/>
                </a:rPr>
                <a:t>abb</a:t>
              </a:r>
              <a:endParaRPr lang="en-US" altLang="zh-CN" sz="2000" b="1" dirty="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99393" name="Rectangle 22"/>
            <p:cNvSpPr>
              <a:spLocks noChangeArrowheads="1"/>
            </p:cNvSpPr>
            <p:nvPr/>
          </p:nvSpPr>
          <p:spPr bwMode="auto">
            <a:xfrm>
              <a:off x="2569628" y="1232378"/>
              <a:ext cx="659874" cy="310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  <a:endPara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99394" name="Line 21"/>
            <p:cNvSpPr>
              <a:spLocks noChangeShapeType="1"/>
            </p:cNvSpPr>
            <p:nvPr/>
          </p:nvSpPr>
          <p:spPr bwMode="auto">
            <a:xfrm flipV="1">
              <a:off x="3187595" y="1427602"/>
              <a:ext cx="3299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95" name="Oval 10"/>
            <p:cNvSpPr>
              <a:spLocks noChangeArrowheads="1"/>
            </p:cNvSpPr>
            <p:nvPr/>
          </p:nvSpPr>
          <p:spPr bwMode="auto">
            <a:xfrm>
              <a:off x="5818483" y="1262281"/>
              <a:ext cx="265685" cy="27943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4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99396" name="Oval 10"/>
            <p:cNvSpPr>
              <a:spLocks noChangeArrowheads="1"/>
            </p:cNvSpPr>
            <p:nvPr/>
          </p:nvSpPr>
          <p:spPr bwMode="auto">
            <a:xfrm>
              <a:off x="5864239" y="1315243"/>
              <a:ext cx="175142" cy="1763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</p:grpSp>
      <p:sp>
        <p:nvSpPr>
          <p:cNvPr id="181" name="下箭头 180"/>
          <p:cNvSpPr/>
          <p:nvPr/>
        </p:nvSpPr>
        <p:spPr>
          <a:xfrm>
            <a:off x="4139952" y="2415864"/>
            <a:ext cx="778548" cy="371910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*</a:t>
            </a:r>
            <a:endParaRPr lang="zh-CN" altLang="en-US" dirty="0"/>
          </a:p>
        </p:txBody>
      </p:sp>
      <p:sp>
        <p:nvSpPr>
          <p:cNvPr id="182" name="下箭头 181"/>
          <p:cNvSpPr/>
          <p:nvPr/>
        </p:nvSpPr>
        <p:spPr>
          <a:xfrm>
            <a:off x="4139952" y="3600111"/>
            <a:ext cx="857614" cy="359543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b="1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r|s</a:t>
            </a:r>
            <a:endParaRPr lang="zh-CN" altLang="en-US" sz="24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下箭头 17"/>
          <p:cNvSpPr/>
          <p:nvPr/>
        </p:nvSpPr>
        <p:spPr>
          <a:xfrm>
            <a:off x="4039179" y="1492480"/>
            <a:ext cx="820853" cy="35919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zh-CN" b="1" i="1">
                <a:solidFill>
                  <a:prstClr val="black"/>
                </a:solidFill>
                <a:latin typeface="Times New Roman" panose="02020603050405020304" pitchFamily="18" charset="0"/>
              </a:rPr>
              <a:t>rs</a:t>
            </a:r>
            <a:endParaRPr lang="zh-CN" altLang="en-US" dirty="0"/>
          </a:p>
        </p:txBody>
      </p:sp>
      <p:grpSp>
        <p:nvGrpSpPr>
          <p:cNvPr id="28" name="组合 27"/>
          <p:cNvGrpSpPr/>
          <p:nvPr/>
        </p:nvGrpSpPr>
        <p:grpSpPr>
          <a:xfrm>
            <a:off x="2339752" y="1878418"/>
            <a:ext cx="4229804" cy="618719"/>
            <a:chOff x="2583583" y="1878418"/>
            <a:chExt cx="4229804" cy="618719"/>
          </a:xfrm>
        </p:grpSpPr>
        <p:grpSp>
          <p:nvGrpSpPr>
            <p:cNvPr id="6" name="组合 12"/>
            <p:cNvGrpSpPr/>
            <p:nvPr/>
          </p:nvGrpSpPr>
          <p:grpSpPr bwMode="auto">
            <a:xfrm>
              <a:off x="2583583" y="1878418"/>
              <a:ext cx="2639557" cy="618719"/>
              <a:chOff x="2295448" y="2021762"/>
              <a:chExt cx="2639097" cy="618833"/>
            </a:xfrm>
          </p:grpSpPr>
          <p:sp>
            <p:nvSpPr>
              <p:cNvPr id="99373" name="Rectangle 14"/>
              <p:cNvSpPr>
                <a:spLocks noChangeArrowheads="1"/>
              </p:cNvSpPr>
              <p:nvPr/>
            </p:nvSpPr>
            <p:spPr bwMode="auto">
              <a:xfrm>
                <a:off x="2329494" y="2329691"/>
                <a:ext cx="659741" cy="3109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en-US" altLang="zh-CN" sz="2500" b="1"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99374" name="Rectangle 22"/>
              <p:cNvSpPr>
                <a:spLocks noChangeArrowheads="1"/>
              </p:cNvSpPr>
              <p:nvPr/>
            </p:nvSpPr>
            <p:spPr bwMode="auto">
              <a:xfrm>
                <a:off x="2295448" y="2166725"/>
                <a:ext cx="659874" cy="3108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  <a:endPara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99375" name="Line 21"/>
              <p:cNvSpPr>
                <a:spLocks noChangeShapeType="1"/>
              </p:cNvSpPr>
              <p:nvPr/>
            </p:nvSpPr>
            <p:spPr bwMode="auto">
              <a:xfrm flipV="1">
                <a:off x="2913415" y="2344120"/>
                <a:ext cx="32993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380" name="Rectangle 14"/>
              <p:cNvSpPr>
                <a:spLocks noChangeArrowheads="1"/>
              </p:cNvSpPr>
              <p:nvPr/>
            </p:nvSpPr>
            <p:spPr bwMode="auto">
              <a:xfrm>
                <a:off x="4447831" y="2021762"/>
                <a:ext cx="486546" cy="303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400" b="1" i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a</a:t>
                </a:r>
                <a:endParaRPr lang="en-US" altLang="zh-CN" sz="24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99381" name="Line 21"/>
              <p:cNvSpPr>
                <a:spLocks noChangeShapeType="1"/>
              </p:cNvSpPr>
              <p:nvPr/>
            </p:nvSpPr>
            <p:spPr bwMode="auto">
              <a:xfrm flipV="1">
                <a:off x="4473761" y="2349846"/>
                <a:ext cx="460784" cy="0"/>
              </a:xfrm>
              <a:prstGeom prst="line">
                <a:avLst/>
              </a:prstGeom>
              <a:noFill/>
              <a:ln w="25400">
                <a:solidFill>
                  <a:schemeClr val="tx2">
                    <a:lumMod val="60000"/>
                    <a:lumOff val="40000"/>
                  </a:schemeClr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382" name="Rectangle 14"/>
              <p:cNvSpPr>
                <a:spLocks noChangeArrowheads="1"/>
              </p:cNvSpPr>
              <p:nvPr/>
            </p:nvSpPr>
            <p:spPr bwMode="auto">
              <a:xfrm>
                <a:off x="3454632" y="2027387"/>
                <a:ext cx="659741" cy="3109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 (</a:t>
                </a:r>
                <a:r>
                  <a:rPr lang="en-US" altLang="zh-CN" sz="2000" b="1" i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a|b</a:t>
                </a:r>
                <a:r>
                  <a:rPr lang="en-US" altLang="zh-CN" sz="20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)</a:t>
                </a:r>
                <a:r>
                  <a:rPr lang="en-US" altLang="zh-CN" sz="2000" b="1" i="1" baseline="300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*</a:t>
                </a:r>
                <a:endParaRPr lang="en-US" altLang="zh-CN" sz="24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99383" name="Line 21"/>
              <p:cNvSpPr>
                <a:spLocks noChangeShapeType="1"/>
              </p:cNvSpPr>
              <p:nvPr/>
            </p:nvSpPr>
            <p:spPr bwMode="auto">
              <a:xfrm>
                <a:off x="3446030" y="2350515"/>
                <a:ext cx="820709" cy="0"/>
              </a:xfrm>
              <a:prstGeom prst="line">
                <a:avLst/>
              </a:prstGeom>
              <a:noFill/>
              <a:ln w="25400">
                <a:solidFill>
                  <a:srgbClr val="C00000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384" name="Oval 10"/>
              <p:cNvSpPr>
                <a:spLocks noChangeArrowheads="1"/>
              </p:cNvSpPr>
              <p:nvPr/>
            </p:nvSpPr>
            <p:spPr bwMode="auto">
              <a:xfrm>
                <a:off x="3256530" y="2259323"/>
                <a:ext cx="175142" cy="17638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C00000"/>
                </a:solidFill>
                <a:round/>
              </a:ln>
            </p:spPr>
            <p:txBody>
              <a:bodyPr wrap="none" anchor="b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en-US" altLang="zh-CN" sz="2000" b="1" i="1" baseline="-25000"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99385" name="Oval 10"/>
              <p:cNvSpPr>
                <a:spLocks noChangeArrowheads="1"/>
              </p:cNvSpPr>
              <p:nvPr/>
            </p:nvSpPr>
            <p:spPr bwMode="auto">
              <a:xfrm>
                <a:off x="4266740" y="2259323"/>
                <a:ext cx="175142" cy="17638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C00000"/>
                </a:solidFill>
                <a:round/>
              </a:ln>
            </p:spPr>
            <p:txBody>
              <a:bodyPr wrap="none" anchor="b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en-US" altLang="zh-CN" sz="2000" b="1" i="1" baseline="-25000"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</p:grpSp>
        <p:sp>
          <p:nvSpPr>
            <p:cNvPr id="124" name="Rectangle 14"/>
            <p:cNvSpPr>
              <a:spLocks noChangeArrowheads="1"/>
            </p:cNvSpPr>
            <p:nvPr/>
          </p:nvSpPr>
          <p:spPr bwMode="auto">
            <a:xfrm>
              <a:off x="6032491" y="1891688"/>
              <a:ext cx="486632" cy="303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  <a:endPara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125" name="Line 21"/>
            <p:cNvSpPr>
              <a:spLocks noChangeShapeType="1"/>
            </p:cNvSpPr>
            <p:nvPr/>
          </p:nvSpPr>
          <p:spPr bwMode="auto">
            <a:xfrm flipV="1">
              <a:off x="6088899" y="2212092"/>
              <a:ext cx="460865" cy="0"/>
            </a:xfrm>
            <a:prstGeom prst="line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Oval 10"/>
            <p:cNvSpPr>
              <a:spLocks noChangeArrowheads="1"/>
            </p:cNvSpPr>
            <p:nvPr/>
          </p:nvSpPr>
          <p:spPr bwMode="auto">
            <a:xfrm>
              <a:off x="5900143" y="2121585"/>
              <a:ext cx="175173" cy="17635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127" name="Oval 10"/>
            <p:cNvSpPr>
              <a:spLocks noChangeArrowheads="1"/>
            </p:cNvSpPr>
            <p:nvPr/>
          </p:nvSpPr>
          <p:spPr bwMode="auto">
            <a:xfrm>
              <a:off x="6547655" y="2068718"/>
              <a:ext cx="265732" cy="27938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4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128" name="Oval 10"/>
            <p:cNvSpPr>
              <a:spLocks noChangeArrowheads="1"/>
            </p:cNvSpPr>
            <p:nvPr/>
          </p:nvSpPr>
          <p:spPr bwMode="auto">
            <a:xfrm>
              <a:off x="6596155" y="2121671"/>
              <a:ext cx="175173" cy="17635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129" name="Rectangle 14"/>
            <p:cNvSpPr>
              <a:spLocks noChangeArrowheads="1"/>
            </p:cNvSpPr>
            <p:nvPr/>
          </p:nvSpPr>
          <p:spPr bwMode="auto">
            <a:xfrm>
              <a:off x="5410707" y="1878418"/>
              <a:ext cx="486632" cy="303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  <a:endPara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130" name="Line 21"/>
            <p:cNvSpPr>
              <a:spLocks noChangeShapeType="1"/>
            </p:cNvSpPr>
            <p:nvPr/>
          </p:nvSpPr>
          <p:spPr bwMode="auto">
            <a:xfrm flipV="1">
              <a:off x="5436635" y="2206442"/>
              <a:ext cx="460865" cy="0"/>
            </a:xfrm>
            <a:prstGeom prst="line">
              <a:avLst/>
            </a:prstGeom>
            <a:noFill/>
            <a:ln w="25400">
              <a:solidFill>
                <a:schemeClr val="tx2">
                  <a:lumMod val="60000"/>
                  <a:lumOff val="40000"/>
                </a:schemeClr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Oval 10"/>
            <p:cNvSpPr>
              <a:spLocks noChangeArrowheads="1"/>
            </p:cNvSpPr>
            <p:nvPr/>
          </p:nvSpPr>
          <p:spPr bwMode="auto">
            <a:xfrm>
              <a:off x="5247879" y="2115935"/>
              <a:ext cx="175173" cy="17635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2033682" y="2480422"/>
            <a:ext cx="4986590" cy="1085208"/>
            <a:chOff x="2123728" y="2480422"/>
            <a:chExt cx="4986590" cy="1085208"/>
          </a:xfrm>
        </p:grpSpPr>
        <p:grpSp>
          <p:nvGrpSpPr>
            <p:cNvPr id="23" name="组合 22"/>
            <p:cNvGrpSpPr/>
            <p:nvPr/>
          </p:nvGrpSpPr>
          <p:grpSpPr>
            <a:xfrm>
              <a:off x="2123728" y="2480422"/>
              <a:ext cx="3409982" cy="1085208"/>
              <a:chOff x="2123728" y="2480422"/>
              <a:chExt cx="3409982" cy="1085208"/>
            </a:xfrm>
          </p:grpSpPr>
          <p:grpSp>
            <p:nvGrpSpPr>
              <p:cNvPr id="22" name="组合 21"/>
              <p:cNvGrpSpPr/>
              <p:nvPr/>
            </p:nvGrpSpPr>
            <p:grpSpPr>
              <a:xfrm>
                <a:off x="2123728" y="2787774"/>
                <a:ext cx="3409982" cy="775957"/>
                <a:chOff x="2123728" y="2902505"/>
                <a:chExt cx="3409982" cy="775957"/>
              </a:xfrm>
            </p:grpSpPr>
            <p:grpSp>
              <p:nvGrpSpPr>
                <p:cNvPr id="8" name="组合 9"/>
                <p:cNvGrpSpPr/>
                <p:nvPr/>
              </p:nvGrpSpPr>
              <p:grpSpPr bwMode="auto">
                <a:xfrm>
                  <a:off x="2123728" y="3002866"/>
                  <a:ext cx="3409982" cy="657906"/>
                  <a:chOff x="2174078" y="3146263"/>
                  <a:chExt cx="3409274" cy="657599"/>
                </a:xfrm>
              </p:grpSpPr>
              <p:sp>
                <p:nvSpPr>
                  <p:cNvPr id="99357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3177367" y="3492958"/>
                    <a:ext cx="659741" cy="31090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endParaRPr lang="en-US" altLang="zh-CN" sz="2500" b="1">
                      <a:latin typeface="Times New Roman" panose="02020603050405020304" pitchFamily="18" charset="0"/>
                      <a:ea typeface="楷体_GB2312"/>
                      <a:cs typeface="楷体_GB2312"/>
                    </a:endParaRPr>
                  </a:p>
                </p:txBody>
              </p:sp>
              <p:sp>
                <p:nvSpPr>
                  <p:cNvPr id="99358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2174078" y="3323063"/>
                    <a:ext cx="659874" cy="31080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sz="20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_GB2312"/>
                        <a:cs typeface="楷体_GB2312"/>
                      </a:rPr>
                      <a:t>start</a:t>
                    </a:r>
                    <a:endParaRPr lang="en-US" altLang="zh-CN" sz="2000" b="1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endParaRPr>
                  </a:p>
                </p:txBody>
              </p:sp>
              <p:sp>
                <p:nvSpPr>
                  <p:cNvPr id="99359" name="Line 2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792044" y="3517579"/>
                    <a:ext cx="329937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99360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4439784" y="3189387"/>
                    <a:ext cx="454395" cy="28735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l-GR" altLang="zh-CN" sz="2400" b="1" i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ε</a:t>
                    </a:r>
                    <a:endParaRPr lang="en-US" altLang="zh-CN" sz="2400" b="1" dirty="0">
                      <a:solidFill>
                        <a:srgbClr val="C00000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endParaRPr>
                  </a:p>
                </p:txBody>
              </p:sp>
              <p:sp>
                <p:nvSpPr>
                  <p:cNvPr id="99363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5151435" y="3191270"/>
                    <a:ext cx="333864" cy="29407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sz="2400" b="1" i="1" dirty="0">
                        <a:latin typeface="Times New Roman" panose="02020603050405020304" pitchFamily="18" charset="0"/>
                        <a:ea typeface="楷体_GB2312"/>
                        <a:cs typeface="楷体_GB2312"/>
                      </a:rPr>
                      <a:t>a</a:t>
                    </a:r>
                    <a:endParaRPr lang="en-US" altLang="zh-CN" sz="2400" b="1" dirty="0">
                      <a:latin typeface="Times New Roman" panose="02020603050405020304" pitchFamily="18" charset="0"/>
                      <a:ea typeface="楷体_GB2312"/>
                      <a:cs typeface="楷体_GB2312"/>
                    </a:endParaRPr>
                  </a:p>
                </p:txBody>
              </p:sp>
              <p:sp>
                <p:nvSpPr>
                  <p:cNvPr id="99364" name="Line 2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110556" y="3519353"/>
                    <a:ext cx="472796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99365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3804149" y="3146263"/>
                    <a:ext cx="485430" cy="33055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sz="20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楷体_GB2312"/>
                        <a:cs typeface="楷体_GB2312"/>
                      </a:rPr>
                      <a:t> </a:t>
                    </a:r>
                    <a:r>
                      <a:rPr lang="en-US" altLang="zh-CN" sz="2000" b="1" i="1" dirty="0" err="1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楷体_GB2312"/>
                        <a:cs typeface="楷体_GB2312"/>
                      </a:rPr>
                      <a:t>a|b</a:t>
                    </a:r>
                    <a:endParaRPr lang="en-US" altLang="zh-CN" sz="2400" b="1" dirty="0">
                      <a:solidFill>
                        <a:srgbClr val="C00000"/>
                      </a:solidFill>
                      <a:latin typeface="Times New Roman" panose="02020603050405020304" pitchFamily="18" charset="0"/>
                      <a:ea typeface="楷体_GB2312"/>
                      <a:cs typeface="楷体_GB2312"/>
                    </a:endParaRPr>
                  </a:p>
                </p:txBody>
              </p:sp>
              <p:sp>
                <p:nvSpPr>
                  <p:cNvPr id="99366" name="Line 21"/>
                  <p:cNvSpPr>
                    <a:spLocks noChangeShapeType="1"/>
                  </p:cNvSpPr>
                  <p:nvPr/>
                </p:nvSpPr>
                <p:spPr bwMode="auto">
                  <a:xfrm>
                    <a:off x="4293904" y="3513782"/>
                    <a:ext cx="649936" cy="0"/>
                  </a:xfrm>
                  <a:prstGeom prst="line">
                    <a:avLst/>
                  </a:prstGeom>
                  <a:noFill/>
                  <a:ln w="25400">
                    <a:solidFill>
                      <a:srgbClr val="C00000"/>
                    </a:solidFill>
                    <a:round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99367" name="Oval 10"/>
                  <p:cNvSpPr>
                    <a:spLocks noChangeArrowheads="1"/>
                  </p:cNvSpPr>
                  <p:nvPr/>
                </p:nvSpPr>
                <p:spPr bwMode="auto">
                  <a:xfrm>
                    <a:off x="4338799" y="3422590"/>
                    <a:ext cx="175142" cy="176387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round/>
                  </a:ln>
                </p:spPr>
                <p:txBody>
                  <a:bodyPr wrap="none" anchor="b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endParaRPr lang="en-US" altLang="zh-CN" sz="2000" b="1" i="1" baseline="-25000">
                      <a:latin typeface="Times New Roman" panose="02020603050405020304" pitchFamily="18" charset="0"/>
                      <a:ea typeface="楷体_GB2312"/>
                      <a:cs typeface="楷体_GB2312"/>
                    </a:endParaRPr>
                  </a:p>
                </p:txBody>
              </p:sp>
              <p:sp>
                <p:nvSpPr>
                  <p:cNvPr id="99368" name="Oval 10"/>
                  <p:cNvSpPr>
                    <a:spLocks noChangeArrowheads="1"/>
                  </p:cNvSpPr>
                  <p:nvPr/>
                </p:nvSpPr>
                <p:spPr bwMode="auto">
                  <a:xfrm>
                    <a:off x="4943840" y="3422590"/>
                    <a:ext cx="175142" cy="176387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C00000"/>
                    </a:solidFill>
                    <a:round/>
                  </a:ln>
                </p:spPr>
                <p:txBody>
                  <a:bodyPr wrap="none" anchor="b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endParaRPr lang="en-US" altLang="zh-CN" sz="2000" b="1" i="1" baseline="-25000">
                      <a:latin typeface="Times New Roman" panose="02020603050405020304" pitchFamily="18" charset="0"/>
                      <a:ea typeface="楷体_GB2312"/>
                      <a:cs typeface="楷体_GB2312"/>
                    </a:endParaRPr>
                  </a:p>
                </p:txBody>
              </p:sp>
            </p:grpSp>
            <p:sp>
              <p:nvSpPr>
                <p:cNvPr id="75" name="Oval 10"/>
                <p:cNvSpPr>
                  <a:spLocks noChangeArrowheads="1"/>
                </p:cNvSpPr>
                <p:nvPr/>
              </p:nvSpPr>
              <p:spPr bwMode="auto">
                <a:xfrm>
                  <a:off x="3601996" y="3279596"/>
                  <a:ext cx="175178" cy="176469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rgbClr val="C00000"/>
                  </a:solidFill>
                  <a:round/>
                </a:ln>
              </p:spPr>
              <p:txBody>
                <a:bodyPr wrap="none" anchor="b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en-US" altLang="zh-CN" sz="2000" b="1" i="1" baseline="-25000">
                    <a:latin typeface="Times New Roman" panose="02020603050405020304" pitchFamily="18" charset="0"/>
                    <a:ea typeface="楷体_GB2312"/>
                    <a:cs typeface="楷体_GB2312"/>
                  </a:endParaRPr>
                </a:p>
              </p:txBody>
            </p:sp>
            <p:sp>
              <p:nvSpPr>
                <p:cNvPr id="76" name="Oval 10"/>
                <p:cNvSpPr>
                  <a:spLocks noChangeArrowheads="1"/>
                </p:cNvSpPr>
                <p:nvPr/>
              </p:nvSpPr>
              <p:spPr bwMode="auto">
                <a:xfrm>
                  <a:off x="3063305" y="3277976"/>
                  <a:ext cx="175178" cy="176469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rgbClr val="C00000"/>
                  </a:solidFill>
                  <a:round/>
                </a:ln>
              </p:spPr>
              <p:txBody>
                <a:bodyPr wrap="none" anchor="b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en-US" altLang="zh-CN" sz="2000" b="1" i="1" baseline="-25000">
                    <a:latin typeface="Times New Roman" panose="02020603050405020304" pitchFamily="18" charset="0"/>
                    <a:ea typeface="楷体_GB2312"/>
                    <a:cs typeface="楷体_GB2312"/>
                  </a:endParaRPr>
                </a:p>
              </p:txBody>
            </p:sp>
            <p:sp>
              <p:nvSpPr>
                <p:cNvPr id="77" name="Line 21"/>
                <p:cNvSpPr>
                  <a:spLocks noChangeShapeType="1"/>
                </p:cNvSpPr>
                <p:nvPr/>
              </p:nvSpPr>
              <p:spPr bwMode="auto">
                <a:xfrm flipV="1">
                  <a:off x="3247514" y="3370765"/>
                  <a:ext cx="354481" cy="0"/>
                </a:xfrm>
                <a:prstGeom prst="line">
                  <a:avLst/>
                </a:prstGeom>
                <a:noFill/>
                <a:ln w="25400">
                  <a:solidFill>
                    <a:srgbClr val="C00000"/>
                  </a:solidFill>
                  <a:round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8" name="Rectangle 14"/>
                <p:cNvSpPr>
                  <a:spLocks noChangeArrowheads="1"/>
                </p:cNvSpPr>
                <p:nvPr/>
              </p:nvSpPr>
              <p:spPr bwMode="auto">
                <a:xfrm>
                  <a:off x="3201963" y="3003066"/>
                  <a:ext cx="350361" cy="35916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l-GR" altLang="zh-CN" sz="2400" b="1" i="1" dirty="0">
                      <a:solidFill>
                        <a:srgbClr val="C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ε</a:t>
                  </a:r>
                  <a:endParaRPr lang="en-US" altLang="zh-CN" sz="24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endParaRPr>
                </a:p>
              </p:txBody>
            </p:sp>
            <p:sp>
              <p:nvSpPr>
                <p:cNvPr id="79" name="Line 21"/>
                <p:cNvSpPr>
                  <a:spLocks noChangeShapeType="1"/>
                </p:cNvSpPr>
                <p:nvPr/>
              </p:nvSpPr>
              <p:spPr bwMode="auto">
                <a:xfrm flipV="1">
                  <a:off x="3777174" y="3363838"/>
                  <a:ext cx="511725" cy="0"/>
                </a:xfrm>
                <a:prstGeom prst="line">
                  <a:avLst/>
                </a:prstGeom>
                <a:noFill/>
                <a:ln w="25400">
                  <a:solidFill>
                    <a:srgbClr val="C00000"/>
                  </a:solidFill>
                  <a:round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" name="任意多边形: 形状 16"/>
                <p:cNvSpPr/>
                <p:nvPr/>
              </p:nvSpPr>
              <p:spPr>
                <a:xfrm>
                  <a:off x="3699164" y="2902505"/>
                  <a:ext cx="678872" cy="360240"/>
                </a:xfrm>
                <a:custGeom>
                  <a:avLst/>
                  <a:gdLst>
                    <a:gd name="connsiteX0" fmla="*/ 678872 w 678872"/>
                    <a:gd name="connsiteY0" fmla="*/ 360240 h 360240"/>
                    <a:gd name="connsiteX1" fmla="*/ 339436 w 678872"/>
                    <a:gd name="connsiteY1" fmla="*/ 22 h 360240"/>
                    <a:gd name="connsiteX2" fmla="*/ 0 w 678872"/>
                    <a:gd name="connsiteY2" fmla="*/ 346386 h 3602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78872" h="360240">
                      <a:moveTo>
                        <a:pt x="678872" y="360240"/>
                      </a:moveTo>
                      <a:cubicBezTo>
                        <a:pt x="565726" y="181285"/>
                        <a:pt x="452581" y="2331"/>
                        <a:pt x="339436" y="22"/>
                      </a:cubicBezTo>
                      <a:cubicBezTo>
                        <a:pt x="226291" y="-2287"/>
                        <a:pt x="113145" y="172049"/>
                        <a:pt x="0" y="346386"/>
                      </a:cubicBezTo>
                    </a:path>
                  </a:pathLst>
                </a:custGeom>
                <a:noFill/>
                <a:ln w="19050">
                  <a:solidFill>
                    <a:srgbClr val="C00000"/>
                  </a:solidFill>
                  <a:headEnd type="none" w="med" len="med"/>
                  <a:tailEnd type="arrow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任意多边形: 形状 20"/>
                <p:cNvSpPr/>
                <p:nvPr/>
              </p:nvSpPr>
              <p:spPr>
                <a:xfrm>
                  <a:off x="3158836" y="3442855"/>
                  <a:ext cx="1856509" cy="235607"/>
                </a:xfrm>
                <a:custGeom>
                  <a:avLst/>
                  <a:gdLst>
                    <a:gd name="connsiteX0" fmla="*/ 0 w 1856509"/>
                    <a:gd name="connsiteY0" fmla="*/ 20781 h 235607"/>
                    <a:gd name="connsiteX1" fmla="*/ 983673 w 1856509"/>
                    <a:gd name="connsiteY1" fmla="*/ 235527 h 235607"/>
                    <a:gd name="connsiteX2" fmla="*/ 1856509 w 1856509"/>
                    <a:gd name="connsiteY2" fmla="*/ 0 h 2356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856509" h="235607">
                      <a:moveTo>
                        <a:pt x="0" y="20781"/>
                      </a:moveTo>
                      <a:cubicBezTo>
                        <a:pt x="337127" y="129885"/>
                        <a:pt x="674255" y="238990"/>
                        <a:pt x="983673" y="235527"/>
                      </a:cubicBezTo>
                      <a:cubicBezTo>
                        <a:pt x="1293091" y="232064"/>
                        <a:pt x="1741055" y="39255"/>
                        <a:pt x="1856509" y="0"/>
                      </a:cubicBezTo>
                    </a:path>
                  </a:pathLst>
                </a:custGeom>
                <a:noFill/>
                <a:ln w="19050">
                  <a:solidFill>
                    <a:srgbClr val="C00000"/>
                  </a:solidFill>
                  <a:headEnd type="none" w="med" len="med"/>
                  <a:tailEnd type="arrow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88" name="Rectangle 14"/>
              <p:cNvSpPr>
                <a:spLocks noChangeArrowheads="1"/>
              </p:cNvSpPr>
              <p:nvPr/>
            </p:nvSpPr>
            <p:spPr bwMode="auto">
              <a:xfrm>
                <a:off x="3900024" y="3278138"/>
                <a:ext cx="454489" cy="2874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l-GR" altLang="zh-CN" sz="2400" b="1" i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ε</a:t>
                </a:r>
                <a:endParaRPr lang="en-US" altLang="zh-CN" sz="24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89" name="Rectangle 14"/>
              <p:cNvSpPr>
                <a:spLocks noChangeArrowheads="1"/>
              </p:cNvSpPr>
              <p:nvPr/>
            </p:nvSpPr>
            <p:spPr bwMode="auto">
              <a:xfrm>
                <a:off x="3805791" y="2480422"/>
                <a:ext cx="454489" cy="2874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l-GR" altLang="zh-CN" sz="2400" b="1" i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ε</a:t>
                </a:r>
                <a:endParaRPr lang="en-US" altLang="zh-CN" sz="24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</p:grpSp>
        <p:sp>
          <p:nvSpPr>
            <p:cNvPr id="134" name="Rectangle 14"/>
            <p:cNvSpPr>
              <a:spLocks noChangeArrowheads="1"/>
            </p:cNvSpPr>
            <p:nvPr/>
          </p:nvSpPr>
          <p:spPr bwMode="auto">
            <a:xfrm>
              <a:off x="6329422" y="2941888"/>
              <a:ext cx="486632" cy="303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  <a:endParaRPr lang="en-US" altLang="zh-CN" sz="2400" b="1" dirty="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135" name="Line 21"/>
            <p:cNvSpPr>
              <a:spLocks noChangeShapeType="1"/>
            </p:cNvSpPr>
            <p:nvPr/>
          </p:nvSpPr>
          <p:spPr bwMode="auto">
            <a:xfrm flipV="1">
              <a:off x="6385830" y="3262292"/>
              <a:ext cx="46086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Oval 10"/>
            <p:cNvSpPr>
              <a:spLocks noChangeArrowheads="1"/>
            </p:cNvSpPr>
            <p:nvPr/>
          </p:nvSpPr>
          <p:spPr bwMode="auto">
            <a:xfrm>
              <a:off x="6197074" y="3171785"/>
              <a:ext cx="175173" cy="17635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137" name="Oval 10"/>
            <p:cNvSpPr>
              <a:spLocks noChangeArrowheads="1"/>
            </p:cNvSpPr>
            <p:nvPr/>
          </p:nvSpPr>
          <p:spPr bwMode="auto">
            <a:xfrm>
              <a:off x="6844586" y="3118918"/>
              <a:ext cx="265732" cy="27938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4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138" name="Oval 10"/>
            <p:cNvSpPr>
              <a:spLocks noChangeArrowheads="1"/>
            </p:cNvSpPr>
            <p:nvPr/>
          </p:nvSpPr>
          <p:spPr bwMode="auto">
            <a:xfrm>
              <a:off x="6893086" y="3171871"/>
              <a:ext cx="175173" cy="17635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139" name="Rectangle 14"/>
            <p:cNvSpPr>
              <a:spLocks noChangeArrowheads="1"/>
            </p:cNvSpPr>
            <p:nvPr/>
          </p:nvSpPr>
          <p:spPr bwMode="auto">
            <a:xfrm>
              <a:off x="5707638" y="2928618"/>
              <a:ext cx="486632" cy="303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  <a:endParaRPr lang="en-US" altLang="zh-CN" sz="2400" b="1" dirty="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140" name="Line 21"/>
            <p:cNvSpPr>
              <a:spLocks noChangeShapeType="1"/>
            </p:cNvSpPr>
            <p:nvPr/>
          </p:nvSpPr>
          <p:spPr bwMode="auto">
            <a:xfrm flipV="1">
              <a:off x="5733566" y="3256642"/>
              <a:ext cx="46086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Oval 10"/>
            <p:cNvSpPr>
              <a:spLocks noChangeArrowheads="1"/>
            </p:cNvSpPr>
            <p:nvPr/>
          </p:nvSpPr>
          <p:spPr bwMode="auto">
            <a:xfrm>
              <a:off x="5544810" y="3166135"/>
              <a:ext cx="175173" cy="17635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2078942" y="3795886"/>
            <a:ext cx="4941330" cy="1272852"/>
            <a:chOff x="2139805" y="3809988"/>
            <a:chExt cx="4941330" cy="1272852"/>
          </a:xfrm>
        </p:grpSpPr>
        <p:grpSp>
          <p:nvGrpSpPr>
            <p:cNvPr id="27" name="组合 26"/>
            <p:cNvGrpSpPr/>
            <p:nvPr/>
          </p:nvGrpSpPr>
          <p:grpSpPr>
            <a:xfrm>
              <a:off x="2139805" y="3809988"/>
              <a:ext cx="3376077" cy="1272852"/>
              <a:chOff x="2139805" y="3809988"/>
              <a:chExt cx="3376077" cy="1272852"/>
            </a:xfrm>
          </p:grpSpPr>
          <p:grpSp>
            <p:nvGrpSpPr>
              <p:cNvPr id="91" name="组合 90"/>
              <p:cNvGrpSpPr/>
              <p:nvPr/>
            </p:nvGrpSpPr>
            <p:grpSpPr>
              <a:xfrm>
                <a:off x="2139805" y="3809988"/>
                <a:ext cx="3376077" cy="1272852"/>
                <a:chOff x="2123728" y="2480422"/>
                <a:chExt cx="3376077" cy="1272852"/>
              </a:xfrm>
            </p:grpSpPr>
            <p:grpSp>
              <p:nvGrpSpPr>
                <p:cNvPr id="92" name="组合 91"/>
                <p:cNvGrpSpPr/>
                <p:nvPr/>
              </p:nvGrpSpPr>
              <p:grpSpPr>
                <a:xfrm>
                  <a:off x="2123728" y="2770681"/>
                  <a:ext cx="3376077" cy="982593"/>
                  <a:chOff x="2123728" y="2885412"/>
                  <a:chExt cx="3376077" cy="982593"/>
                </a:xfrm>
              </p:grpSpPr>
              <p:grpSp>
                <p:nvGrpSpPr>
                  <p:cNvPr id="95" name="组合 9"/>
                  <p:cNvGrpSpPr/>
                  <p:nvPr/>
                </p:nvGrpSpPr>
                <p:grpSpPr bwMode="auto">
                  <a:xfrm>
                    <a:off x="2123728" y="2899525"/>
                    <a:ext cx="3376077" cy="761242"/>
                    <a:chOff x="2174078" y="3042974"/>
                    <a:chExt cx="3375374" cy="760888"/>
                  </a:xfrm>
                </p:grpSpPr>
                <p:sp>
                  <p:nvSpPr>
                    <p:cNvPr id="103" name="Rectangle 1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77367" y="3492958"/>
                      <a:ext cx="659741" cy="31090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/>
                      <a:endParaRPr lang="en-US" altLang="zh-CN" sz="2500" b="1">
                        <a:latin typeface="Times New Roman" panose="02020603050405020304" pitchFamily="18" charset="0"/>
                        <a:ea typeface="楷体_GB2312"/>
                        <a:cs typeface="楷体_GB2312"/>
                      </a:endParaRPr>
                    </a:p>
                  </p:txBody>
                </p:sp>
                <p:sp>
                  <p:nvSpPr>
                    <p:cNvPr id="104" name="Rectangle 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74078" y="3323063"/>
                      <a:ext cx="659874" cy="31080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_GB2312"/>
                          <a:cs typeface="楷体_GB2312"/>
                        </a:rPr>
                        <a:t>start</a:t>
                      </a:r>
                      <a:endParaRPr lang="en-US" altLang="zh-CN" sz="20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_GB2312"/>
                        <a:cs typeface="楷体_GB2312"/>
                      </a:endParaRPr>
                    </a:p>
                  </p:txBody>
                </p:sp>
                <p:sp>
                  <p:nvSpPr>
                    <p:cNvPr id="105" name="Line 21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792044" y="3517579"/>
                      <a:ext cx="329937" cy="0"/>
                    </a:xfrm>
                    <a:prstGeom prst="lin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tailEnd type="stealth" w="lg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6" name="Rectangle 1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39784" y="3189387"/>
                      <a:ext cx="454395" cy="28735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/>
                      <a:r>
                        <a:rPr lang="el-GR" altLang="zh-CN" sz="24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ε</a:t>
                      </a:r>
                      <a:endParaRPr lang="en-US" altLang="zh-CN" sz="2400" b="1" dirty="0">
                        <a:latin typeface="Times New Roman" panose="02020603050405020304" pitchFamily="18" charset="0"/>
                        <a:ea typeface="楷体_GB2312"/>
                        <a:cs typeface="楷体_GB2312"/>
                      </a:endParaRPr>
                    </a:p>
                  </p:txBody>
                </p:sp>
                <p:sp>
                  <p:nvSpPr>
                    <p:cNvPr id="109" name="Rectangle 1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117532" y="3183654"/>
                      <a:ext cx="333864" cy="29407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/>
                      <a:r>
                        <a:rPr lang="en-US" altLang="zh-CN" sz="2400" b="1" i="1" dirty="0">
                          <a:latin typeface="Times New Roman" panose="02020603050405020304" pitchFamily="18" charset="0"/>
                          <a:ea typeface="楷体_GB2312"/>
                          <a:cs typeface="楷体_GB2312"/>
                        </a:rPr>
                        <a:t>a</a:t>
                      </a:r>
                      <a:endParaRPr lang="en-US" altLang="zh-CN" sz="2400" b="1" dirty="0">
                        <a:latin typeface="Times New Roman" panose="02020603050405020304" pitchFamily="18" charset="0"/>
                        <a:ea typeface="楷体_GB2312"/>
                        <a:cs typeface="楷体_GB2312"/>
                      </a:endParaRPr>
                    </a:p>
                  </p:txBody>
                </p:sp>
                <p:sp>
                  <p:nvSpPr>
                    <p:cNvPr id="110" name="Line 21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5076656" y="3511736"/>
                      <a:ext cx="472796" cy="0"/>
                    </a:xfrm>
                    <a:prstGeom prst="lin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tailEnd type="stealth" w="lg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11" name="Rectangle 1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09561" y="3042974"/>
                      <a:ext cx="136547" cy="32406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/>
                      <a:r>
                        <a:rPr lang="en-US" altLang="zh-CN" sz="20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楷体_GB2312"/>
                          <a:cs typeface="楷体_GB2312"/>
                        </a:rPr>
                        <a:t> </a:t>
                      </a:r>
                      <a:r>
                        <a:rPr lang="en-US" altLang="zh-CN" sz="2000" b="1" i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楷体_GB2312"/>
                          <a:cs typeface="楷体_GB2312"/>
                        </a:rPr>
                        <a:t>a</a:t>
                      </a:r>
                      <a:endParaRPr lang="en-US" altLang="zh-CN" sz="24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楷体_GB2312"/>
                        <a:cs typeface="楷体_GB2312"/>
                      </a:endParaRPr>
                    </a:p>
                  </p:txBody>
                </p:sp>
                <p:sp>
                  <p:nvSpPr>
                    <p:cNvPr id="112" name="Line 2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497867" y="3513782"/>
                      <a:ext cx="445973" cy="0"/>
                    </a:xfrm>
                    <a:prstGeom prst="lin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tailEnd type="stealth" w="lg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13" name="Oval 1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38799" y="3422590"/>
                      <a:ext cx="175142" cy="176387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chemeClr val="tx1"/>
                      </a:solidFill>
                      <a:round/>
                    </a:ln>
                  </p:spPr>
                  <p:txBody>
                    <a:bodyPr wrap="none" anchor="b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/>
                      <a:endParaRPr lang="en-US" altLang="zh-CN" sz="2000" b="1" i="1" baseline="-25000">
                        <a:latin typeface="Times New Roman" panose="02020603050405020304" pitchFamily="18" charset="0"/>
                        <a:ea typeface="楷体_GB2312"/>
                        <a:cs typeface="楷体_GB2312"/>
                      </a:endParaRPr>
                    </a:p>
                  </p:txBody>
                </p:sp>
                <p:sp>
                  <p:nvSpPr>
                    <p:cNvPr id="114" name="Oval 1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943840" y="3422590"/>
                      <a:ext cx="175142" cy="176387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chemeClr val="tx1"/>
                      </a:solidFill>
                      <a:round/>
                    </a:ln>
                  </p:spPr>
                  <p:txBody>
                    <a:bodyPr wrap="none" anchor="b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/>
                      <a:endParaRPr lang="en-US" altLang="zh-CN" sz="2000" b="1" i="1" baseline="-25000">
                        <a:latin typeface="Times New Roman" panose="02020603050405020304" pitchFamily="18" charset="0"/>
                        <a:ea typeface="楷体_GB2312"/>
                        <a:cs typeface="楷体_GB2312"/>
                      </a:endParaRPr>
                    </a:p>
                  </p:txBody>
                </p:sp>
              </p:grpSp>
              <p:sp>
                <p:nvSpPr>
                  <p:cNvPr id="96" name="Oval 10"/>
                  <p:cNvSpPr>
                    <a:spLocks noChangeArrowheads="1"/>
                  </p:cNvSpPr>
                  <p:nvPr/>
                </p:nvSpPr>
                <p:spPr bwMode="auto">
                  <a:xfrm>
                    <a:off x="3601996" y="3279596"/>
                    <a:ext cx="175178" cy="176469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C00000"/>
                    </a:solidFill>
                    <a:round/>
                  </a:ln>
                </p:spPr>
                <p:txBody>
                  <a:bodyPr wrap="none" anchor="b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endParaRPr lang="en-US" altLang="zh-CN" sz="2000" b="1" i="1" baseline="-25000">
                      <a:latin typeface="Times New Roman" panose="02020603050405020304" pitchFamily="18" charset="0"/>
                      <a:ea typeface="楷体_GB2312"/>
                      <a:cs typeface="楷体_GB2312"/>
                    </a:endParaRPr>
                  </a:p>
                </p:txBody>
              </p:sp>
              <p:sp>
                <p:nvSpPr>
                  <p:cNvPr id="97" name="Oval 10"/>
                  <p:cNvSpPr>
                    <a:spLocks noChangeArrowheads="1"/>
                  </p:cNvSpPr>
                  <p:nvPr/>
                </p:nvSpPr>
                <p:spPr bwMode="auto">
                  <a:xfrm>
                    <a:off x="3063305" y="3277976"/>
                    <a:ext cx="175178" cy="176469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round/>
                  </a:ln>
                </p:spPr>
                <p:txBody>
                  <a:bodyPr wrap="none" anchor="b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endParaRPr lang="en-US" altLang="zh-CN" sz="2000" b="1" i="1" baseline="-25000">
                      <a:latin typeface="Times New Roman" panose="02020603050405020304" pitchFamily="18" charset="0"/>
                      <a:ea typeface="楷体_GB2312"/>
                      <a:cs typeface="楷体_GB2312"/>
                    </a:endParaRPr>
                  </a:p>
                </p:txBody>
              </p:sp>
              <p:sp>
                <p:nvSpPr>
                  <p:cNvPr id="98" name="Line 2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247514" y="3370765"/>
                    <a:ext cx="354481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99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3201963" y="3003066"/>
                    <a:ext cx="350361" cy="35916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l-GR" altLang="zh-CN" sz="24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ε</a:t>
                    </a:r>
                    <a:endParaRPr lang="en-US" altLang="zh-CN" sz="2400" b="1" dirty="0">
                      <a:latin typeface="Times New Roman" panose="02020603050405020304" pitchFamily="18" charset="0"/>
                      <a:ea typeface="楷体_GB2312"/>
                      <a:cs typeface="楷体_GB2312"/>
                    </a:endParaRPr>
                  </a:p>
                </p:txBody>
              </p:sp>
              <p:sp>
                <p:nvSpPr>
                  <p:cNvPr id="101" name="任意多边形: 形状 100"/>
                  <p:cNvSpPr/>
                  <p:nvPr/>
                </p:nvSpPr>
                <p:spPr>
                  <a:xfrm>
                    <a:off x="3650397" y="2885412"/>
                    <a:ext cx="797603" cy="439033"/>
                  </a:xfrm>
                  <a:custGeom>
                    <a:avLst/>
                    <a:gdLst>
                      <a:gd name="connsiteX0" fmla="*/ 678872 w 678872"/>
                      <a:gd name="connsiteY0" fmla="*/ 360240 h 360240"/>
                      <a:gd name="connsiteX1" fmla="*/ 339436 w 678872"/>
                      <a:gd name="connsiteY1" fmla="*/ 22 h 360240"/>
                      <a:gd name="connsiteX2" fmla="*/ 0 w 678872"/>
                      <a:gd name="connsiteY2" fmla="*/ 346386 h 3602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678872" h="360240">
                        <a:moveTo>
                          <a:pt x="678872" y="360240"/>
                        </a:moveTo>
                        <a:cubicBezTo>
                          <a:pt x="565726" y="181285"/>
                          <a:pt x="452581" y="2331"/>
                          <a:pt x="339436" y="22"/>
                        </a:cubicBezTo>
                        <a:cubicBezTo>
                          <a:pt x="226291" y="-2287"/>
                          <a:pt x="113145" y="172049"/>
                          <a:pt x="0" y="346386"/>
                        </a:cubicBez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headEnd type="none" w="med" len="med"/>
                    <a:tailEnd type="arrow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02" name="任意多边形: 形状 101"/>
                  <p:cNvSpPr/>
                  <p:nvPr/>
                </p:nvSpPr>
                <p:spPr>
                  <a:xfrm>
                    <a:off x="3222406" y="3378806"/>
                    <a:ext cx="1680017" cy="489199"/>
                  </a:xfrm>
                  <a:custGeom>
                    <a:avLst/>
                    <a:gdLst>
                      <a:gd name="connsiteX0" fmla="*/ 0 w 1856509"/>
                      <a:gd name="connsiteY0" fmla="*/ 20781 h 235607"/>
                      <a:gd name="connsiteX1" fmla="*/ 983673 w 1856509"/>
                      <a:gd name="connsiteY1" fmla="*/ 235527 h 235607"/>
                      <a:gd name="connsiteX2" fmla="*/ 1856509 w 1856509"/>
                      <a:gd name="connsiteY2" fmla="*/ 0 h 2356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856509" h="235607">
                        <a:moveTo>
                          <a:pt x="0" y="20781"/>
                        </a:moveTo>
                        <a:cubicBezTo>
                          <a:pt x="337127" y="129885"/>
                          <a:pt x="674255" y="238990"/>
                          <a:pt x="983673" y="235527"/>
                        </a:cubicBezTo>
                        <a:cubicBezTo>
                          <a:pt x="1293091" y="232064"/>
                          <a:pt x="1741055" y="39255"/>
                          <a:pt x="1856509" y="0"/>
                        </a:cubicBez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headEnd type="none" w="med" len="med"/>
                    <a:tailEnd type="arrow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93" name="Rectangle 14"/>
                <p:cNvSpPr>
                  <a:spLocks noChangeArrowheads="1"/>
                </p:cNvSpPr>
                <p:nvPr/>
              </p:nvSpPr>
              <p:spPr bwMode="auto">
                <a:xfrm>
                  <a:off x="3914641" y="3424616"/>
                  <a:ext cx="454489" cy="2874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l-GR" altLang="zh-CN" sz="24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ε</a:t>
                  </a:r>
                  <a:endParaRPr lang="en-US" altLang="zh-CN" sz="2400" b="1" dirty="0">
                    <a:latin typeface="Times New Roman" panose="02020603050405020304" pitchFamily="18" charset="0"/>
                    <a:ea typeface="楷体_GB2312"/>
                    <a:cs typeface="楷体_GB2312"/>
                  </a:endParaRPr>
                </a:p>
              </p:txBody>
            </p:sp>
            <p:sp>
              <p:nvSpPr>
                <p:cNvPr id="94" name="Rectangle 14"/>
                <p:cNvSpPr>
                  <a:spLocks noChangeArrowheads="1"/>
                </p:cNvSpPr>
                <p:nvPr/>
              </p:nvSpPr>
              <p:spPr bwMode="auto">
                <a:xfrm>
                  <a:off x="3805791" y="2480422"/>
                  <a:ext cx="454489" cy="2874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l-GR" altLang="zh-CN" sz="24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ε</a:t>
                  </a:r>
                  <a:endParaRPr lang="en-US" altLang="zh-CN" sz="2400" b="1" dirty="0">
                    <a:latin typeface="Times New Roman" panose="02020603050405020304" pitchFamily="18" charset="0"/>
                    <a:ea typeface="楷体_GB2312"/>
                    <a:cs typeface="楷体_GB2312"/>
                  </a:endParaRPr>
                </a:p>
              </p:txBody>
            </p:sp>
          </p:grpSp>
          <p:sp>
            <p:nvSpPr>
              <p:cNvPr id="26" name="任意多边形: 形状 25"/>
              <p:cNvSpPr/>
              <p:nvPr/>
            </p:nvSpPr>
            <p:spPr>
              <a:xfrm>
                <a:off x="3706091" y="4655127"/>
                <a:ext cx="671945" cy="124779"/>
              </a:xfrm>
              <a:custGeom>
                <a:avLst/>
                <a:gdLst>
                  <a:gd name="connsiteX0" fmla="*/ 0 w 713509"/>
                  <a:gd name="connsiteY0" fmla="*/ 0 h 124773"/>
                  <a:gd name="connsiteX1" fmla="*/ 360218 w 713509"/>
                  <a:gd name="connsiteY1" fmla="*/ 124691 h 124773"/>
                  <a:gd name="connsiteX2" fmla="*/ 713509 w 713509"/>
                  <a:gd name="connsiteY2" fmla="*/ 20782 h 124773"/>
                  <a:gd name="connsiteX3" fmla="*/ 713509 w 713509"/>
                  <a:gd name="connsiteY3" fmla="*/ 20782 h 1247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3509" h="124773">
                    <a:moveTo>
                      <a:pt x="0" y="0"/>
                    </a:moveTo>
                    <a:cubicBezTo>
                      <a:pt x="120650" y="60613"/>
                      <a:pt x="241300" y="121227"/>
                      <a:pt x="360218" y="124691"/>
                    </a:cubicBezTo>
                    <a:cubicBezTo>
                      <a:pt x="479136" y="128155"/>
                      <a:pt x="713509" y="20782"/>
                      <a:pt x="713509" y="20782"/>
                    </a:cubicBezTo>
                    <a:lnTo>
                      <a:pt x="713509" y="20782"/>
                    </a:lnTo>
                  </a:path>
                </a:pathLst>
              </a:custGeom>
              <a:noFill/>
              <a:ln w="19050">
                <a:solidFill>
                  <a:srgbClr val="C00000"/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1" name="任意多边形: 形状 120"/>
              <p:cNvSpPr/>
              <p:nvPr/>
            </p:nvSpPr>
            <p:spPr>
              <a:xfrm flipV="1">
                <a:off x="3742971" y="4408857"/>
                <a:ext cx="671945" cy="107782"/>
              </a:xfrm>
              <a:custGeom>
                <a:avLst/>
                <a:gdLst>
                  <a:gd name="connsiteX0" fmla="*/ 0 w 713509"/>
                  <a:gd name="connsiteY0" fmla="*/ 0 h 124773"/>
                  <a:gd name="connsiteX1" fmla="*/ 360218 w 713509"/>
                  <a:gd name="connsiteY1" fmla="*/ 124691 h 124773"/>
                  <a:gd name="connsiteX2" fmla="*/ 713509 w 713509"/>
                  <a:gd name="connsiteY2" fmla="*/ 20782 h 124773"/>
                  <a:gd name="connsiteX3" fmla="*/ 713509 w 713509"/>
                  <a:gd name="connsiteY3" fmla="*/ 20782 h 1247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3509" h="124773">
                    <a:moveTo>
                      <a:pt x="0" y="0"/>
                    </a:moveTo>
                    <a:cubicBezTo>
                      <a:pt x="120650" y="60613"/>
                      <a:pt x="241300" y="121227"/>
                      <a:pt x="360218" y="124691"/>
                    </a:cubicBezTo>
                    <a:cubicBezTo>
                      <a:pt x="479136" y="128155"/>
                      <a:pt x="713509" y="20782"/>
                      <a:pt x="713509" y="20782"/>
                    </a:cubicBezTo>
                    <a:lnTo>
                      <a:pt x="713509" y="20782"/>
                    </a:lnTo>
                  </a:path>
                </a:pathLst>
              </a:custGeom>
              <a:noFill/>
              <a:ln w="19050">
                <a:solidFill>
                  <a:srgbClr val="C00000"/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2" name="Rectangle 14"/>
              <p:cNvSpPr>
                <a:spLocks noChangeArrowheads="1"/>
              </p:cNvSpPr>
              <p:nvPr/>
            </p:nvSpPr>
            <p:spPr bwMode="auto">
              <a:xfrm>
                <a:off x="3801175" y="4473289"/>
                <a:ext cx="485531" cy="3307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 </a:t>
                </a:r>
                <a:r>
                  <a:rPr lang="en-US" altLang="zh-CN" sz="2000" b="1" i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  <a:endParaRPr lang="en-US" altLang="zh-CN" sz="24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</p:grpSp>
        <p:sp>
          <p:nvSpPr>
            <p:cNvPr id="142" name="Rectangle 14"/>
            <p:cNvSpPr>
              <a:spLocks noChangeArrowheads="1"/>
            </p:cNvSpPr>
            <p:nvPr/>
          </p:nvSpPr>
          <p:spPr bwMode="auto">
            <a:xfrm>
              <a:off x="6300239" y="4268375"/>
              <a:ext cx="486632" cy="303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  <a:endParaRPr lang="en-US" altLang="zh-CN" sz="2400" b="1" dirty="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143" name="Line 21"/>
            <p:cNvSpPr>
              <a:spLocks noChangeShapeType="1"/>
            </p:cNvSpPr>
            <p:nvPr/>
          </p:nvSpPr>
          <p:spPr bwMode="auto">
            <a:xfrm flipV="1">
              <a:off x="6356647" y="4588779"/>
              <a:ext cx="46086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" name="Oval 10"/>
            <p:cNvSpPr>
              <a:spLocks noChangeArrowheads="1"/>
            </p:cNvSpPr>
            <p:nvPr/>
          </p:nvSpPr>
          <p:spPr bwMode="auto">
            <a:xfrm>
              <a:off x="6167891" y="4498272"/>
              <a:ext cx="175173" cy="17635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145" name="Oval 10"/>
            <p:cNvSpPr>
              <a:spLocks noChangeArrowheads="1"/>
            </p:cNvSpPr>
            <p:nvPr/>
          </p:nvSpPr>
          <p:spPr bwMode="auto">
            <a:xfrm>
              <a:off x="6815403" y="4445405"/>
              <a:ext cx="265732" cy="27938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4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146" name="Oval 10"/>
            <p:cNvSpPr>
              <a:spLocks noChangeArrowheads="1"/>
            </p:cNvSpPr>
            <p:nvPr/>
          </p:nvSpPr>
          <p:spPr bwMode="auto">
            <a:xfrm>
              <a:off x="6856283" y="4498358"/>
              <a:ext cx="175173" cy="17635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147" name="Rectangle 14"/>
            <p:cNvSpPr>
              <a:spLocks noChangeArrowheads="1"/>
            </p:cNvSpPr>
            <p:nvPr/>
          </p:nvSpPr>
          <p:spPr bwMode="auto">
            <a:xfrm>
              <a:off x="5678455" y="4255105"/>
              <a:ext cx="486632" cy="303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  <a:endParaRPr lang="en-US" altLang="zh-CN" sz="2400" b="1" dirty="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148" name="Line 21"/>
            <p:cNvSpPr>
              <a:spLocks noChangeShapeType="1"/>
            </p:cNvSpPr>
            <p:nvPr/>
          </p:nvSpPr>
          <p:spPr bwMode="auto">
            <a:xfrm flipV="1">
              <a:off x="5704383" y="4583129"/>
              <a:ext cx="46086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Oval 10"/>
            <p:cNvSpPr>
              <a:spLocks noChangeArrowheads="1"/>
            </p:cNvSpPr>
            <p:nvPr/>
          </p:nvSpPr>
          <p:spPr bwMode="auto">
            <a:xfrm>
              <a:off x="5515627" y="4492622"/>
              <a:ext cx="175173" cy="17635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 bldLvl="0" animBg="1"/>
      <p:bldP spid="182" grpId="0" bldLvl="0" animBg="1"/>
      <p:bldP spid="18" grpId="0" bldLvl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755576" y="1930996"/>
            <a:ext cx="7416824" cy="2322320"/>
          </a:xfrm>
        </p:spPr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基础定义： </a:t>
            </a:r>
            <a:r>
              <a:rPr lang="en-US" altLang="zh-CN" i="1" dirty="0">
                <a:cs typeface="Times New Roman" panose="02020603050405020304" pitchFamily="18" charset="0"/>
              </a:rPr>
              <a:t>ε</a:t>
            </a:r>
            <a:r>
              <a:rPr lang="en-US" altLang="zh-CN" dirty="0">
                <a:cs typeface="Times New Roman" panose="02020603050405020304" pitchFamily="18" charset="0"/>
              </a:rPr>
              <a:t>-</a:t>
            </a:r>
            <a:r>
              <a:rPr lang="zh-CN" altLang="en-US" dirty="0">
                <a:cs typeface="Times New Roman" panose="02020603050405020304" pitchFamily="18" charset="0"/>
              </a:rPr>
              <a:t>闭包</a:t>
            </a:r>
            <a:endParaRPr lang="zh-CN" altLang="en-US" dirty="0"/>
          </a:p>
        </p:txBody>
      </p:sp>
      <p:sp>
        <p:nvSpPr>
          <p:cNvPr id="45058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例：</a:t>
            </a:r>
            <a:r>
              <a:rPr lang="zh-CN" altLang="en-US" sz="3000" spc="3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从带有</a:t>
            </a:r>
            <a:r>
              <a:rPr lang="en-US" altLang="zh-CN" sz="32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ε</a:t>
            </a:r>
            <a:r>
              <a:rPr lang="en-US" altLang="zh-CN" sz="3000" spc="3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3000" i="1" spc="3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NFA</a:t>
            </a:r>
            <a:r>
              <a:rPr lang="zh-CN" altLang="en-US" sz="3000" spc="3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3000" i="1" spc="3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  <a:r>
              <a:rPr lang="zh-CN" altLang="en-US" sz="3000" spc="3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的转换</a:t>
            </a:r>
            <a:endParaRPr lang="zh-CN" altLang="en-US" sz="3000" spc="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187" name="Oval 10"/>
          <p:cNvSpPr>
            <a:spLocks noChangeArrowheads="1"/>
          </p:cNvSpPr>
          <p:nvPr/>
        </p:nvSpPr>
        <p:spPr bwMode="auto">
          <a:xfrm>
            <a:off x="4077444" y="1378545"/>
            <a:ext cx="376238" cy="32226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A</a:t>
            </a:r>
            <a:endParaRPr lang="en-US" altLang="zh-CN" b="1" i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03428" name="Freeform 11"/>
          <p:cNvSpPr/>
          <p:nvPr/>
        </p:nvSpPr>
        <p:spPr bwMode="auto">
          <a:xfrm>
            <a:off x="4066332" y="1153120"/>
            <a:ext cx="382587" cy="225425"/>
          </a:xfrm>
          <a:custGeom>
            <a:avLst/>
            <a:gdLst>
              <a:gd name="T0" fmla="*/ 2147483646 w 241"/>
              <a:gd name="T1" fmla="*/ 2147483646 h 189"/>
              <a:gd name="T2" fmla="*/ 2147483646 w 241"/>
              <a:gd name="T3" fmla="*/ 2147483646 h 189"/>
              <a:gd name="T4" fmla="*/ 2147483646 w 241"/>
              <a:gd name="T5" fmla="*/ 2147483646 h 189"/>
              <a:gd name="T6" fmla="*/ 2147483646 w 241"/>
              <a:gd name="T7" fmla="*/ 2147483646 h 189"/>
              <a:gd name="T8" fmla="*/ 2147483646 w 241"/>
              <a:gd name="T9" fmla="*/ 2147483646 h 18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1"/>
              <a:gd name="T16" fmla="*/ 0 h 189"/>
              <a:gd name="T17" fmla="*/ 241 w 241"/>
              <a:gd name="T18" fmla="*/ 189 h 18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1" h="189">
                <a:moveTo>
                  <a:pt x="52" y="189"/>
                </a:moveTo>
                <a:cubicBezTo>
                  <a:pt x="26" y="181"/>
                  <a:pt x="0" y="173"/>
                  <a:pt x="7" y="143"/>
                </a:cubicBezTo>
                <a:cubicBezTo>
                  <a:pt x="14" y="113"/>
                  <a:pt x="59" y="14"/>
                  <a:pt x="97" y="7"/>
                </a:cubicBezTo>
                <a:cubicBezTo>
                  <a:pt x="135" y="0"/>
                  <a:pt x="225" y="68"/>
                  <a:pt x="233" y="98"/>
                </a:cubicBezTo>
                <a:cubicBezTo>
                  <a:pt x="241" y="128"/>
                  <a:pt x="192" y="158"/>
                  <a:pt x="143" y="189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429" name="Rectangle 12"/>
          <p:cNvSpPr>
            <a:spLocks noChangeArrowheads="1"/>
          </p:cNvSpPr>
          <p:nvPr/>
        </p:nvSpPr>
        <p:spPr bwMode="auto">
          <a:xfrm>
            <a:off x="4004419" y="914995"/>
            <a:ext cx="5048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0</a:t>
            </a:r>
            <a:endParaRPr lang="en-US" altLang="zh-CN" b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03430" name="Line 13"/>
          <p:cNvSpPr>
            <a:spLocks noChangeShapeType="1"/>
          </p:cNvSpPr>
          <p:nvPr/>
        </p:nvSpPr>
        <p:spPr bwMode="auto">
          <a:xfrm>
            <a:off x="4436219" y="1540470"/>
            <a:ext cx="5048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431" name="Rectangle 14"/>
          <p:cNvSpPr>
            <a:spLocks noChangeArrowheads="1"/>
          </p:cNvSpPr>
          <p:nvPr/>
        </p:nvSpPr>
        <p:spPr bwMode="auto">
          <a:xfrm>
            <a:off x="4436219" y="1216620"/>
            <a:ext cx="504825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ε</a:t>
            </a:r>
            <a:endParaRPr lang="en-US" altLang="zh-CN" b="1" i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93192" name="Oval 15"/>
          <p:cNvSpPr>
            <a:spLocks noChangeArrowheads="1"/>
          </p:cNvSpPr>
          <p:nvPr/>
        </p:nvSpPr>
        <p:spPr bwMode="auto">
          <a:xfrm>
            <a:off x="4941044" y="1378545"/>
            <a:ext cx="369888" cy="32226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endParaRPr lang="en-US" altLang="zh-CN" b="1" i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03433" name="Line 16"/>
          <p:cNvSpPr>
            <a:spLocks noChangeShapeType="1"/>
          </p:cNvSpPr>
          <p:nvPr/>
        </p:nvSpPr>
        <p:spPr bwMode="auto">
          <a:xfrm>
            <a:off x="5299819" y="1540470"/>
            <a:ext cx="5048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434" name="Rectangle 17"/>
          <p:cNvSpPr>
            <a:spLocks noChangeArrowheads="1"/>
          </p:cNvSpPr>
          <p:nvPr/>
        </p:nvSpPr>
        <p:spPr bwMode="auto">
          <a:xfrm>
            <a:off x="5299819" y="1270595"/>
            <a:ext cx="504825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ε</a:t>
            </a:r>
            <a:endParaRPr lang="en-US" altLang="zh-CN" b="1" i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93195" name="Oval 18"/>
          <p:cNvSpPr>
            <a:spLocks noChangeArrowheads="1"/>
          </p:cNvSpPr>
          <p:nvPr/>
        </p:nvSpPr>
        <p:spPr bwMode="auto">
          <a:xfrm>
            <a:off x="5877669" y="1378545"/>
            <a:ext cx="361950" cy="32226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C</a:t>
            </a:r>
            <a:endParaRPr lang="en-US" altLang="zh-CN" b="1" i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03436" name="Freeform 19"/>
          <p:cNvSpPr/>
          <p:nvPr/>
        </p:nvSpPr>
        <p:spPr bwMode="auto">
          <a:xfrm>
            <a:off x="4929932" y="1153120"/>
            <a:ext cx="382587" cy="223838"/>
          </a:xfrm>
          <a:custGeom>
            <a:avLst/>
            <a:gdLst>
              <a:gd name="T0" fmla="*/ 2147483646 w 241"/>
              <a:gd name="T1" fmla="*/ 2147483646 h 189"/>
              <a:gd name="T2" fmla="*/ 2147483646 w 241"/>
              <a:gd name="T3" fmla="*/ 2147483646 h 189"/>
              <a:gd name="T4" fmla="*/ 2147483646 w 241"/>
              <a:gd name="T5" fmla="*/ 2147483646 h 189"/>
              <a:gd name="T6" fmla="*/ 2147483646 w 241"/>
              <a:gd name="T7" fmla="*/ 2147483646 h 189"/>
              <a:gd name="T8" fmla="*/ 2147483646 w 241"/>
              <a:gd name="T9" fmla="*/ 2147483646 h 18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1"/>
              <a:gd name="T16" fmla="*/ 0 h 189"/>
              <a:gd name="T17" fmla="*/ 241 w 241"/>
              <a:gd name="T18" fmla="*/ 189 h 18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1" h="189">
                <a:moveTo>
                  <a:pt x="52" y="189"/>
                </a:moveTo>
                <a:cubicBezTo>
                  <a:pt x="26" y="181"/>
                  <a:pt x="0" y="173"/>
                  <a:pt x="7" y="143"/>
                </a:cubicBezTo>
                <a:cubicBezTo>
                  <a:pt x="14" y="113"/>
                  <a:pt x="59" y="14"/>
                  <a:pt x="97" y="7"/>
                </a:cubicBezTo>
                <a:cubicBezTo>
                  <a:pt x="135" y="0"/>
                  <a:pt x="225" y="68"/>
                  <a:pt x="233" y="98"/>
                </a:cubicBezTo>
                <a:cubicBezTo>
                  <a:pt x="241" y="128"/>
                  <a:pt x="192" y="158"/>
                  <a:pt x="143" y="189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437" name="Rectangle 20"/>
          <p:cNvSpPr>
            <a:spLocks noChangeArrowheads="1"/>
          </p:cNvSpPr>
          <p:nvPr/>
        </p:nvSpPr>
        <p:spPr bwMode="auto">
          <a:xfrm>
            <a:off x="4868019" y="914995"/>
            <a:ext cx="5048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1</a:t>
            </a:r>
            <a:endParaRPr lang="en-US" altLang="zh-CN" b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03438" name="Line 21"/>
          <p:cNvSpPr>
            <a:spLocks noChangeShapeType="1"/>
          </p:cNvSpPr>
          <p:nvPr/>
        </p:nvSpPr>
        <p:spPr bwMode="auto">
          <a:xfrm>
            <a:off x="3561507" y="1530945"/>
            <a:ext cx="5048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439" name="Rectangle 22"/>
          <p:cNvSpPr>
            <a:spLocks noChangeArrowheads="1"/>
          </p:cNvSpPr>
          <p:nvPr/>
        </p:nvSpPr>
        <p:spPr bwMode="auto">
          <a:xfrm>
            <a:off x="3004294" y="1399183"/>
            <a:ext cx="5064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start</a:t>
            </a:r>
            <a:endParaRPr lang="en-US" altLang="zh-CN" sz="2500" b="1" i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03440" name="Freeform 30"/>
          <p:cNvSpPr/>
          <p:nvPr/>
        </p:nvSpPr>
        <p:spPr bwMode="auto">
          <a:xfrm>
            <a:off x="5868144" y="1118195"/>
            <a:ext cx="382588" cy="225425"/>
          </a:xfrm>
          <a:custGeom>
            <a:avLst/>
            <a:gdLst>
              <a:gd name="T0" fmla="*/ 2147483646 w 241"/>
              <a:gd name="T1" fmla="*/ 2147483646 h 189"/>
              <a:gd name="T2" fmla="*/ 2147483646 w 241"/>
              <a:gd name="T3" fmla="*/ 2147483646 h 189"/>
              <a:gd name="T4" fmla="*/ 2147483646 w 241"/>
              <a:gd name="T5" fmla="*/ 2147483646 h 189"/>
              <a:gd name="T6" fmla="*/ 2147483646 w 241"/>
              <a:gd name="T7" fmla="*/ 2147483646 h 189"/>
              <a:gd name="T8" fmla="*/ 2147483646 w 241"/>
              <a:gd name="T9" fmla="*/ 2147483646 h 18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1"/>
              <a:gd name="T16" fmla="*/ 0 h 189"/>
              <a:gd name="T17" fmla="*/ 241 w 241"/>
              <a:gd name="T18" fmla="*/ 189 h 18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1" h="189">
                <a:moveTo>
                  <a:pt x="52" y="189"/>
                </a:moveTo>
                <a:cubicBezTo>
                  <a:pt x="26" y="181"/>
                  <a:pt x="0" y="173"/>
                  <a:pt x="7" y="143"/>
                </a:cubicBezTo>
                <a:cubicBezTo>
                  <a:pt x="14" y="113"/>
                  <a:pt x="59" y="14"/>
                  <a:pt x="97" y="7"/>
                </a:cubicBezTo>
                <a:cubicBezTo>
                  <a:pt x="135" y="0"/>
                  <a:pt x="225" y="68"/>
                  <a:pt x="233" y="98"/>
                </a:cubicBezTo>
                <a:cubicBezTo>
                  <a:pt x="241" y="128"/>
                  <a:pt x="192" y="158"/>
                  <a:pt x="143" y="189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441" name="Rectangle 31"/>
          <p:cNvSpPr>
            <a:spLocks noChangeArrowheads="1"/>
          </p:cNvSpPr>
          <p:nvPr/>
        </p:nvSpPr>
        <p:spPr bwMode="auto">
          <a:xfrm>
            <a:off x="5806232" y="843558"/>
            <a:ext cx="5048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2</a:t>
            </a:r>
            <a:endParaRPr lang="en-US" altLang="zh-CN" b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03442" name="Oval 39"/>
          <p:cNvSpPr>
            <a:spLocks noChangeArrowheads="1"/>
          </p:cNvSpPr>
          <p:nvPr/>
        </p:nvSpPr>
        <p:spPr bwMode="auto">
          <a:xfrm>
            <a:off x="5804644" y="1324570"/>
            <a:ext cx="506413" cy="44767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i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443" name="Rectangle 48"/>
          <p:cNvSpPr>
            <a:spLocks noChangeArrowheads="1"/>
          </p:cNvSpPr>
          <p:nvPr/>
        </p:nvSpPr>
        <p:spPr bwMode="auto">
          <a:xfrm>
            <a:off x="2135932" y="1321395"/>
            <a:ext cx="647700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500" b="1" i="1" dirty="0">
                <a:latin typeface="Times New Roman" panose="02020603050405020304" pitchFamily="18" charset="0"/>
                <a:ea typeface="楷体_GB2312"/>
                <a:cs typeface="楷体_GB2312"/>
              </a:rPr>
              <a:t>NFA</a:t>
            </a:r>
            <a:r>
              <a:rPr lang="zh-CN" altLang="en-US" sz="2500" b="1" dirty="0">
                <a:latin typeface="Times New Roman" panose="02020603050405020304" pitchFamily="18" charset="0"/>
                <a:ea typeface="楷体_GB2312"/>
                <a:cs typeface="楷体_GB2312"/>
              </a:rPr>
              <a:t>：</a:t>
            </a:r>
            <a:endParaRPr lang="zh-CN" altLang="en-US" sz="2500" b="1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103444" name="组合 44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46" name="五边形 4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03509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aphicFrame>
        <p:nvGraphicFramePr>
          <p:cNvPr id="71" name="Group 18"/>
          <p:cNvGraphicFramePr>
            <a:graphicFrameLocks noGrp="1"/>
          </p:cNvGraphicFramePr>
          <p:nvPr/>
        </p:nvGraphicFramePr>
        <p:xfrm>
          <a:off x="539552" y="2571496"/>
          <a:ext cx="8147248" cy="1983763"/>
        </p:xfrm>
        <a:graphic>
          <a:graphicData uri="http://schemas.openxmlformats.org/drawingml/2006/table">
            <a:tbl>
              <a:tblPr/>
              <a:tblGrid>
                <a:gridCol w="1454866"/>
                <a:gridCol w="1673095"/>
                <a:gridCol w="5019287"/>
              </a:tblGrid>
              <a:tr h="42827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定义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9" marR="91439" marT="34346" marB="3434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表示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9" marR="91439" marT="34346" marB="3434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描述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9" marR="91439" marT="34346" marB="3434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</a:tr>
              <a:tr h="7777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状态</a:t>
                      </a:r>
                      <a:r>
                        <a:rPr kumimoji="0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000" b="1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s </a:t>
                      </a:r>
                      <a:r>
                        <a:rPr kumimoji="0" lang="zh-CN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的 </a:t>
                      </a:r>
                      <a:endParaRPr kumimoji="0" lang="en-US" altLang="zh-CN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ε</a:t>
                      </a:r>
                      <a:r>
                        <a:rPr kumimoji="0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kumimoji="0" lang="zh-CN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闭包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327" marB="343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ε-closure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327" marB="343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状态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以及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从状态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开始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经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ε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转换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边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可达的所有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状态的集合</a:t>
                      </a:r>
                      <a:endParaRPr kumimoji="0" lang="zh-CN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327" marB="343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7777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状态集</a:t>
                      </a:r>
                      <a:r>
                        <a:rPr kumimoji="0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000" b="1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 </a:t>
                      </a:r>
                      <a:r>
                        <a:rPr kumimoji="0" lang="zh-CN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的</a:t>
                      </a:r>
                      <a:r>
                        <a:rPr kumimoji="0" lang="en-US" altLang="zh-CN" sz="2000" b="1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ε</a:t>
                      </a:r>
                      <a:r>
                        <a:rPr kumimoji="0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kumimoji="0" lang="zh-CN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闭包</a:t>
                      </a:r>
                      <a:endParaRPr kumimoji="0" lang="zh-CN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9" marR="91439" marT="34327" marB="343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ε-closure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327" marB="343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中的每个状态 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CN" sz="2000" b="1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  <a:sym typeface="+mn-ea"/>
                        </a:rPr>
                        <a:t>∈</a:t>
                      </a:r>
                      <a:r>
                        <a:rPr lang="en-US" altLang="zh-CN" sz="2000" b="1" i="1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  <a:sym typeface="+mn-ea"/>
                        </a:rPr>
                        <a:t>T</a:t>
                      </a:r>
                      <a:r>
                        <a:rPr lang="zh-CN" altLang="en-US" sz="20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的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ε-</a:t>
                      </a:r>
                      <a:r>
                        <a:rPr kumimoji="0" lang="zh-CN" alt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闭包的并集</a:t>
                      </a:r>
                      <a:r>
                        <a:rPr kumimoji="0" lang="zh-CN" alt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即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U</a:t>
                      </a:r>
                      <a:r>
                        <a:rPr kumimoji="0" lang="en-US" altLang="zh-CN" sz="2000" b="1" i="1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en-US" altLang="zh-CN" sz="2000" b="1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∈</a:t>
                      </a:r>
                      <a:r>
                        <a:rPr kumimoji="0" lang="en-US" altLang="zh-CN" sz="2000" b="1" i="1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zh-CN" sz="2000" b="1" i="1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ε-closure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327" marB="343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</a:t>
            </a:r>
            <a:r>
              <a:rPr lang="zh-CN" altLang="en-US" sz="3000" spc="3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从带有</a:t>
            </a:r>
            <a:r>
              <a:rPr lang="en-US" altLang="zh-CN" sz="3200" i="1" dirty="0">
                <a:solidFill>
                  <a:srgbClr val="000000"/>
                </a:solidFill>
                <a:ea typeface="楷体_GB2312"/>
                <a:cs typeface="楷体_GB2312"/>
              </a:rPr>
              <a:t>ε</a:t>
            </a:r>
            <a:r>
              <a:rPr lang="en-US" altLang="zh-CN" sz="3000" spc="3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sz="3000" i="1" spc="300" dirty="0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NFA</a:t>
            </a:r>
            <a:r>
              <a:rPr lang="zh-CN" altLang="en-US" sz="3000" spc="3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3000" i="1" spc="300" dirty="0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DFA</a:t>
            </a:r>
            <a:r>
              <a:rPr lang="zh-CN" altLang="en-US" sz="3000" spc="3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的转换</a:t>
            </a:r>
            <a:endParaRPr lang="zh-CN" altLang="en-US" sz="3000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187" name="Oval 10"/>
          <p:cNvSpPr>
            <a:spLocks noChangeArrowheads="1"/>
          </p:cNvSpPr>
          <p:nvPr/>
        </p:nvSpPr>
        <p:spPr bwMode="auto">
          <a:xfrm>
            <a:off x="2409190" y="1606550"/>
            <a:ext cx="376238" cy="32226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A</a:t>
            </a:r>
            <a:endParaRPr lang="en-US" altLang="zh-CN" b="1" i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03428" name="Freeform 11"/>
          <p:cNvSpPr/>
          <p:nvPr/>
        </p:nvSpPr>
        <p:spPr bwMode="auto">
          <a:xfrm>
            <a:off x="2398078" y="1381125"/>
            <a:ext cx="382587" cy="225425"/>
          </a:xfrm>
          <a:custGeom>
            <a:avLst/>
            <a:gdLst>
              <a:gd name="T0" fmla="*/ 2147483646 w 241"/>
              <a:gd name="T1" fmla="*/ 2147483646 h 189"/>
              <a:gd name="T2" fmla="*/ 2147483646 w 241"/>
              <a:gd name="T3" fmla="*/ 2147483646 h 189"/>
              <a:gd name="T4" fmla="*/ 2147483646 w 241"/>
              <a:gd name="T5" fmla="*/ 2147483646 h 189"/>
              <a:gd name="T6" fmla="*/ 2147483646 w 241"/>
              <a:gd name="T7" fmla="*/ 2147483646 h 189"/>
              <a:gd name="T8" fmla="*/ 2147483646 w 241"/>
              <a:gd name="T9" fmla="*/ 2147483646 h 18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1"/>
              <a:gd name="T16" fmla="*/ 0 h 189"/>
              <a:gd name="T17" fmla="*/ 241 w 241"/>
              <a:gd name="T18" fmla="*/ 189 h 18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1" h="189">
                <a:moveTo>
                  <a:pt x="52" y="189"/>
                </a:moveTo>
                <a:cubicBezTo>
                  <a:pt x="26" y="181"/>
                  <a:pt x="0" y="173"/>
                  <a:pt x="7" y="143"/>
                </a:cubicBezTo>
                <a:cubicBezTo>
                  <a:pt x="14" y="113"/>
                  <a:pt x="59" y="14"/>
                  <a:pt x="97" y="7"/>
                </a:cubicBezTo>
                <a:cubicBezTo>
                  <a:pt x="135" y="0"/>
                  <a:pt x="225" y="68"/>
                  <a:pt x="233" y="98"/>
                </a:cubicBezTo>
                <a:cubicBezTo>
                  <a:pt x="241" y="128"/>
                  <a:pt x="192" y="158"/>
                  <a:pt x="143" y="189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429" name="Rectangle 12"/>
          <p:cNvSpPr>
            <a:spLocks noChangeArrowheads="1"/>
          </p:cNvSpPr>
          <p:nvPr/>
        </p:nvSpPr>
        <p:spPr bwMode="auto">
          <a:xfrm>
            <a:off x="2336165" y="1143000"/>
            <a:ext cx="5048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0</a:t>
            </a:r>
            <a:endParaRPr lang="en-US" altLang="zh-CN" b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03430" name="Line 13"/>
          <p:cNvSpPr>
            <a:spLocks noChangeShapeType="1"/>
          </p:cNvSpPr>
          <p:nvPr/>
        </p:nvSpPr>
        <p:spPr bwMode="auto">
          <a:xfrm>
            <a:off x="2767965" y="1768475"/>
            <a:ext cx="5048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431" name="Rectangle 14"/>
          <p:cNvSpPr>
            <a:spLocks noChangeArrowheads="1"/>
          </p:cNvSpPr>
          <p:nvPr/>
        </p:nvSpPr>
        <p:spPr bwMode="auto">
          <a:xfrm>
            <a:off x="2767965" y="1444625"/>
            <a:ext cx="504825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ε</a:t>
            </a:r>
            <a:endParaRPr lang="en-US" altLang="zh-CN" b="1" i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93192" name="Oval 15"/>
          <p:cNvSpPr>
            <a:spLocks noChangeArrowheads="1"/>
          </p:cNvSpPr>
          <p:nvPr/>
        </p:nvSpPr>
        <p:spPr bwMode="auto">
          <a:xfrm>
            <a:off x="3272790" y="1606550"/>
            <a:ext cx="369888" cy="32226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B</a:t>
            </a:r>
            <a:endParaRPr lang="en-US" altLang="zh-CN" b="1" i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03433" name="Line 16"/>
          <p:cNvSpPr>
            <a:spLocks noChangeShapeType="1"/>
          </p:cNvSpPr>
          <p:nvPr/>
        </p:nvSpPr>
        <p:spPr bwMode="auto">
          <a:xfrm>
            <a:off x="3631565" y="1768475"/>
            <a:ext cx="5048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434" name="Rectangle 17"/>
          <p:cNvSpPr>
            <a:spLocks noChangeArrowheads="1"/>
          </p:cNvSpPr>
          <p:nvPr/>
        </p:nvSpPr>
        <p:spPr bwMode="auto">
          <a:xfrm>
            <a:off x="3631565" y="1498600"/>
            <a:ext cx="504825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ε</a:t>
            </a:r>
            <a:endParaRPr lang="en-US" altLang="zh-CN" b="1" i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93195" name="Oval 18"/>
          <p:cNvSpPr>
            <a:spLocks noChangeArrowheads="1"/>
          </p:cNvSpPr>
          <p:nvPr/>
        </p:nvSpPr>
        <p:spPr bwMode="auto">
          <a:xfrm>
            <a:off x="4209415" y="1606550"/>
            <a:ext cx="310943" cy="27684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C</a:t>
            </a:r>
            <a:endParaRPr lang="en-US" altLang="zh-CN" b="1" i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03436" name="Freeform 19"/>
          <p:cNvSpPr/>
          <p:nvPr/>
        </p:nvSpPr>
        <p:spPr bwMode="auto">
          <a:xfrm>
            <a:off x="3261678" y="1381125"/>
            <a:ext cx="382587" cy="223838"/>
          </a:xfrm>
          <a:custGeom>
            <a:avLst/>
            <a:gdLst>
              <a:gd name="T0" fmla="*/ 2147483646 w 241"/>
              <a:gd name="T1" fmla="*/ 2147483646 h 189"/>
              <a:gd name="T2" fmla="*/ 2147483646 w 241"/>
              <a:gd name="T3" fmla="*/ 2147483646 h 189"/>
              <a:gd name="T4" fmla="*/ 2147483646 w 241"/>
              <a:gd name="T5" fmla="*/ 2147483646 h 189"/>
              <a:gd name="T6" fmla="*/ 2147483646 w 241"/>
              <a:gd name="T7" fmla="*/ 2147483646 h 189"/>
              <a:gd name="T8" fmla="*/ 2147483646 w 241"/>
              <a:gd name="T9" fmla="*/ 2147483646 h 18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1"/>
              <a:gd name="T16" fmla="*/ 0 h 189"/>
              <a:gd name="T17" fmla="*/ 241 w 241"/>
              <a:gd name="T18" fmla="*/ 189 h 18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1" h="189">
                <a:moveTo>
                  <a:pt x="52" y="189"/>
                </a:moveTo>
                <a:cubicBezTo>
                  <a:pt x="26" y="181"/>
                  <a:pt x="0" y="173"/>
                  <a:pt x="7" y="143"/>
                </a:cubicBezTo>
                <a:cubicBezTo>
                  <a:pt x="14" y="113"/>
                  <a:pt x="59" y="14"/>
                  <a:pt x="97" y="7"/>
                </a:cubicBezTo>
                <a:cubicBezTo>
                  <a:pt x="135" y="0"/>
                  <a:pt x="225" y="68"/>
                  <a:pt x="233" y="98"/>
                </a:cubicBezTo>
                <a:cubicBezTo>
                  <a:pt x="241" y="128"/>
                  <a:pt x="192" y="158"/>
                  <a:pt x="143" y="189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437" name="Rectangle 20"/>
          <p:cNvSpPr>
            <a:spLocks noChangeArrowheads="1"/>
          </p:cNvSpPr>
          <p:nvPr/>
        </p:nvSpPr>
        <p:spPr bwMode="auto">
          <a:xfrm>
            <a:off x="3199765" y="1143000"/>
            <a:ext cx="5048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1</a:t>
            </a:r>
            <a:endParaRPr lang="en-US" altLang="zh-CN" b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03438" name="Line 21"/>
          <p:cNvSpPr>
            <a:spLocks noChangeShapeType="1"/>
          </p:cNvSpPr>
          <p:nvPr/>
        </p:nvSpPr>
        <p:spPr bwMode="auto">
          <a:xfrm>
            <a:off x="1893253" y="1758950"/>
            <a:ext cx="5048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439" name="Rectangle 22"/>
          <p:cNvSpPr>
            <a:spLocks noChangeArrowheads="1"/>
          </p:cNvSpPr>
          <p:nvPr/>
        </p:nvSpPr>
        <p:spPr bwMode="auto">
          <a:xfrm>
            <a:off x="1336040" y="1627188"/>
            <a:ext cx="5064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start</a:t>
            </a:r>
            <a:endParaRPr lang="en-US" altLang="zh-CN" sz="2000" b="1" i="1" dirty="0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03440" name="Freeform 30"/>
          <p:cNvSpPr/>
          <p:nvPr/>
        </p:nvSpPr>
        <p:spPr bwMode="auto">
          <a:xfrm>
            <a:off x="4199890" y="1346200"/>
            <a:ext cx="382588" cy="225425"/>
          </a:xfrm>
          <a:custGeom>
            <a:avLst/>
            <a:gdLst>
              <a:gd name="T0" fmla="*/ 2147483646 w 241"/>
              <a:gd name="T1" fmla="*/ 2147483646 h 189"/>
              <a:gd name="T2" fmla="*/ 2147483646 w 241"/>
              <a:gd name="T3" fmla="*/ 2147483646 h 189"/>
              <a:gd name="T4" fmla="*/ 2147483646 w 241"/>
              <a:gd name="T5" fmla="*/ 2147483646 h 189"/>
              <a:gd name="T6" fmla="*/ 2147483646 w 241"/>
              <a:gd name="T7" fmla="*/ 2147483646 h 189"/>
              <a:gd name="T8" fmla="*/ 2147483646 w 241"/>
              <a:gd name="T9" fmla="*/ 2147483646 h 18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1"/>
              <a:gd name="T16" fmla="*/ 0 h 189"/>
              <a:gd name="T17" fmla="*/ 241 w 241"/>
              <a:gd name="T18" fmla="*/ 189 h 18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1" h="189">
                <a:moveTo>
                  <a:pt x="52" y="189"/>
                </a:moveTo>
                <a:cubicBezTo>
                  <a:pt x="26" y="181"/>
                  <a:pt x="0" y="173"/>
                  <a:pt x="7" y="143"/>
                </a:cubicBezTo>
                <a:cubicBezTo>
                  <a:pt x="14" y="113"/>
                  <a:pt x="59" y="14"/>
                  <a:pt x="97" y="7"/>
                </a:cubicBezTo>
                <a:cubicBezTo>
                  <a:pt x="135" y="0"/>
                  <a:pt x="225" y="68"/>
                  <a:pt x="233" y="98"/>
                </a:cubicBezTo>
                <a:cubicBezTo>
                  <a:pt x="241" y="128"/>
                  <a:pt x="192" y="158"/>
                  <a:pt x="143" y="189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441" name="Rectangle 31"/>
          <p:cNvSpPr>
            <a:spLocks noChangeArrowheads="1"/>
          </p:cNvSpPr>
          <p:nvPr/>
        </p:nvSpPr>
        <p:spPr bwMode="auto">
          <a:xfrm>
            <a:off x="4137978" y="1071563"/>
            <a:ext cx="5048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2</a:t>
            </a:r>
            <a:endParaRPr lang="en-US" altLang="zh-CN" b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03442" name="Oval 39"/>
          <p:cNvSpPr>
            <a:spLocks noChangeArrowheads="1"/>
          </p:cNvSpPr>
          <p:nvPr/>
        </p:nvSpPr>
        <p:spPr bwMode="auto">
          <a:xfrm>
            <a:off x="4136391" y="1552575"/>
            <a:ext cx="446088" cy="394347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i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443" name="Rectangle 48"/>
          <p:cNvSpPr>
            <a:spLocks noChangeArrowheads="1"/>
          </p:cNvSpPr>
          <p:nvPr/>
        </p:nvSpPr>
        <p:spPr bwMode="auto">
          <a:xfrm>
            <a:off x="611188" y="1549400"/>
            <a:ext cx="647700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500" b="1" i="1">
                <a:latin typeface="Times New Roman" panose="02020603050405020304" pitchFamily="18" charset="0"/>
                <a:ea typeface="楷体_GB2312"/>
                <a:cs typeface="楷体_GB2312"/>
              </a:rPr>
              <a:t>NFA</a:t>
            </a:r>
            <a:r>
              <a:rPr lang="zh-CN" altLang="en-US" sz="2500" b="1">
                <a:latin typeface="Times New Roman" panose="02020603050405020304" pitchFamily="18" charset="0"/>
                <a:ea typeface="楷体_GB2312"/>
                <a:cs typeface="楷体_GB2312"/>
              </a:rPr>
              <a:t>：</a:t>
            </a:r>
            <a:endParaRPr lang="zh-CN" altLang="en-US" sz="2500" b="1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103444" name="组合 44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46" name="五边形 4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03509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aphicFrame>
        <p:nvGraphicFramePr>
          <p:cNvPr id="54" name="Group 1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910455" y="1187450"/>
          <a:ext cx="3907790" cy="1711325"/>
        </p:xfrm>
        <a:graphic>
          <a:graphicData uri="http://schemas.openxmlformats.org/drawingml/2006/table">
            <a:tbl>
              <a:tblPr/>
              <a:tblGrid>
                <a:gridCol w="984250"/>
                <a:gridCol w="681990"/>
                <a:gridCol w="986155"/>
                <a:gridCol w="757555"/>
                <a:gridCol w="497840"/>
              </a:tblGrid>
              <a:tr h="5562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NFA</a:t>
                      </a:r>
                      <a:endParaRPr lang="en-US" altLang="zh-CN" sz="16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状态集</a:t>
                      </a:r>
                      <a:endParaRPr lang="zh-CN" altLang="en-US"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1" marR="91431" marT="34227" marB="342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DFA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状态</a:t>
                      </a:r>
                      <a:endParaRPr lang="zh-CN" altLang="en-US"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1" marR="91431" marT="34227" marB="342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0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1" marR="91431" marT="34227" marB="342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1" marR="91431" marT="34227" marB="342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2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1" marR="91431" marT="34227" marB="342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</a:tr>
              <a:tr h="3854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54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1" marR="91431" marT="34208" marB="342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3" name="矩形 52"/>
          <p:cNvSpPr/>
          <p:nvPr/>
        </p:nvSpPr>
        <p:spPr bwMode="auto">
          <a:xfrm>
            <a:off x="6132513" y="717823"/>
            <a:ext cx="1655762" cy="485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sz="22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DFA</a:t>
            </a:r>
            <a:r>
              <a:rPr lang="zh-CN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转换表</a:t>
            </a:r>
            <a:endParaRPr lang="zh-CN" altLang="en-US" sz="22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4" name="组合 6"/>
          <p:cNvGrpSpPr/>
          <p:nvPr/>
        </p:nvGrpSpPr>
        <p:grpSpPr bwMode="auto">
          <a:xfrm>
            <a:off x="3724497" y="2349878"/>
            <a:ext cx="504825" cy="571500"/>
            <a:chOff x="3779226" y="2644461"/>
            <a:chExt cx="504895" cy="569978"/>
          </a:xfrm>
        </p:grpSpPr>
        <p:sp>
          <p:nvSpPr>
            <p:cNvPr id="103501" name="Freeform 19"/>
            <p:cNvSpPr/>
            <p:nvPr/>
          </p:nvSpPr>
          <p:spPr bwMode="auto">
            <a:xfrm>
              <a:off x="3791918" y="2888287"/>
              <a:ext cx="450907" cy="326152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02" name="Rectangle 20"/>
            <p:cNvSpPr>
              <a:spLocks noChangeArrowheads="1"/>
            </p:cNvSpPr>
            <p:nvPr/>
          </p:nvSpPr>
          <p:spPr bwMode="auto">
            <a:xfrm>
              <a:off x="3779226" y="2644461"/>
              <a:ext cx="504895" cy="2155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  <a:endParaRPr lang="en-US" altLang="zh-CN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</p:grpSp>
      <p:grpSp>
        <p:nvGrpSpPr>
          <p:cNvPr id="5" name="组合 8"/>
          <p:cNvGrpSpPr/>
          <p:nvPr/>
        </p:nvGrpSpPr>
        <p:grpSpPr bwMode="auto">
          <a:xfrm>
            <a:off x="3858224" y="3472070"/>
            <a:ext cx="392451" cy="430807"/>
            <a:chOff x="3941931" y="3780838"/>
            <a:chExt cx="504895" cy="431013"/>
          </a:xfrm>
        </p:grpSpPr>
        <p:sp>
          <p:nvSpPr>
            <p:cNvPr id="103499" name="Line 21"/>
            <p:cNvSpPr>
              <a:spLocks noChangeShapeType="1"/>
            </p:cNvSpPr>
            <p:nvPr/>
          </p:nvSpPr>
          <p:spPr bwMode="auto">
            <a:xfrm>
              <a:off x="4006268" y="3780838"/>
              <a:ext cx="0" cy="4310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00" name="Rectangle 22"/>
            <p:cNvSpPr>
              <a:spLocks noChangeArrowheads="1"/>
            </p:cNvSpPr>
            <p:nvPr/>
          </p:nvSpPr>
          <p:spPr bwMode="auto">
            <a:xfrm>
              <a:off x="3941931" y="3853487"/>
              <a:ext cx="504895" cy="2155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dirty="0"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  <a:endParaRPr lang="en-US" altLang="zh-CN" b="1" dirty="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</p:grpSp>
      <p:grpSp>
        <p:nvGrpSpPr>
          <p:cNvPr id="6" name="组合 4"/>
          <p:cNvGrpSpPr/>
          <p:nvPr/>
        </p:nvGrpSpPr>
        <p:grpSpPr bwMode="auto">
          <a:xfrm>
            <a:off x="2561590" y="2632968"/>
            <a:ext cx="625475" cy="646113"/>
            <a:chOff x="2555093" y="3201582"/>
            <a:chExt cx="504895" cy="432234"/>
          </a:xfrm>
        </p:grpSpPr>
        <p:sp>
          <p:nvSpPr>
            <p:cNvPr id="103497" name="Freeform 19"/>
            <p:cNvSpPr/>
            <p:nvPr/>
          </p:nvSpPr>
          <p:spPr bwMode="auto">
            <a:xfrm>
              <a:off x="2617015" y="3408769"/>
              <a:ext cx="382641" cy="225047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98" name="Rectangle 20"/>
            <p:cNvSpPr>
              <a:spLocks noChangeArrowheads="1"/>
            </p:cNvSpPr>
            <p:nvPr/>
          </p:nvSpPr>
          <p:spPr bwMode="auto">
            <a:xfrm>
              <a:off x="2555093" y="3201582"/>
              <a:ext cx="504895" cy="2155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  <a:ea typeface="楷体_GB2312"/>
                  <a:cs typeface="楷体_GB2312"/>
                </a:rPr>
                <a:t>0</a:t>
              </a:r>
              <a:endParaRPr lang="en-US" altLang="zh-CN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</p:grpSp>
      <p:grpSp>
        <p:nvGrpSpPr>
          <p:cNvPr id="7" name="组合 7"/>
          <p:cNvGrpSpPr/>
          <p:nvPr/>
        </p:nvGrpSpPr>
        <p:grpSpPr bwMode="auto">
          <a:xfrm>
            <a:off x="3063765" y="3718435"/>
            <a:ext cx="998100" cy="615748"/>
            <a:chOff x="3177894" y="4104131"/>
            <a:chExt cx="998741" cy="615786"/>
          </a:xfrm>
        </p:grpSpPr>
        <p:sp>
          <p:nvSpPr>
            <p:cNvPr id="103493" name="Line 13"/>
            <p:cNvSpPr>
              <a:spLocks noChangeShapeType="1"/>
            </p:cNvSpPr>
            <p:nvPr/>
          </p:nvSpPr>
          <p:spPr bwMode="auto">
            <a:xfrm>
              <a:off x="3177894" y="4192401"/>
              <a:ext cx="545865" cy="2565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94" name="Rectangle 14"/>
            <p:cNvSpPr>
              <a:spLocks noChangeArrowheads="1"/>
            </p:cNvSpPr>
            <p:nvPr/>
          </p:nvSpPr>
          <p:spPr bwMode="auto">
            <a:xfrm>
              <a:off x="3264883" y="4104131"/>
              <a:ext cx="504895" cy="2155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dirty="0"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  <a:endParaRPr lang="en-US" altLang="zh-CN" b="1" dirty="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49" name="Oval 10"/>
            <p:cNvSpPr>
              <a:spLocks noChangeArrowheads="1"/>
            </p:cNvSpPr>
            <p:nvPr/>
          </p:nvSpPr>
          <p:spPr bwMode="auto">
            <a:xfrm>
              <a:off x="3777424" y="4355049"/>
              <a:ext cx="341014" cy="3093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楷体_GB2312"/>
                </a:rPr>
                <a:t>C</a:t>
              </a:r>
              <a:endParaRPr lang="en-US" altLang="zh-CN" b="1" i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103496" name="Oval 45"/>
            <p:cNvSpPr>
              <a:spLocks noChangeArrowheads="1"/>
            </p:cNvSpPr>
            <p:nvPr/>
          </p:nvSpPr>
          <p:spPr bwMode="auto">
            <a:xfrm>
              <a:off x="3715874" y="4304696"/>
              <a:ext cx="460761" cy="41522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组合 50"/>
          <p:cNvGrpSpPr/>
          <p:nvPr/>
        </p:nvGrpSpPr>
        <p:grpSpPr bwMode="auto">
          <a:xfrm>
            <a:off x="3060693" y="2914828"/>
            <a:ext cx="1134719" cy="573356"/>
            <a:chOff x="3148893" y="3214350"/>
            <a:chExt cx="1134779" cy="573786"/>
          </a:xfrm>
        </p:grpSpPr>
        <p:sp>
          <p:nvSpPr>
            <p:cNvPr id="103489" name="Line 16"/>
            <p:cNvSpPr>
              <a:spLocks noChangeShapeType="1"/>
            </p:cNvSpPr>
            <p:nvPr/>
          </p:nvSpPr>
          <p:spPr bwMode="auto">
            <a:xfrm flipV="1">
              <a:off x="3211936" y="3571810"/>
              <a:ext cx="428651" cy="2163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90" name="Rectangle 17"/>
            <p:cNvSpPr>
              <a:spLocks noChangeArrowheads="1"/>
            </p:cNvSpPr>
            <p:nvPr/>
          </p:nvSpPr>
          <p:spPr bwMode="auto">
            <a:xfrm>
              <a:off x="3148893" y="3428827"/>
              <a:ext cx="504896" cy="2155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  <a:endParaRPr lang="en-US" altLang="zh-CN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56" name="Oval 10"/>
            <p:cNvSpPr>
              <a:spLocks noChangeArrowheads="1"/>
            </p:cNvSpPr>
            <p:nvPr/>
          </p:nvSpPr>
          <p:spPr bwMode="auto">
            <a:xfrm>
              <a:off x="3707722" y="3274720"/>
              <a:ext cx="502107" cy="43691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sz="1600" b="1" i="1" dirty="0">
                  <a:latin typeface="Times New Roman" panose="02020603050405020304" pitchFamily="18" charset="0"/>
                  <a:ea typeface="楷体_GB2312"/>
                  <a:cs typeface="楷体_GB2312"/>
                </a:rPr>
                <a:t>B,C</a:t>
              </a:r>
              <a:endParaRPr lang="en-US" altLang="zh-CN" sz="1600" b="1" i="1" dirty="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103492" name="Oval 45"/>
            <p:cNvSpPr>
              <a:spLocks noChangeArrowheads="1"/>
            </p:cNvSpPr>
            <p:nvPr/>
          </p:nvSpPr>
          <p:spPr bwMode="auto">
            <a:xfrm>
              <a:off x="3636217" y="3214350"/>
              <a:ext cx="647455" cy="56580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组合 3"/>
          <p:cNvGrpSpPr/>
          <p:nvPr/>
        </p:nvGrpSpPr>
        <p:grpSpPr bwMode="auto">
          <a:xfrm>
            <a:off x="611187" y="3275907"/>
            <a:ext cx="2523464" cy="683498"/>
            <a:chOff x="573045" y="3500298"/>
            <a:chExt cx="2523864" cy="684024"/>
          </a:xfrm>
        </p:grpSpPr>
        <p:sp>
          <p:nvSpPr>
            <p:cNvPr id="66" name="Oval 10"/>
            <p:cNvSpPr>
              <a:spLocks noChangeArrowheads="1"/>
            </p:cNvSpPr>
            <p:nvPr/>
          </p:nvSpPr>
          <p:spPr bwMode="auto">
            <a:xfrm>
              <a:off x="2412615" y="3565435"/>
              <a:ext cx="617898" cy="56231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sz="1600" b="1" i="1" dirty="0">
                  <a:latin typeface="Times New Roman" panose="02020603050405020304" pitchFamily="18" charset="0"/>
                  <a:ea typeface="楷体_GB2312"/>
                  <a:cs typeface="楷体_GB2312"/>
                </a:rPr>
                <a:t>A,B,C</a:t>
              </a:r>
              <a:endParaRPr lang="en-US" altLang="zh-CN" sz="1600" b="1" i="1" dirty="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103485" name="Rectangle 49"/>
            <p:cNvSpPr>
              <a:spLocks noChangeArrowheads="1"/>
            </p:cNvSpPr>
            <p:nvPr/>
          </p:nvSpPr>
          <p:spPr bwMode="auto">
            <a:xfrm>
              <a:off x="573045" y="3687770"/>
              <a:ext cx="647790" cy="378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5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DFA</a:t>
              </a:r>
              <a:r>
                <a:rPr lang="zh-CN" altLang="en-US" sz="2500" b="1">
                  <a:latin typeface="Times New Roman" panose="02020603050405020304" pitchFamily="18" charset="0"/>
                  <a:ea typeface="楷体_GB2312"/>
                  <a:cs typeface="楷体_GB2312"/>
                </a:rPr>
                <a:t>：</a:t>
              </a:r>
              <a:endParaRPr lang="zh-CN" altLang="en-US" sz="2500" b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103486" name="Line 21"/>
            <p:cNvSpPr>
              <a:spLocks noChangeShapeType="1"/>
            </p:cNvSpPr>
            <p:nvPr/>
          </p:nvSpPr>
          <p:spPr bwMode="auto">
            <a:xfrm>
              <a:off x="1863245" y="3929249"/>
              <a:ext cx="47476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87" name="Rectangle 22"/>
            <p:cNvSpPr>
              <a:spLocks noChangeArrowheads="1"/>
            </p:cNvSpPr>
            <p:nvPr/>
          </p:nvSpPr>
          <p:spPr bwMode="auto">
            <a:xfrm>
              <a:off x="1286798" y="3786267"/>
              <a:ext cx="504997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  <a:endPara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103488" name="Oval 45"/>
            <p:cNvSpPr>
              <a:spLocks noChangeArrowheads="1"/>
            </p:cNvSpPr>
            <p:nvPr/>
          </p:nvSpPr>
          <p:spPr bwMode="auto">
            <a:xfrm>
              <a:off x="2339867" y="3500298"/>
              <a:ext cx="757042" cy="684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组合 9"/>
          <p:cNvGrpSpPr/>
          <p:nvPr/>
        </p:nvGrpSpPr>
        <p:grpSpPr bwMode="auto">
          <a:xfrm>
            <a:off x="3957493" y="3849093"/>
            <a:ext cx="504905" cy="334963"/>
            <a:chOff x="4428555" y="4353718"/>
            <a:chExt cx="504905" cy="334963"/>
          </a:xfrm>
        </p:grpSpPr>
        <p:sp>
          <p:nvSpPr>
            <p:cNvPr id="72" name="任意多边形 71"/>
            <p:cNvSpPr/>
            <p:nvPr/>
          </p:nvSpPr>
          <p:spPr bwMode="auto">
            <a:xfrm>
              <a:off x="4491980" y="4353718"/>
              <a:ext cx="377825" cy="334963"/>
            </a:xfrm>
            <a:custGeom>
              <a:avLst/>
              <a:gdLst>
                <a:gd name="connsiteX0" fmla="*/ 0 w 377422"/>
                <a:gd name="connsiteY0" fmla="*/ 194866 h 446352"/>
                <a:gd name="connsiteX1" fmla="*/ 232229 w 377422"/>
                <a:gd name="connsiteY1" fmla="*/ 6180 h 446352"/>
                <a:gd name="connsiteX2" fmla="*/ 377372 w 377422"/>
                <a:gd name="connsiteY2" fmla="*/ 398066 h 446352"/>
                <a:gd name="connsiteX3" fmla="*/ 217715 w 377422"/>
                <a:gd name="connsiteY3" fmla="*/ 441609 h 446352"/>
                <a:gd name="connsiteX4" fmla="*/ 29029 w 377422"/>
                <a:gd name="connsiteY4" fmla="*/ 412580 h 446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7422" h="446352">
                  <a:moveTo>
                    <a:pt x="0" y="194866"/>
                  </a:moveTo>
                  <a:cubicBezTo>
                    <a:pt x="84667" y="83589"/>
                    <a:pt x="169334" y="-27687"/>
                    <a:pt x="232229" y="6180"/>
                  </a:cubicBezTo>
                  <a:cubicBezTo>
                    <a:pt x="295124" y="40047"/>
                    <a:pt x="379791" y="325495"/>
                    <a:pt x="377372" y="398066"/>
                  </a:cubicBezTo>
                  <a:cubicBezTo>
                    <a:pt x="374953" y="470637"/>
                    <a:pt x="275772" y="439190"/>
                    <a:pt x="217715" y="441609"/>
                  </a:cubicBezTo>
                  <a:cubicBezTo>
                    <a:pt x="159658" y="444028"/>
                    <a:pt x="94343" y="428304"/>
                    <a:pt x="29029" y="412580"/>
                  </a:cubicBezTo>
                </a:path>
              </a:pathLst>
            </a:cu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103483" name="Rectangle 31"/>
            <p:cNvSpPr>
              <a:spLocks noChangeArrowheads="1"/>
            </p:cNvSpPr>
            <p:nvPr/>
          </p:nvSpPr>
          <p:spPr bwMode="auto">
            <a:xfrm>
              <a:off x="4428555" y="4401113"/>
              <a:ext cx="504905" cy="2155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2</a:t>
              </a:r>
              <a:endPara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</p:grpSp>
      <p:sp>
        <p:nvSpPr>
          <p:cNvPr id="74" name="矩形 73"/>
          <p:cNvSpPr/>
          <p:nvPr/>
        </p:nvSpPr>
        <p:spPr>
          <a:xfrm>
            <a:off x="1234758" y="2283718"/>
            <a:ext cx="982662" cy="3683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  <a:r>
              <a:rPr lang="en-US" altLang="zh-CN" b="1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="1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zh-CN" altLang="en-US" b="1" baseline="300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88886" y="1741289"/>
            <a:ext cx="9444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1" hangingPunct="1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A,B,C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004048" y="2128005"/>
            <a:ext cx="7906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1" hangingPunct="1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B,C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561167" y="2139829"/>
            <a:ext cx="7328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1" hangingPunct="1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B,C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302732" y="1736202"/>
            <a:ext cx="5212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1" hangingPunct="1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573521" y="1749817"/>
            <a:ext cx="7328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1" hangingPunct="1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B,C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577757" y="1755181"/>
            <a:ext cx="104902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1" hangingPunct="1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A,B,C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854824" y="2120385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1" hangingPunct="1"/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Ø</a:t>
            </a:r>
            <a:endParaRPr lang="zh-CN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739808" y="2536390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1" hangingPunct="1"/>
            <a:r>
              <a:rPr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Ø</a:t>
            </a:r>
            <a:endParaRPr lang="zh-CN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832321" y="2553653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1" hangingPunct="1"/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Ø</a:t>
            </a:r>
            <a:endParaRPr lang="zh-CN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8287492" y="2117457"/>
            <a:ext cx="5212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1" hangingPunct="1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8282255" y="2522453"/>
            <a:ext cx="5212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1" hangingPunct="1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089096" y="1767175"/>
            <a:ext cx="398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1" hangingPunct="1"/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A’</a:t>
            </a:r>
            <a:endParaRPr lang="zh-CN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055840" y="2119052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1" hangingPunct="1"/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B’</a:t>
            </a:r>
            <a:endParaRPr lang="zh-CN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045298" y="2522453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1" hangingPunct="1"/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C’</a:t>
            </a:r>
            <a:endParaRPr lang="zh-CN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076056" y="2517651"/>
            <a:ext cx="6367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1" hangingPunct="1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4578985" y="2955925"/>
            <a:ext cx="4241800" cy="19907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的每个状态对应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NFA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的一个状态集。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  <a:r>
              <a:rPr lang="zh-CN" altLang="en-US" b="1" dirty="0">
                <a:solidFill>
                  <a:srgbClr val="FF0000"/>
                </a:solidFill>
              </a:rPr>
              <a:t>开始状态</a:t>
            </a:r>
            <a:r>
              <a:rPr lang="zh-CN" altLang="en-US" b="1" dirty="0">
                <a:solidFill>
                  <a:schemeClr val="tx1"/>
                </a:solidFill>
              </a:rPr>
              <a:t>：是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NFA</a:t>
            </a:r>
            <a:r>
              <a:rPr lang="zh-CN" altLang="en-US" b="1" dirty="0">
                <a:solidFill>
                  <a:srgbClr val="FF0000"/>
                </a:solidFill>
              </a:rPr>
              <a:t>开始状态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rgbClr val="FF0000"/>
                </a:solidFill>
              </a:rPr>
              <a:t>的</a:t>
            </a:r>
            <a:r>
              <a:rPr lang="en-US" altLang="zh-CN" b="1" i="1" dirty="0">
                <a:solidFill>
                  <a:srgbClr val="FF0000"/>
                </a:solidFill>
                <a:latin typeface="+mn-ea"/>
                <a:cs typeface="楷体_GB2312"/>
              </a:rPr>
              <a:t>ε-</a:t>
            </a:r>
            <a:r>
              <a:rPr lang="zh-CN" altLang="en-US" b="1" spc="300" dirty="0">
                <a:solidFill>
                  <a:srgbClr val="FF0000"/>
                </a:solidFill>
                <a:latin typeface="+mn-ea"/>
              </a:rPr>
              <a:t>闭包</a:t>
            </a:r>
            <a:endParaRPr lang="en-US" altLang="zh-CN" b="1" spc="300" dirty="0">
              <a:solidFill>
                <a:schemeClr val="tx1"/>
              </a:solidFill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b="1" i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δ</a:t>
            </a:r>
            <a:r>
              <a:rPr lang="en-US" altLang="zh-CN" sz="900" b="1" i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DFA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s, a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ε-closure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move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T, a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),  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1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DFA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状态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对应的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NFA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状态集</a:t>
            </a:r>
            <a:endParaRPr lang="en-US" altLang="zh-CN" b="1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包含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NFA</a:t>
            </a:r>
            <a:r>
              <a:rPr lang="zh-CN" altLang="en-US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接受状态的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  <a:r>
              <a:rPr lang="zh-CN" altLang="en-US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状态是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接受状态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133966" y="4457897"/>
            <a:ext cx="3295688" cy="3987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move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T, a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= </a:t>
            </a:r>
            <a:r>
              <a:rPr lang="en-US" altLang="zh-CN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U</a:t>
            </a:r>
            <a:r>
              <a:rPr lang="en-US" altLang="zh-CN" sz="2000" b="1" i="1" baseline="-30000" dirty="0" err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000" b="1" i="1" baseline="-30000" dirty="0" err="1">
                <a:solidFill>
                  <a:srgbClr val="FF0000"/>
                </a:solidFill>
                <a:latin typeface="Century Gothic" panose="020B0502020202020204" charset="0"/>
                <a:ea typeface="楷体_GB2312"/>
                <a:cs typeface="Century Gothic" panose="020B0502020202020204" charset="0"/>
              </a:rPr>
              <a:t>’</a:t>
            </a:r>
            <a:r>
              <a:rPr lang="en-US" altLang="zh-CN" sz="2000" b="1" i="1" baseline="-30000" dirty="0" err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∈T</a:t>
            </a:r>
            <a:r>
              <a:rPr lang="en-US" altLang="zh-CN" sz="2000" b="1" i="1" baseline="-30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</a:t>
            </a:r>
            <a:r>
              <a:rPr lang="en-US" altLang="zh-CN" sz="2000" b="1" i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δ</a:t>
            </a:r>
            <a:r>
              <a:rPr lang="en-US" altLang="zh-CN" sz="1000" b="1" i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NFA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(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000" b="1" i="1" dirty="0">
                <a:solidFill>
                  <a:srgbClr val="FF0000"/>
                </a:solidFill>
                <a:latin typeface="Corbel" panose="020B0503020204020204" charset="0"/>
                <a:ea typeface="微软雅黑" panose="020B0503020204020204" pitchFamily="34" charset="-122"/>
                <a:cs typeface="Corbel" panose="020B0503020204020204" charset="0"/>
              </a:rPr>
              <a:t>’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a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5690975" y="1827532"/>
            <a:ext cx="300037" cy="2301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lang="zh-CN" altLang="en-US" sz="9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●</a:t>
            </a:r>
            <a:endParaRPr lang="zh-CN" altLang="en-US" sz="90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5689263" y="2214309"/>
            <a:ext cx="300037" cy="2301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lang="zh-CN" altLang="en-US" sz="9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●</a:t>
            </a:r>
            <a:endParaRPr lang="zh-CN" altLang="en-US" sz="90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5636880" y="2615877"/>
            <a:ext cx="300037" cy="2301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lang="zh-CN" altLang="en-US" sz="9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●</a:t>
            </a:r>
            <a:endParaRPr lang="zh-CN" altLang="en-US" sz="90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6" dur="500"/>
                                        <p:tgtEl>
                                          <p:spTgt spid="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bldLvl="0" animBg="1"/>
      <p:bldP spid="3" grpId="0"/>
      <p:bldP spid="11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67" grpId="0"/>
      <p:bldP spid="68" grpId="0"/>
      <p:bldP spid="22" grpId="0"/>
      <p:bldP spid="23" grpId="0"/>
      <p:bldP spid="24" grpId="0"/>
      <p:bldP spid="25" grpId="0"/>
      <p:bldP spid="76" grpId="0" animBg="1" uiExpand="1" build="p"/>
      <p:bldP spid="27" grpId="0" bldLvl="0" animBg="1"/>
      <p:bldP spid="77" grpId="0"/>
      <p:bldP spid="79" grpId="0"/>
      <p:bldP spid="8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内容占位符 1"/>
          <p:cNvSpPr>
            <a:spLocks noGrp="1"/>
          </p:cNvSpPr>
          <p:nvPr>
            <p:ph idx="1"/>
          </p:nvPr>
        </p:nvSpPr>
        <p:spPr>
          <a:xfrm>
            <a:off x="501650" y="732155"/>
            <a:ext cx="8142605" cy="4231005"/>
          </a:xfrm>
        </p:spPr>
        <p:txBody>
          <a:bodyPr/>
          <a:lstStyle/>
          <a:p>
            <a:pPr eaLnBrk="1" hangingPunct="1">
              <a:lnSpc>
                <a:spcPts val="16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输入：</a:t>
            </a:r>
            <a:r>
              <a:rPr lang="en-US" altLang="zh-CN" sz="2000" b="1" i="1" dirty="0">
                <a:solidFill>
                  <a:schemeClr val="tx1"/>
                </a:solidFill>
              </a:rPr>
              <a:t>NFA </a:t>
            </a:r>
            <a:r>
              <a:rPr lang="en-US" altLang="zh-CN" sz="2000" b="1" i="1" dirty="0">
                <a:solidFill>
                  <a:srgbClr val="FF0000"/>
                </a:solidFill>
              </a:rPr>
              <a:t>N</a:t>
            </a:r>
            <a:endParaRPr lang="en-US" altLang="zh-CN" sz="2000" b="1" i="1" dirty="0">
              <a:solidFill>
                <a:srgbClr val="FF0000"/>
              </a:solidFill>
            </a:endParaRPr>
          </a:p>
          <a:p>
            <a:pPr eaLnBrk="1" hangingPunct="1">
              <a:lnSpc>
                <a:spcPts val="16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输出：接收同样语言的</a:t>
            </a:r>
            <a:r>
              <a:rPr lang="en-US" altLang="zh-CN" sz="2000" b="1" i="1" dirty="0">
                <a:solidFill>
                  <a:schemeClr val="tx1"/>
                </a:solidFill>
              </a:rPr>
              <a:t>DFA </a:t>
            </a:r>
            <a:r>
              <a:rPr lang="en-US" altLang="zh-CN" sz="2000" b="1" i="1" dirty="0">
                <a:solidFill>
                  <a:srgbClr val="FF0000"/>
                </a:solidFill>
              </a:rPr>
              <a:t>D</a:t>
            </a:r>
            <a:endParaRPr lang="en-US" altLang="zh-CN" sz="2000" b="1" i="1" dirty="0">
              <a:solidFill>
                <a:srgbClr val="FF0000"/>
              </a:solidFill>
            </a:endParaRPr>
          </a:p>
          <a:p>
            <a:pPr eaLnBrk="1" hangingPunct="1">
              <a:lnSpc>
                <a:spcPts val="16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方法：</a:t>
            </a:r>
            <a:r>
              <a:rPr lang="zh-CN" altLang="en-US" sz="1600" b="1" dirty="0">
                <a:solidFill>
                  <a:schemeClr val="tx1"/>
                </a:solidFill>
              </a:rPr>
              <a:t>一开始，</a:t>
            </a:r>
            <a:r>
              <a:rPr lang="en-US" altLang="zh-CN" sz="1600" b="1" i="1" dirty="0">
                <a:solidFill>
                  <a:schemeClr val="tx1"/>
                </a:solidFill>
                <a:ea typeface="楷体" panose="02010609060101010101" pitchFamily="49" charset="-122"/>
              </a:rPr>
              <a:t>ε</a:t>
            </a:r>
            <a:r>
              <a:rPr lang="en-US" altLang="zh-CN" sz="1600" b="1" dirty="0">
                <a:solidFill>
                  <a:schemeClr val="tx1"/>
                </a:solidFill>
              </a:rPr>
              <a:t>-</a:t>
            </a:r>
            <a:r>
              <a:rPr lang="en-US" altLang="zh-CN" sz="1600" b="1" i="1" dirty="0">
                <a:solidFill>
                  <a:schemeClr val="tx1"/>
                </a:solidFill>
              </a:rPr>
              <a:t>closur</a:t>
            </a:r>
            <a:r>
              <a:rPr lang="en-US" altLang="zh-CN" sz="1600" b="1" i="1" spc="-500" dirty="0">
                <a:solidFill>
                  <a:schemeClr val="tx1"/>
                </a:solidFill>
              </a:rPr>
              <a:t>e  </a:t>
            </a:r>
            <a:r>
              <a:rPr lang="zh-CN" altLang="en-US" sz="1600" b="1" dirty="0">
                <a:solidFill>
                  <a:schemeClr val="tx1"/>
                </a:solidFill>
              </a:rPr>
              <a:t>（</a:t>
            </a:r>
            <a:r>
              <a:rPr lang="en-US" altLang="zh-CN" sz="1600" b="1" i="1" dirty="0">
                <a:solidFill>
                  <a:schemeClr val="tx1"/>
                </a:solidFill>
                <a:ea typeface="楷体_GB2312"/>
                <a:cs typeface="楷体_GB2312"/>
              </a:rPr>
              <a:t> s</a:t>
            </a:r>
            <a:r>
              <a:rPr lang="en-US" altLang="zh-CN" sz="1600" b="1" i="1" baseline="-30000" dirty="0">
                <a:solidFill>
                  <a:schemeClr val="tx1"/>
                </a:solidFill>
                <a:ea typeface="楷体_GB2312"/>
                <a:cs typeface="楷体_GB2312"/>
              </a:rPr>
              <a:t>0 </a:t>
            </a:r>
            <a:r>
              <a:rPr lang="zh-CN" altLang="en-US" sz="1600" b="1" spc="-1000" dirty="0">
                <a:solidFill>
                  <a:schemeClr val="tx1"/>
                </a:solidFill>
              </a:rPr>
              <a:t>）   </a:t>
            </a:r>
            <a:r>
              <a:rPr lang="zh-CN" altLang="en-US" sz="1600" b="1" dirty="0">
                <a:solidFill>
                  <a:schemeClr val="tx1"/>
                </a:solidFill>
              </a:rPr>
              <a:t>是</a:t>
            </a:r>
            <a:r>
              <a:rPr lang="en-US" altLang="zh-CN" sz="1600" b="1" i="1" dirty="0" err="1">
                <a:solidFill>
                  <a:srgbClr val="FF0000"/>
                </a:solidFill>
              </a:rPr>
              <a:t>Dstates</a:t>
            </a:r>
            <a:r>
              <a:rPr lang="en-US" altLang="zh-CN" sz="1600" b="1" i="1" dirty="0">
                <a:solidFill>
                  <a:schemeClr val="tx1"/>
                </a:solidFill>
              </a:rPr>
              <a:t> </a:t>
            </a:r>
            <a:r>
              <a:rPr lang="zh-CN" altLang="en-US" sz="1600" b="1" dirty="0">
                <a:solidFill>
                  <a:schemeClr val="tx1"/>
                </a:solidFill>
              </a:rPr>
              <a:t>中的唯一状态，且它未加标记；        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16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600" b="1" i="1" dirty="0">
                <a:solidFill>
                  <a:schemeClr val="tx1"/>
                </a:solidFill>
              </a:rPr>
              <a:t>                      </a:t>
            </a:r>
            <a:r>
              <a:rPr lang="en-US" altLang="zh-CN" sz="1600" b="1" dirty="0">
                <a:solidFill>
                  <a:schemeClr val="tx1"/>
                </a:solidFill>
              </a:rPr>
              <a:t>while</a:t>
            </a:r>
            <a:r>
              <a:rPr lang="zh-CN" altLang="en-US" sz="1600" b="1" dirty="0">
                <a:solidFill>
                  <a:schemeClr val="tx1"/>
                </a:solidFill>
              </a:rPr>
              <a:t>（在</a:t>
            </a:r>
            <a:r>
              <a:rPr lang="en-US" altLang="zh-CN" sz="1600" b="1" i="1" dirty="0" err="1">
                <a:solidFill>
                  <a:schemeClr val="tx1"/>
                </a:solidFill>
              </a:rPr>
              <a:t>Dstates</a:t>
            </a:r>
            <a:r>
              <a:rPr lang="zh-CN" altLang="en-US" sz="1600" b="1" dirty="0">
                <a:solidFill>
                  <a:schemeClr val="tx1"/>
                </a:solidFill>
              </a:rPr>
              <a:t>中有一个未标记状态</a:t>
            </a:r>
            <a:r>
              <a:rPr lang="en-US" altLang="zh-CN" sz="1600" b="1" i="1" dirty="0">
                <a:solidFill>
                  <a:schemeClr val="tx1"/>
                </a:solidFill>
              </a:rPr>
              <a:t>T </a:t>
            </a:r>
            <a:r>
              <a:rPr lang="zh-CN" altLang="en-US" sz="1600" b="1" spc="-1500" dirty="0">
                <a:solidFill>
                  <a:schemeClr val="tx1"/>
                </a:solidFill>
              </a:rPr>
              <a:t>）  ｛</a:t>
            </a:r>
            <a:endParaRPr lang="en-US" altLang="zh-CN" sz="1600" b="1" spc="-1500" dirty="0">
              <a:solidFill>
                <a:schemeClr val="tx1"/>
              </a:solidFill>
            </a:endParaRPr>
          </a:p>
          <a:p>
            <a:pPr eaLnBrk="1" hangingPunct="1">
              <a:lnSpc>
                <a:spcPts val="1600"/>
              </a:lnSpc>
              <a:buClrTx/>
              <a:buFont typeface="Symbol" panose="05050102010706020507" pitchFamily="18" charset="2"/>
              <a:buNone/>
              <a:defRPr/>
            </a:pPr>
            <a:r>
              <a:rPr lang="zh-CN" altLang="en-US" sz="1600" b="1" dirty="0">
                <a:solidFill>
                  <a:schemeClr val="tx1"/>
                </a:solidFill>
              </a:rPr>
              <a:t>                                   给</a:t>
            </a:r>
            <a:r>
              <a:rPr lang="en-US" altLang="zh-CN" sz="1600" b="1" i="1" dirty="0">
                <a:solidFill>
                  <a:schemeClr val="tx1"/>
                </a:solidFill>
              </a:rPr>
              <a:t>T</a:t>
            </a:r>
            <a:r>
              <a:rPr lang="zh-CN" altLang="en-US" sz="1600" b="1" dirty="0">
                <a:solidFill>
                  <a:schemeClr val="tx1"/>
                </a:solidFill>
              </a:rPr>
              <a:t>加上标记；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16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600" b="1" i="1" dirty="0">
                <a:solidFill>
                  <a:schemeClr val="tx1"/>
                </a:solidFill>
              </a:rPr>
              <a:t>                                    </a:t>
            </a:r>
            <a:r>
              <a:rPr lang="en-US" altLang="zh-CN" sz="1600" b="1" dirty="0">
                <a:solidFill>
                  <a:schemeClr val="tx1"/>
                </a:solidFill>
              </a:rPr>
              <a:t>for</a:t>
            </a:r>
            <a:r>
              <a:rPr lang="zh-CN" altLang="en-US" sz="1600" b="1" dirty="0">
                <a:solidFill>
                  <a:schemeClr val="tx1"/>
                </a:solidFill>
              </a:rPr>
              <a:t>（每个输入符号</a:t>
            </a:r>
            <a:r>
              <a:rPr lang="en-US" altLang="zh-CN" sz="1600" b="1" i="1" dirty="0">
                <a:solidFill>
                  <a:schemeClr val="tx1"/>
                </a:solidFill>
              </a:rPr>
              <a:t>a</a:t>
            </a:r>
            <a:r>
              <a:rPr lang="zh-CN" altLang="en-US" sz="1600" b="1" spc="-1500" dirty="0">
                <a:solidFill>
                  <a:schemeClr val="tx1"/>
                </a:solidFill>
              </a:rPr>
              <a:t> ）  ｛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16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</a:rPr>
              <a:t>                                              </a:t>
            </a:r>
            <a:r>
              <a:rPr lang="en-US" altLang="zh-CN" sz="1600" b="1" i="1" dirty="0">
                <a:solidFill>
                  <a:schemeClr val="tx1"/>
                </a:solidFill>
              </a:rPr>
              <a:t>U </a:t>
            </a:r>
            <a:r>
              <a:rPr lang="en-US" altLang="zh-CN" sz="1600" b="1" dirty="0">
                <a:solidFill>
                  <a:schemeClr val="tx1"/>
                </a:solidFill>
              </a:rPr>
              <a:t>= </a:t>
            </a:r>
            <a:r>
              <a:rPr lang="en-US" altLang="zh-CN" sz="1600" b="1" i="1" dirty="0">
                <a:solidFill>
                  <a:schemeClr val="tx1"/>
                </a:solidFill>
                <a:ea typeface="楷体" panose="02010609060101010101" pitchFamily="49" charset="-122"/>
              </a:rPr>
              <a:t>ε-closure</a:t>
            </a:r>
            <a:r>
              <a:rPr lang="en-US" altLang="zh-CN" sz="1600" b="1" dirty="0">
                <a:solidFill>
                  <a:schemeClr val="tx1"/>
                </a:solidFill>
                <a:ea typeface="楷体" panose="02010609060101010101" pitchFamily="49" charset="-122"/>
              </a:rPr>
              <a:t>( </a:t>
            </a:r>
            <a:r>
              <a:rPr lang="en-US" altLang="zh-CN" sz="1600" b="1" i="1" dirty="0">
                <a:solidFill>
                  <a:schemeClr val="tx1"/>
                </a:solidFill>
                <a:ea typeface="楷体" panose="02010609060101010101" pitchFamily="49" charset="-122"/>
              </a:rPr>
              <a:t>move</a:t>
            </a:r>
            <a:r>
              <a:rPr lang="en-US" altLang="zh-CN" sz="1600" b="1" dirty="0">
                <a:solidFill>
                  <a:schemeClr val="tx1"/>
                </a:solidFill>
                <a:ea typeface="楷体" panose="02010609060101010101" pitchFamily="49" charset="-122"/>
              </a:rPr>
              <a:t>( </a:t>
            </a:r>
            <a:r>
              <a:rPr lang="en-US" altLang="zh-CN" sz="1600" b="1" i="1" dirty="0">
                <a:solidFill>
                  <a:schemeClr val="tx1"/>
                </a:solidFill>
                <a:ea typeface="楷体" panose="02010609060101010101" pitchFamily="49" charset="-122"/>
              </a:rPr>
              <a:t>T</a:t>
            </a:r>
            <a:r>
              <a:rPr lang="en-US" altLang="zh-CN" sz="1600" b="1" dirty="0">
                <a:solidFill>
                  <a:schemeClr val="tx1"/>
                </a:solidFill>
                <a:ea typeface="楷体" panose="02010609060101010101" pitchFamily="49" charset="-122"/>
              </a:rPr>
              <a:t>, </a:t>
            </a:r>
            <a:r>
              <a:rPr lang="en-US" altLang="zh-CN" sz="1600" b="1" i="1" dirty="0">
                <a:solidFill>
                  <a:schemeClr val="tx1"/>
                </a:solidFill>
                <a:ea typeface="楷体" panose="02010609060101010101" pitchFamily="49" charset="-122"/>
              </a:rPr>
              <a:t>a </a:t>
            </a:r>
            <a:r>
              <a:rPr lang="en-US" altLang="zh-CN" sz="1600" b="1" dirty="0">
                <a:solidFill>
                  <a:schemeClr val="tx1"/>
                </a:solidFill>
                <a:ea typeface="楷体" panose="02010609060101010101" pitchFamily="49" charset="-122"/>
              </a:rPr>
              <a:t>) );</a:t>
            </a:r>
            <a:endParaRPr lang="en-US" altLang="zh-CN" sz="1600" b="1" dirty="0">
              <a:solidFill>
                <a:schemeClr val="tx1"/>
              </a:solidFill>
              <a:ea typeface="楷体" panose="02010609060101010101" pitchFamily="49" charset="-122"/>
            </a:endParaRPr>
          </a:p>
          <a:p>
            <a:pPr eaLnBrk="1" hangingPunct="1">
              <a:lnSpc>
                <a:spcPts val="16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" panose="02010609060101010101" pitchFamily="49" charset="-122"/>
              </a:rPr>
              <a:t>                                              if</a:t>
            </a:r>
            <a:r>
              <a:rPr lang="en-US" altLang="zh-CN" sz="1600" b="1" i="1" dirty="0">
                <a:solidFill>
                  <a:schemeClr val="tx1"/>
                </a:solidFill>
                <a:ea typeface="楷体" panose="02010609060101010101" pitchFamily="49" charset="-122"/>
              </a:rPr>
              <a:t> </a:t>
            </a:r>
            <a:r>
              <a:rPr lang="en-US" altLang="zh-CN" sz="1600" b="1" dirty="0">
                <a:solidFill>
                  <a:schemeClr val="tx1"/>
                </a:solidFill>
                <a:ea typeface="楷体" panose="02010609060101010101" pitchFamily="49" charset="-122"/>
              </a:rPr>
              <a:t>( </a:t>
            </a:r>
            <a:r>
              <a:rPr lang="en-US" altLang="zh-CN" sz="1600" b="1" i="1" dirty="0">
                <a:solidFill>
                  <a:schemeClr val="tx1"/>
                </a:solidFill>
                <a:ea typeface="楷体" panose="02010609060101010101" pitchFamily="49" charset="-122"/>
              </a:rPr>
              <a:t>U</a:t>
            </a:r>
            <a:r>
              <a:rPr lang="zh-CN" altLang="en-US" sz="1600" b="1" dirty="0">
                <a:solidFill>
                  <a:schemeClr val="tx1"/>
                </a:solidFill>
                <a:ea typeface="楷体" panose="02010609060101010101" pitchFamily="49" charset="-122"/>
              </a:rPr>
              <a:t>不在</a:t>
            </a:r>
            <a:r>
              <a:rPr lang="en-US" altLang="zh-CN" sz="1600" b="1" i="1" dirty="0" err="1">
                <a:solidFill>
                  <a:schemeClr val="tx1"/>
                </a:solidFill>
                <a:ea typeface="楷体" panose="02010609060101010101" pitchFamily="49" charset="-122"/>
              </a:rPr>
              <a:t>Dstates</a:t>
            </a:r>
            <a:r>
              <a:rPr lang="zh-CN" altLang="en-US" sz="1600" b="1" dirty="0">
                <a:solidFill>
                  <a:schemeClr val="tx1"/>
                </a:solidFill>
                <a:ea typeface="楷体" panose="02010609060101010101" pitchFamily="49" charset="-122"/>
              </a:rPr>
              <a:t>中</a:t>
            </a:r>
            <a:r>
              <a:rPr lang="en-US" altLang="zh-CN" sz="1600" b="1" dirty="0">
                <a:solidFill>
                  <a:schemeClr val="tx1"/>
                </a:solidFill>
                <a:ea typeface="楷体" panose="02010609060101010101" pitchFamily="49" charset="-122"/>
              </a:rPr>
              <a:t>)</a:t>
            </a:r>
            <a:endParaRPr lang="en-US" altLang="zh-CN" sz="1600" b="1" dirty="0">
              <a:solidFill>
                <a:schemeClr val="tx1"/>
              </a:solidFill>
              <a:ea typeface="楷体" panose="02010609060101010101" pitchFamily="49" charset="-122"/>
            </a:endParaRPr>
          </a:p>
          <a:p>
            <a:pPr eaLnBrk="1" hangingPunct="1">
              <a:lnSpc>
                <a:spcPts val="16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" panose="02010609060101010101" pitchFamily="49" charset="-122"/>
              </a:rPr>
              <a:t>                                                           </a:t>
            </a:r>
            <a:r>
              <a:rPr lang="zh-CN" altLang="en-US" sz="1600" b="1" dirty="0">
                <a:solidFill>
                  <a:schemeClr val="tx1"/>
                </a:solidFill>
                <a:ea typeface="楷体" panose="02010609060101010101" pitchFamily="49" charset="-122"/>
              </a:rPr>
              <a:t>将</a:t>
            </a:r>
            <a:r>
              <a:rPr lang="en-US" altLang="zh-CN" sz="1600" b="1" i="1" dirty="0">
                <a:solidFill>
                  <a:schemeClr val="tx1"/>
                </a:solidFill>
                <a:ea typeface="楷体" panose="02010609060101010101" pitchFamily="49" charset="-122"/>
              </a:rPr>
              <a:t>U</a:t>
            </a:r>
            <a:r>
              <a:rPr lang="zh-CN" altLang="en-US" sz="1600" b="1" dirty="0">
                <a:solidFill>
                  <a:schemeClr val="tx1"/>
                </a:solidFill>
                <a:ea typeface="楷体" panose="02010609060101010101" pitchFamily="49" charset="-122"/>
              </a:rPr>
              <a:t>加入到</a:t>
            </a:r>
            <a:r>
              <a:rPr lang="en-US" altLang="zh-CN" sz="1600" b="1" i="1" dirty="0" err="1">
                <a:solidFill>
                  <a:schemeClr val="tx1"/>
                </a:solidFill>
                <a:ea typeface="楷体" panose="02010609060101010101" pitchFamily="49" charset="-122"/>
              </a:rPr>
              <a:t>Dstates</a:t>
            </a:r>
            <a:r>
              <a:rPr lang="zh-CN" altLang="en-US" sz="1600" b="1" dirty="0">
                <a:solidFill>
                  <a:schemeClr val="tx1"/>
                </a:solidFill>
                <a:ea typeface="楷体" panose="02010609060101010101" pitchFamily="49" charset="-122"/>
              </a:rPr>
              <a:t>中，且不加标记；</a:t>
            </a:r>
            <a:endParaRPr lang="en-US" altLang="zh-CN" sz="1600" b="1" dirty="0">
              <a:solidFill>
                <a:schemeClr val="tx1"/>
              </a:solidFill>
              <a:ea typeface="楷体" panose="02010609060101010101" pitchFamily="49" charset="-122"/>
            </a:endParaRPr>
          </a:p>
          <a:p>
            <a:pPr eaLnBrk="1" hangingPunct="1">
              <a:lnSpc>
                <a:spcPts val="16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" panose="02010609060101010101" pitchFamily="49" charset="-122"/>
              </a:rPr>
              <a:t>                                              </a:t>
            </a:r>
            <a:r>
              <a:rPr lang="en-US" altLang="zh-CN" sz="1600" b="1" i="1" dirty="0" err="1">
                <a:solidFill>
                  <a:srgbClr val="FF0000"/>
                </a:solidFill>
                <a:ea typeface="楷体" panose="02010609060101010101" pitchFamily="49" charset="-122"/>
              </a:rPr>
              <a:t>Dtran</a:t>
            </a:r>
            <a:r>
              <a:rPr lang="en-US" altLang="zh-CN" sz="1600" b="1" dirty="0">
                <a:solidFill>
                  <a:schemeClr val="tx1"/>
                </a:solidFill>
                <a:ea typeface="楷体" panose="02010609060101010101" pitchFamily="49" charset="-122"/>
              </a:rPr>
              <a:t>[</a:t>
            </a:r>
            <a:r>
              <a:rPr lang="en-US" altLang="zh-CN" sz="1600" b="1" i="1" dirty="0">
                <a:solidFill>
                  <a:schemeClr val="tx1"/>
                </a:solidFill>
                <a:ea typeface="楷体" panose="02010609060101010101" pitchFamily="49" charset="-122"/>
              </a:rPr>
              <a:t>T</a:t>
            </a:r>
            <a:r>
              <a:rPr lang="en-US" altLang="zh-CN" sz="1600" b="1" dirty="0">
                <a:solidFill>
                  <a:schemeClr val="tx1"/>
                </a:solidFill>
                <a:ea typeface="楷体" panose="02010609060101010101" pitchFamily="49" charset="-122"/>
              </a:rPr>
              <a:t>, </a:t>
            </a:r>
            <a:r>
              <a:rPr lang="en-US" altLang="zh-CN" sz="1600" b="1" i="1" dirty="0">
                <a:solidFill>
                  <a:schemeClr val="tx1"/>
                </a:solidFill>
                <a:ea typeface="楷体" panose="02010609060101010101" pitchFamily="49" charset="-122"/>
              </a:rPr>
              <a:t>a</a:t>
            </a:r>
            <a:r>
              <a:rPr lang="en-US" altLang="zh-CN" sz="1600" b="1" dirty="0">
                <a:solidFill>
                  <a:schemeClr val="tx1"/>
                </a:solidFill>
                <a:ea typeface="楷体" panose="02010609060101010101" pitchFamily="49" charset="-122"/>
              </a:rPr>
              <a:t>] = </a:t>
            </a:r>
            <a:r>
              <a:rPr lang="en-US" altLang="zh-CN" sz="1600" b="1" i="1" dirty="0">
                <a:solidFill>
                  <a:schemeClr val="tx1"/>
                </a:solidFill>
                <a:ea typeface="楷体" panose="02010609060101010101" pitchFamily="49" charset="-122"/>
              </a:rPr>
              <a:t>U </a:t>
            </a:r>
            <a:r>
              <a:rPr lang="en-US" altLang="zh-CN" sz="1600" b="1" dirty="0">
                <a:solidFill>
                  <a:schemeClr val="tx1"/>
                </a:solidFill>
                <a:ea typeface="楷体" panose="02010609060101010101" pitchFamily="49" charset="-122"/>
              </a:rPr>
              <a:t>;  }</a:t>
            </a:r>
            <a:endParaRPr lang="en-US" altLang="zh-CN" sz="1600" b="1" dirty="0">
              <a:solidFill>
                <a:schemeClr val="tx1"/>
              </a:solidFill>
              <a:ea typeface="楷体" panose="02010609060101010101" pitchFamily="49" charset="-122"/>
            </a:endParaRPr>
          </a:p>
          <a:p>
            <a:pPr eaLnBrk="1" hangingPunct="1">
              <a:lnSpc>
                <a:spcPts val="16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ea typeface="楷体" panose="02010609060101010101" pitchFamily="49" charset="-122"/>
              </a:rPr>
              <a:t>                        }</a:t>
            </a:r>
            <a:endParaRPr lang="en-US" altLang="zh-CN" sz="1800" b="1" dirty="0">
              <a:solidFill>
                <a:schemeClr val="tx1"/>
              </a:solidFill>
              <a:ea typeface="楷体" panose="02010609060101010101" pitchFamily="49" charset="-122"/>
            </a:endParaRPr>
          </a:p>
        </p:txBody>
      </p:sp>
      <p:sp>
        <p:nvSpPr>
          <p:cNvPr id="46083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子集构造</a:t>
            </a:r>
            <a:r>
              <a:rPr lang="zh-CN" altLang="en-US" sz="3000" spc="-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</a:t>
            </a:r>
            <a:r>
              <a:rPr lang="zh-CN" altLang="en-US" sz="2500" spc="-3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500" spc="-300" dirty="0">
                <a:solidFill>
                  <a:schemeClr val="tx1"/>
                </a:solidFill>
                <a:cs typeface="Times New Roman" panose="02020603050405020304" pitchFamily="18" charset="0"/>
              </a:rPr>
              <a:t>  </a:t>
            </a:r>
            <a:r>
              <a:rPr lang="en-US" altLang="zh-CN" sz="2500" i="1" dirty="0">
                <a:solidFill>
                  <a:schemeClr val="tx1"/>
                </a:solidFill>
                <a:cs typeface="Times New Roman" panose="02020603050405020304" pitchFamily="18" charset="0"/>
              </a:rPr>
              <a:t>subset construction</a:t>
            </a:r>
            <a:r>
              <a:rPr lang="zh-CN" altLang="en-US" sz="25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）</a:t>
            </a:r>
            <a:endParaRPr lang="zh-CN" altLang="en-US" sz="2500" dirty="0">
              <a:solidFill>
                <a:schemeClr val="tx1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105476" name="组合 44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05495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aphicFrame>
        <p:nvGraphicFramePr>
          <p:cNvPr id="11" name="Group 18"/>
          <p:cNvGraphicFramePr>
            <a:graphicFrameLocks noGrp="1"/>
          </p:cNvGraphicFramePr>
          <p:nvPr/>
        </p:nvGraphicFramePr>
        <p:xfrm>
          <a:off x="396558" y="3553778"/>
          <a:ext cx="8424862" cy="1250952"/>
        </p:xfrm>
        <a:graphic>
          <a:graphicData uri="http://schemas.openxmlformats.org/drawingml/2006/table">
            <a:tbl>
              <a:tblPr/>
              <a:tblGrid>
                <a:gridCol w="1335087"/>
                <a:gridCol w="7089775"/>
              </a:tblGrid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操作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9" marR="91439" marT="34346" marB="3434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描述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marL="91439" marR="91439" marT="34346" marB="3434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ε-closure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327" marB="343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从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NFA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的状态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出发只通过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ε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转换能够到达的所有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NFA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状态的集合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327" marB="343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ε-closure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327" marB="343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从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T 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中的每个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NFA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状态 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出发通过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ε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转换能够到达的所有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NFA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状态的集合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即</a:t>
                      </a:r>
                      <a:r>
                        <a:rPr kumimoji="0" lang="en-US" altLang="zh-CN" sz="16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U</a:t>
                      </a:r>
                      <a:r>
                        <a:rPr kumimoji="0" lang="en-US" altLang="zh-CN" sz="1600" b="1" i="1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s∈T</a:t>
                      </a:r>
                      <a:r>
                        <a:rPr kumimoji="0" lang="en-US" altLang="zh-CN" sz="1600" b="1" i="1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ε-closure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 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327" marB="34327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move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 , a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327" marB="343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从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T 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中的每个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状态 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出发通过标号为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的转换能够到达的所有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NFA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状态的集合</a:t>
                      </a:r>
                      <a:endParaRPr kumimoji="0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39" marR="91439" marT="34327" marB="343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标题 1"/>
          <p:cNvSpPr>
            <a:spLocks noGrp="1"/>
          </p:cNvSpPr>
          <p:nvPr>
            <p:ph type="title"/>
          </p:nvPr>
        </p:nvSpPr>
        <p:spPr>
          <a:xfrm>
            <a:off x="755650" y="214313"/>
            <a:ext cx="7931150" cy="37306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l-GR" altLang="zh-CN" sz="3000" i="1" dirty="0">
                <a:solidFill>
                  <a:schemeClr val="tx1"/>
                </a:solidFill>
              </a:rPr>
              <a:t>ε-</a:t>
            </a:r>
            <a:r>
              <a:rPr lang="en-US" altLang="zh-CN" sz="3000" i="1" dirty="0">
                <a:solidFill>
                  <a:schemeClr val="tx1"/>
                </a:solidFill>
              </a:rPr>
              <a:t>closure </a:t>
            </a:r>
            <a:r>
              <a:rPr lang="en-US" altLang="zh-CN" sz="3000" dirty="0">
                <a:solidFill>
                  <a:schemeClr val="tx1"/>
                </a:solidFill>
              </a:rPr>
              <a:t>(</a:t>
            </a:r>
            <a:r>
              <a:rPr lang="en-US" altLang="zh-CN" sz="3000" i="1" spc="-150" dirty="0">
                <a:solidFill>
                  <a:schemeClr val="tx1"/>
                </a:solidFill>
              </a:rPr>
              <a:t>T </a:t>
            </a:r>
            <a:r>
              <a:rPr lang="en-US" altLang="zh-CN" sz="3000" spc="-150" dirty="0">
                <a:solidFill>
                  <a:schemeClr val="tx1"/>
                </a:solidFill>
              </a:rPr>
              <a:t>)</a:t>
            </a:r>
            <a:endParaRPr lang="zh-CN" altLang="en-US" sz="3000" spc="-150" dirty="0">
              <a:solidFill>
                <a:schemeClr val="tx1"/>
              </a:solidFill>
            </a:endParaRPr>
          </a:p>
        </p:txBody>
      </p:sp>
      <p:grpSp>
        <p:nvGrpSpPr>
          <p:cNvPr id="107523" name="组合 44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07526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8" name="内容占位符 1"/>
          <p:cNvSpPr>
            <a:spLocks noGrp="1"/>
          </p:cNvSpPr>
          <p:nvPr>
            <p:ph idx="1"/>
          </p:nvPr>
        </p:nvSpPr>
        <p:spPr>
          <a:xfrm>
            <a:off x="357188" y="928688"/>
            <a:ext cx="8499475" cy="4071937"/>
          </a:xfrm>
        </p:spPr>
        <p:txBody>
          <a:bodyPr/>
          <a:lstStyle/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zh-CN" altLang="en-US" sz="1900" b="1" dirty="0">
                <a:solidFill>
                  <a:schemeClr val="tx1"/>
                </a:solidFill>
              </a:rPr>
              <a:t>将</a:t>
            </a:r>
            <a:r>
              <a:rPr lang="en-US" altLang="zh-CN" sz="1900" b="1" i="1" dirty="0">
                <a:solidFill>
                  <a:schemeClr val="tx1"/>
                </a:solidFill>
              </a:rPr>
              <a:t>T</a:t>
            </a:r>
            <a:r>
              <a:rPr lang="zh-CN" altLang="en-US" sz="1900" b="1" dirty="0">
                <a:solidFill>
                  <a:schemeClr val="tx1"/>
                </a:solidFill>
              </a:rPr>
              <a:t>的所有状态压入</a:t>
            </a:r>
            <a:r>
              <a:rPr lang="en-US" altLang="zh-CN" sz="1900" b="1" i="1" dirty="0">
                <a:solidFill>
                  <a:schemeClr val="tx1"/>
                </a:solidFill>
              </a:rPr>
              <a:t>stack</a:t>
            </a:r>
            <a:r>
              <a:rPr lang="zh-CN" altLang="en-US" sz="1900" b="1" dirty="0">
                <a:solidFill>
                  <a:schemeClr val="tx1"/>
                </a:solidFill>
              </a:rPr>
              <a:t>中；</a:t>
            </a:r>
            <a:endParaRPr lang="en-US" altLang="zh-CN" sz="19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zh-CN" altLang="en-US" sz="1900" b="1" dirty="0">
                <a:solidFill>
                  <a:schemeClr val="tx1"/>
                </a:solidFill>
              </a:rPr>
              <a:t>将</a:t>
            </a:r>
            <a:r>
              <a:rPr lang="en-US" altLang="zh-CN" sz="1900" b="1" i="1" dirty="0">
                <a:solidFill>
                  <a:schemeClr val="tx1"/>
                </a:solidFill>
                <a:ea typeface="楷体" panose="02010609060101010101" pitchFamily="49" charset="-122"/>
              </a:rPr>
              <a:t>ε</a:t>
            </a:r>
            <a:r>
              <a:rPr lang="en-US" altLang="zh-CN" sz="1900" b="1" dirty="0">
                <a:solidFill>
                  <a:schemeClr val="tx1"/>
                </a:solidFill>
              </a:rPr>
              <a:t>-</a:t>
            </a:r>
            <a:r>
              <a:rPr lang="en-US" altLang="zh-CN" sz="1900" b="1" i="1" dirty="0">
                <a:solidFill>
                  <a:schemeClr val="tx1"/>
                </a:solidFill>
              </a:rPr>
              <a:t>closur</a:t>
            </a:r>
            <a:r>
              <a:rPr lang="en-US" altLang="zh-CN" sz="1900" b="1" i="1" spc="-500" dirty="0">
                <a:solidFill>
                  <a:schemeClr val="tx1"/>
                </a:solidFill>
              </a:rPr>
              <a:t>e  </a:t>
            </a:r>
            <a:r>
              <a:rPr lang="zh-CN" altLang="en-US" sz="1900" b="1" dirty="0">
                <a:solidFill>
                  <a:schemeClr val="tx1"/>
                </a:solidFill>
              </a:rPr>
              <a:t>（</a:t>
            </a:r>
            <a:r>
              <a:rPr lang="en-US" altLang="zh-CN" sz="1900" b="1" i="1" dirty="0">
                <a:solidFill>
                  <a:schemeClr val="tx1"/>
                </a:solidFill>
                <a:ea typeface="楷体_GB2312"/>
                <a:cs typeface="楷体_GB2312"/>
              </a:rPr>
              <a:t>T </a:t>
            </a:r>
            <a:r>
              <a:rPr lang="zh-CN" altLang="en-US" sz="1900" b="1" spc="-1000" dirty="0">
                <a:solidFill>
                  <a:schemeClr val="tx1"/>
                </a:solidFill>
              </a:rPr>
              <a:t>）   </a:t>
            </a:r>
            <a:r>
              <a:rPr lang="zh-CN" altLang="en-US" sz="1900" b="1" dirty="0">
                <a:solidFill>
                  <a:schemeClr val="tx1"/>
                </a:solidFill>
              </a:rPr>
              <a:t>初始化为 </a:t>
            </a:r>
            <a:r>
              <a:rPr lang="en-US" altLang="zh-CN" sz="1900" b="1" i="1" dirty="0">
                <a:solidFill>
                  <a:schemeClr val="tx1"/>
                </a:solidFill>
                <a:ea typeface="楷体_GB2312"/>
                <a:cs typeface="楷体_GB2312"/>
              </a:rPr>
              <a:t>T </a:t>
            </a:r>
            <a:r>
              <a:rPr lang="zh-CN" altLang="en-US" sz="1900" b="1" dirty="0">
                <a:solidFill>
                  <a:schemeClr val="tx1"/>
                </a:solidFill>
              </a:rPr>
              <a:t>；</a:t>
            </a:r>
            <a:endParaRPr lang="en-US" altLang="zh-CN" sz="19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900" b="1" i="1" dirty="0">
                <a:solidFill>
                  <a:schemeClr val="tx1"/>
                </a:solidFill>
              </a:rPr>
              <a:t> </a:t>
            </a:r>
            <a:r>
              <a:rPr lang="en-US" altLang="zh-CN" sz="1900" b="1" dirty="0">
                <a:solidFill>
                  <a:schemeClr val="tx1"/>
                </a:solidFill>
              </a:rPr>
              <a:t>while</a:t>
            </a:r>
            <a:r>
              <a:rPr lang="zh-CN" altLang="en-US" sz="1900" b="1" dirty="0">
                <a:solidFill>
                  <a:schemeClr val="tx1"/>
                </a:solidFill>
              </a:rPr>
              <a:t>（</a:t>
            </a:r>
            <a:r>
              <a:rPr lang="en-US" altLang="zh-CN" sz="1900" b="1" i="1" dirty="0">
                <a:solidFill>
                  <a:schemeClr val="tx1"/>
                </a:solidFill>
              </a:rPr>
              <a:t>stack</a:t>
            </a:r>
            <a:r>
              <a:rPr lang="zh-CN" altLang="en-US" sz="1900" b="1" dirty="0">
                <a:solidFill>
                  <a:schemeClr val="tx1"/>
                </a:solidFill>
              </a:rPr>
              <a:t>非空</a:t>
            </a:r>
            <a:r>
              <a:rPr lang="zh-CN" altLang="en-US" sz="1900" b="1" spc="-1000" dirty="0">
                <a:solidFill>
                  <a:schemeClr val="tx1"/>
                </a:solidFill>
              </a:rPr>
              <a:t>）｛</a:t>
            </a:r>
            <a:endParaRPr lang="en-US" altLang="zh-CN" sz="1900" b="1" spc="-1000" dirty="0">
              <a:solidFill>
                <a:schemeClr val="tx1"/>
              </a:solidFill>
            </a:endParaRP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zh-CN" altLang="en-US" sz="1900" b="1" dirty="0">
                <a:solidFill>
                  <a:schemeClr val="tx1"/>
                </a:solidFill>
              </a:rPr>
              <a:t>             将栈顶元素 </a:t>
            </a:r>
            <a:r>
              <a:rPr lang="en-US" altLang="zh-CN" sz="1900" b="1" i="1" dirty="0">
                <a:solidFill>
                  <a:schemeClr val="tx1"/>
                </a:solidFill>
              </a:rPr>
              <a:t>t </a:t>
            </a:r>
            <a:r>
              <a:rPr lang="zh-CN" altLang="en-US" sz="1900" b="1" dirty="0">
                <a:solidFill>
                  <a:schemeClr val="tx1"/>
                </a:solidFill>
              </a:rPr>
              <a:t>给弹出栈中；</a:t>
            </a:r>
            <a:endParaRPr lang="en-US" altLang="zh-CN" sz="19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900" b="1" i="1" dirty="0">
                <a:solidFill>
                  <a:schemeClr val="tx1"/>
                </a:solidFill>
              </a:rPr>
              <a:t>              </a:t>
            </a:r>
            <a:r>
              <a:rPr lang="en-US" altLang="zh-CN" sz="1900" b="1" dirty="0">
                <a:solidFill>
                  <a:schemeClr val="tx1"/>
                </a:solidFill>
              </a:rPr>
              <a:t>for</a:t>
            </a:r>
            <a:r>
              <a:rPr lang="zh-CN" altLang="en-US" sz="1900" b="1" dirty="0">
                <a:solidFill>
                  <a:schemeClr val="tx1"/>
                </a:solidFill>
              </a:rPr>
              <a:t>（每个满足如下条件的</a:t>
            </a:r>
            <a:r>
              <a:rPr lang="en-US" altLang="zh-CN" sz="1900" b="1" i="1" dirty="0">
                <a:solidFill>
                  <a:schemeClr val="tx1"/>
                </a:solidFill>
              </a:rPr>
              <a:t>u</a:t>
            </a:r>
            <a:r>
              <a:rPr lang="zh-CN" altLang="en-US" sz="1900" b="1" dirty="0">
                <a:solidFill>
                  <a:schemeClr val="tx1"/>
                </a:solidFill>
              </a:rPr>
              <a:t> ：从</a:t>
            </a:r>
            <a:r>
              <a:rPr lang="en-US" altLang="zh-CN" sz="1900" b="1" i="1" dirty="0">
                <a:solidFill>
                  <a:schemeClr val="tx1"/>
                </a:solidFill>
              </a:rPr>
              <a:t>t</a:t>
            </a:r>
            <a:r>
              <a:rPr lang="zh-CN" altLang="en-US" sz="1900" b="1" dirty="0">
                <a:solidFill>
                  <a:schemeClr val="tx1"/>
                </a:solidFill>
              </a:rPr>
              <a:t>出发有一个标号为</a:t>
            </a:r>
            <a:r>
              <a:rPr lang="en-US" altLang="zh-CN" sz="1900" b="1" i="1" dirty="0">
                <a:solidFill>
                  <a:schemeClr val="tx1"/>
                </a:solidFill>
                <a:ea typeface="楷体" panose="02010609060101010101" pitchFamily="49" charset="-122"/>
              </a:rPr>
              <a:t>ε</a:t>
            </a:r>
            <a:r>
              <a:rPr lang="zh-CN" altLang="en-US" sz="1900" b="1" dirty="0">
                <a:solidFill>
                  <a:schemeClr val="tx1"/>
                </a:solidFill>
              </a:rPr>
              <a:t>的转换到达状态</a:t>
            </a:r>
            <a:r>
              <a:rPr lang="en-US" altLang="zh-CN" sz="1900" b="1" i="1" dirty="0">
                <a:solidFill>
                  <a:schemeClr val="tx1"/>
                </a:solidFill>
              </a:rPr>
              <a:t>u</a:t>
            </a:r>
            <a:r>
              <a:rPr lang="en-US" altLang="zh-CN" sz="1900" b="1" dirty="0">
                <a:solidFill>
                  <a:schemeClr val="tx1"/>
                </a:solidFill>
              </a:rPr>
              <a:t>)</a:t>
            </a:r>
            <a:endParaRPr lang="en-US" altLang="zh-CN" sz="19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900" b="1" i="1" dirty="0">
                <a:solidFill>
                  <a:schemeClr val="tx1"/>
                </a:solidFill>
                <a:ea typeface="楷体" panose="02010609060101010101" pitchFamily="49" charset="-122"/>
              </a:rPr>
              <a:t>                        </a:t>
            </a:r>
            <a:r>
              <a:rPr lang="en-US" altLang="zh-CN" sz="1900" b="1" dirty="0">
                <a:solidFill>
                  <a:schemeClr val="tx1"/>
                </a:solidFill>
                <a:ea typeface="楷体" panose="02010609060101010101" pitchFamily="49" charset="-122"/>
              </a:rPr>
              <a:t>if</a:t>
            </a:r>
            <a:r>
              <a:rPr lang="en-US" altLang="zh-CN" sz="1900" b="1" i="1" dirty="0">
                <a:solidFill>
                  <a:schemeClr val="tx1"/>
                </a:solidFill>
                <a:ea typeface="楷体" panose="02010609060101010101" pitchFamily="49" charset="-122"/>
              </a:rPr>
              <a:t> </a:t>
            </a:r>
            <a:r>
              <a:rPr lang="en-US" altLang="zh-CN" sz="1900" b="1" dirty="0">
                <a:solidFill>
                  <a:schemeClr val="tx1"/>
                </a:solidFill>
                <a:ea typeface="楷体" panose="02010609060101010101" pitchFamily="49" charset="-122"/>
              </a:rPr>
              <a:t>( </a:t>
            </a:r>
            <a:r>
              <a:rPr lang="en-US" altLang="zh-CN" sz="1900" b="1" i="1" dirty="0">
                <a:solidFill>
                  <a:schemeClr val="tx1"/>
                </a:solidFill>
                <a:ea typeface="楷体" panose="02010609060101010101" pitchFamily="49" charset="-122"/>
              </a:rPr>
              <a:t>u</a:t>
            </a:r>
            <a:r>
              <a:rPr lang="zh-CN" altLang="en-US" sz="1900" b="1" dirty="0">
                <a:solidFill>
                  <a:schemeClr val="tx1"/>
                </a:solidFill>
                <a:ea typeface="楷体" panose="02010609060101010101" pitchFamily="49" charset="-122"/>
              </a:rPr>
              <a:t>不在</a:t>
            </a:r>
            <a:r>
              <a:rPr lang="en-US" altLang="zh-CN" sz="1900" b="1" i="1" dirty="0">
                <a:solidFill>
                  <a:schemeClr val="tx1"/>
                </a:solidFill>
                <a:ea typeface="楷体" panose="02010609060101010101" pitchFamily="49" charset="-122"/>
              </a:rPr>
              <a:t>ε</a:t>
            </a:r>
            <a:r>
              <a:rPr lang="en-US" altLang="zh-CN" sz="1900" b="1" dirty="0">
                <a:solidFill>
                  <a:schemeClr val="tx1"/>
                </a:solidFill>
              </a:rPr>
              <a:t>-</a:t>
            </a:r>
            <a:r>
              <a:rPr lang="en-US" altLang="zh-CN" sz="1900" b="1" i="1" dirty="0">
                <a:solidFill>
                  <a:schemeClr val="tx1"/>
                </a:solidFill>
              </a:rPr>
              <a:t>closur</a:t>
            </a:r>
            <a:r>
              <a:rPr lang="en-US" altLang="zh-CN" sz="1900" b="1" i="1" spc="-500" dirty="0">
                <a:solidFill>
                  <a:schemeClr val="tx1"/>
                </a:solidFill>
              </a:rPr>
              <a:t>e  </a:t>
            </a:r>
            <a:r>
              <a:rPr lang="zh-CN" altLang="en-US" sz="1900" b="1" dirty="0">
                <a:solidFill>
                  <a:schemeClr val="tx1"/>
                </a:solidFill>
              </a:rPr>
              <a:t>（</a:t>
            </a:r>
            <a:r>
              <a:rPr lang="en-US" altLang="zh-CN" sz="1900" b="1" i="1" dirty="0">
                <a:solidFill>
                  <a:schemeClr val="tx1"/>
                </a:solidFill>
                <a:ea typeface="楷体_GB2312"/>
                <a:cs typeface="楷体_GB2312"/>
              </a:rPr>
              <a:t>T </a:t>
            </a:r>
            <a:r>
              <a:rPr lang="zh-CN" altLang="en-US" sz="1900" b="1" spc="-1000" dirty="0">
                <a:solidFill>
                  <a:schemeClr val="tx1"/>
                </a:solidFill>
              </a:rPr>
              <a:t>）</a:t>
            </a:r>
            <a:r>
              <a:rPr lang="zh-CN" altLang="en-US" sz="1900" b="1" dirty="0">
                <a:solidFill>
                  <a:schemeClr val="tx1"/>
                </a:solidFill>
                <a:ea typeface="楷体" panose="02010609060101010101" pitchFamily="49" charset="-122"/>
              </a:rPr>
              <a:t>中</a:t>
            </a:r>
            <a:r>
              <a:rPr lang="zh-CN" altLang="en-US" sz="1900" b="1" spc="-1000" dirty="0">
                <a:solidFill>
                  <a:schemeClr val="tx1"/>
                </a:solidFill>
              </a:rPr>
              <a:t>）｛</a:t>
            </a:r>
            <a:endParaRPr lang="en-US" altLang="zh-CN" sz="1900" b="1" dirty="0">
              <a:solidFill>
                <a:schemeClr val="tx1"/>
              </a:solidFill>
              <a:ea typeface="楷体" panose="02010609060101010101" pitchFamily="49" charset="-122"/>
            </a:endParaRP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zh-CN" altLang="en-US" sz="1900" b="1" dirty="0">
                <a:solidFill>
                  <a:schemeClr val="tx1"/>
                </a:solidFill>
                <a:ea typeface="楷体" panose="02010609060101010101" pitchFamily="49" charset="-122"/>
              </a:rPr>
              <a:t>                                     将</a:t>
            </a:r>
            <a:r>
              <a:rPr lang="en-US" altLang="zh-CN" sz="1900" b="1" i="1" dirty="0">
                <a:solidFill>
                  <a:schemeClr val="tx1"/>
                </a:solidFill>
                <a:ea typeface="楷体" panose="02010609060101010101" pitchFamily="49" charset="-122"/>
              </a:rPr>
              <a:t>u</a:t>
            </a:r>
            <a:r>
              <a:rPr lang="zh-CN" altLang="en-US" sz="1900" b="1" dirty="0">
                <a:solidFill>
                  <a:schemeClr val="tx1"/>
                </a:solidFill>
                <a:ea typeface="楷体" panose="02010609060101010101" pitchFamily="49" charset="-122"/>
              </a:rPr>
              <a:t>加入到</a:t>
            </a:r>
            <a:r>
              <a:rPr lang="en-US" altLang="zh-CN" sz="1900" b="1" i="1" dirty="0">
                <a:solidFill>
                  <a:schemeClr val="tx1"/>
                </a:solidFill>
                <a:ea typeface="楷体" panose="02010609060101010101" pitchFamily="49" charset="-122"/>
              </a:rPr>
              <a:t>ε</a:t>
            </a:r>
            <a:r>
              <a:rPr lang="en-US" altLang="zh-CN" sz="1900" b="1" dirty="0">
                <a:solidFill>
                  <a:schemeClr val="tx1"/>
                </a:solidFill>
              </a:rPr>
              <a:t>-</a:t>
            </a:r>
            <a:r>
              <a:rPr lang="en-US" altLang="zh-CN" sz="1900" b="1" i="1" dirty="0">
                <a:solidFill>
                  <a:schemeClr val="tx1"/>
                </a:solidFill>
              </a:rPr>
              <a:t>closur</a:t>
            </a:r>
            <a:r>
              <a:rPr lang="en-US" altLang="zh-CN" sz="1900" b="1" i="1" spc="-500" dirty="0">
                <a:solidFill>
                  <a:schemeClr val="tx1"/>
                </a:solidFill>
              </a:rPr>
              <a:t>e  </a:t>
            </a:r>
            <a:r>
              <a:rPr lang="zh-CN" altLang="en-US" sz="1900" b="1" dirty="0">
                <a:solidFill>
                  <a:schemeClr val="tx1"/>
                </a:solidFill>
              </a:rPr>
              <a:t>（</a:t>
            </a:r>
            <a:r>
              <a:rPr lang="en-US" altLang="zh-CN" sz="1900" b="1" i="1" dirty="0">
                <a:solidFill>
                  <a:schemeClr val="tx1"/>
                </a:solidFill>
                <a:ea typeface="楷体_GB2312"/>
                <a:cs typeface="楷体_GB2312"/>
              </a:rPr>
              <a:t>T </a:t>
            </a:r>
            <a:r>
              <a:rPr lang="zh-CN" altLang="en-US" sz="1900" b="1" spc="-1000" dirty="0">
                <a:solidFill>
                  <a:schemeClr val="tx1"/>
                </a:solidFill>
              </a:rPr>
              <a:t>）</a:t>
            </a:r>
            <a:r>
              <a:rPr lang="zh-CN" altLang="en-US" sz="1900" b="1" dirty="0">
                <a:solidFill>
                  <a:schemeClr val="tx1"/>
                </a:solidFill>
                <a:ea typeface="楷体" panose="02010609060101010101" pitchFamily="49" charset="-122"/>
              </a:rPr>
              <a:t>中；</a:t>
            </a:r>
            <a:endParaRPr lang="en-US" altLang="zh-CN" sz="1900" b="1" dirty="0">
              <a:solidFill>
                <a:schemeClr val="tx1"/>
              </a:solidFill>
              <a:ea typeface="楷体" panose="02010609060101010101" pitchFamily="49" charset="-122"/>
            </a:endParaRP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900" b="1" dirty="0">
                <a:solidFill>
                  <a:schemeClr val="tx1"/>
                </a:solidFill>
                <a:ea typeface="楷体" panose="02010609060101010101" pitchFamily="49" charset="-122"/>
              </a:rPr>
              <a:t>                                     </a:t>
            </a:r>
            <a:r>
              <a:rPr lang="zh-CN" altLang="en-US" sz="1900" b="1" dirty="0">
                <a:solidFill>
                  <a:schemeClr val="tx1"/>
                </a:solidFill>
                <a:ea typeface="楷体" panose="02010609060101010101" pitchFamily="49" charset="-122"/>
              </a:rPr>
              <a:t>将</a:t>
            </a:r>
            <a:r>
              <a:rPr lang="en-US" altLang="zh-CN" sz="1900" b="1" i="1" dirty="0">
                <a:solidFill>
                  <a:schemeClr val="tx1"/>
                </a:solidFill>
                <a:ea typeface="楷体" panose="02010609060101010101" pitchFamily="49" charset="-122"/>
              </a:rPr>
              <a:t>u</a:t>
            </a:r>
            <a:r>
              <a:rPr lang="zh-CN" altLang="en-US" sz="1900" b="1" dirty="0">
                <a:solidFill>
                  <a:schemeClr val="tx1"/>
                </a:solidFill>
              </a:rPr>
              <a:t>压入栈中</a:t>
            </a:r>
            <a:r>
              <a:rPr lang="en-US" altLang="zh-CN" sz="1900" b="1" dirty="0">
                <a:solidFill>
                  <a:schemeClr val="tx1"/>
                </a:solidFill>
                <a:ea typeface="楷体" panose="02010609060101010101" pitchFamily="49" charset="-122"/>
              </a:rPr>
              <a:t>;</a:t>
            </a:r>
            <a:endParaRPr lang="en-US" altLang="zh-CN" sz="1900" b="1" dirty="0">
              <a:solidFill>
                <a:schemeClr val="tx1"/>
              </a:solidFill>
              <a:ea typeface="楷体" panose="02010609060101010101" pitchFamily="49" charset="-122"/>
            </a:endParaRP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900" b="1" dirty="0">
                <a:solidFill>
                  <a:schemeClr val="tx1"/>
                </a:solidFill>
                <a:ea typeface="楷体" panose="02010609060101010101" pitchFamily="49" charset="-122"/>
              </a:rPr>
              <a:t>                         }</a:t>
            </a:r>
            <a:endParaRPr lang="en-US" altLang="zh-CN" sz="1900" b="1" dirty="0">
              <a:solidFill>
                <a:schemeClr val="tx1"/>
              </a:solidFill>
              <a:ea typeface="楷体" panose="02010609060101010101" pitchFamily="49" charset="-122"/>
            </a:endParaRP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1900" b="1" dirty="0">
                <a:solidFill>
                  <a:schemeClr val="tx1"/>
                </a:solidFill>
                <a:ea typeface="楷体" panose="02010609060101010101" pitchFamily="49" charset="-122"/>
              </a:rPr>
              <a:t>}</a:t>
            </a:r>
            <a:endParaRPr lang="en-US" altLang="zh-CN" sz="2000" b="1" dirty="0">
              <a:solidFill>
                <a:schemeClr val="tx1"/>
              </a:solidFill>
              <a:ea typeface="楷体" panose="02010609060101010101" pitchFamily="49" charset="-122"/>
            </a:endParaRPr>
          </a:p>
          <a:p>
            <a:pPr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endParaRPr lang="zh-CN" altLang="en-US" sz="2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28600" y="1368425"/>
            <a:ext cx="8185150" cy="3225800"/>
          </a:xfrm>
        </p:spPr>
        <p:txBody>
          <a:bodyPr/>
          <a:lstStyle/>
          <a:p>
            <a:r>
              <a:rPr lang="en-US" altLang="zh-CN" b="1" dirty="0"/>
              <a:t> </a:t>
            </a:r>
            <a:r>
              <a:rPr lang="zh-CN" altLang="en-US" b="1" dirty="0"/>
              <a:t>将</a:t>
            </a:r>
            <a:r>
              <a:rPr lang="en-US" altLang="zh-CN" b="1" dirty="0"/>
              <a:t>NFA</a:t>
            </a:r>
            <a:r>
              <a:rPr lang="zh-CN" altLang="en-US" b="1" dirty="0"/>
              <a:t>转换为</a:t>
            </a:r>
            <a:r>
              <a:rPr lang="en-US" altLang="zh-CN" b="1" dirty="0"/>
              <a:t>DFA</a:t>
            </a:r>
            <a:r>
              <a:rPr lang="zh-CN" altLang="en-US" b="1" dirty="0"/>
              <a:t>，画出转换表或转换图。</a:t>
            </a:r>
            <a:endParaRPr lang="zh-CN" altLang="en-US" b="1" dirty="0"/>
          </a:p>
        </p:txBody>
      </p:sp>
      <p:grpSp>
        <p:nvGrpSpPr>
          <p:cNvPr id="6" name="组合 5"/>
          <p:cNvGrpSpPr/>
          <p:nvPr/>
        </p:nvGrpSpPr>
        <p:grpSpPr>
          <a:xfrm>
            <a:off x="1835696" y="2211710"/>
            <a:ext cx="4941330" cy="1272852"/>
            <a:chOff x="2139805" y="3809988"/>
            <a:chExt cx="4941330" cy="1272852"/>
          </a:xfrm>
        </p:grpSpPr>
        <p:grpSp>
          <p:nvGrpSpPr>
            <p:cNvPr id="7" name="组合 6"/>
            <p:cNvGrpSpPr/>
            <p:nvPr/>
          </p:nvGrpSpPr>
          <p:grpSpPr>
            <a:xfrm>
              <a:off x="2139805" y="3809988"/>
              <a:ext cx="3376077" cy="1272852"/>
              <a:chOff x="2139805" y="3809988"/>
              <a:chExt cx="3376077" cy="1272852"/>
            </a:xfrm>
          </p:grpSpPr>
          <p:grpSp>
            <p:nvGrpSpPr>
              <p:cNvPr id="16" name="组合 15"/>
              <p:cNvGrpSpPr/>
              <p:nvPr/>
            </p:nvGrpSpPr>
            <p:grpSpPr>
              <a:xfrm>
                <a:off x="2139805" y="3809988"/>
                <a:ext cx="3376077" cy="1272852"/>
                <a:chOff x="2123728" y="2480422"/>
                <a:chExt cx="3376077" cy="1272852"/>
              </a:xfrm>
            </p:grpSpPr>
            <p:grpSp>
              <p:nvGrpSpPr>
                <p:cNvPr id="20" name="组合 19"/>
                <p:cNvGrpSpPr/>
                <p:nvPr/>
              </p:nvGrpSpPr>
              <p:grpSpPr>
                <a:xfrm>
                  <a:off x="2123728" y="2770681"/>
                  <a:ext cx="3376077" cy="982593"/>
                  <a:chOff x="2123728" y="2885412"/>
                  <a:chExt cx="3376077" cy="982593"/>
                </a:xfrm>
              </p:grpSpPr>
              <p:grpSp>
                <p:nvGrpSpPr>
                  <p:cNvPr id="23" name="组合 9"/>
                  <p:cNvGrpSpPr/>
                  <p:nvPr/>
                </p:nvGrpSpPr>
                <p:grpSpPr bwMode="auto">
                  <a:xfrm>
                    <a:off x="2123728" y="2899525"/>
                    <a:ext cx="3376077" cy="761242"/>
                    <a:chOff x="2174078" y="3042974"/>
                    <a:chExt cx="3375374" cy="760888"/>
                  </a:xfrm>
                </p:grpSpPr>
                <p:sp>
                  <p:nvSpPr>
                    <p:cNvPr id="30" name="Rectangle 1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77367" y="3492958"/>
                      <a:ext cx="659741" cy="31090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/>
                      <a:endParaRPr lang="en-US" altLang="zh-CN" sz="2500" b="1">
                        <a:latin typeface="Times New Roman" panose="02020603050405020304" pitchFamily="18" charset="0"/>
                        <a:ea typeface="楷体_GB2312"/>
                        <a:cs typeface="楷体_GB2312"/>
                      </a:endParaRPr>
                    </a:p>
                  </p:txBody>
                </p:sp>
                <p:sp>
                  <p:nvSpPr>
                    <p:cNvPr id="31" name="Rectangle 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74078" y="3323063"/>
                      <a:ext cx="659874" cy="31080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/>
                      <a:r>
                        <a:rPr lang="en-US" altLang="zh-CN" sz="20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楷体_GB2312"/>
                          <a:cs typeface="楷体_GB2312"/>
                        </a:rPr>
                        <a:t>start</a:t>
                      </a:r>
                      <a:endParaRPr lang="en-US" altLang="zh-CN" sz="2000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_GB2312"/>
                        <a:cs typeface="楷体_GB2312"/>
                      </a:endParaRPr>
                    </a:p>
                  </p:txBody>
                </p:sp>
                <p:sp>
                  <p:nvSpPr>
                    <p:cNvPr id="32" name="Line 21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792044" y="3517579"/>
                      <a:ext cx="329937" cy="0"/>
                    </a:xfrm>
                    <a:prstGeom prst="lin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tailEnd type="stealth" w="lg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3" name="Rectangle 1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39784" y="3189387"/>
                      <a:ext cx="454395" cy="28735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/>
                      <a:r>
                        <a:rPr lang="el-GR" altLang="zh-CN" sz="24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ε</a:t>
                      </a:r>
                      <a:endParaRPr lang="en-US" altLang="zh-CN" sz="2400" b="1" dirty="0">
                        <a:latin typeface="Times New Roman" panose="02020603050405020304" pitchFamily="18" charset="0"/>
                        <a:ea typeface="楷体_GB2312"/>
                        <a:cs typeface="楷体_GB2312"/>
                      </a:endParaRPr>
                    </a:p>
                  </p:txBody>
                </p:sp>
                <p:sp>
                  <p:nvSpPr>
                    <p:cNvPr id="34" name="Rectangle 1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117532" y="3183654"/>
                      <a:ext cx="333864" cy="29407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/>
                      <a:r>
                        <a:rPr lang="en-US" altLang="zh-CN" sz="2400" b="1" i="1" dirty="0">
                          <a:latin typeface="Times New Roman" panose="02020603050405020304" pitchFamily="18" charset="0"/>
                          <a:ea typeface="楷体_GB2312"/>
                          <a:cs typeface="楷体_GB2312"/>
                        </a:rPr>
                        <a:t>a</a:t>
                      </a:r>
                      <a:endParaRPr lang="en-US" altLang="zh-CN" sz="2400" b="1" dirty="0">
                        <a:latin typeface="Times New Roman" panose="02020603050405020304" pitchFamily="18" charset="0"/>
                        <a:ea typeface="楷体_GB2312"/>
                        <a:cs typeface="楷体_GB2312"/>
                      </a:endParaRPr>
                    </a:p>
                  </p:txBody>
                </p:sp>
                <p:sp>
                  <p:nvSpPr>
                    <p:cNvPr id="35" name="Line 21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5076656" y="3511736"/>
                      <a:ext cx="472796" cy="0"/>
                    </a:xfrm>
                    <a:prstGeom prst="lin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tailEnd type="stealth" w="lg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6" name="Rectangle 1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09561" y="3042974"/>
                      <a:ext cx="136547" cy="32406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/>
                      <a:r>
                        <a:rPr lang="en-US" altLang="zh-CN" sz="20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楷体_GB2312"/>
                          <a:cs typeface="楷体_GB2312"/>
                        </a:rPr>
                        <a:t> </a:t>
                      </a:r>
                      <a:r>
                        <a:rPr lang="en-US" altLang="zh-CN" sz="2000" b="1" i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楷体_GB2312"/>
                          <a:cs typeface="楷体_GB2312"/>
                        </a:rPr>
                        <a:t>a</a:t>
                      </a:r>
                      <a:endParaRPr lang="en-US" altLang="zh-CN" sz="24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楷体_GB2312"/>
                        <a:cs typeface="楷体_GB2312"/>
                      </a:endParaRPr>
                    </a:p>
                  </p:txBody>
                </p:sp>
                <p:sp>
                  <p:nvSpPr>
                    <p:cNvPr id="37" name="Line 2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497867" y="3513782"/>
                      <a:ext cx="445973" cy="0"/>
                    </a:xfrm>
                    <a:prstGeom prst="lin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round/>
                      <a:tailEnd type="stealth" w="lg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8" name="Oval 1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38799" y="3422590"/>
                      <a:ext cx="175142" cy="176387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chemeClr val="tx1"/>
                      </a:solidFill>
                      <a:round/>
                    </a:ln>
                  </p:spPr>
                  <p:txBody>
                    <a:bodyPr wrap="none" anchor="b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/>
                      <a:endParaRPr lang="en-US" altLang="zh-CN" sz="2000" b="1" i="1" baseline="-25000">
                        <a:latin typeface="Times New Roman" panose="02020603050405020304" pitchFamily="18" charset="0"/>
                        <a:ea typeface="楷体_GB2312"/>
                        <a:cs typeface="楷体_GB2312"/>
                      </a:endParaRPr>
                    </a:p>
                  </p:txBody>
                </p:sp>
                <p:sp>
                  <p:nvSpPr>
                    <p:cNvPr id="39" name="Oval 1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943840" y="3422590"/>
                      <a:ext cx="175142" cy="176387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chemeClr val="tx1"/>
                      </a:solidFill>
                      <a:round/>
                    </a:ln>
                  </p:spPr>
                  <p:txBody>
                    <a:bodyPr wrap="none" anchor="b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/>
                      <a:endParaRPr lang="en-US" altLang="zh-CN" sz="2000" b="1" i="1" baseline="-25000">
                        <a:latin typeface="Times New Roman" panose="02020603050405020304" pitchFamily="18" charset="0"/>
                        <a:ea typeface="楷体_GB2312"/>
                        <a:cs typeface="楷体_GB2312"/>
                      </a:endParaRPr>
                    </a:p>
                  </p:txBody>
                </p:sp>
              </p:grpSp>
              <p:sp>
                <p:nvSpPr>
                  <p:cNvPr id="24" name="Oval 10"/>
                  <p:cNvSpPr>
                    <a:spLocks noChangeArrowheads="1"/>
                  </p:cNvSpPr>
                  <p:nvPr/>
                </p:nvSpPr>
                <p:spPr bwMode="auto">
                  <a:xfrm>
                    <a:off x="3601996" y="3279596"/>
                    <a:ext cx="175178" cy="176469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C00000"/>
                    </a:solidFill>
                    <a:round/>
                  </a:ln>
                </p:spPr>
                <p:txBody>
                  <a:bodyPr wrap="none" anchor="b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endParaRPr lang="en-US" altLang="zh-CN" sz="2000" b="1" i="1" baseline="-25000">
                      <a:latin typeface="Times New Roman" panose="02020603050405020304" pitchFamily="18" charset="0"/>
                      <a:ea typeface="楷体_GB2312"/>
                      <a:cs typeface="楷体_GB2312"/>
                    </a:endParaRPr>
                  </a:p>
                </p:txBody>
              </p:sp>
              <p:sp>
                <p:nvSpPr>
                  <p:cNvPr id="25" name="Oval 10"/>
                  <p:cNvSpPr>
                    <a:spLocks noChangeArrowheads="1"/>
                  </p:cNvSpPr>
                  <p:nvPr/>
                </p:nvSpPr>
                <p:spPr bwMode="auto">
                  <a:xfrm>
                    <a:off x="3063305" y="3277976"/>
                    <a:ext cx="175178" cy="176469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round/>
                  </a:ln>
                </p:spPr>
                <p:txBody>
                  <a:bodyPr wrap="none" anchor="b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endParaRPr lang="en-US" altLang="zh-CN" sz="2000" b="1" i="1" baseline="-25000">
                      <a:latin typeface="Times New Roman" panose="02020603050405020304" pitchFamily="18" charset="0"/>
                      <a:ea typeface="楷体_GB2312"/>
                      <a:cs typeface="楷体_GB2312"/>
                    </a:endParaRPr>
                  </a:p>
                </p:txBody>
              </p:sp>
              <p:sp>
                <p:nvSpPr>
                  <p:cNvPr id="26" name="Line 2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247514" y="3370765"/>
                    <a:ext cx="354481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7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3201963" y="3003066"/>
                    <a:ext cx="350361" cy="35916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l-GR" altLang="zh-CN" sz="24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ε</a:t>
                    </a:r>
                    <a:endParaRPr lang="en-US" altLang="zh-CN" sz="2400" b="1" dirty="0">
                      <a:latin typeface="Times New Roman" panose="02020603050405020304" pitchFamily="18" charset="0"/>
                      <a:ea typeface="楷体_GB2312"/>
                      <a:cs typeface="楷体_GB2312"/>
                    </a:endParaRPr>
                  </a:p>
                </p:txBody>
              </p:sp>
              <p:sp>
                <p:nvSpPr>
                  <p:cNvPr id="28" name="任意多边形: 形状 27"/>
                  <p:cNvSpPr/>
                  <p:nvPr/>
                </p:nvSpPr>
                <p:spPr>
                  <a:xfrm>
                    <a:off x="3650397" y="2885412"/>
                    <a:ext cx="797603" cy="439033"/>
                  </a:xfrm>
                  <a:custGeom>
                    <a:avLst/>
                    <a:gdLst>
                      <a:gd name="connsiteX0" fmla="*/ 678872 w 678872"/>
                      <a:gd name="connsiteY0" fmla="*/ 360240 h 360240"/>
                      <a:gd name="connsiteX1" fmla="*/ 339436 w 678872"/>
                      <a:gd name="connsiteY1" fmla="*/ 22 h 360240"/>
                      <a:gd name="connsiteX2" fmla="*/ 0 w 678872"/>
                      <a:gd name="connsiteY2" fmla="*/ 346386 h 3602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678872" h="360240">
                        <a:moveTo>
                          <a:pt x="678872" y="360240"/>
                        </a:moveTo>
                        <a:cubicBezTo>
                          <a:pt x="565726" y="181285"/>
                          <a:pt x="452581" y="2331"/>
                          <a:pt x="339436" y="22"/>
                        </a:cubicBezTo>
                        <a:cubicBezTo>
                          <a:pt x="226291" y="-2287"/>
                          <a:pt x="113145" y="172049"/>
                          <a:pt x="0" y="346386"/>
                        </a:cubicBez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headEnd type="none" w="med" len="med"/>
                    <a:tailEnd type="arrow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9" name="任意多边形: 形状 28"/>
                  <p:cNvSpPr/>
                  <p:nvPr/>
                </p:nvSpPr>
                <p:spPr>
                  <a:xfrm>
                    <a:off x="3222406" y="3378806"/>
                    <a:ext cx="1680017" cy="489199"/>
                  </a:xfrm>
                  <a:custGeom>
                    <a:avLst/>
                    <a:gdLst>
                      <a:gd name="connsiteX0" fmla="*/ 0 w 1856509"/>
                      <a:gd name="connsiteY0" fmla="*/ 20781 h 235607"/>
                      <a:gd name="connsiteX1" fmla="*/ 983673 w 1856509"/>
                      <a:gd name="connsiteY1" fmla="*/ 235527 h 235607"/>
                      <a:gd name="connsiteX2" fmla="*/ 1856509 w 1856509"/>
                      <a:gd name="connsiteY2" fmla="*/ 0 h 2356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856509" h="235607">
                        <a:moveTo>
                          <a:pt x="0" y="20781"/>
                        </a:moveTo>
                        <a:cubicBezTo>
                          <a:pt x="337127" y="129885"/>
                          <a:pt x="674255" y="238990"/>
                          <a:pt x="983673" y="235527"/>
                        </a:cubicBezTo>
                        <a:cubicBezTo>
                          <a:pt x="1293091" y="232064"/>
                          <a:pt x="1741055" y="39255"/>
                          <a:pt x="1856509" y="0"/>
                        </a:cubicBez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headEnd type="none" w="med" len="med"/>
                    <a:tailEnd type="arrow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21" name="Rectangle 14"/>
                <p:cNvSpPr>
                  <a:spLocks noChangeArrowheads="1"/>
                </p:cNvSpPr>
                <p:nvPr/>
              </p:nvSpPr>
              <p:spPr bwMode="auto">
                <a:xfrm>
                  <a:off x="3914641" y="3424616"/>
                  <a:ext cx="454489" cy="2874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l-GR" altLang="zh-CN" sz="24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ε</a:t>
                  </a:r>
                  <a:endParaRPr lang="en-US" altLang="zh-CN" sz="2400" b="1" dirty="0">
                    <a:latin typeface="Times New Roman" panose="02020603050405020304" pitchFamily="18" charset="0"/>
                    <a:ea typeface="楷体_GB2312"/>
                    <a:cs typeface="楷体_GB2312"/>
                  </a:endParaRPr>
                </a:p>
              </p:txBody>
            </p:sp>
            <p:sp>
              <p:nvSpPr>
                <p:cNvPr id="22" name="Rectangle 14"/>
                <p:cNvSpPr>
                  <a:spLocks noChangeArrowheads="1"/>
                </p:cNvSpPr>
                <p:nvPr/>
              </p:nvSpPr>
              <p:spPr bwMode="auto">
                <a:xfrm>
                  <a:off x="3805791" y="2480422"/>
                  <a:ext cx="454489" cy="2874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l-GR" altLang="zh-CN" sz="24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ε</a:t>
                  </a:r>
                  <a:endParaRPr lang="en-US" altLang="zh-CN" sz="2400" b="1" dirty="0">
                    <a:latin typeface="Times New Roman" panose="02020603050405020304" pitchFamily="18" charset="0"/>
                    <a:ea typeface="楷体_GB2312"/>
                    <a:cs typeface="楷体_GB2312"/>
                  </a:endParaRPr>
                </a:p>
              </p:txBody>
            </p:sp>
          </p:grpSp>
          <p:sp>
            <p:nvSpPr>
              <p:cNvPr id="17" name="任意多边形: 形状 16"/>
              <p:cNvSpPr/>
              <p:nvPr/>
            </p:nvSpPr>
            <p:spPr>
              <a:xfrm>
                <a:off x="3706091" y="4655127"/>
                <a:ext cx="671945" cy="124779"/>
              </a:xfrm>
              <a:custGeom>
                <a:avLst/>
                <a:gdLst>
                  <a:gd name="connsiteX0" fmla="*/ 0 w 713509"/>
                  <a:gd name="connsiteY0" fmla="*/ 0 h 124773"/>
                  <a:gd name="connsiteX1" fmla="*/ 360218 w 713509"/>
                  <a:gd name="connsiteY1" fmla="*/ 124691 h 124773"/>
                  <a:gd name="connsiteX2" fmla="*/ 713509 w 713509"/>
                  <a:gd name="connsiteY2" fmla="*/ 20782 h 124773"/>
                  <a:gd name="connsiteX3" fmla="*/ 713509 w 713509"/>
                  <a:gd name="connsiteY3" fmla="*/ 20782 h 1247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3509" h="124773">
                    <a:moveTo>
                      <a:pt x="0" y="0"/>
                    </a:moveTo>
                    <a:cubicBezTo>
                      <a:pt x="120650" y="60613"/>
                      <a:pt x="241300" y="121227"/>
                      <a:pt x="360218" y="124691"/>
                    </a:cubicBezTo>
                    <a:cubicBezTo>
                      <a:pt x="479136" y="128155"/>
                      <a:pt x="713509" y="20782"/>
                      <a:pt x="713509" y="20782"/>
                    </a:cubicBezTo>
                    <a:lnTo>
                      <a:pt x="713509" y="20782"/>
                    </a:lnTo>
                  </a:path>
                </a:pathLst>
              </a:custGeom>
              <a:noFill/>
              <a:ln w="19050">
                <a:solidFill>
                  <a:srgbClr val="C00000"/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任意多边形: 形状 17"/>
              <p:cNvSpPr/>
              <p:nvPr/>
            </p:nvSpPr>
            <p:spPr>
              <a:xfrm flipV="1">
                <a:off x="3742971" y="4408857"/>
                <a:ext cx="671945" cy="107782"/>
              </a:xfrm>
              <a:custGeom>
                <a:avLst/>
                <a:gdLst>
                  <a:gd name="connsiteX0" fmla="*/ 0 w 713509"/>
                  <a:gd name="connsiteY0" fmla="*/ 0 h 124773"/>
                  <a:gd name="connsiteX1" fmla="*/ 360218 w 713509"/>
                  <a:gd name="connsiteY1" fmla="*/ 124691 h 124773"/>
                  <a:gd name="connsiteX2" fmla="*/ 713509 w 713509"/>
                  <a:gd name="connsiteY2" fmla="*/ 20782 h 124773"/>
                  <a:gd name="connsiteX3" fmla="*/ 713509 w 713509"/>
                  <a:gd name="connsiteY3" fmla="*/ 20782 h 1247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3509" h="124773">
                    <a:moveTo>
                      <a:pt x="0" y="0"/>
                    </a:moveTo>
                    <a:cubicBezTo>
                      <a:pt x="120650" y="60613"/>
                      <a:pt x="241300" y="121227"/>
                      <a:pt x="360218" y="124691"/>
                    </a:cubicBezTo>
                    <a:cubicBezTo>
                      <a:pt x="479136" y="128155"/>
                      <a:pt x="713509" y="20782"/>
                      <a:pt x="713509" y="20782"/>
                    </a:cubicBezTo>
                    <a:lnTo>
                      <a:pt x="713509" y="20782"/>
                    </a:lnTo>
                  </a:path>
                </a:pathLst>
              </a:custGeom>
              <a:noFill/>
              <a:ln w="19050">
                <a:solidFill>
                  <a:srgbClr val="C00000"/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Rectangle 14"/>
              <p:cNvSpPr>
                <a:spLocks noChangeArrowheads="1"/>
              </p:cNvSpPr>
              <p:nvPr/>
            </p:nvSpPr>
            <p:spPr bwMode="auto">
              <a:xfrm>
                <a:off x="3801175" y="4473289"/>
                <a:ext cx="485531" cy="3307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0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 </a:t>
                </a:r>
                <a:r>
                  <a:rPr lang="en-US" altLang="zh-CN" sz="2000" b="1" i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楷体_GB2312"/>
                    <a:cs typeface="楷体_GB2312"/>
                  </a:rPr>
                  <a:t>b</a:t>
                </a:r>
                <a:endParaRPr lang="en-US" altLang="zh-CN" sz="24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</p:grpSp>
        <p:sp>
          <p:nvSpPr>
            <p:cNvPr id="8" name="Rectangle 14"/>
            <p:cNvSpPr>
              <a:spLocks noChangeArrowheads="1"/>
            </p:cNvSpPr>
            <p:nvPr/>
          </p:nvSpPr>
          <p:spPr bwMode="auto">
            <a:xfrm>
              <a:off x="6300239" y="4268375"/>
              <a:ext cx="486632" cy="303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  <a:endParaRPr lang="en-US" altLang="zh-CN" sz="2400" b="1" dirty="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9" name="Line 21"/>
            <p:cNvSpPr>
              <a:spLocks noChangeShapeType="1"/>
            </p:cNvSpPr>
            <p:nvPr/>
          </p:nvSpPr>
          <p:spPr bwMode="auto">
            <a:xfrm flipV="1">
              <a:off x="6356647" y="4588779"/>
              <a:ext cx="46086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Oval 10"/>
            <p:cNvSpPr>
              <a:spLocks noChangeArrowheads="1"/>
            </p:cNvSpPr>
            <p:nvPr/>
          </p:nvSpPr>
          <p:spPr bwMode="auto">
            <a:xfrm>
              <a:off x="6167891" y="4498272"/>
              <a:ext cx="175173" cy="17635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11" name="Oval 10"/>
            <p:cNvSpPr>
              <a:spLocks noChangeArrowheads="1"/>
            </p:cNvSpPr>
            <p:nvPr/>
          </p:nvSpPr>
          <p:spPr bwMode="auto">
            <a:xfrm>
              <a:off x="6815403" y="4445405"/>
              <a:ext cx="265732" cy="27938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4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12" name="Oval 10"/>
            <p:cNvSpPr>
              <a:spLocks noChangeArrowheads="1"/>
            </p:cNvSpPr>
            <p:nvPr/>
          </p:nvSpPr>
          <p:spPr bwMode="auto">
            <a:xfrm>
              <a:off x="6856283" y="4498358"/>
              <a:ext cx="175173" cy="17635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13" name="Rectangle 14"/>
            <p:cNvSpPr>
              <a:spLocks noChangeArrowheads="1"/>
            </p:cNvSpPr>
            <p:nvPr/>
          </p:nvSpPr>
          <p:spPr bwMode="auto">
            <a:xfrm>
              <a:off x="5678455" y="4255105"/>
              <a:ext cx="486632" cy="303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 i="1" dirty="0">
                  <a:latin typeface="Times New Roman" panose="02020603050405020304" pitchFamily="18" charset="0"/>
                  <a:ea typeface="楷体_GB2312"/>
                  <a:cs typeface="楷体_GB2312"/>
                </a:rPr>
                <a:t>b</a:t>
              </a:r>
              <a:endParaRPr lang="en-US" altLang="zh-CN" sz="2400" b="1" dirty="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14" name="Line 21"/>
            <p:cNvSpPr>
              <a:spLocks noChangeShapeType="1"/>
            </p:cNvSpPr>
            <p:nvPr/>
          </p:nvSpPr>
          <p:spPr bwMode="auto">
            <a:xfrm flipV="1">
              <a:off x="5704383" y="4583129"/>
              <a:ext cx="46086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Oval 10"/>
            <p:cNvSpPr>
              <a:spLocks noChangeArrowheads="1"/>
            </p:cNvSpPr>
            <p:nvPr/>
          </p:nvSpPr>
          <p:spPr bwMode="auto">
            <a:xfrm>
              <a:off x="5515627" y="4492622"/>
              <a:ext cx="175173" cy="17635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b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000" b="1" i="1" baseline="-2500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</p:grpSp>
      <p:sp>
        <p:nvSpPr>
          <p:cNvPr id="47107" name="标题 1"/>
          <p:cNvSpPr>
            <a:spLocks noGrp="1"/>
          </p:cNvSpPr>
          <p:nvPr/>
        </p:nvSpPr>
        <p:spPr>
          <a:xfrm>
            <a:off x="755650" y="214313"/>
            <a:ext cx="7931150" cy="37306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 baseline="0">
                <a:solidFill>
                  <a:srgbClr val="FFFF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eaLnBrk="1" hangingPunct="1">
              <a:defRPr/>
            </a:pPr>
            <a:r>
              <a:rPr lang="zh-CN" altLang="en-US" sz="3000" spc="-150" dirty="0">
                <a:solidFill>
                  <a:schemeClr val="tx1"/>
                </a:solidFill>
              </a:rPr>
              <a:t>课后练习</a:t>
            </a:r>
            <a:endParaRPr lang="zh-CN" altLang="en-US" sz="3000" spc="-150" dirty="0">
              <a:solidFill>
                <a:schemeClr val="tx1"/>
              </a:solidFill>
            </a:endParaRPr>
          </a:p>
        </p:txBody>
      </p:sp>
      <p:grpSp>
        <p:nvGrpSpPr>
          <p:cNvPr id="107523" name="组合 44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2" name="五边形 1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07526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3"/>
          <p:cNvSpPr>
            <a:spLocks noGrp="1"/>
          </p:cNvSpPr>
          <p:nvPr>
            <p:ph idx="1"/>
          </p:nvPr>
        </p:nvSpPr>
        <p:spPr>
          <a:xfrm>
            <a:off x="858838" y="846138"/>
            <a:ext cx="5927725" cy="3225800"/>
          </a:xfrm>
        </p:spPr>
        <p:txBody>
          <a:bodyPr/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</a:rPr>
              <a:t>识别标识符的</a:t>
            </a:r>
            <a:r>
              <a:rPr lang="en-US" altLang="zh-CN" sz="3000" b="1" i="1" dirty="0">
                <a:solidFill>
                  <a:schemeClr val="tx1"/>
                </a:solidFill>
              </a:rPr>
              <a:t>DFA</a:t>
            </a:r>
            <a:r>
              <a:rPr lang="en-US" altLang="zh-CN" sz="3000" b="1" dirty="0">
                <a:solidFill>
                  <a:schemeClr val="tx1"/>
                </a:solidFill>
              </a:rPr>
              <a:t> </a:t>
            </a:r>
            <a:endParaRPr lang="en-US" altLang="zh-CN" sz="3000" b="1" dirty="0">
              <a:solidFill>
                <a:schemeClr val="tx1"/>
              </a:solidFill>
            </a:endParaRPr>
          </a:p>
          <a:p>
            <a:pPr marL="303530" lvl="1" indent="0" eaLnBrk="1" hangingPunct="1">
              <a:buClrTx/>
              <a:buFont typeface="Symbol" panose="05050102010706020507" pitchFamily="18" charset="2"/>
              <a:buNone/>
            </a:pP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digit 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→ </a:t>
            </a:r>
            <a:r>
              <a:rPr lang="zh-CN" altLang="en-US" sz="2400" b="1" dirty="0">
                <a:solidFill>
                  <a:schemeClr val="tx1"/>
                </a:solidFill>
                <a:ea typeface="楷体_GB2312"/>
                <a:cs typeface="楷体_GB2312"/>
              </a:rPr>
              <a:t>0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|1|2|…|9</a:t>
            </a:r>
            <a:endParaRPr lang="en-US" altLang="zh-CN" sz="2400" b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marL="303530" lvl="1" indent="0" eaLnBrk="1" hangingPunct="1">
              <a:buClrTx/>
              <a:buFont typeface="Symbol" panose="05050102010706020507" pitchFamily="18" charset="2"/>
              <a:buNone/>
            </a:pP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letter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_ →</a:t>
            </a:r>
            <a:r>
              <a:rPr lang="zh-CN" altLang="en-US" sz="2400" b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A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|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B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|…|</a:t>
            </a:r>
            <a:r>
              <a:rPr lang="en-US" altLang="zh-CN" sz="2400" b="1" i="1" dirty="0" err="1">
                <a:solidFill>
                  <a:schemeClr val="tx1"/>
                </a:solidFill>
                <a:ea typeface="楷体_GB2312"/>
                <a:cs typeface="楷体_GB2312"/>
              </a:rPr>
              <a:t>Z|a</a:t>
            </a:r>
            <a:r>
              <a:rPr lang="en-US" altLang="zh-CN" sz="2400" b="1" dirty="0" err="1">
                <a:solidFill>
                  <a:schemeClr val="tx1"/>
                </a:solidFill>
                <a:ea typeface="楷体_GB2312"/>
                <a:cs typeface="楷体_GB2312"/>
              </a:rPr>
              <a:t>|</a:t>
            </a:r>
            <a:r>
              <a:rPr lang="en-US" altLang="zh-CN" sz="2400" b="1" i="1" dirty="0" err="1">
                <a:solidFill>
                  <a:schemeClr val="tx1"/>
                </a:solidFill>
                <a:ea typeface="楷体_GB2312"/>
                <a:cs typeface="楷体_GB2312"/>
              </a:rPr>
              <a:t>b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|…|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z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|_</a:t>
            </a:r>
            <a:endParaRPr lang="en-US" altLang="zh-CN" sz="2400" b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marL="303530" lvl="1" indent="0" eaLnBrk="1" hangingPunct="1">
              <a:buClrTx/>
              <a:buFont typeface="Symbol" panose="05050102010706020507" pitchFamily="18" charset="2"/>
              <a:buNone/>
            </a:pP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id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 → 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楷体_GB2312"/>
              </a:rPr>
              <a:t>letter_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(</a:t>
            </a:r>
            <a:r>
              <a:rPr lang="en-US" altLang="zh-CN" sz="2400" b="1" i="1" dirty="0" err="1">
                <a:solidFill>
                  <a:schemeClr val="tx1"/>
                </a:solidFill>
                <a:ea typeface="楷体_GB2312"/>
                <a:cs typeface="楷体_GB2312"/>
              </a:rPr>
              <a:t>letter</a:t>
            </a:r>
            <a:r>
              <a:rPr lang="en-US" altLang="zh-CN" sz="2400" b="1" dirty="0" err="1">
                <a:solidFill>
                  <a:schemeClr val="tx1"/>
                </a:solidFill>
                <a:ea typeface="楷体_GB2312"/>
                <a:cs typeface="楷体_GB2312"/>
              </a:rPr>
              <a:t>_|</a:t>
            </a:r>
            <a:r>
              <a:rPr lang="en-US" altLang="zh-CN" sz="2400" b="1" i="1" dirty="0" err="1">
                <a:solidFill>
                  <a:schemeClr val="tx1"/>
                </a:solidFill>
                <a:ea typeface="楷体_GB2312"/>
                <a:cs typeface="楷体_GB2312"/>
              </a:rPr>
              <a:t>digit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楷体_GB2312"/>
              </a:rPr>
              <a:t>)</a:t>
            </a:r>
            <a:r>
              <a:rPr lang="en-US" altLang="zh-CN" sz="2400" b="1" baseline="30000" dirty="0">
                <a:solidFill>
                  <a:schemeClr val="tx1"/>
                </a:solidFill>
                <a:ea typeface="楷体_GB2312"/>
                <a:cs typeface="楷体_GB2312"/>
              </a:rPr>
              <a:t>*</a:t>
            </a:r>
            <a:endParaRPr lang="en-US" altLang="zh-CN" sz="2400" b="1" baseline="30000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eaLnBrk="1" hangingPunct="1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标题 4"/>
          <p:cNvSpPr txBox="1"/>
          <p:nvPr/>
        </p:nvSpPr>
        <p:spPr bwMode="auto">
          <a:xfrm>
            <a:off x="755650" y="268288"/>
            <a:ext cx="793115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30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3.2.4 </a:t>
            </a:r>
            <a:r>
              <a:rPr lang="zh-CN" altLang="en-US" sz="30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识别单词的</a:t>
            </a:r>
            <a:r>
              <a:rPr lang="en-US" altLang="zh-CN" sz="30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DFA</a:t>
            </a:r>
            <a:r>
              <a:rPr lang="en-US" altLang="zh-CN" sz="3000" b="1" spc="30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</a:t>
            </a:r>
            <a:endParaRPr lang="zh-CN" altLang="en-US" sz="3000" b="1" spc="300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110596" name="组合 44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8" name="五边形 1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10612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5" name="组合 26"/>
          <p:cNvGrpSpPr/>
          <p:nvPr/>
        </p:nvGrpSpPr>
        <p:grpSpPr bwMode="auto">
          <a:xfrm>
            <a:off x="1214438" y="2859782"/>
            <a:ext cx="5464175" cy="2025919"/>
            <a:chOff x="1214458" y="2694790"/>
            <a:chExt cx="5464158" cy="2025577"/>
          </a:xfrm>
        </p:grpSpPr>
        <p:grpSp>
          <p:nvGrpSpPr>
            <p:cNvPr id="110598" name="Group 4"/>
            <p:cNvGrpSpPr/>
            <p:nvPr/>
          </p:nvGrpSpPr>
          <p:grpSpPr bwMode="auto">
            <a:xfrm>
              <a:off x="1214458" y="2694790"/>
              <a:ext cx="4471998" cy="1268014"/>
              <a:chOff x="815" y="1729"/>
              <a:chExt cx="2817" cy="1065"/>
            </a:xfrm>
          </p:grpSpPr>
          <p:sp>
            <p:nvSpPr>
              <p:cNvPr id="110606" name="Line 8"/>
              <p:cNvSpPr>
                <a:spLocks noChangeShapeType="1"/>
              </p:cNvSpPr>
              <p:nvPr/>
            </p:nvSpPr>
            <p:spPr bwMode="auto">
              <a:xfrm>
                <a:off x="2130" y="2656"/>
                <a:ext cx="81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600"/>
              </a:p>
            </p:txBody>
          </p:sp>
          <p:sp>
            <p:nvSpPr>
              <p:cNvPr id="110607" name="Text Box 10"/>
              <p:cNvSpPr txBox="1">
                <a:spLocks noChangeArrowheads="1"/>
              </p:cNvSpPr>
              <p:nvPr/>
            </p:nvSpPr>
            <p:spPr bwMode="auto">
              <a:xfrm>
                <a:off x="2120" y="2106"/>
                <a:ext cx="621" cy="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letter_</a:t>
                </a:r>
                <a:endParaRPr kumimoji="1" lang="en-US" altLang="zh-CN" sz="2400" b="1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0608" name="Text Box 11"/>
              <p:cNvSpPr txBox="1">
                <a:spLocks noChangeArrowheads="1"/>
              </p:cNvSpPr>
              <p:nvPr/>
            </p:nvSpPr>
            <p:spPr bwMode="auto">
              <a:xfrm>
                <a:off x="2825" y="1729"/>
                <a:ext cx="807" cy="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2400" b="1" i="1">
                    <a:latin typeface="Times New Roman" panose="02020603050405020304" pitchFamily="18" charset="0"/>
                  </a:rPr>
                  <a:t>letter_</a:t>
                </a:r>
                <a:endParaRPr kumimoji="1" lang="en-US" altLang="zh-CN" sz="2400" b="1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0609" name="Text Box 14"/>
              <p:cNvSpPr txBox="1">
                <a:spLocks noChangeArrowheads="1"/>
              </p:cNvSpPr>
              <p:nvPr/>
            </p:nvSpPr>
            <p:spPr bwMode="auto">
              <a:xfrm>
                <a:off x="815" y="2406"/>
                <a:ext cx="528" cy="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2400" b="1" i="1">
                    <a:latin typeface="Times New Roman" panose="02020603050405020304" pitchFamily="18" charset="0"/>
                    <a:ea typeface="楷体_GB2312"/>
                    <a:cs typeface="楷体_GB2312"/>
                  </a:rPr>
                  <a:t>start</a:t>
                </a:r>
                <a:endParaRPr kumimoji="1" lang="zh-CN" altLang="en-US" sz="2400" b="1" i="1"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110610" name="Line 16"/>
              <p:cNvSpPr>
                <a:spLocks noChangeShapeType="1"/>
              </p:cNvSpPr>
              <p:nvPr/>
            </p:nvSpPr>
            <p:spPr bwMode="auto">
              <a:xfrm>
                <a:off x="1364" y="2651"/>
                <a:ext cx="43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 sz="1600"/>
              </a:p>
            </p:txBody>
          </p:sp>
        </p:grpSp>
        <p:sp>
          <p:nvSpPr>
            <p:cNvPr id="2" name="任意多边形 1"/>
            <p:cNvSpPr/>
            <p:nvPr/>
          </p:nvSpPr>
          <p:spPr>
            <a:xfrm>
              <a:off x="4506923" y="3196355"/>
              <a:ext cx="636585" cy="349191"/>
            </a:xfrm>
            <a:custGeom>
              <a:avLst/>
              <a:gdLst>
                <a:gd name="connsiteX0" fmla="*/ 249565 w 812040"/>
                <a:gd name="connsiteY0" fmla="*/ 464649 h 464649"/>
                <a:gd name="connsiteX1" fmla="*/ 2822 w 812040"/>
                <a:gd name="connsiteY1" fmla="*/ 159849 h 464649"/>
                <a:gd name="connsiteX2" fmla="*/ 394708 w 812040"/>
                <a:gd name="connsiteY2" fmla="*/ 192 h 464649"/>
                <a:gd name="connsiteX3" fmla="*/ 801108 w 812040"/>
                <a:gd name="connsiteY3" fmla="*/ 188878 h 464649"/>
                <a:gd name="connsiteX4" fmla="*/ 655965 w 812040"/>
                <a:gd name="connsiteY4" fmla="*/ 464649 h 464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2040" h="464649">
                  <a:moveTo>
                    <a:pt x="249565" y="464649"/>
                  </a:moveTo>
                  <a:cubicBezTo>
                    <a:pt x="114098" y="350954"/>
                    <a:pt x="-21369" y="237259"/>
                    <a:pt x="2822" y="159849"/>
                  </a:cubicBezTo>
                  <a:cubicBezTo>
                    <a:pt x="27013" y="82439"/>
                    <a:pt x="261660" y="-4646"/>
                    <a:pt x="394708" y="192"/>
                  </a:cubicBezTo>
                  <a:cubicBezTo>
                    <a:pt x="527756" y="5030"/>
                    <a:pt x="757565" y="111468"/>
                    <a:pt x="801108" y="188878"/>
                  </a:cubicBezTo>
                  <a:cubicBezTo>
                    <a:pt x="844651" y="266288"/>
                    <a:pt x="750308" y="365468"/>
                    <a:pt x="655965" y="464649"/>
                  </a:cubicBezTo>
                </a:path>
              </a:pathLst>
            </a:cu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sz="1600">
                <a:solidFill>
                  <a:schemeClr val="tx2"/>
                </a:solidFill>
              </a:endParaRPr>
            </a:p>
          </p:txBody>
        </p:sp>
        <p:sp>
          <p:nvSpPr>
            <p:cNvPr id="3" name="任意多边形 2"/>
            <p:cNvSpPr/>
            <p:nvPr/>
          </p:nvSpPr>
          <p:spPr>
            <a:xfrm>
              <a:off x="4459298" y="4009018"/>
              <a:ext cx="811209" cy="326970"/>
            </a:xfrm>
            <a:custGeom>
              <a:avLst/>
              <a:gdLst>
                <a:gd name="connsiteX0" fmla="*/ 223309 w 810400"/>
                <a:gd name="connsiteY0" fmla="*/ 0 h 437007"/>
                <a:gd name="connsiteX1" fmla="*/ 5595 w 810400"/>
                <a:gd name="connsiteY1" fmla="*/ 159658 h 437007"/>
                <a:gd name="connsiteX2" fmla="*/ 426509 w 810400"/>
                <a:gd name="connsiteY2" fmla="*/ 435429 h 437007"/>
                <a:gd name="connsiteX3" fmla="*/ 803880 w 810400"/>
                <a:gd name="connsiteY3" fmla="*/ 261258 h 437007"/>
                <a:gd name="connsiteX4" fmla="*/ 629709 w 810400"/>
                <a:gd name="connsiteY4" fmla="*/ 29029 h 437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0400" h="437007">
                  <a:moveTo>
                    <a:pt x="223309" y="0"/>
                  </a:moveTo>
                  <a:cubicBezTo>
                    <a:pt x="97518" y="43543"/>
                    <a:pt x="-28272" y="87087"/>
                    <a:pt x="5595" y="159658"/>
                  </a:cubicBezTo>
                  <a:cubicBezTo>
                    <a:pt x="39462" y="232229"/>
                    <a:pt x="293462" y="418496"/>
                    <a:pt x="426509" y="435429"/>
                  </a:cubicBezTo>
                  <a:cubicBezTo>
                    <a:pt x="559556" y="452362"/>
                    <a:pt x="770013" y="328991"/>
                    <a:pt x="803880" y="261258"/>
                  </a:cubicBezTo>
                  <a:cubicBezTo>
                    <a:pt x="837747" y="193525"/>
                    <a:pt x="733728" y="111277"/>
                    <a:pt x="629709" y="29029"/>
                  </a:cubicBezTo>
                </a:path>
              </a:pathLst>
            </a:cu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sz="1600">
                <a:solidFill>
                  <a:schemeClr val="tx2"/>
                </a:solidFill>
              </a:endParaRPr>
            </a:p>
          </p:txBody>
        </p:sp>
        <p:sp>
          <p:nvSpPr>
            <p:cNvPr id="110601" name="Text Box 11"/>
            <p:cNvSpPr txBox="1">
              <a:spLocks noChangeArrowheads="1"/>
            </p:cNvSpPr>
            <p:nvPr/>
          </p:nvSpPr>
          <p:spPr bwMode="auto">
            <a:xfrm>
              <a:off x="4459291" y="4258780"/>
              <a:ext cx="2219325" cy="461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400" b="1" i="1">
                  <a:latin typeface="Times New Roman" panose="02020603050405020304" pitchFamily="18" charset="0"/>
                </a:rPr>
                <a:t>digit</a:t>
              </a:r>
              <a:endParaRPr kumimoji="1" lang="en-US" altLang="zh-CN" sz="2400" b="1" i="1">
                <a:latin typeface="Times New Roman" panose="02020603050405020304" pitchFamily="18" charset="0"/>
              </a:endParaRPr>
            </a:p>
          </p:txBody>
        </p:sp>
        <p:grpSp>
          <p:nvGrpSpPr>
            <p:cNvPr id="110602" name="组合 20"/>
            <p:cNvGrpSpPr/>
            <p:nvPr/>
          </p:nvGrpSpPr>
          <p:grpSpPr bwMode="auto">
            <a:xfrm>
              <a:off x="4572000" y="3508394"/>
              <a:ext cx="642942" cy="563554"/>
              <a:chOff x="3636217" y="3214350"/>
              <a:chExt cx="727178" cy="635476"/>
            </a:xfrm>
          </p:grpSpPr>
          <p:sp>
            <p:nvSpPr>
              <p:cNvPr id="99340" name="Oval 10"/>
              <p:cNvSpPr>
                <a:spLocks noChangeArrowheads="1"/>
              </p:cNvSpPr>
              <p:nvPr/>
            </p:nvSpPr>
            <p:spPr bwMode="auto">
              <a:xfrm>
                <a:off x="3708048" y="3275931"/>
                <a:ext cx="583533" cy="508303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sz="2400" b="1">
                    <a:latin typeface="Times New Roman" panose="02020603050405020304" pitchFamily="18" charset="0"/>
                    <a:ea typeface="楷体_GB2312"/>
                    <a:cs typeface="楷体_GB2312"/>
                  </a:rPr>
                  <a:t>2</a:t>
                </a:r>
                <a:endParaRPr lang="en-US" altLang="zh-CN" sz="2400" b="1">
                  <a:latin typeface="Times New Roman" panose="02020603050405020304" pitchFamily="18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110605" name="Oval 45"/>
              <p:cNvSpPr>
                <a:spLocks noChangeArrowheads="1"/>
              </p:cNvSpPr>
              <p:nvPr/>
            </p:nvSpPr>
            <p:spPr bwMode="auto">
              <a:xfrm>
                <a:off x="3636217" y="3214350"/>
                <a:ext cx="727178" cy="63547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600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9339" name="Oval 15"/>
            <p:cNvSpPr>
              <a:spLocks noChangeArrowheads="1"/>
            </p:cNvSpPr>
            <p:nvPr/>
          </p:nvSpPr>
          <p:spPr bwMode="auto">
            <a:xfrm>
              <a:off x="2786078" y="3539198"/>
              <a:ext cx="512760" cy="50156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1</a:t>
              </a:r>
              <a:endPara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4525521" y="927760"/>
            <a:ext cx="4392498" cy="7078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标识符的词法规则：字母或下划线开头，字母数字、下划线组成的符号串</a:t>
            </a:r>
            <a:endParaRPr lang="zh-CN" altLang="en-US" sz="20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1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1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1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1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1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1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1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1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1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1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1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1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/>
          </p:cNvSpPr>
          <p:nvPr>
            <p:ph idx="1"/>
          </p:nvPr>
        </p:nvSpPr>
        <p:spPr>
          <a:xfrm>
            <a:off x="500063" y="917575"/>
            <a:ext cx="7583487" cy="2368550"/>
          </a:xfrm>
        </p:spPr>
        <p:txBody>
          <a:bodyPr/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digit 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楷体_GB2312"/>
              </a:rPr>
              <a:t>→ </a:t>
            </a:r>
            <a:r>
              <a:rPr lang="zh-CN" altLang="en-US" sz="2500" b="1">
                <a:solidFill>
                  <a:schemeClr val="tx1"/>
                </a:solidFill>
                <a:ea typeface="楷体_GB2312"/>
                <a:cs typeface="楷体_GB2312"/>
              </a:rPr>
              <a:t>0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楷体_GB2312"/>
              </a:rPr>
              <a:t>|1|2|…|9</a:t>
            </a:r>
            <a:endParaRPr lang="en-US" altLang="zh-CN" sz="2500" b="1">
              <a:solidFill>
                <a:schemeClr val="tx1"/>
              </a:solidFill>
              <a:ea typeface="楷体_GB2312"/>
              <a:cs typeface="楷体_GB2312"/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digits 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楷体_GB2312"/>
              </a:rPr>
              <a:t>→ 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digit digit</a:t>
            </a:r>
            <a:r>
              <a:rPr lang="en-US" altLang="zh-CN" sz="2500" b="1" i="1" baseline="30000">
                <a:solidFill>
                  <a:schemeClr val="tx1"/>
                </a:solidFill>
                <a:ea typeface="楷体_GB2312"/>
                <a:cs typeface="楷体_GB2312"/>
              </a:rPr>
              <a:t>*</a:t>
            </a:r>
            <a:endParaRPr lang="en-US" altLang="zh-CN" sz="2500" b="1" i="1">
              <a:solidFill>
                <a:schemeClr val="tx1"/>
              </a:solidFill>
              <a:ea typeface="楷体_GB2312"/>
              <a:cs typeface="楷体_GB2312"/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optionalFraction 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楷体_GB2312"/>
              </a:rPr>
              <a:t>→ .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digits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楷体_GB2312"/>
              </a:rPr>
              <a:t>|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endParaRPr lang="en-US" altLang="zh-CN" sz="2500" b="1" i="1">
              <a:solidFill>
                <a:schemeClr val="tx1"/>
              </a:solidFill>
              <a:ea typeface="楷体_GB2312"/>
              <a:cs typeface="楷体_GB2312"/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optionalExponent 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楷体_GB2312"/>
              </a:rPr>
              <a:t>→ ( 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E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楷体_GB2312"/>
              </a:rPr>
              <a:t>(+|-|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楷体_GB2312"/>
              </a:rPr>
              <a:t>)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digits 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楷体_GB2312"/>
              </a:rPr>
              <a:t>)|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endParaRPr lang="en-US" altLang="zh-CN" sz="2500" b="1" i="1">
              <a:solidFill>
                <a:schemeClr val="tx1"/>
              </a:solidFill>
              <a:ea typeface="楷体_GB2312"/>
              <a:cs typeface="楷体_GB2312"/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number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楷体_GB2312"/>
              </a:rPr>
              <a:t> → 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digits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楷体_GB2312"/>
              </a:rPr>
              <a:t>  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optionalFraction</a:t>
            </a:r>
            <a:r>
              <a:rPr lang="en-US" altLang="zh-CN" sz="2500" b="1">
                <a:solidFill>
                  <a:schemeClr val="tx1"/>
                </a:solidFill>
                <a:ea typeface="楷体_GB2312"/>
                <a:cs typeface="楷体_GB2312"/>
              </a:rPr>
              <a:t>  </a:t>
            </a:r>
            <a:r>
              <a:rPr lang="en-US" altLang="zh-CN" sz="2500" b="1" i="1">
                <a:solidFill>
                  <a:schemeClr val="tx1"/>
                </a:solidFill>
                <a:ea typeface="楷体_GB2312"/>
                <a:cs typeface="楷体_GB2312"/>
              </a:rPr>
              <a:t>optionalExponent</a:t>
            </a:r>
            <a:endParaRPr lang="en-US" altLang="zh-CN" sz="2500" b="1" i="1">
              <a:solidFill>
                <a:schemeClr val="tx1"/>
              </a:solidFill>
              <a:ea typeface="楷体_GB2312"/>
              <a:cs typeface="楷体_GB2312"/>
            </a:endParaRPr>
          </a:p>
        </p:txBody>
      </p:sp>
      <p:sp>
        <p:nvSpPr>
          <p:cNvPr id="56323" name="标题 5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识别</a:t>
            </a: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无符号数的</a:t>
            </a:r>
            <a:r>
              <a:rPr lang="en-US" altLang="zh-CN" sz="3000" i="1" spc="3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DFA</a:t>
            </a:r>
            <a:endParaRPr lang="zh-CN" altLang="en-US" sz="3000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2"/>
          <p:cNvGrpSpPr/>
          <p:nvPr/>
        </p:nvGrpSpPr>
        <p:grpSpPr bwMode="auto">
          <a:xfrm>
            <a:off x="2624138" y="3354388"/>
            <a:ext cx="1355725" cy="731837"/>
            <a:chOff x="245793" y="5141767"/>
            <a:chExt cx="1356754" cy="976968"/>
          </a:xfrm>
        </p:grpSpPr>
        <p:sp>
          <p:nvSpPr>
            <p:cNvPr id="101417" name="Oval 7"/>
            <p:cNvSpPr>
              <a:spLocks noChangeArrowheads="1"/>
            </p:cNvSpPr>
            <p:nvPr/>
          </p:nvSpPr>
          <p:spPr bwMode="auto">
            <a:xfrm>
              <a:off x="245793" y="5733034"/>
              <a:ext cx="360636" cy="36027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0</a:t>
              </a:r>
              <a:endParaRPr lang="en-US" altLang="zh-CN" sz="20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112683" name="Rectangle 31"/>
            <p:cNvSpPr>
              <a:spLocks noChangeArrowheads="1"/>
            </p:cNvSpPr>
            <p:nvPr/>
          </p:nvSpPr>
          <p:spPr bwMode="auto">
            <a:xfrm>
              <a:off x="668771" y="5589586"/>
              <a:ext cx="504825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d</a:t>
              </a:r>
              <a:endParaRPr lang="en-US" altLang="zh-CN" sz="2000" b="1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101419" name="Oval 29"/>
            <p:cNvSpPr>
              <a:spLocks noChangeArrowheads="1"/>
            </p:cNvSpPr>
            <p:nvPr/>
          </p:nvSpPr>
          <p:spPr bwMode="auto">
            <a:xfrm>
              <a:off x="1009960" y="5756346"/>
              <a:ext cx="360637" cy="36238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1</a:t>
              </a:r>
              <a:endParaRPr lang="en-US" altLang="zh-CN" sz="20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112685" name="Line 27"/>
            <p:cNvSpPr>
              <a:spLocks noChangeShapeType="1"/>
            </p:cNvSpPr>
            <p:nvPr/>
          </p:nvSpPr>
          <p:spPr bwMode="auto">
            <a:xfrm>
              <a:off x="606155" y="5915987"/>
              <a:ext cx="4041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86" name="Freeform 19"/>
            <p:cNvSpPr/>
            <p:nvPr/>
          </p:nvSpPr>
          <p:spPr bwMode="auto">
            <a:xfrm>
              <a:off x="1042779" y="5456748"/>
              <a:ext cx="382588" cy="300036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87" name="Rectangle 20"/>
            <p:cNvSpPr>
              <a:spLocks noChangeArrowheads="1"/>
            </p:cNvSpPr>
            <p:nvPr/>
          </p:nvSpPr>
          <p:spPr bwMode="auto">
            <a:xfrm>
              <a:off x="1097721" y="5141767"/>
              <a:ext cx="504826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d</a:t>
              </a:r>
              <a:endParaRPr lang="en-US" altLang="zh-CN" sz="2000" b="1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  <p:sp>
        <p:nvSpPr>
          <p:cNvPr id="60" name="Rectangle 20"/>
          <p:cNvSpPr>
            <a:spLocks noChangeArrowheads="1"/>
          </p:cNvSpPr>
          <p:nvPr/>
        </p:nvSpPr>
        <p:spPr bwMode="auto">
          <a:xfrm>
            <a:off x="5053013" y="3381375"/>
            <a:ext cx="5048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d</a:t>
            </a:r>
            <a:endParaRPr lang="en-US" altLang="zh-CN" sz="2000" b="1" i="1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pSp>
        <p:nvGrpSpPr>
          <p:cNvPr id="3" name="组合 21510"/>
          <p:cNvGrpSpPr/>
          <p:nvPr/>
        </p:nvGrpSpPr>
        <p:grpSpPr bwMode="auto">
          <a:xfrm>
            <a:off x="3554413" y="3616325"/>
            <a:ext cx="1854200" cy="952500"/>
            <a:chOff x="1175657" y="5157316"/>
            <a:chExt cx="1854869" cy="1270543"/>
          </a:xfrm>
        </p:grpSpPr>
        <p:sp>
          <p:nvSpPr>
            <p:cNvPr id="112673" name="Rectangle 9"/>
            <p:cNvSpPr>
              <a:spLocks noChangeArrowheads="1"/>
            </p:cNvSpPr>
            <p:nvPr/>
          </p:nvSpPr>
          <p:spPr bwMode="auto">
            <a:xfrm>
              <a:off x="1677767" y="6140522"/>
              <a:ext cx="504825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latin typeface="Times New Roman" panose="02020603050405020304" pitchFamily="18" charset="0"/>
                </a:rPr>
                <a:t>ε</a:t>
              </a:r>
              <a:endParaRPr lang="en-US" altLang="zh-CN" sz="2000" b="1" i="1">
                <a:latin typeface="Times New Roman" panose="02020603050405020304" pitchFamily="18" charset="0"/>
              </a:endParaRPr>
            </a:p>
          </p:txBody>
        </p:sp>
        <p:sp>
          <p:nvSpPr>
            <p:cNvPr id="101409" name="Oval 10"/>
            <p:cNvSpPr>
              <a:spLocks noChangeArrowheads="1"/>
            </p:cNvSpPr>
            <p:nvPr/>
          </p:nvSpPr>
          <p:spPr bwMode="auto">
            <a:xfrm>
              <a:off x="2617627" y="5434719"/>
              <a:ext cx="358904" cy="36210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3</a:t>
              </a:r>
              <a:endParaRPr lang="en-US" altLang="zh-CN" sz="20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112675" name="Rectangle 14"/>
            <p:cNvSpPr>
              <a:spLocks noChangeArrowheads="1"/>
            </p:cNvSpPr>
            <p:nvPr/>
          </p:nvSpPr>
          <p:spPr bwMode="auto">
            <a:xfrm>
              <a:off x="1506652" y="5304068"/>
              <a:ext cx="504825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latin typeface="楷体_GB2312"/>
                  <a:ea typeface="楷体_GB2312"/>
                  <a:cs typeface="楷体_GB2312"/>
                </a:rPr>
                <a:t>.</a:t>
              </a:r>
              <a:endParaRPr lang="en-US" altLang="zh-CN">
                <a:latin typeface="楷体_GB2312"/>
                <a:ea typeface="楷体_GB2312"/>
                <a:cs typeface="楷体_GB2312"/>
              </a:endParaRPr>
            </a:p>
          </p:txBody>
        </p:sp>
        <p:sp>
          <p:nvSpPr>
            <p:cNvPr id="112676" name="Line 13"/>
            <p:cNvSpPr>
              <a:spLocks noChangeShapeType="1"/>
            </p:cNvSpPr>
            <p:nvPr/>
          </p:nvSpPr>
          <p:spPr bwMode="auto">
            <a:xfrm>
              <a:off x="2188692" y="5622742"/>
              <a:ext cx="431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412" name="Oval 15"/>
            <p:cNvSpPr>
              <a:spLocks noChangeArrowheads="1"/>
            </p:cNvSpPr>
            <p:nvPr/>
          </p:nvSpPr>
          <p:spPr bwMode="auto">
            <a:xfrm>
              <a:off x="1814062" y="5428365"/>
              <a:ext cx="360492" cy="359987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</a:t>
              </a:r>
              <a:endParaRPr lang="en-US" altLang="zh-CN" sz="20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112678" name="Line 13"/>
            <p:cNvSpPr>
              <a:spLocks noChangeShapeType="1"/>
            </p:cNvSpPr>
            <p:nvPr/>
          </p:nvSpPr>
          <p:spPr bwMode="auto">
            <a:xfrm>
              <a:off x="1372239" y="5613671"/>
              <a:ext cx="431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79" name="Freeform 19"/>
            <p:cNvSpPr/>
            <p:nvPr/>
          </p:nvSpPr>
          <p:spPr bwMode="auto">
            <a:xfrm>
              <a:off x="2647938" y="5157316"/>
              <a:ext cx="382588" cy="300037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80" name="Rectangle 31"/>
            <p:cNvSpPr>
              <a:spLocks noChangeArrowheads="1"/>
            </p:cNvSpPr>
            <p:nvPr/>
          </p:nvSpPr>
          <p:spPr bwMode="auto">
            <a:xfrm>
              <a:off x="2239588" y="5283791"/>
              <a:ext cx="504825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d</a:t>
              </a:r>
              <a:endParaRPr lang="en-US" altLang="zh-CN" sz="2000" b="1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4" name="任意多边形 3"/>
            <p:cNvSpPr/>
            <p:nvPr/>
          </p:nvSpPr>
          <p:spPr>
            <a:xfrm>
              <a:off x="1175657" y="5775647"/>
              <a:ext cx="1626187" cy="364222"/>
            </a:xfrm>
            <a:custGeom>
              <a:avLst/>
              <a:gdLst>
                <a:gd name="connsiteX0" fmla="*/ 0 w 1625600"/>
                <a:gd name="connsiteY0" fmla="*/ 0 h 334293"/>
                <a:gd name="connsiteX1" fmla="*/ 885372 w 1625600"/>
                <a:gd name="connsiteY1" fmla="*/ 333828 h 334293"/>
                <a:gd name="connsiteX2" fmla="*/ 1625600 w 1625600"/>
                <a:gd name="connsiteY2" fmla="*/ 58057 h 334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25600" h="334293">
                  <a:moveTo>
                    <a:pt x="0" y="0"/>
                  </a:moveTo>
                  <a:cubicBezTo>
                    <a:pt x="307219" y="162076"/>
                    <a:pt x="614439" y="324152"/>
                    <a:pt x="885372" y="333828"/>
                  </a:cubicBezTo>
                  <a:cubicBezTo>
                    <a:pt x="1156305" y="343504"/>
                    <a:pt x="1390952" y="200780"/>
                    <a:pt x="1625600" y="58057"/>
                  </a:cubicBezTo>
                </a:path>
              </a:pathLst>
            </a:cu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</p:grpSp>
      <p:grpSp>
        <p:nvGrpSpPr>
          <p:cNvPr id="5" name="组合 21511"/>
          <p:cNvGrpSpPr/>
          <p:nvPr/>
        </p:nvGrpSpPr>
        <p:grpSpPr bwMode="auto">
          <a:xfrm>
            <a:off x="5194300" y="3308350"/>
            <a:ext cx="2714625" cy="1190625"/>
            <a:chOff x="3055077" y="4746748"/>
            <a:chExt cx="2712592" cy="1588857"/>
          </a:xfrm>
        </p:grpSpPr>
        <p:sp>
          <p:nvSpPr>
            <p:cNvPr id="112655" name="Line 27"/>
            <p:cNvSpPr>
              <a:spLocks noChangeShapeType="1"/>
            </p:cNvSpPr>
            <p:nvPr/>
          </p:nvSpPr>
          <p:spPr bwMode="auto">
            <a:xfrm>
              <a:off x="3223055" y="5640724"/>
              <a:ext cx="3879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56" name="Rectangle 44"/>
            <p:cNvSpPr>
              <a:spLocks noChangeArrowheads="1"/>
            </p:cNvSpPr>
            <p:nvPr/>
          </p:nvSpPr>
          <p:spPr bwMode="auto">
            <a:xfrm>
              <a:off x="3903754" y="4865383"/>
              <a:ext cx="793156" cy="290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  <a:endParaRPr lang="en-US" altLang="zh-CN" b="1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1392" name="Oval 15"/>
            <p:cNvSpPr>
              <a:spLocks noChangeArrowheads="1"/>
            </p:cNvSpPr>
            <p:nvPr/>
          </p:nvSpPr>
          <p:spPr bwMode="auto">
            <a:xfrm>
              <a:off x="3580146" y="5460675"/>
              <a:ext cx="360092" cy="36014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4</a:t>
              </a:r>
              <a:endParaRPr lang="en-US" altLang="zh-CN" sz="20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112658" name="Line 16"/>
            <p:cNvSpPr>
              <a:spLocks noChangeShapeType="1"/>
            </p:cNvSpPr>
            <p:nvPr/>
          </p:nvSpPr>
          <p:spPr bwMode="auto">
            <a:xfrm flipV="1">
              <a:off x="3954016" y="5641065"/>
              <a:ext cx="433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59" name="Oval 39"/>
            <p:cNvSpPr>
              <a:spLocks noChangeArrowheads="1"/>
            </p:cNvSpPr>
            <p:nvPr/>
          </p:nvSpPr>
          <p:spPr bwMode="auto">
            <a:xfrm>
              <a:off x="5142175" y="5356126"/>
              <a:ext cx="503238" cy="5032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660" name="Rectangle 20"/>
            <p:cNvSpPr>
              <a:spLocks noChangeArrowheads="1"/>
            </p:cNvSpPr>
            <p:nvPr/>
          </p:nvSpPr>
          <p:spPr bwMode="auto">
            <a:xfrm>
              <a:off x="3252677" y="5289235"/>
              <a:ext cx="398463" cy="2607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E</a:t>
              </a:r>
              <a:endParaRPr lang="en-US" altLang="zh-CN" b="1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21504" name="任意多边形 21503"/>
            <p:cNvSpPr/>
            <p:nvPr/>
          </p:nvSpPr>
          <p:spPr>
            <a:xfrm>
              <a:off x="3759399" y="5166206"/>
              <a:ext cx="842332" cy="275402"/>
            </a:xfrm>
            <a:custGeom>
              <a:avLst/>
              <a:gdLst>
                <a:gd name="connsiteX0" fmla="*/ 0 w 841829"/>
                <a:gd name="connsiteY0" fmla="*/ 275906 h 275906"/>
                <a:gd name="connsiteX1" fmla="*/ 333829 w 841829"/>
                <a:gd name="connsiteY1" fmla="*/ 135 h 275906"/>
                <a:gd name="connsiteX2" fmla="*/ 841829 w 841829"/>
                <a:gd name="connsiteY2" fmla="*/ 246878 h 275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41829" h="275906">
                  <a:moveTo>
                    <a:pt x="0" y="275906"/>
                  </a:moveTo>
                  <a:cubicBezTo>
                    <a:pt x="96762" y="140439"/>
                    <a:pt x="193524" y="4973"/>
                    <a:pt x="333829" y="135"/>
                  </a:cubicBezTo>
                  <a:cubicBezTo>
                    <a:pt x="474134" y="-4703"/>
                    <a:pt x="657981" y="121087"/>
                    <a:pt x="841829" y="246878"/>
                  </a:cubicBezTo>
                </a:path>
              </a:pathLst>
            </a:cu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21505" name="任意多边形 21504"/>
            <p:cNvSpPr/>
            <p:nvPr/>
          </p:nvSpPr>
          <p:spPr>
            <a:xfrm>
              <a:off x="3762572" y="5837764"/>
              <a:ext cx="856608" cy="165241"/>
            </a:xfrm>
            <a:custGeom>
              <a:avLst/>
              <a:gdLst>
                <a:gd name="connsiteX0" fmla="*/ 0 w 856343"/>
                <a:gd name="connsiteY0" fmla="*/ 29029 h 333939"/>
                <a:gd name="connsiteX1" fmla="*/ 420915 w 856343"/>
                <a:gd name="connsiteY1" fmla="*/ 333829 h 333939"/>
                <a:gd name="connsiteX2" fmla="*/ 856343 w 856343"/>
                <a:gd name="connsiteY2" fmla="*/ 0 h 333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56343" h="333939">
                  <a:moveTo>
                    <a:pt x="0" y="29029"/>
                  </a:moveTo>
                  <a:cubicBezTo>
                    <a:pt x="139095" y="183848"/>
                    <a:pt x="278191" y="338667"/>
                    <a:pt x="420915" y="333829"/>
                  </a:cubicBezTo>
                  <a:cubicBezTo>
                    <a:pt x="563639" y="328991"/>
                    <a:pt x="709991" y="164495"/>
                    <a:pt x="856343" y="0"/>
                  </a:cubicBezTo>
                </a:path>
              </a:pathLst>
            </a:cu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112663" name="Rectangle 9"/>
            <p:cNvSpPr>
              <a:spLocks noChangeArrowheads="1"/>
            </p:cNvSpPr>
            <p:nvPr/>
          </p:nvSpPr>
          <p:spPr bwMode="auto">
            <a:xfrm>
              <a:off x="4002599" y="5666198"/>
              <a:ext cx="421252" cy="287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latin typeface="Times New Roman" panose="02020603050405020304" pitchFamily="18" charset="0"/>
                </a:rPr>
                <a:t>ε</a:t>
              </a:r>
              <a:endParaRPr lang="en-US" altLang="zh-CN" sz="2000" b="1" i="1">
                <a:latin typeface="Times New Roman" panose="02020603050405020304" pitchFamily="18" charset="0"/>
              </a:endParaRPr>
            </a:p>
          </p:txBody>
        </p:sp>
        <p:sp>
          <p:nvSpPr>
            <p:cNvPr id="112664" name="Rectangle 9"/>
            <p:cNvSpPr>
              <a:spLocks noChangeArrowheads="1"/>
            </p:cNvSpPr>
            <p:nvPr/>
          </p:nvSpPr>
          <p:spPr bwMode="auto">
            <a:xfrm>
              <a:off x="3958646" y="5285245"/>
              <a:ext cx="504825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latin typeface="Times New Roman" panose="02020603050405020304" pitchFamily="18" charset="0"/>
                </a:rPr>
                <a:t>-</a:t>
              </a:r>
              <a:endParaRPr lang="en-US" altLang="zh-CN" b="1" i="1">
                <a:latin typeface="Times New Roman" panose="02020603050405020304" pitchFamily="18" charset="0"/>
              </a:endParaRPr>
            </a:p>
          </p:txBody>
        </p:sp>
        <p:sp>
          <p:nvSpPr>
            <p:cNvPr id="101400" name="Oval 7"/>
            <p:cNvSpPr>
              <a:spLocks noChangeArrowheads="1"/>
            </p:cNvSpPr>
            <p:nvPr/>
          </p:nvSpPr>
          <p:spPr bwMode="auto">
            <a:xfrm>
              <a:off x="4424064" y="5439490"/>
              <a:ext cx="360092" cy="36014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5</a:t>
              </a:r>
              <a:endParaRPr lang="en-US" altLang="zh-CN" sz="20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112666" name="Rectangle 31"/>
            <p:cNvSpPr>
              <a:spLocks noChangeArrowheads="1"/>
            </p:cNvSpPr>
            <p:nvPr/>
          </p:nvSpPr>
          <p:spPr bwMode="auto">
            <a:xfrm>
              <a:off x="4767947" y="5288860"/>
              <a:ext cx="504825" cy="287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d</a:t>
              </a:r>
              <a:endParaRPr lang="en-US" altLang="zh-CN" sz="2000" b="1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101402" name="Oval 29"/>
            <p:cNvSpPr>
              <a:spLocks noChangeArrowheads="1"/>
            </p:cNvSpPr>
            <p:nvPr/>
          </p:nvSpPr>
          <p:spPr bwMode="auto">
            <a:xfrm>
              <a:off x="5214047" y="5435253"/>
              <a:ext cx="360092" cy="36014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6</a:t>
              </a:r>
              <a:endParaRPr lang="en-US" altLang="zh-CN" sz="20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112668" name="Line 27"/>
            <p:cNvSpPr>
              <a:spLocks noChangeShapeType="1"/>
            </p:cNvSpPr>
            <p:nvPr/>
          </p:nvSpPr>
          <p:spPr bwMode="auto">
            <a:xfrm flipV="1">
              <a:off x="4806054" y="5607130"/>
              <a:ext cx="336122" cy="168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69" name="Freeform 19"/>
            <p:cNvSpPr/>
            <p:nvPr/>
          </p:nvSpPr>
          <p:spPr bwMode="auto">
            <a:xfrm>
              <a:off x="5224816" y="5057140"/>
              <a:ext cx="382588" cy="300037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70" name="Rectangle 20"/>
            <p:cNvSpPr>
              <a:spLocks noChangeArrowheads="1"/>
            </p:cNvSpPr>
            <p:nvPr/>
          </p:nvSpPr>
          <p:spPr bwMode="auto">
            <a:xfrm>
              <a:off x="5262844" y="4746748"/>
              <a:ext cx="504825" cy="287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d</a:t>
              </a:r>
              <a:endParaRPr lang="en-US" altLang="zh-CN" sz="2000" b="1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21509" name="任意多边形 21508"/>
            <p:cNvSpPr/>
            <p:nvPr/>
          </p:nvSpPr>
          <p:spPr>
            <a:xfrm>
              <a:off x="3055077" y="5803868"/>
              <a:ext cx="2355672" cy="531737"/>
            </a:xfrm>
            <a:custGeom>
              <a:avLst/>
              <a:gdLst>
                <a:gd name="connsiteX0" fmla="*/ 0 w 2743200"/>
                <a:gd name="connsiteY0" fmla="*/ 0 h 756045"/>
                <a:gd name="connsiteX1" fmla="*/ 1538515 w 2743200"/>
                <a:gd name="connsiteY1" fmla="*/ 754743 h 756045"/>
                <a:gd name="connsiteX2" fmla="*/ 2743200 w 2743200"/>
                <a:gd name="connsiteY2" fmla="*/ 145143 h 756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43200" h="756045">
                  <a:moveTo>
                    <a:pt x="0" y="0"/>
                  </a:moveTo>
                  <a:cubicBezTo>
                    <a:pt x="540657" y="365276"/>
                    <a:pt x="1081315" y="730553"/>
                    <a:pt x="1538515" y="754743"/>
                  </a:cubicBezTo>
                  <a:cubicBezTo>
                    <a:pt x="1995715" y="778933"/>
                    <a:pt x="2369457" y="462038"/>
                    <a:pt x="2743200" y="145143"/>
                  </a:cubicBezTo>
                </a:path>
              </a:pathLst>
            </a:cu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112672" name="Rectangle 9"/>
            <p:cNvSpPr>
              <a:spLocks noChangeArrowheads="1"/>
            </p:cNvSpPr>
            <p:nvPr/>
          </p:nvSpPr>
          <p:spPr bwMode="auto">
            <a:xfrm>
              <a:off x="4590766" y="5965909"/>
              <a:ext cx="421252" cy="287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latin typeface="Times New Roman" panose="02020603050405020304" pitchFamily="18" charset="0"/>
                </a:rPr>
                <a:t>ε</a:t>
              </a:r>
              <a:endParaRPr lang="en-US" altLang="zh-CN" sz="2000" b="1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42" name="矩形 41"/>
          <p:cNvSpPr/>
          <p:nvPr/>
        </p:nvSpPr>
        <p:spPr>
          <a:xfrm>
            <a:off x="850900" y="3727450"/>
            <a:ext cx="935038" cy="344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NFA</a:t>
            </a:r>
            <a:r>
              <a:rPr lang="zh-CN" altLang="en-US" sz="25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zh-CN" altLang="en-US" sz="25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Rectangle 22"/>
          <p:cNvSpPr>
            <a:spLocks noChangeArrowheads="1"/>
          </p:cNvSpPr>
          <p:nvPr/>
        </p:nvSpPr>
        <p:spPr bwMode="auto">
          <a:xfrm>
            <a:off x="1760538" y="3781425"/>
            <a:ext cx="5048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start</a:t>
            </a:r>
            <a:endParaRPr lang="en-US" altLang="zh-CN" sz="2000" b="1" i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45" name="Line 27"/>
          <p:cNvSpPr>
            <a:spLocks noChangeShapeType="1"/>
          </p:cNvSpPr>
          <p:nvPr/>
        </p:nvSpPr>
        <p:spPr bwMode="auto">
          <a:xfrm>
            <a:off x="2286000" y="3933825"/>
            <a:ext cx="3317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12651" name="组合 44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47" name="五边形 46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12654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7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7" dur="500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42" grpId="0" bldLvl="0" animBg="1"/>
      <p:bldP spid="4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标题 21509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600"/>
              <a:t>…</a:t>
            </a:r>
            <a:endParaRPr lang="zh-CN" altLang="en-US" sz="3600"/>
          </a:p>
        </p:txBody>
      </p:sp>
      <p:grpSp>
        <p:nvGrpSpPr>
          <p:cNvPr id="2" name="组合 4"/>
          <p:cNvGrpSpPr/>
          <p:nvPr/>
        </p:nvGrpSpPr>
        <p:grpSpPr bwMode="auto">
          <a:xfrm>
            <a:off x="3502025" y="1803400"/>
            <a:ext cx="504825" cy="457200"/>
            <a:chOff x="1877756" y="2136724"/>
            <a:chExt cx="504714" cy="457651"/>
          </a:xfrm>
        </p:grpSpPr>
        <p:sp>
          <p:nvSpPr>
            <p:cNvPr id="114782" name="Freeform 19"/>
            <p:cNvSpPr/>
            <p:nvPr/>
          </p:nvSpPr>
          <p:spPr bwMode="auto">
            <a:xfrm>
              <a:off x="1878313" y="2369640"/>
              <a:ext cx="382503" cy="224735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783" name="Rectangle 20"/>
            <p:cNvSpPr>
              <a:spLocks noChangeArrowheads="1"/>
            </p:cNvSpPr>
            <p:nvPr/>
          </p:nvSpPr>
          <p:spPr bwMode="auto">
            <a:xfrm>
              <a:off x="1877756" y="2136724"/>
              <a:ext cx="504714" cy="215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d</a:t>
              </a:r>
              <a:endParaRPr lang="en-US" altLang="zh-CN" sz="2000" b="1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组合 9"/>
          <p:cNvGrpSpPr/>
          <p:nvPr/>
        </p:nvGrpSpPr>
        <p:grpSpPr bwMode="auto">
          <a:xfrm>
            <a:off x="5216525" y="1855788"/>
            <a:ext cx="503238" cy="457200"/>
            <a:chOff x="3591579" y="2188879"/>
            <a:chExt cx="504714" cy="457651"/>
          </a:xfrm>
        </p:grpSpPr>
        <p:sp>
          <p:nvSpPr>
            <p:cNvPr id="114780" name="Rectangle 20"/>
            <p:cNvSpPr>
              <a:spLocks noChangeArrowheads="1"/>
            </p:cNvSpPr>
            <p:nvPr/>
          </p:nvSpPr>
          <p:spPr bwMode="auto">
            <a:xfrm>
              <a:off x="3591579" y="2188879"/>
              <a:ext cx="504714" cy="215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d</a:t>
              </a:r>
              <a:endParaRPr lang="en-US" altLang="zh-CN" sz="2000" b="1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114781" name="Freeform 19"/>
            <p:cNvSpPr/>
            <p:nvPr/>
          </p:nvSpPr>
          <p:spPr bwMode="auto">
            <a:xfrm>
              <a:off x="3592002" y="2421795"/>
              <a:ext cx="382503" cy="224735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 bwMode="auto">
          <a:xfrm>
            <a:off x="6688138" y="2238375"/>
            <a:ext cx="601662" cy="273050"/>
            <a:chOff x="6688765" y="2238912"/>
            <a:chExt cx="600640" cy="272761"/>
          </a:xfrm>
        </p:grpSpPr>
        <p:sp>
          <p:nvSpPr>
            <p:cNvPr id="114778" name="Line 16"/>
            <p:cNvSpPr>
              <a:spLocks noChangeShapeType="1"/>
            </p:cNvSpPr>
            <p:nvPr/>
          </p:nvSpPr>
          <p:spPr bwMode="auto">
            <a:xfrm flipV="1">
              <a:off x="6688765" y="2509295"/>
              <a:ext cx="433439" cy="237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779" name="Rectangle 9"/>
            <p:cNvSpPr>
              <a:spLocks noChangeArrowheads="1"/>
            </p:cNvSpPr>
            <p:nvPr/>
          </p:nvSpPr>
          <p:spPr bwMode="auto">
            <a:xfrm>
              <a:off x="6784521" y="2238912"/>
              <a:ext cx="504884" cy="215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latin typeface="Times New Roman" panose="02020603050405020304" pitchFamily="18" charset="0"/>
                </a:rPr>
                <a:t>-</a:t>
              </a:r>
              <a:endParaRPr lang="en-US" altLang="zh-CN" b="1" i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3" name="组合 12"/>
          <p:cNvGrpSpPr/>
          <p:nvPr/>
        </p:nvGrpSpPr>
        <p:grpSpPr bwMode="auto">
          <a:xfrm>
            <a:off x="6602413" y="1928813"/>
            <a:ext cx="938212" cy="704850"/>
            <a:chOff x="6602413" y="1928813"/>
            <a:chExt cx="938212" cy="704850"/>
          </a:xfrm>
        </p:grpSpPr>
        <p:sp>
          <p:nvSpPr>
            <p:cNvPr id="114775" name="Rectangle 44"/>
            <p:cNvSpPr>
              <a:spLocks noChangeArrowheads="1"/>
            </p:cNvSpPr>
            <p:nvPr/>
          </p:nvSpPr>
          <p:spPr bwMode="auto">
            <a:xfrm>
              <a:off x="6748369" y="1928813"/>
              <a:ext cx="792256" cy="2164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>
                  <a:latin typeface="楷体_GB2312"/>
                  <a:ea typeface="楷体_GB2312"/>
                  <a:cs typeface="楷体_GB2312"/>
                </a:rPr>
                <a:t>+</a:t>
              </a:r>
              <a:endParaRPr lang="en-US" altLang="zh-CN" b="1">
                <a:latin typeface="楷体_GB2312"/>
                <a:ea typeface="楷体_GB2312"/>
                <a:cs typeface="楷体_GB2312"/>
              </a:endParaRPr>
            </a:p>
          </p:txBody>
        </p:sp>
        <p:sp>
          <p:nvSpPr>
            <p:cNvPr id="68" name="任意多边形 67"/>
            <p:cNvSpPr/>
            <p:nvPr/>
          </p:nvSpPr>
          <p:spPr bwMode="auto">
            <a:xfrm>
              <a:off x="6602413" y="2154238"/>
              <a:ext cx="744537" cy="241300"/>
            </a:xfrm>
            <a:custGeom>
              <a:avLst/>
              <a:gdLst>
                <a:gd name="connsiteX0" fmla="*/ 0 w 841829"/>
                <a:gd name="connsiteY0" fmla="*/ 275906 h 275906"/>
                <a:gd name="connsiteX1" fmla="*/ 333829 w 841829"/>
                <a:gd name="connsiteY1" fmla="*/ 135 h 275906"/>
                <a:gd name="connsiteX2" fmla="*/ 841829 w 841829"/>
                <a:gd name="connsiteY2" fmla="*/ 246878 h 275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41829" h="275906">
                  <a:moveTo>
                    <a:pt x="0" y="275906"/>
                  </a:moveTo>
                  <a:cubicBezTo>
                    <a:pt x="96762" y="140439"/>
                    <a:pt x="193524" y="4973"/>
                    <a:pt x="333829" y="135"/>
                  </a:cubicBezTo>
                  <a:cubicBezTo>
                    <a:pt x="474134" y="-4703"/>
                    <a:pt x="657981" y="121087"/>
                    <a:pt x="841829" y="246878"/>
                  </a:cubicBezTo>
                </a:path>
              </a:pathLst>
            </a:cu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103510" name="Oval 7"/>
            <p:cNvSpPr>
              <a:spLocks noChangeArrowheads="1"/>
            </p:cNvSpPr>
            <p:nvPr/>
          </p:nvSpPr>
          <p:spPr bwMode="auto">
            <a:xfrm>
              <a:off x="7131050" y="2363788"/>
              <a:ext cx="360363" cy="26987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5</a:t>
              </a:r>
              <a:endParaRPr lang="en-US" altLang="zh-CN" sz="20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组合 12"/>
          <p:cNvGrpSpPr/>
          <p:nvPr/>
        </p:nvGrpSpPr>
        <p:grpSpPr bwMode="auto">
          <a:xfrm>
            <a:off x="6551613" y="2320925"/>
            <a:ext cx="1878012" cy="630238"/>
            <a:chOff x="4926982" y="2654838"/>
            <a:chExt cx="1878091" cy="629840"/>
          </a:xfrm>
        </p:grpSpPr>
        <p:sp>
          <p:nvSpPr>
            <p:cNvPr id="114771" name="Oval 39"/>
            <p:cNvSpPr>
              <a:spLocks noChangeArrowheads="1"/>
            </p:cNvSpPr>
            <p:nvPr/>
          </p:nvSpPr>
          <p:spPr bwMode="auto">
            <a:xfrm>
              <a:off x="6301946" y="2654838"/>
              <a:ext cx="503127" cy="37693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9" name="任意多边形 68"/>
            <p:cNvSpPr/>
            <p:nvPr/>
          </p:nvSpPr>
          <p:spPr bwMode="auto">
            <a:xfrm>
              <a:off x="4926982" y="2983243"/>
              <a:ext cx="1439923" cy="80911"/>
            </a:xfrm>
            <a:custGeom>
              <a:avLst/>
              <a:gdLst>
                <a:gd name="connsiteX0" fmla="*/ 0 w 856343"/>
                <a:gd name="connsiteY0" fmla="*/ 29029 h 333939"/>
                <a:gd name="connsiteX1" fmla="*/ 420915 w 856343"/>
                <a:gd name="connsiteY1" fmla="*/ 333829 h 333939"/>
                <a:gd name="connsiteX2" fmla="*/ 856343 w 856343"/>
                <a:gd name="connsiteY2" fmla="*/ 0 h 333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56343" h="333939">
                  <a:moveTo>
                    <a:pt x="0" y="29029"/>
                  </a:moveTo>
                  <a:cubicBezTo>
                    <a:pt x="139095" y="183848"/>
                    <a:pt x="278191" y="338667"/>
                    <a:pt x="420915" y="333829"/>
                  </a:cubicBezTo>
                  <a:cubicBezTo>
                    <a:pt x="563639" y="328991"/>
                    <a:pt x="709991" y="164495"/>
                    <a:pt x="856343" y="0"/>
                  </a:cubicBezTo>
                </a:path>
              </a:pathLst>
            </a:cu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114773" name="Rectangle 9"/>
            <p:cNvSpPr>
              <a:spLocks noChangeArrowheads="1"/>
            </p:cNvSpPr>
            <p:nvPr/>
          </p:nvSpPr>
          <p:spPr bwMode="auto">
            <a:xfrm>
              <a:off x="5455499" y="3069456"/>
              <a:ext cx="421159" cy="215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latin typeface="Times New Roman" panose="02020603050405020304" pitchFamily="18" charset="0"/>
                </a:rPr>
                <a:t>d</a:t>
              </a:r>
              <a:endParaRPr lang="en-US" altLang="zh-CN" sz="2000" b="1" i="1">
                <a:latin typeface="Times New Roman" panose="02020603050405020304" pitchFamily="18" charset="0"/>
              </a:endParaRPr>
            </a:p>
          </p:txBody>
        </p:sp>
        <p:sp>
          <p:nvSpPr>
            <p:cNvPr id="4" name="Oval 29"/>
            <p:cNvSpPr>
              <a:spLocks noChangeArrowheads="1"/>
            </p:cNvSpPr>
            <p:nvPr/>
          </p:nvSpPr>
          <p:spPr bwMode="auto">
            <a:xfrm>
              <a:off x="6373255" y="2713539"/>
              <a:ext cx="360378" cy="27129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6</a:t>
              </a:r>
              <a:endParaRPr lang="en-US" altLang="zh-CN" sz="20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" name="组合 14"/>
          <p:cNvGrpSpPr/>
          <p:nvPr/>
        </p:nvGrpSpPr>
        <p:grpSpPr bwMode="auto">
          <a:xfrm>
            <a:off x="8001000" y="1870075"/>
            <a:ext cx="625475" cy="455613"/>
            <a:chOff x="6377115" y="2203660"/>
            <a:chExt cx="624528" cy="455442"/>
          </a:xfrm>
        </p:grpSpPr>
        <p:sp>
          <p:nvSpPr>
            <p:cNvPr id="114769" name="Freeform 19"/>
            <p:cNvSpPr/>
            <p:nvPr/>
          </p:nvSpPr>
          <p:spPr bwMode="auto">
            <a:xfrm>
              <a:off x="6377115" y="2434367"/>
              <a:ext cx="382503" cy="224735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770" name="Rectangle 20"/>
            <p:cNvSpPr>
              <a:spLocks noChangeArrowheads="1"/>
            </p:cNvSpPr>
            <p:nvPr/>
          </p:nvSpPr>
          <p:spPr bwMode="auto">
            <a:xfrm>
              <a:off x="6496929" y="2203660"/>
              <a:ext cx="504714" cy="215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d</a:t>
              </a:r>
              <a:endParaRPr lang="en-US" altLang="zh-CN" sz="2000" b="1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组合 7"/>
          <p:cNvGrpSpPr/>
          <p:nvPr/>
        </p:nvGrpSpPr>
        <p:grpSpPr bwMode="auto">
          <a:xfrm>
            <a:off x="4648200" y="2214563"/>
            <a:ext cx="1066800" cy="469900"/>
            <a:chOff x="3024766" y="2548586"/>
            <a:chExt cx="1066163" cy="469256"/>
          </a:xfrm>
        </p:grpSpPr>
        <p:sp>
          <p:nvSpPr>
            <p:cNvPr id="15" name="Oval 10"/>
            <p:cNvSpPr>
              <a:spLocks noChangeArrowheads="1"/>
            </p:cNvSpPr>
            <p:nvPr/>
          </p:nvSpPr>
          <p:spPr bwMode="auto">
            <a:xfrm>
              <a:off x="3572127" y="2676997"/>
              <a:ext cx="441061" cy="27109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sz="1500" b="1" spc="-300" dirty="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3   </a:t>
              </a:r>
              <a:r>
                <a:rPr lang="zh-CN" altLang="en-US" sz="1500" b="1" spc="-300" dirty="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，</a:t>
              </a:r>
              <a:r>
                <a:rPr lang="en-US" altLang="zh-CN" sz="1500" b="1" spc="-300" dirty="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6</a:t>
              </a:r>
              <a:endParaRPr lang="en-US" altLang="zh-CN" sz="1500" b="1" spc="-3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114766" name="Line 13"/>
            <p:cNvSpPr>
              <a:spLocks noChangeShapeType="1"/>
            </p:cNvSpPr>
            <p:nvPr/>
          </p:nvSpPr>
          <p:spPr bwMode="auto">
            <a:xfrm>
              <a:off x="3024766" y="2822489"/>
              <a:ext cx="431705" cy="237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767" name="Rectangle 31"/>
            <p:cNvSpPr>
              <a:spLocks noChangeArrowheads="1"/>
            </p:cNvSpPr>
            <p:nvPr/>
          </p:nvSpPr>
          <p:spPr bwMode="auto">
            <a:xfrm>
              <a:off x="3059183" y="2548586"/>
              <a:ext cx="504714" cy="215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d</a:t>
              </a:r>
              <a:endParaRPr lang="en-US" altLang="zh-CN" sz="2000" b="1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79" name="椭圆 78"/>
            <p:cNvSpPr/>
            <p:nvPr/>
          </p:nvSpPr>
          <p:spPr bwMode="auto">
            <a:xfrm>
              <a:off x="3494385" y="2627852"/>
              <a:ext cx="596544" cy="38999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8" name="组合 8"/>
          <p:cNvGrpSpPr/>
          <p:nvPr/>
        </p:nvGrpSpPr>
        <p:grpSpPr bwMode="auto">
          <a:xfrm>
            <a:off x="3963988" y="1428750"/>
            <a:ext cx="2698750" cy="1204913"/>
            <a:chOff x="2339975" y="1762125"/>
            <a:chExt cx="2699073" cy="1204305"/>
          </a:xfrm>
        </p:grpSpPr>
        <p:sp>
          <p:nvSpPr>
            <p:cNvPr id="103493" name="Oval 15"/>
            <p:cNvSpPr>
              <a:spLocks noChangeArrowheads="1"/>
            </p:cNvSpPr>
            <p:nvPr/>
          </p:nvSpPr>
          <p:spPr bwMode="auto">
            <a:xfrm>
              <a:off x="4521461" y="2696691"/>
              <a:ext cx="517587" cy="26973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sz="1500" b="1" spc="-300" dirty="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4   </a:t>
              </a:r>
              <a:r>
                <a:rPr lang="zh-CN" altLang="en-US" sz="1500" b="1" spc="-300" dirty="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，</a:t>
              </a:r>
              <a:r>
                <a:rPr lang="en-US" altLang="zh-CN" sz="1500" b="1" spc="-300" dirty="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5</a:t>
              </a:r>
              <a:endParaRPr lang="en-US" altLang="zh-CN" sz="1500" b="1" spc="-3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80" name="任意多边形 79"/>
            <p:cNvSpPr/>
            <p:nvPr/>
          </p:nvSpPr>
          <p:spPr bwMode="auto">
            <a:xfrm>
              <a:off x="2339975" y="2101679"/>
              <a:ext cx="2322790" cy="564865"/>
            </a:xfrm>
            <a:custGeom>
              <a:avLst/>
              <a:gdLst>
                <a:gd name="connsiteX0" fmla="*/ 0 w 2801257"/>
                <a:gd name="connsiteY0" fmla="*/ 740937 h 857051"/>
                <a:gd name="connsiteX1" fmla="*/ 1320800 w 2801257"/>
                <a:gd name="connsiteY1" fmla="*/ 709 h 857051"/>
                <a:gd name="connsiteX2" fmla="*/ 2801257 w 2801257"/>
                <a:gd name="connsiteY2" fmla="*/ 857051 h 85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01257" h="857051">
                  <a:moveTo>
                    <a:pt x="0" y="740937"/>
                  </a:moveTo>
                  <a:cubicBezTo>
                    <a:pt x="426962" y="361147"/>
                    <a:pt x="853924" y="-18643"/>
                    <a:pt x="1320800" y="709"/>
                  </a:cubicBezTo>
                  <a:cubicBezTo>
                    <a:pt x="1787676" y="20061"/>
                    <a:pt x="2294466" y="438556"/>
                    <a:pt x="2801257" y="857051"/>
                  </a:cubicBezTo>
                </a:path>
              </a:pathLst>
            </a:cu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114764" name="Rectangle 20"/>
            <p:cNvSpPr>
              <a:spLocks noChangeArrowheads="1"/>
            </p:cNvSpPr>
            <p:nvPr/>
          </p:nvSpPr>
          <p:spPr bwMode="auto">
            <a:xfrm>
              <a:off x="3184239" y="1762125"/>
              <a:ext cx="398376" cy="195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E</a:t>
              </a:r>
              <a:endParaRPr lang="en-US" altLang="zh-CN" sz="2000" b="1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组合 2"/>
          <p:cNvGrpSpPr/>
          <p:nvPr/>
        </p:nvGrpSpPr>
        <p:grpSpPr bwMode="auto">
          <a:xfrm>
            <a:off x="857250" y="2216150"/>
            <a:ext cx="3178175" cy="454025"/>
            <a:chOff x="-766816" y="2548336"/>
            <a:chExt cx="3178229" cy="455214"/>
          </a:xfrm>
        </p:grpSpPr>
        <p:sp>
          <p:nvSpPr>
            <p:cNvPr id="16" name="Oval 7"/>
            <p:cNvSpPr>
              <a:spLocks noChangeArrowheads="1"/>
            </p:cNvSpPr>
            <p:nvPr/>
          </p:nvSpPr>
          <p:spPr bwMode="auto">
            <a:xfrm>
              <a:off x="971527" y="2666119"/>
              <a:ext cx="360368" cy="2705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0</a:t>
              </a:r>
              <a:endParaRPr lang="en-US" altLang="zh-CN" sz="20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114755" name="Rectangle 31"/>
            <p:cNvSpPr>
              <a:spLocks noChangeArrowheads="1"/>
            </p:cNvSpPr>
            <p:nvPr/>
          </p:nvSpPr>
          <p:spPr bwMode="auto">
            <a:xfrm>
              <a:off x="1278089" y="2548336"/>
              <a:ext cx="504714" cy="215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d</a:t>
              </a:r>
              <a:endParaRPr lang="en-US" altLang="zh-CN" sz="2000" b="1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17" name="Oval 29"/>
            <p:cNvSpPr>
              <a:spLocks noChangeArrowheads="1"/>
            </p:cNvSpPr>
            <p:nvPr/>
          </p:nvSpPr>
          <p:spPr bwMode="auto">
            <a:xfrm>
              <a:off x="1714489" y="2672485"/>
              <a:ext cx="625486" cy="27217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sz="1500" b="1" spc="-300" dirty="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1</a:t>
              </a:r>
              <a:r>
                <a:rPr lang="zh-CN" altLang="en-US" sz="1500" b="1" spc="-300" dirty="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，</a:t>
              </a:r>
              <a:r>
                <a:rPr lang="en-US" altLang="zh-CN" sz="1500" b="1" spc="-300" dirty="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3  </a:t>
              </a:r>
              <a:r>
                <a:rPr lang="zh-CN" altLang="en-US" sz="1500" b="1" spc="-300" dirty="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，</a:t>
              </a:r>
              <a:r>
                <a:rPr lang="en-US" altLang="zh-CN" sz="1500" b="1" spc="-300" dirty="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6</a:t>
              </a:r>
              <a:endParaRPr lang="en-US" altLang="zh-CN" sz="1500" b="1" spc="-3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78" name="椭圆 77"/>
            <p:cNvSpPr/>
            <p:nvPr/>
          </p:nvSpPr>
          <p:spPr bwMode="auto">
            <a:xfrm>
              <a:off x="1614474" y="2612002"/>
              <a:ext cx="796939" cy="3915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82" name="矩形 81"/>
            <p:cNvSpPr/>
            <p:nvPr/>
          </p:nvSpPr>
          <p:spPr bwMode="auto">
            <a:xfrm>
              <a:off x="-766816" y="2615186"/>
              <a:ext cx="935054" cy="3613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CN" sz="2500" b="1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DFA</a:t>
              </a:r>
              <a:r>
                <a:rPr lang="zh-CN" altLang="en-US" sz="2500" b="1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：</a:t>
              </a:r>
              <a:endParaRPr lang="zh-CN" altLang="en-US" sz="2500" b="1" i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4759" name="Line 21"/>
            <p:cNvSpPr>
              <a:spLocks noChangeShapeType="1"/>
            </p:cNvSpPr>
            <p:nvPr/>
          </p:nvSpPr>
          <p:spPr bwMode="auto">
            <a:xfrm flipV="1">
              <a:off x="693116" y="2795589"/>
              <a:ext cx="2788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760" name="Rectangle 22"/>
            <p:cNvSpPr>
              <a:spLocks noChangeArrowheads="1"/>
            </p:cNvSpPr>
            <p:nvPr/>
          </p:nvSpPr>
          <p:spPr bwMode="auto">
            <a:xfrm>
              <a:off x="19002" y="2689587"/>
              <a:ext cx="648778" cy="2154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  <a:endPara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cxnSp>
          <p:nvCxnSpPr>
            <p:cNvPr id="91" name="直接箭头连接符 90"/>
            <p:cNvCxnSpPr/>
            <p:nvPr/>
          </p:nvCxnSpPr>
          <p:spPr bwMode="auto">
            <a:xfrm>
              <a:off x="1331895" y="2812551"/>
              <a:ext cx="28734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组合 6"/>
          <p:cNvGrpSpPr/>
          <p:nvPr/>
        </p:nvGrpSpPr>
        <p:grpSpPr bwMode="auto">
          <a:xfrm>
            <a:off x="4035425" y="2166938"/>
            <a:ext cx="649288" cy="447675"/>
            <a:chOff x="2411209" y="2499742"/>
            <a:chExt cx="648708" cy="447061"/>
          </a:xfrm>
        </p:grpSpPr>
        <p:sp>
          <p:nvSpPr>
            <p:cNvPr id="114751" name="Rectangle 14"/>
            <p:cNvSpPr>
              <a:spLocks noChangeArrowheads="1"/>
            </p:cNvSpPr>
            <p:nvPr/>
          </p:nvSpPr>
          <p:spPr bwMode="auto">
            <a:xfrm>
              <a:off x="2411209" y="2499742"/>
              <a:ext cx="504714" cy="215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latin typeface="楷体_GB2312"/>
                  <a:ea typeface="楷体_GB2312"/>
                  <a:cs typeface="楷体_GB2312"/>
                </a:rPr>
                <a:t>.</a:t>
              </a:r>
              <a:endParaRPr lang="en-US" altLang="zh-CN">
                <a:latin typeface="楷体_GB2312"/>
                <a:ea typeface="楷体_GB2312"/>
                <a:cs typeface="楷体_GB2312"/>
              </a:endParaRPr>
            </a:p>
          </p:txBody>
        </p:sp>
        <p:sp>
          <p:nvSpPr>
            <p:cNvPr id="18" name="Oval 15"/>
            <p:cNvSpPr>
              <a:spLocks noChangeArrowheads="1"/>
            </p:cNvSpPr>
            <p:nvPr/>
          </p:nvSpPr>
          <p:spPr bwMode="auto">
            <a:xfrm>
              <a:off x="2699876" y="2677298"/>
              <a:ext cx="360041" cy="26950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</a:t>
              </a:r>
              <a:endParaRPr lang="en-US" altLang="zh-CN" sz="20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cxnSp>
          <p:nvCxnSpPr>
            <p:cNvPr id="92" name="直接箭头连接符 91"/>
            <p:cNvCxnSpPr/>
            <p:nvPr/>
          </p:nvCxnSpPr>
          <p:spPr bwMode="auto">
            <a:xfrm>
              <a:off x="2411209" y="2805709"/>
              <a:ext cx="28866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组合 10"/>
          <p:cNvGrpSpPr/>
          <p:nvPr/>
        </p:nvGrpSpPr>
        <p:grpSpPr bwMode="auto">
          <a:xfrm>
            <a:off x="5735638" y="2243138"/>
            <a:ext cx="430212" cy="254000"/>
            <a:chOff x="4110760" y="2576913"/>
            <a:chExt cx="431703" cy="253411"/>
          </a:xfrm>
        </p:grpSpPr>
        <p:sp>
          <p:nvSpPr>
            <p:cNvPr id="114749" name="Rectangle 20"/>
            <p:cNvSpPr>
              <a:spLocks noChangeArrowheads="1"/>
            </p:cNvSpPr>
            <p:nvPr/>
          </p:nvSpPr>
          <p:spPr bwMode="auto">
            <a:xfrm>
              <a:off x="4135943" y="2576913"/>
              <a:ext cx="398376" cy="195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E</a:t>
              </a:r>
              <a:endParaRPr lang="en-US" altLang="zh-CN" sz="2000" b="1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114750" name="Line 13"/>
            <p:cNvSpPr>
              <a:spLocks noChangeShapeType="1"/>
            </p:cNvSpPr>
            <p:nvPr/>
          </p:nvSpPr>
          <p:spPr bwMode="auto">
            <a:xfrm>
              <a:off x="4110760" y="2827946"/>
              <a:ext cx="431703" cy="237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组合 13"/>
          <p:cNvGrpSpPr/>
          <p:nvPr/>
        </p:nvGrpSpPr>
        <p:grpSpPr bwMode="auto">
          <a:xfrm>
            <a:off x="7512050" y="2255838"/>
            <a:ext cx="542925" cy="261937"/>
            <a:chOff x="5886884" y="2588928"/>
            <a:chExt cx="544535" cy="262593"/>
          </a:xfrm>
        </p:grpSpPr>
        <p:sp>
          <p:nvSpPr>
            <p:cNvPr id="114747" name="Rectangle 31"/>
            <p:cNvSpPr>
              <a:spLocks noChangeArrowheads="1"/>
            </p:cNvSpPr>
            <p:nvPr/>
          </p:nvSpPr>
          <p:spPr bwMode="auto">
            <a:xfrm>
              <a:off x="5926705" y="2588928"/>
              <a:ext cx="504714" cy="215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d</a:t>
              </a:r>
              <a:endParaRPr lang="en-US" altLang="zh-CN" sz="2000" b="1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114748" name="Line 13"/>
            <p:cNvSpPr>
              <a:spLocks noChangeShapeType="1"/>
            </p:cNvSpPr>
            <p:nvPr/>
          </p:nvSpPr>
          <p:spPr bwMode="auto">
            <a:xfrm>
              <a:off x="5886884" y="2849143"/>
              <a:ext cx="431705" cy="237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4703" name="组合 2"/>
          <p:cNvGrpSpPr/>
          <p:nvPr/>
        </p:nvGrpSpPr>
        <p:grpSpPr bwMode="auto">
          <a:xfrm>
            <a:off x="2624138" y="3354388"/>
            <a:ext cx="1355725" cy="731837"/>
            <a:chOff x="245793" y="5141767"/>
            <a:chExt cx="1356754" cy="976968"/>
          </a:xfrm>
        </p:grpSpPr>
        <p:sp>
          <p:nvSpPr>
            <p:cNvPr id="103472" name="Oval 7"/>
            <p:cNvSpPr>
              <a:spLocks noChangeArrowheads="1"/>
            </p:cNvSpPr>
            <p:nvPr/>
          </p:nvSpPr>
          <p:spPr bwMode="auto">
            <a:xfrm>
              <a:off x="245793" y="5733034"/>
              <a:ext cx="360636" cy="36027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0</a:t>
              </a:r>
              <a:endParaRPr lang="en-US" altLang="zh-CN" sz="20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114742" name="Rectangle 31"/>
            <p:cNvSpPr>
              <a:spLocks noChangeArrowheads="1"/>
            </p:cNvSpPr>
            <p:nvPr/>
          </p:nvSpPr>
          <p:spPr bwMode="auto">
            <a:xfrm>
              <a:off x="668771" y="5589586"/>
              <a:ext cx="504825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d</a:t>
              </a:r>
              <a:endParaRPr lang="en-US" altLang="zh-CN" sz="2000" b="1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19" name="Oval 29"/>
            <p:cNvSpPr>
              <a:spLocks noChangeArrowheads="1"/>
            </p:cNvSpPr>
            <p:nvPr/>
          </p:nvSpPr>
          <p:spPr bwMode="auto">
            <a:xfrm>
              <a:off x="1009960" y="5756346"/>
              <a:ext cx="360637" cy="36238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1</a:t>
              </a:r>
              <a:endParaRPr lang="en-US" altLang="zh-CN" sz="20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114744" name="Line 27"/>
            <p:cNvSpPr>
              <a:spLocks noChangeShapeType="1"/>
            </p:cNvSpPr>
            <p:nvPr/>
          </p:nvSpPr>
          <p:spPr bwMode="auto">
            <a:xfrm>
              <a:off x="606155" y="5915987"/>
              <a:ext cx="4041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745" name="Freeform 19"/>
            <p:cNvSpPr/>
            <p:nvPr/>
          </p:nvSpPr>
          <p:spPr bwMode="auto">
            <a:xfrm>
              <a:off x="1042779" y="5456748"/>
              <a:ext cx="382588" cy="300036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746" name="Rectangle 20"/>
            <p:cNvSpPr>
              <a:spLocks noChangeArrowheads="1"/>
            </p:cNvSpPr>
            <p:nvPr/>
          </p:nvSpPr>
          <p:spPr bwMode="auto">
            <a:xfrm>
              <a:off x="1097721" y="5141767"/>
              <a:ext cx="504826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d</a:t>
              </a:r>
              <a:endParaRPr lang="en-US" altLang="zh-CN" sz="2000" b="1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  <p:sp>
        <p:nvSpPr>
          <p:cNvPr id="114704" name="Rectangle 20"/>
          <p:cNvSpPr>
            <a:spLocks noChangeArrowheads="1"/>
          </p:cNvSpPr>
          <p:nvPr/>
        </p:nvSpPr>
        <p:spPr bwMode="auto">
          <a:xfrm>
            <a:off x="5053013" y="3381375"/>
            <a:ext cx="5048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d</a:t>
            </a:r>
            <a:endParaRPr lang="en-US" altLang="zh-CN" sz="2000" b="1" i="1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pSp>
        <p:nvGrpSpPr>
          <p:cNvPr id="114705" name="组合 21510"/>
          <p:cNvGrpSpPr/>
          <p:nvPr/>
        </p:nvGrpSpPr>
        <p:grpSpPr bwMode="auto">
          <a:xfrm>
            <a:off x="3554413" y="3616325"/>
            <a:ext cx="1854200" cy="952500"/>
            <a:chOff x="1175657" y="5157316"/>
            <a:chExt cx="1854869" cy="1270543"/>
          </a:xfrm>
        </p:grpSpPr>
        <p:sp>
          <p:nvSpPr>
            <p:cNvPr id="114732" name="Rectangle 9"/>
            <p:cNvSpPr>
              <a:spLocks noChangeArrowheads="1"/>
            </p:cNvSpPr>
            <p:nvPr/>
          </p:nvSpPr>
          <p:spPr bwMode="auto">
            <a:xfrm>
              <a:off x="1677767" y="6140522"/>
              <a:ext cx="504825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latin typeface="Times New Roman" panose="02020603050405020304" pitchFamily="18" charset="0"/>
                </a:rPr>
                <a:t>ε</a:t>
              </a:r>
              <a:endParaRPr lang="en-US" altLang="zh-CN" sz="2000" b="1" i="1">
                <a:latin typeface="Times New Roman" panose="02020603050405020304" pitchFamily="18" charset="0"/>
              </a:endParaRPr>
            </a:p>
          </p:txBody>
        </p:sp>
        <p:sp>
          <p:nvSpPr>
            <p:cNvPr id="20" name="Oval 10"/>
            <p:cNvSpPr>
              <a:spLocks noChangeArrowheads="1"/>
            </p:cNvSpPr>
            <p:nvPr/>
          </p:nvSpPr>
          <p:spPr bwMode="auto">
            <a:xfrm>
              <a:off x="2617627" y="5434719"/>
              <a:ext cx="358904" cy="36210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3</a:t>
              </a:r>
              <a:endParaRPr lang="en-US" altLang="zh-CN" sz="20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114734" name="Rectangle 14"/>
            <p:cNvSpPr>
              <a:spLocks noChangeArrowheads="1"/>
            </p:cNvSpPr>
            <p:nvPr/>
          </p:nvSpPr>
          <p:spPr bwMode="auto">
            <a:xfrm>
              <a:off x="1506652" y="5304068"/>
              <a:ext cx="504825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latin typeface="楷体_GB2312"/>
                  <a:ea typeface="楷体_GB2312"/>
                  <a:cs typeface="楷体_GB2312"/>
                </a:rPr>
                <a:t>.</a:t>
              </a:r>
              <a:endParaRPr lang="en-US" altLang="zh-CN">
                <a:latin typeface="楷体_GB2312"/>
                <a:ea typeface="楷体_GB2312"/>
                <a:cs typeface="楷体_GB2312"/>
              </a:endParaRPr>
            </a:p>
          </p:txBody>
        </p:sp>
        <p:sp>
          <p:nvSpPr>
            <p:cNvPr id="114735" name="Line 13"/>
            <p:cNvSpPr>
              <a:spLocks noChangeShapeType="1"/>
            </p:cNvSpPr>
            <p:nvPr/>
          </p:nvSpPr>
          <p:spPr bwMode="auto">
            <a:xfrm>
              <a:off x="2188692" y="5622742"/>
              <a:ext cx="431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Oval 15"/>
            <p:cNvSpPr>
              <a:spLocks noChangeArrowheads="1"/>
            </p:cNvSpPr>
            <p:nvPr/>
          </p:nvSpPr>
          <p:spPr bwMode="auto">
            <a:xfrm>
              <a:off x="1814062" y="5428365"/>
              <a:ext cx="360492" cy="359987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</a:t>
              </a:r>
              <a:endParaRPr lang="en-US" altLang="zh-CN" sz="20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114737" name="Line 13"/>
            <p:cNvSpPr>
              <a:spLocks noChangeShapeType="1"/>
            </p:cNvSpPr>
            <p:nvPr/>
          </p:nvSpPr>
          <p:spPr bwMode="auto">
            <a:xfrm>
              <a:off x="1372239" y="5613671"/>
              <a:ext cx="431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738" name="Freeform 19"/>
            <p:cNvSpPr/>
            <p:nvPr/>
          </p:nvSpPr>
          <p:spPr bwMode="auto">
            <a:xfrm>
              <a:off x="2647938" y="5157316"/>
              <a:ext cx="382588" cy="300037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739" name="Rectangle 31"/>
            <p:cNvSpPr>
              <a:spLocks noChangeArrowheads="1"/>
            </p:cNvSpPr>
            <p:nvPr/>
          </p:nvSpPr>
          <p:spPr bwMode="auto">
            <a:xfrm>
              <a:off x="2239588" y="5283790"/>
              <a:ext cx="504825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d</a:t>
              </a:r>
              <a:endParaRPr lang="en-US" altLang="zh-CN" sz="2000" b="1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150" name="任意多边形 149"/>
            <p:cNvSpPr/>
            <p:nvPr/>
          </p:nvSpPr>
          <p:spPr>
            <a:xfrm>
              <a:off x="1175657" y="5784117"/>
              <a:ext cx="1626187" cy="355752"/>
            </a:xfrm>
            <a:custGeom>
              <a:avLst/>
              <a:gdLst>
                <a:gd name="connsiteX0" fmla="*/ 0 w 1625600"/>
                <a:gd name="connsiteY0" fmla="*/ 0 h 334293"/>
                <a:gd name="connsiteX1" fmla="*/ 885372 w 1625600"/>
                <a:gd name="connsiteY1" fmla="*/ 333828 h 334293"/>
                <a:gd name="connsiteX2" fmla="*/ 1625600 w 1625600"/>
                <a:gd name="connsiteY2" fmla="*/ 58057 h 334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25600" h="334293">
                  <a:moveTo>
                    <a:pt x="0" y="0"/>
                  </a:moveTo>
                  <a:cubicBezTo>
                    <a:pt x="307219" y="162076"/>
                    <a:pt x="614439" y="324152"/>
                    <a:pt x="885372" y="333828"/>
                  </a:cubicBezTo>
                  <a:cubicBezTo>
                    <a:pt x="1156305" y="343504"/>
                    <a:pt x="1390952" y="200780"/>
                    <a:pt x="1625600" y="58057"/>
                  </a:cubicBezTo>
                </a:path>
              </a:pathLst>
            </a:cu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</p:grpSp>
      <p:grpSp>
        <p:nvGrpSpPr>
          <p:cNvPr id="114706" name="组合 21511"/>
          <p:cNvGrpSpPr/>
          <p:nvPr/>
        </p:nvGrpSpPr>
        <p:grpSpPr bwMode="auto">
          <a:xfrm>
            <a:off x="5194300" y="3308350"/>
            <a:ext cx="2714625" cy="1190625"/>
            <a:chOff x="3055077" y="4746748"/>
            <a:chExt cx="2712592" cy="1588857"/>
          </a:xfrm>
        </p:grpSpPr>
        <p:sp>
          <p:nvSpPr>
            <p:cNvPr id="114714" name="Line 27"/>
            <p:cNvSpPr>
              <a:spLocks noChangeShapeType="1"/>
            </p:cNvSpPr>
            <p:nvPr/>
          </p:nvSpPr>
          <p:spPr bwMode="auto">
            <a:xfrm>
              <a:off x="3223055" y="5640724"/>
              <a:ext cx="3879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715" name="Rectangle 44"/>
            <p:cNvSpPr>
              <a:spLocks noChangeArrowheads="1"/>
            </p:cNvSpPr>
            <p:nvPr/>
          </p:nvSpPr>
          <p:spPr bwMode="auto">
            <a:xfrm>
              <a:off x="3903754" y="4865383"/>
              <a:ext cx="793156" cy="290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  <a:endParaRPr lang="en-US" altLang="zh-CN" b="1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" name="Oval 15"/>
            <p:cNvSpPr>
              <a:spLocks noChangeArrowheads="1"/>
            </p:cNvSpPr>
            <p:nvPr/>
          </p:nvSpPr>
          <p:spPr bwMode="auto">
            <a:xfrm>
              <a:off x="3580146" y="5460675"/>
              <a:ext cx="360092" cy="36014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4</a:t>
              </a:r>
              <a:endParaRPr lang="en-US" altLang="zh-CN" sz="20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114717" name="Line 16"/>
            <p:cNvSpPr>
              <a:spLocks noChangeShapeType="1"/>
            </p:cNvSpPr>
            <p:nvPr/>
          </p:nvSpPr>
          <p:spPr bwMode="auto">
            <a:xfrm flipV="1">
              <a:off x="3954016" y="5641065"/>
              <a:ext cx="4333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718" name="Oval 39"/>
            <p:cNvSpPr>
              <a:spLocks noChangeArrowheads="1"/>
            </p:cNvSpPr>
            <p:nvPr/>
          </p:nvSpPr>
          <p:spPr bwMode="auto">
            <a:xfrm>
              <a:off x="5142175" y="5356126"/>
              <a:ext cx="503238" cy="5032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4719" name="Rectangle 20"/>
            <p:cNvSpPr>
              <a:spLocks noChangeArrowheads="1"/>
            </p:cNvSpPr>
            <p:nvPr/>
          </p:nvSpPr>
          <p:spPr bwMode="auto">
            <a:xfrm>
              <a:off x="3252677" y="5289235"/>
              <a:ext cx="398463" cy="2607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E</a:t>
              </a:r>
              <a:endParaRPr lang="en-US" altLang="zh-CN" b="1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158" name="任意多边形 157"/>
            <p:cNvSpPr/>
            <p:nvPr/>
          </p:nvSpPr>
          <p:spPr>
            <a:xfrm>
              <a:off x="3759399" y="5166206"/>
              <a:ext cx="842332" cy="275402"/>
            </a:xfrm>
            <a:custGeom>
              <a:avLst/>
              <a:gdLst>
                <a:gd name="connsiteX0" fmla="*/ 0 w 841829"/>
                <a:gd name="connsiteY0" fmla="*/ 275906 h 275906"/>
                <a:gd name="connsiteX1" fmla="*/ 333829 w 841829"/>
                <a:gd name="connsiteY1" fmla="*/ 135 h 275906"/>
                <a:gd name="connsiteX2" fmla="*/ 841829 w 841829"/>
                <a:gd name="connsiteY2" fmla="*/ 246878 h 275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41829" h="275906">
                  <a:moveTo>
                    <a:pt x="0" y="275906"/>
                  </a:moveTo>
                  <a:cubicBezTo>
                    <a:pt x="96762" y="140439"/>
                    <a:pt x="193524" y="4973"/>
                    <a:pt x="333829" y="135"/>
                  </a:cubicBezTo>
                  <a:cubicBezTo>
                    <a:pt x="474134" y="-4703"/>
                    <a:pt x="657981" y="121087"/>
                    <a:pt x="841829" y="246878"/>
                  </a:cubicBezTo>
                </a:path>
              </a:pathLst>
            </a:cu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159" name="任意多边形 158"/>
            <p:cNvSpPr/>
            <p:nvPr/>
          </p:nvSpPr>
          <p:spPr>
            <a:xfrm>
              <a:off x="3762572" y="5837764"/>
              <a:ext cx="856608" cy="165241"/>
            </a:xfrm>
            <a:custGeom>
              <a:avLst/>
              <a:gdLst>
                <a:gd name="connsiteX0" fmla="*/ 0 w 856343"/>
                <a:gd name="connsiteY0" fmla="*/ 29029 h 333939"/>
                <a:gd name="connsiteX1" fmla="*/ 420915 w 856343"/>
                <a:gd name="connsiteY1" fmla="*/ 333829 h 333939"/>
                <a:gd name="connsiteX2" fmla="*/ 856343 w 856343"/>
                <a:gd name="connsiteY2" fmla="*/ 0 h 333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56343" h="333939">
                  <a:moveTo>
                    <a:pt x="0" y="29029"/>
                  </a:moveTo>
                  <a:cubicBezTo>
                    <a:pt x="139095" y="183848"/>
                    <a:pt x="278191" y="338667"/>
                    <a:pt x="420915" y="333829"/>
                  </a:cubicBezTo>
                  <a:cubicBezTo>
                    <a:pt x="563639" y="328991"/>
                    <a:pt x="709991" y="164495"/>
                    <a:pt x="856343" y="0"/>
                  </a:cubicBezTo>
                </a:path>
              </a:pathLst>
            </a:cu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114722" name="Rectangle 9"/>
            <p:cNvSpPr>
              <a:spLocks noChangeArrowheads="1"/>
            </p:cNvSpPr>
            <p:nvPr/>
          </p:nvSpPr>
          <p:spPr bwMode="auto">
            <a:xfrm>
              <a:off x="4002599" y="5666198"/>
              <a:ext cx="421252" cy="287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latin typeface="Times New Roman" panose="02020603050405020304" pitchFamily="18" charset="0"/>
                </a:rPr>
                <a:t>ε</a:t>
              </a:r>
              <a:endParaRPr lang="en-US" altLang="zh-CN" sz="2000" b="1" i="1">
                <a:latin typeface="Times New Roman" panose="02020603050405020304" pitchFamily="18" charset="0"/>
              </a:endParaRPr>
            </a:p>
          </p:txBody>
        </p:sp>
        <p:sp>
          <p:nvSpPr>
            <p:cNvPr id="114723" name="Rectangle 9"/>
            <p:cNvSpPr>
              <a:spLocks noChangeArrowheads="1"/>
            </p:cNvSpPr>
            <p:nvPr/>
          </p:nvSpPr>
          <p:spPr bwMode="auto">
            <a:xfrm>
              <a:off x="3958646" y="5285245"/>
              <a:ext cx="504825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latin typeface="Times New Roman" panose="02020603050405020304" pitchFamily="18" charset="0"/>
                </a:rPr>
                <a:t>-</a:t>
              </a:r>
              <a:endParaRPr lang="en-US" altLang="zh-CN" b="1" i="1">
                <a:latin typeface="Times New Roman" panose="02020603050405020304" pitchFamily="18" charset="0"/>
              </a:endParaRPr>
            </a:p>
          </p:txBody>
        </p:sp>
        <p:sp>
          <p:nvSpPr>
            <p:cNvPr id="23" name="Oval 7"/>
            <p:cNvSpPr>
              <a:spLocks noChangeArrowheads="1"/>
            </p:cNvSpPr>
            <p:nvPr/>
          </p:nvSpPr>
          <p:spPr bwMode="auto">
            <a:xfrm>
              <a:off x="4424064" y="5439490"/>
              <a:ext cx="360092" cy="36014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5</a:t>
              </a:r>
              <a:endParaRPr lang="en-US" altLang="zh-CN" sz="20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114725" name="Rectangle 31"/>
            <p:cNvSpPr>
              <a:spLocks noChangeArrowheads="1"/>
            </p:cNvSpPr>
            <p:nvPr/>
          </p:nvSpPr>
          <p:spPr bwMode="auto">
            <a:xfrm>
              <a:off x="4767947" y="5288860"/>
              <a:ext cx="504825" cy="287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d</a:t>
              </a:r>
              <a:endParaRPr lang="en-US" altLang="zh-CN" sz="2000" b="1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103457" name="Oval 29"/>
            <p:cNvSpPr>
              <a:spLocks noChangeArrowheads="1"/>
            </p:cNvSpPr>
            <p:nvPr/>
          </p:nvSpPr>
          <p:spPr bwMode="auto">
            <a:xfrm>
              <a:off x="5214047" y="5435253"/>
              <a:ext cx="360092" cy="36014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6</a:t>
              </a:r>
              <a:endParaRPr lang="en-US" altLang="zh-CN" sz="20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114727" name="Line 27"/>
            <p:cNvSpPr>
              <a:spLocks noChangeShapeType="1"/>
            </p:cNvSpPr>
            <p:nvPr/>
          </p:nvSpPr>
          <p:spPr bwMode="auto">
            <a:xfrm flipV="1">
              <a:off x="4806054" y="5607130"/>
              <a:ext cx="336122" cy="168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728" name="Freeform 19"/>
            <p:cNvSpPr/>
            <p:nvPr/>
          </p:nvSpPr>
          <p:spPr bwMode="auto">
            <a:xfrm>
              <a:off x="5224816" y="5057140"/>
              <a:ext cx="382588" cy="300037"/>
            </a:xfrm>
            <a:custGeom>
              <a:avLst/>
              <a:gdLst>
                <a:gd name="T0" fmla="*/ 2147483646 w 241"/>
                <a:gd name="T1" fmla="*/ 2147483646 h 189"/>
                <a:gd name="T2" fmla="*/ 2147483646 w 241"/>
                <a:gd name="T3" fmla="*/ 2147483646 h 189"/>
                <a:gd name="T4" fmla="*/ 2147483646 w 241"/>
                <a:gd name="T5" fmla="*/ 2147483646 h 189"/>
                <a:gd name="T6" fmla="*/ 2147483646 w 241"/>
                <a:gd name="T7" fmla="*/ 2147483646 h 189"/>
                <a:gd name="T8" fmla="*/ 2147483646 w 241"/>
                <a:gd name="T9" fmla="*/ 2147483646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89"/>
                <a:gd name="T17" fmla="*/ 241 w 241"/>
                <a:gd name="T18" fmla="*/ 189 h 1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89">
                  <a:moveTo>
                    <a:pt x="52" y="189"/>
                  </a:moveTo>
                  <a:cubicBezTo>
                    <a:pt x="26" y="181"/>
                    <a:pt x="0" y="173"/>
                    <a:pt x="7" y="143"/>
                  </a:cubicBezTo>
                  <a:cubicBezTo>
                    <a:pt x="14" y="113"/>
                    <a:pt x="59" y="14"/>
                    <a:pt x="97" y="7"/>
                  </a:cubicBezTo>
                  <a:cubicBezTo>
                    <a:pt x="135" y="0"/>
                    <a:pt x="225" y="68"/>
                    <a:pt x="233" y="98"/>
                  </a:cubicBezTo>
                  <a:cubicBezTo>
                    <a:pt x="241" y="128"/>
                    <a:pt x="192" y="158"/>
                    <a:pt x="143" y="18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729" name="Rectangle 20"/>
            <p:cNvSpPr>
              <a:spLocks noChangeArrowheads="1"/>
            </p:cNvSpPr>
            <p:nvPr/>
          </p:nvSpPr>
          <p:spPr bwMode="auto">
            <a:xfrm>
              <a:off x="5262844" y="4746748"/>
              <a:ext cx="504825" cy="287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d</a:t>
              </a:r>
              <a:endParaRPr lang="en-US" altLang="zh-CN" sz="2000" b="1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168" name="任意多边形 167"/>
            <p:cNvSpPr/>
            <p:nvPr/>
          </p:nvSpPr>
          <p:spPr>
            <a:xfrm>
              <a:off x="3055077" y="5816579"/>
              <a:ext cx="2355672" cy="519026"/>
            </a:xfrm>
            <a:custGeom>
              <a:avLst/>
              <a:gdLst>
                <a:gd name="connsiteX0" fmla="*/ 0 w 2743200"/>
                <a:gd name="connsiteY0" fmla="*/ 0 h 756045"/>
                <a:gd name="connsiteX1" fmla="*/ 1538515 w 2743200"/>
                <a:gd name="connsiteY1" fmla="*/ 754743 h 756045"/>
                <a:gd name="connsiteX2" fmla="*/ 2743200 w 2743200"/>
                <a:gd name="connsiteY2" fmla="*/ 145143 h 756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43200" h="756045">
                  <a:moveTo>
                    <a:pt x="0" y="0"/>
                  </a:moveTo>
                  <a:cubicBezTo>
                    <a:pt x="540657" y="365276"/>
                    <a:pt x="1081315" y="730553"/>
                    <a:pt x="1538515" y="754743"/>
                  </a:cubicBezTo>
                  <a:cubicBezTo>
                    <a:pt x="1995715" y="778933"/>
                    <a:pt x="2369457" y="462038"/>
                    <a:pt x="2743200" y="145143"/>
                  </a:cubicBezTo>
                </a:path>
              </a:pathLst>
            </a:cu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114731" name="Rectangle 9"/>
            <p:cNvSpPr>
              <a:spLocks noChangeArrowheads="1"/>
            </p:cNvSpPr>
            <p:nvPr/>
          </p:nvSpPr>
          <p:spPr bwMode="auto">
            <a:xfrm>
              <a:off x="4590766" y="5965909"/>
              <a:ext cx="421252" cy="287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latin typeface="Times New Roman" panose="02020603050405020304" pitchFamily="18" charset="0"/>
                </a:rPr>
                <a:t>ε</a:t>
              </a:r>
              <a:endParaRPr lang="en-US" altLang="zh-CN" sz="2000" b="1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170" name="矩形 169"/>
          <p:cNvSpPr/>
          <p:nvPr/>
        </p:nvSpPr>
        <p:spPr>
          <a:xfrm>
            <a:off x="850900" y="3727450"/>
            <a:ext cx="935038" cy="344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NFA</a:t>
            </a:r>
            <a:r>
              <a:rPr lang="zh-CN" altLang="en-US" sz="25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zh-CN" altLang="en-US" sz="25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708" name="Rectangle 22"/>
          <p:cNvSpPr>
            <a:spLocks noChangeArrowheads="1"/>
          </p:cNvSpPr>
          <p:nvPr/>
        </p:nvSpPr>
        <p:spPr bwMode="auto">
          <a:xfrm>
            <a:off x="1760538" y="3781425"/>
            <a:ext cx="5048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start</a:t>
            </a:r>
            <a:endParaRPr lang="en-US" altLang="zh-CN" sz="2000" b="1" i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14709" name="Line 27"/>
          <p:cNvSpPr>
            <a:spLocks noChangeShapeType="1"/>
          </p:cNvSpPr>
          <p:nvPr/>
        </p:nvSpPr>
        <p:spPr bwMode="auto">
          <a:xfrm>
            <a:off x="2286000" y="3933825"/>
            <a:ext cx="3317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" name="标题 5"/>
          <p:cNvSpPr txBox="1"/>
          <p:nvPr/>
        </p:nvSpPr>
        <p:spPr bwMode="auto">
          <a:xfrm>
            <a:off x="755650" y="268288"/>
            <a:ext cx="7931150" cy="35877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 baseline="0">
                <a:solidFill>
                  <a:srgbClr val="FFFF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eaLnBrk="1" hangingPunct="1">
              <a:defRPr/>
            </a:pPr>
            <a:r>
              <a:rPr lang="zh-CN" altLang="en-US" sz="3000" spc="3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识别</a:t>
            </a:r>
            <a:r>
              <a:rPr lang="zh-CN" altLang="en-US" sz="3000" spc="3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无符号数的</a:t>
            </a:r>
            <a:r>
              <a:rPr lang="en-US" altLang="zh-CN" sz="3000" i="1" spc="30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DFA</a:t>
            </a:r>
            <a:endParaRPr lang="zh-CN" altLang="en-US" sz="3000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4711" name="组合 44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95" name="五边形 9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14713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07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识别各进制无符号整数的</a:t>
            </a:r>
            <a:r>
              <a:rPr lang="en-US" altLang="zh-CN" sz="3000" i="1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DFA</a:t>
            </a:r>
            <a:endParaRPr lang="zh-CN" altLang="en-US" sz="3000" i="1" dirty="0">
              <a:solidFill>
                <a:schemeClr val="tx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16739" name="组合 44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44" name="五边形 43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16824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3" name="组合 1"/>
          <p:cNvGrpSpPr/>
          <p:nvPr/>
        </p:nvGrpSpPr>
        <p:grpSpPr bwMode="auto">
          <a:xfrm>
            <a:off x="28575" y="865188"/>
            <a:ext cx="4183063" cy="1274762"/>
            <a:chOff x="28575" y="865188"/>
            <a:chExt cx="4183386" cy="1274514"/>
          </a:xfrm>
        </p:grpSpPr>
        <p:sp>
          <p:nvSpPr>
            <p:cNvPr id="110618" name="Oval 32"/>
            <p:cNvSpPr>
              <a:spLocks noChangeArrowheads="1"/>
            </p:cNvSpPr>
            <p:nvPr/>
          </p:nvSpPr>
          <p:spPr bwMode="auto">
            <a:xfrm>
              <a:off x="944634" y="1446100"/>
              <a:ext cx="381029" cy="28569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kumimoji="1"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6810" name="AutoShape 33"/>
            <p:cNvCxnSpPr>
              <a:cxnSpLocks noChangeShapeType="1"/>
              <a:stCxn id="110618" idx="6"/>
            </p:cNvCxnSpPr>
            <p:nvPr/>
          </p:nvCxnSpPr>
          <p:spPr bwMode="auto">
            <a:xfrm>
              <a:off x="1325055" y="1588971"/>
              <a:ext cx="1142836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6811" name="Text Box 35"/>
            <p:cNvSpPr txBox="1">
              <a:spLocks noChangeArrowheads="1"/>
            </p:cNvSpPr>
            <p:nvPr/>
          </p:nvSpPr>
          <p:spPr bwMode="auto">
            <a:xfrm>
              <a:off x="1668872" y="1275496"/>
              <a:ext cx="526974" cy="399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000" b="1">
                  <a:latin typeface="Times New Roman" panose="02020603050405020304" pitchFamily="18" charset="0"/>
                </a:rPr>
                <a:t>1-9</a:t>
              </a:r>
              <a:endParaRPr kumimoji="1"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116812" name="Text Box 36"/>
            <p:cNvSpPr txBox="1">
              <a:spLocks noChangeArrowheads="1"/>
            </p:cNvSpPr>
            <p:nvPr/>
          </p:nvSpPr>
          <p:spPr bwMode="auto">
            <a:xfrm>
              <a:off x="3331026" y="1397599"/>
              <a:ext cx="880935" cy="399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000" b="1">
                  <a:latin typeface="Times New Roman" panose="02020603050405020304" pitchFamily="18" charset="0"/>
                </a:rPr>
                <a:t>0-9</a:t>
              </a:r>
              <a:endParaRPr kumimoji="1" lang="zh-CN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116813" name="Line 39"/>
            <p:cNvSpPr>
              <a:spLocks noChangeShapeType="1"/>
            </p:cNvSpPr>
            <p:nvPr/>
          </p:nvSpPr>
          <p:spPr bwMode="auto">
            <a:xfrm>
              <a:off x="1259877" y="1689899"/>
              <a:ext cx="353862" cy="16150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116814" name="Text Box 41"/>
            <p:cNvSpPr txBox="1">
              <a:spLocks noChangeArrowheads="1"/>
            </p:cNvSpPr>
            <p:nvPr/>
          </p:nvSpPr>
          <p:spPr bwMode="auto">
            <a:xfrm>
              <a:off x="1163177" y="1635441"/>
              <a:ext cx="312693" cy="399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000" b="1">
                  <a:latin typeface="Times New Roman" panose="02020603050405020304" pitchFamily="18" charset="0"/>
                </a:rPr>
                <a:t>0</a:t>
              </a:r>
              <a:endParaRPr kumimoji="1"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116815" name="矩形 3"/>
            <p:cNvSpPr>
              <a:spLocks noChangeArrowheads="1"/>
            </p:cNvSpPr>
            <p:nvPr/>
          </p:nvSpPr>
          <p:spPr bwMode="auto">
            <a:xfrm>
              <a:off x="28575" y="865188"/>
              <a:ext cx="2887248" cy="399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DEC</a:t>
              </a:r>
              <a:r>
                <a:rPr kumimoji="1"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→ </a:t>
              </a:r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(1|...|9)(0|...|9)</a:t>
              </a:r>
              <a:r>
                <a:rPr lang="en-US" altLang="zh-CN" sz="2000" b="1" baseline="30000">
                  <a:latin typeface="Times New Roman" panose="02020603050405020304" pitchFamily="18" charset="0"/>
                  <a:ea typeface="楷体_GB2312"/>
                  <a:cs typeface="楷体_GB2312"/>
                </a:rPr>
                <a:t>* </a:t>
              </a:r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|0</a:t>
              </a:r>
              <a:endParaRPr lang="zh-CN" altLang="en-US" sz="2000" b="1"/>
            </a:p>
          </p:txBody>
        </p:sp>
        <p:sp>
          <p:nvSpPr>
            <p:cNvPr id="116816" name="Line 21"/>
            <p:cNvSpPr>
              <a:spLocks noChangeShapeType="1"/>
            </p:cNvSpPr>
            <p:nvPr/>
          </p:nvSpPr>
          <p:spPr bwMode="auto">
            <a:xfrm flipV="1">
              <a:off x="645302" y="1565171"/>
              <a:ext cx="27884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17" name="Rectangle 22"/>
            <p:cNvSpPr>
              <a:spLocks noChangeArrowheads="1"/>
            </p:cNvSpPr>
            <p:nvPr/>
          </p:nvSpPr>
          <p:spPr bwMode="auto">
            <a:xfrm>
              <a:off x="35917" y="1459474"/>
              <a:ext cx="648674" cy="2148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  <a:endPara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25" name="弧形 24"/>
            <p:cNvSpPr/>
            <p:nvPr/>
          </p:nvSpPr>
          <p:spPr bwMode="auto">
            <a:xfrm>
              <a:off x="2921223" y="1363566"/>
              <a:ext cx="423896" cy="493616"/>
            </a:xfrm>
            <a:prstGeom prst="arc">
              <a:avLst>
                <a:gd name="adj1" fmla="val 12721186"/>
                <a:gd name="adj2" fmla="val 9111514"/>
              </a:avLst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16819" name="Oval 39"/>
            <p:cNvSpPr>
              <a:spLocks noChangeArrowheads="1"/>
            </p:cNvSpPr>
            <p:nvPr/>
          </p:nvSpPr>
          <p:spPr bwMode="auto">
            <a:xfrm>
              <a:off x="2483768" y="1419622"/>
              <a:ext cx="503615" cy="37710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2" name="Oval 29"/>
            <p:cNvSpPr>
              <a:spLocks noChangeArrowheads="1"/>
            </p:cNvSpPr>
            <p:nvPr/>
          </p:nvSpPr>
          <p:spPr bwMode="auto">
            <a:xfrm>
              <a:off x="2556070" y="1479430"/>
              <a:ext cx="360391" cy="26982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1</a:t>
              </a:r>
              <a:endParaRPr lang="en-US" altLang="zh-CN" sz="20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116821" name="Oval 39"/>
            <p:cNvSpPr>
              <a:spLocks noChangeArrowheads="1"/>
            </p:cNvSpPr>
            <p:nvPr/>
          </p:nvSpPr>
          <p:spPr bwMode="auto">
            <a:xfrm>
              <a:off x="1619672" y="1762597"/>
              <a:ext cx="503615" cy="37710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1" name="Oval 29"/>
            <p:cNvSpPr>
              <a:spLocks noChangeArrowheads="1"/>
            </p:cNvSpPr>
            <p:nvPr/>
          </p:nvSpPr>
          <p:spPr bwMode="auto">
            <a:xfrm>
              <a:off x="1690816" y="1822264"/>
              <a:ext cx="360390" cy="26982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</a:t>
              </a:r>
              <a:endParaRPr lang="en-US" altLang="zh-CN" sz="20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组合 2"/>
          <p:cNvGrpSpPr/>
          <p:nvPr/>
        </p:nvGrpSpPr>
        <p:grpSpPr bwMode="auto">
          <a:xfrm>
            <a:off x="34925" y="2500313"/>
            <a:ext cx="4919663" cy="1066800"/>
            <a:chOff x="34925" y="2500313"/>
            <a:chExt cx="4919029" cy="1066800"/>
          </a:xfrm>
        </p:grpSpPr>
        <p:sp>
          <p:nvSpPr>
            <p:cNvPr id="6" name="Oval 5"/>
            <p:cNvSpPr>
              <a:spLocks noChangeArrowheads="1"/>
            </p:cNvSpPr>
            <p:nvPr/>
          </p:nvSpPr>
          <p:spPr bwMode="auto">
            <a:xfrm>
              <a:off x="1928569" y="3125788"/>
              <a:ext cx="380951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kumimoji="1" lang="en-US" altLang="zh-CN" sz="2400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endParaRPr kumimoji="1"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16797" name="AutoShape 6"/>
            <p:cNvCxnSpPr>
              <a:cxnSpLocks noChangeShapeType="1"/>
            </p:cNvCxnSpPr>
            <p:nvPr/>
          </p:nvCxnSpPr>
          <p:spPr bwMode="auto">
            <a:xfrm>
              <a:off x="2310250" y="3268415"/>
              <a:ext cx="1142833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6798" name="AutoShape 8"/>
            <p:cNvCxnSpPr>
              <a:cxnSpLocks noChangeShapeType="1"/>
            </p:cNvCxnSpPr>
            <p:nvPr/>
          </p:nvCxnSpPr>
          <p:spPr bwMode="auto">
            <a:xfrm flipV="1">
              <a:off x="1299159" y="3268415"/>
              <a:ext cx="630146" cy="1588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0599" name="Oval 9"/>
            <p:cNvSpPr>
              <a:spLocks noChangeArrowheads="1"/>
            </p:cNvSpPr>
            <p:nvPr/>
          </p:nvSpPr>
          <p:spPr bwMode="auto">
            <a:xfrm>
              <a:off x="917461" y="3125788"/>
              <a:ext cx="380951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kumimoji="1" lang="en-US" altLang="zh-CN" sz="2400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0</a:t>
              </a:r>
              <a:endParaRPr kumimoji="1"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800" name="Text Box 10"/>
            <p:cNvSpPr txBox="1">
              <a:spLocks noChangeArrowheads="1"/>
            </p:cNvSpPr>
            <p:nvPr/>
          </p:nvSpPr>
          <p:spPr bwMode="auto">
            <a:xfrm>
              <a:off x="1384872" y="2932014"/>
              <a:ext cx="312692" cy="4000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000" b="1">
                  <a:latin typeface="Times New Roman" panose="02020603050405020304" pitchFamily="18" charset="0"/>
                </a:rPr>
                <a:t>0</a:t>
              </a:r>
              <a:endParaRPr kumimoji="1" lang="zh-CN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116801" name="Text Box 11"/>
            <p:cNvSpPr txBox="1">
              <a:spLocks noChangeArrowheads="1"/>
            </p:cNvSpPr>
            <p:nvPr/>
          </p:nvSpPr>
          <p:spPr bwMode="auto">
            <a:xfrm>
              <a:off x="2502308" y="2900017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000" b="1">
                  <a:latin typeface="Times New Roman" panose="02020603050405020304" pitchFamily="18" charset="0"/>
                </a:rPr>
                <a:t>0-7</a:t>
              </a:r>
              <a:endParaRPr kumimoji="1"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116802" name="Text Box 12"/>
            <p:cNvSpPr txBox="1">
              <a:spLocks noChangeArrowheads="1"/>
            </p:cNvSpPr>
            <p:nvPr/>
          </p:nvSpPr>
          <p:spPr bwMode="auto">
            <a:xfrm>
              <a:off x="4262638" y="3119636"/>
              <a:ext cx="525386" cy="4000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000" b="1">
                  <a:latin typeface="Times New Roman" panose="02020603050405020304" pitchFamily="18" charset="0"/>
                </a:rPr>
                <a:t>0-7</a:t>
              </a:r>
              <a:endParaRPr kumimoji="1" lang="zh-CN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116803" name="矩形 1"/>
            <p:cNvSpPr>
              <a:spLocks noChangeArrowheads="1"/>
            </p:cNvSpPr>
            <p:nvPr/>
          </p:nvSpPr>
          <p:spPr bwMode="auto">
            <a:xfrm>
              <a:off x="35620" y="2500313"/>
              <a:ext cx="4918334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200" b="1" i="1">
                  <a:latin typeface="Times New Roman" panose="02020603050405020304" pitchFamily="18" charset="0"/>
                </a:rPr>
                <a:t>OCT</a:t>
              </a:r>
              <a:r>
                <a:rPr kumimoji="1" lang="en-US" altLang="zh-CN" sz="2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→ </a:t>
              </a:r>
              <a:r>
                <a:rPr lang="en-US" altLang="zh-CN" sz="2200" b="1">
                  <a:latin typeface="Times New Roman" panose="02020603050405020304" pitchFamily="18" charset="0"/>
                </a:rPr>
                <a:t>0(0|1|2|3|4|5|6|7)(0|1|2|3|4|5|6|7)</a:t>
              </a:r>
              <a:r>
                <a:rPr lang="en-US" altLang="zh-CN" sz="2200" b="1" baseline="30000">
                  <a:latin typeface="Times New Roman" panose="02020603050405020304" pitchFamily="18" charset="0"/>
                </a:rPr>
                <a:t>*</a:t>
              </a:r>
              <a:endParaRPr lang="zh-CN" altLang="en-US" sz="22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6804" name="Line 21"/>
            <p:cNvSpPr>
              <a:spLocks noChangeShapeType="1"/>
            </p:cNvSpPr>
            <p:nvPr/>
          </p:nvSpPr>
          <p:spPr bwMode="auto">
            <a:xfrm flipV="1">
              <a:off x="611600" y="3222905"/>
              <a:ext cx="27884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05" name="Rectangle 22"/>
            <p:cNvSpPr>
              <a:spLocks noChangeArrowheads="1"/>
            </p:cNvSpPr>
            <p:nvPr/>
          </p:nvSpPr>
          <p:spPr bwMode="auto">
            <a:xfrm>
              <a:off x="34925" y="3117184"/>
              <a:ext cx="648672" cy="214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  <a:endPara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74" name="弧形 73"/>
            <p:cNvSpPr/>
            <p:nvPr/>
          </p:nvSpPr>
          <p:spPr bwMode="auto">
            <a:xfrm>
              <a:off x="3857132" y="3073400"/>
              <a:ext cx="423808" cy="493713"/>
            </a:xfrm>
            <a:prstGeom prst="arc">
              <a:avLst>
                <a:gd name="adj1" fmla="val 12721186"/>
                <a:gd name="adj2" fmla="val 9111514"/>
              </a:avLst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16807" name="Oval 39"/>
            <p:cNvSpPr>
              <a:spLocks noChangeArrowheads="1"/>
            </p:cNvSpPr>
            <p:nvPr/>
          </p:nvSpPr>
          <p:spPr bwMode="auto">
            <a:xfrm>
              <a:off x="3419872" y="3130749"/>
              <a:ext cx="503615" cy="37710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5" name="Oval 29"/>
            <p:cNvSpPr>
              <a:spLocks noChangeArrowheads="1"/>
            </p:cNvSpPr>
            <p:nvPr/>
          </p:nvSpPr>
          <p:spPr bwMode="auto">
            <a:xfrm>
              <a:off x="3492054" y="3189288"/>
              <a:ext cx="360317" cy="26987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4</a:t>
              </a:r>
              <a:endParaRPr lang="en-US" altLang="zh-CN" sz="20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组合 3"/>
          <p:cNvGrpSpPr/>
          <p:nvPr/>
        </p:nvGrpSpPr>
        <p:grpSpPr bwMode="auto">
          <a:xfrm>
            <a:off x="34925" y="3940175"/>
            <a:ext cx="6192838" cy="1092200"/>
            <a:chOff x="34925" y="3940175"/>
            <a:chExt cx="6193259" cy="1092200"/>
          </a:xfrm>
        </p:grpSpPr>
        <p:sp>
          <p:nvSpPr>
            <p:cNvPr id="7" name="Oval 17"/>
            <p:cNvSpPr>
              <a:spLocks noChangeArrowheads="1"/>
            </p:cNvSpPr>
            <p:nvPr/>
          </p:nvSpPr>
          <p:spPr bwMode="auto">
            <a:xfrm>
              <a:off x="2340132" y="4665663"/>
              <a:ext cx="381026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6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10" name="Oval 18"/>
            <p:cNvSpPr>
              <a:spLocks noChangeArrowheads="1"/>
            </p:cNvSpPr>
            <p:nvPr/>
          </p:nvSpPr>
          <p:spPr bwMode="auto">
            <a:xfrm>
              <a:off x="900172" y="4659313"/>
              <a:ext cx="381026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0</a:t>
              </a:r>
              <a:endParaRPr kumimoji="1" lang="zh-CN" altLang="en-US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116782" name="Text Box 19"/>
            <p:cNvSpPr txBox="1">
              <a:spLocks noChangeArrowheads="1"/>
            </p:cNvSpPr>
            <p:nvPr/>
          </p:nvSpPr>
          <p:spPr bwMode="auto">
            <a:xfrm>
              <a:off x="1299886" y="4398647"/>
              <a:ext cx="312767" cy="399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000" b="1">
                  <a:latin typeface="Times New Roman" panose="02020603050405020304" pitchFamily="18" charset="0"/>
                </a:rPr>
                <a:t>0</a:t>
              </a:r>
              <a:endParaRPr kumimoji="1" lang="zh-CN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110609" name="Oval 21"/>
            <p:cNvSpPr>
              <a:spLocks noChangeArrowheads="1"/>
            </p:cNvSpPr>
            <p:nvPr/>
          </p:nvSpPr>
          <p:spPr bwMode="auto">
            <a:xfrm>
              <a:off x="1619358" y="4659313"/>
              <a:ext cx="381026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5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116784" name="Text Box 23"/>
            <p:cNvSpPr txBox="1">
              <a:spLocks noChangeArrowheads="1"/>
            </p:cNvSpPr>
            <p:nvPr/>
          </p:nvSpPr>
          <p:spPr bwMode="auto">
            <a:xfrm>
              <a:off x="2027327" y="4411339"/>
              <a:ext cx="312768" cy="399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000" b="1" i="1">
                  <a:latin typeface="Times New Roman" panose="02020603050405020304" pitchFamily="18" charset="0"/>
                </a:rPr>
                <a:t>x</a:t>
              </a:r>
              <a:endParaRPr kumimoji="1"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116785" name="Text Box 24"/>
            <p:cNvSpPr txBox="1">
              <a:spLocks noChangeArrowheads="1"/>
            </p:cNvSpPr>
            <p:nvPr/>
          </p:nvSpPr>
          <p:spPr bwMode="auto">
            <a:xfrm>
              <a:off x="2905051" y="4429138"/>
              <a:ext cx="97501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000" b="1">
                  <a:latin typeface="Times New Roman" panose="02020603050405020304" pitchFamily="18" charset="0"/>
                </a:rPr>
                <a:t>0-9,</a:t>
              </a:r>
              <a:r>
                <a:rPr kumimoji="1" lang="en-US" altLang="zh-CN" sz="2000" b="1" i="1"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-</a:t>
              </a:r>
              <a:r>
                <a:rPr kumimoji="1" lang="en-US" altLang="zh-CN" sz="2000" b="1" i="1">
                  <a:latin typeface="Times New Roman" panose="02020603050405020304" pitchFamily="18" charset="0"/>
                </a:rPr>
                <a:t>F</a:t>
              </a:r>
              <a:endParaRPr kumimoji="1" lang="en-US" altLang="zh-CN" sz="2000" b="1" i="1">
                <a:latin typeface="Times New Roman" panose="02020603050405020304" pitchFamily="18" charset="0"/>
              </a:endParaRPr>
            </a:p>
          </p:txBody>
        </p:sp>
        <p:sp>
          <p:nvSpPr>
            <p:cNvPr id="116786" name="Text Box 26"/>
            <p:cNvSpPr txBox="1">
              <a:spLocks noChangeArrowheads="1"/>
            </p:cNvSpPr>
            <p:nvPr/>
          </p:nvSpPr>
          <p:spPr bwMode="auto">
            <a:xfrm>
              <a:off x="4896144" y="4624662"/>
              <a:ext cx="1332040" cy="399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000" b="1">
                  <a:latin typeface="Times New Roman" panose="02020603050405020304" pitchFamily="18" charset="0"/>
                </a:rPr>
                <a:t>0-9,</a:t>
              </a:r>
              <a:r>
                <a:rPr kumimoji="1" lang="en-US" altLang="zh-CN" sz="2000" b="1" i="1"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-</a:t>
              </a:r>
              <a:r>
                <a:rPr kumimoji="1" lang="en-US" altLang="zh-CN" sz="2000" b="1" i="1">
                  <a:latin typeface="Times New Roman" panose="02020603050405020304" pitchFamily="18" charset="0"/>
                </a:rPr>
                <a:t>F</a:t>
              </a:r>
              <a:endParaRPr kumimoji="1" lang="en-US" altLang="zh-CN" sz="2000" b="1" i="1">
                <a:latin typeface="Times New Roman" panose="02020603050405020304" pitchFamily="18" charset="0"/>
              </a:endParaRPr>
            </a:p>
          </p:txBody>
        </p:sp>
        <p:sp>
          <p:nvSpPr>
            <p:cNvPr id="116787" name="Line 27"/>
            <p:cNvSpPr>
              <a:spLocks noChangeShapeType="1"/>
            </p:cNvSpPr>
            <p:nvPr/>
          </p:nvSpPr>
          <p:spPr bwMode="auto">
            <a:xfrm>
              <a:off x="2720883" y="4819047"/>
              <a:ext cx="129552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116788" name="矩形 5"/>
            <p:cNvSpPr>
              <a:spLocks noChangeArrowheads="1"/>
            </p:cNvSpPr>
            <p:nvPr/>
          </p:nvSpPr>
          <p:spPr bwMode="auto">
            <a:xfrm>
              <a:off x="35620" y="3940175"/>
              <a:ext cx="579076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HEX</a:t>
              </a:r>
              <a:r>
                <a:rPr kumimoji="1"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→ </a:t>
              </a:r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0</a:t>
              </a:r>
              <a:r>
                <a:rPr lang="en-US" altLang="zh-CN" sz="20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x</a:t>
              </a:r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(0|1|...|9|</a:t>
              </a:r>
              <a:r>
                <a:rPr lang="en-US" altLang="zh-CN" sz="20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|...|</a:t>
              </a:r>
              <a:r>
                <a:rPr lang="en-US" altLang="zh-CN" sz="20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f</a:t>
              </a:r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|</a:t>
              </a:r>
              <a:r>
                <a:rPr lang="en-US" altLang="zh-CN" sz="20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|…|</a:t>
              </a:r>
              <a:r>
                <a:rPr lang="en-US" altLang="zh-CN" sz="20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F</a:t>
              </a:r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)(0|...|9|</a:t>
              </a:r>
              <a:r>
                <a:rPr lang="en-US" altLang="zh-CN" sz="20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|...|</a:t>
              </a:r>
              <a:r>
                <a:rPr lang="en-US" altLang="zh-CN" sz="20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f</a:t>
              </a:r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 |</a:t>
              </a:r>
              <a:r>
                <a:rPr lang="en-US" altLang="zh-CN" sz="20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A</a:t>
              </a:r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|…|</a:t>
              </a:r>
              <a:r>
                <a:rPr lang="en-US" altLang="zh-CN" sz="20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F</a:t>
              </a:r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楷体_GB2312"/>
                </a:rPr>
                <a:t>)</a:t>
              </a:r>
              <a:r>
                <a:rPr lang="en-US" altLang="zh-CN" sz="2000" b="1" baseline="30000">
                  <a:latin typeface="Times New Roman" panose="02020603050405020304" pitchFamily="18" charset="0"/>
                  <a:ea typeface="楷体_GB2312"/>
                  <a:cs typeface="楷体_GB2312"/>
                </a:rPr>
                <a:t>*</a:t>
              </a:r>
              <a:endParaRPr lang="zh-CN" altLang="en-US" sz="2000" b="1"/>
            </a:p>
          </p:txBody>
        </p:sp>
        <p:sp>
          <p:nvSpPr>
            <p:cNvPr id="75" name="弧形 74"/>
            <p:cNvSpPr/>
            <p:nvPr/>
          </p:nvSpPr>
          <p:spPr bwMode="auto">
            <a:xfrm>
              <a:off x="4429424" y="4538663"/>
              <a:ext cx="423892" cy="493712"/>
            </a:xfrm>
            <a:prstGeom prst="arc">
              <a:avLst>
                <a:gd name="adj1" fmla="val 12721186"/>
                <a:gd name="adj2" fmla="val 9111514"/>
              </a:avLst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16790" name="Line 21"/>
            <p:cNvSpPr>
              <a:spLocks noChangeShapeType="1"/>
            </p:cNvSpPr>
            <p:nvPr/>
          </p:nvSpPr>
          <p:spPr bwMode="auto">
            <a:xfrm flipV="1">
              <a:off x="611739" y="4766565"/>
              <a:ext cx="27890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91" name="Rectangle 22"/>
            <p:cNvSpPr>
              <a:spLocks noChangeArrowheads="1"/>
            </p:cNvSpPr>
            <p:nvPr/>
          </p:nvSpPr>
          <p:spPr bwMode="auto">
            <a:xfrm>
              <a:off x="34925" y="4660912"/>
              <a:ext cx="648829" cy="214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  <a:endPara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cxnSp>
          <p:nvCxnSpPr>
            <p:cNvPr id="31" name="直接箭头连接符 30"/>
            <p:cNvCxnSpPr/>
            <p:nvPr/>
          </p:nvCxnSpPr>
          <p:spPr bwMode="auto">
            <a:xfrm flipV="1">
              <a:off x="1281198" y="4799013"/>
              <a:ext cx="320697" cy="317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箭头连接符 84"/>
            <p:cNvCxnSpPr/>
            <p:nvPr/>
          </p:nvCxnSpPr>
          <p:spPr bwMode="auto">
            <a:xfrm flipV="1">
              <a:off x="2019435" y="4803775"/>
              <a:ext cx="320697" cy="317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794" name="Oval 39"/>
            <p:cNvSpPr>
              <a:spLocks noChangeArrowheads="1"/>
            </p:cNvSpPr>
            <p:nvPr/>
          </p:nvSpPr>
          <p:spPr bwMode="auto">
            <a:xfrm>
              <a:off x="4012998" y="4616809"/>
              <a:ext cx="503615" cy="37710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9" name="Oval 29"/>
            <p:cNvSpPr>
              <a:spLocks noChangeArrowheads="1"/>
            </p:cNvSpPr>
            <p:nvPr/>
          </p:nvSpPr>
          <p:spPr bwMode="auto">
            <a:xfrm>
              <a:off x="4084913" y="4676775"/>
              <a:ext cx="360386" cy="26987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7</a:t>
              </a:r>
              <a:endParaRPr lang="en-US" altLang="zh-CN" sz="20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" name="组合 1"/>
          <p:cNvGrpSpPr/>
          <p:nvPr/>
        </p:nvGrpSpPr>
        <p:grpSpPr bwMode="auto">
          <a:xfrm>
            <a:off x="3851275" y="700088"/>
            <a:ext cx="5113338" cy="1223962"/>
            <a:chOff x="3851275" y="700088"/>
            <a:chExt cx="5112523" cy="1223962"/>
          </a:xfrm>
        </p:grpSpPr>
        <p:sp>
          <p:nvSpPr>
            <p:cNvPr id="87" name="Oval 32"/>
            <p:cNvSpPr>
              <a:spLocks noChangeArrowheads="1"/>
            </p:cNvSpPr>
            <p:nvPr/>
          </p:nvSpPr>
          <p:spPr bwMode="auto">
            <a:xfrm>
              <a:off x="4752831" y="1638300"/>
              <a:ext cx="380939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kumimoji="1"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kumimoji="1"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6771" name="AutoShape 33"/>
            <p:cNvCxnSpPr>
              <a:cxnSpLocks noChangeShapeType="1"/>
              <a:stCxn id="87" idx="0"/>
            </p:cNvCxnSpPr>
            <p:nvPr/>
          </p:nvCxnSpPr>
          <p:spPr bwMode="auto">
            <a:xfrm flipV="1">
              <a:off x="4942911" y="1424424"/>
              <a:ext cx="587838" cy="214091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6772" name="Text Box 35"/>
            <p:cNvSpPr txBox="1">
              <a:spLocks noChangeArrowheads="1"/>
            </p:cNvSpPr>
            <p:nvPr/>
          </p:nvSpPr>
          <p:spPr bwMode="auto">
            <a:xfrm>
              <a:off x="4715524" y="1135239"/>
              <a:ext cx="527143" cy="4000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000" b="1">
                  <a:latin typeface="Times New Roman" panose="02020603050405020304" pitchFamily="18" charset="0"/>
                </a:rPr>
                <a:t>1-9</a:t>
              </a:r>
              <a:endParaRPr kumimoji="1"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116773" name="Text Box 36"/>
            <p:cNvSpPr txBox="1">
              <a:spLocks noChangeArrowheads="1"/>
            </p:cNvSpPr>
            <p:nvPr/>
          </p:nvSpPr>
          <p:spPr bwMode="auto">
            <a:xfrm>
              <a:off x="5473581" y="700088"/>
              <a:ext cx="881217" cy="4000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000" b="1">
                  <a:latin typeface="Times New Roman" panose="02020603050405020304" pitchFamily="18" charset="0"/>
                </a:rPr>
                <a:t>0-9</a:t>
              </a:r>
              <a:endParaRPr kumimoji="1" lang="zh-CN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116774" name="Line 21"/>
            <p:cNvSpPr>
              <a:spLocks noChangeShapeType="1"/>
            </p:cNvSpPr>
            <p:nvPr/>
          </p:nvSpPr>
          <p:spPr bwMode="auto">
            <a:xfrm flipV="1">
              <a:off x="4453475" y="1757588"/>
              <a:ext cx="27893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75" name="Rectangle 22"/>
            <p:cNvSpPr>
              <a:spLocks noChangeArrowheads="1"/>
            </p:cNvSpPr>
            <p:nvPr/>
          </p:nvSpPr>
          <p:spPr bwMode="auto">
            <a:xfrm>
              <a:off x="3851275" y="1651859"/>
              <a:ext cx="648881" cy="2148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start</a:t>
              </a:r>
              <a:endPara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  <p:sp>
          <p:nvSpPr>
            <p:cNvPr id="96" name="弧形 95"/>
            <p:cNvSpPr/>
            <p:nvPr/>
          </p:nvSpPr>
          <p:spPr bwMode="auto">
            <a:xfrm rot="16200000">
              <a:off x="5615482" y="915232"/>
              <a:ext cx="234950" cy="493634"/>
            </a:xfrm>
            <a:prstGeom prst="arc">
              <a:avLst>
                <a:gd name="adj1" fmla="val 12721186"/>
                <a:gd name="adj2" fmla="val 9111514"/>
              </a:avLst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16777" name="Text Box 34"/>
            <p:cNvSpPr txBox="1">
              <a:spLocks noChangeArrowheads="1"/>
            </p:cNvSpPr>
            <p:nvPr/>
          </p:nvSpPr>
          <p:spPr bwMode="auto">
            <a:xfrm>
              <a:off x="5990634" y="1176426"/>
              <a:ext cx="297316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  (</a:t>
              </a:r>
              <a:r>
                <a:rPr kumimoji="1"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DEC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,</a:t>
              </a:r>
              <a:r>
                <a:rPr kumimoji="1"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 value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 )</a:t>
              </a:r>
              <a:endPara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6778" name="Oval 39"/>
            <p:cNvSpPr>
              <a:spLocks noChangeArrowheads="1"/>
            </p:cNvSpPr>
            <p:nvPr/>
          </p:nvSpPr>
          <p:spPr bwMode="auto">
            <a:xfrm>
              <a:off x="5507551" y="1258645"/>
              <a:ext cx="503622" cy="3771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" name="Oval 29"/>
            <p:cNvSpPr>
              <a:spLocks noChangeArrowheads="1"/>
            </p:cNvSpPr>
            <p:nvPr/>
          </p:nvSpPr>
          <p:spPr bwMode="auto">
            <a:xfrm>
              <a:off x="5579787" y="1317625"/>
              <a:ext cx="360305" cy="26987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1</a:t>
              </a:r>
              <a:endParaRPr lang="en-US" altLang="zh-CN" sz="20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组合 8"/>
          <p:cNvGrpSpPr/>
          <p:nvPr/>
        </p:nvGrpSpPr>
        <p:grpSpPr bwMode="auto">
          <a:xfrm>
            <a:off x="6169025" y="1571625"/>
            <a:ext cx="3082925" cy="1004888"/>
            <a:chOff x="6169429" y="1571618"/>
            <a:chExt cx="3082521" cy="1004176"/>
          </a:xfrm>
        </p:grpSpPr>
        <p:cxnSp>
          <p:nvCxnSpPr>
            <p:cNvPr id="116763" name="AutoShape 6"/>
            <p:cNvCxnSpPr>
              <a:cxnSpLocks noChangeShapeType="1"/>
            </p:cNvCxnSpPr>
            <p:nvPr/>
          </p:nvCxnSpPr>
          <p:spPr bwMode="auto">
            <a:xfrm>
              <a:off x="6169429" y="2327302"/>
              <a:ext cx="665116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6764" name="Text Box 11"/>
            <p:cNvSpPr txBox="1">
              <a:spLocks noChangeArrowheads="1"/>
            </p:cNvSpPr>
            <p:nvPr/>
          </p:nvSpPr>
          <p:spPr bwMode="auto">
            <a:xfrm>
              <a:off x="6192536" y="1928808"/>
              <a:ext cx="526037" cy="3998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000" b="1">
                  <a:latin typeface="Times New Roman" panose="02020603050405020304" pitchFamily="18" charset="0"/>
                </a:rPr>
                <a:t>0-7</a:t>
              </a:r>
              <a:endParaRPr kumimoji="1"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116765" name="Text Box 12"/>
            <p:cNvSpPr txBox="1">
              <a:spLocks noChangeArrowheads="1"/>
            </p:cNvSpPr>
            <p:nvPr/>
          </p:nvSpPr>
          <p:spPr bwMode="auto">
            <a:xfrm>
              <a:off x="6802839" y="1571618"/>
              <a:ext cx="525481" cy="400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000" b="1">
                  <a:latin typeface="Times New Roman" panose="02020603050405020304" pitchFamily="18" charset="0"/>
                </a:rPr>
                <a:t>0-7</a:t>
              </a:r>
              <a:endParaRPr kumimoji="1" lang="zh-CN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113" name="弧形 112"/>
            <p:cNvSpPr/>
            <p:nvPr/>
          </p:nvSpPr>
          <p:spPr bwMode="auto">
            <a:xfrm rot="16200000">
              <a:off x="6934572" y="1809433"/>
              <a:ext cx="236369" cy="493647"/>
            </a:xfrm>
            <a:prstGeom prst="arc">
              <a:avLst>
                <a:gd name="adj1" fmla="val 12721186"/>
                <a:gd name="adj2" fmla="val 9111514"/>
              </a:avLst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16767" name="Text Box 3"/>
            <p:cNvSpPr txBox="1">
              <a:spLocks noChangeArrowheads="1"/>
            </p:cNvSpPr>
            <p:nvPr/>
          </p:nvSpPr>
          <p:spPr bwMode="auto">
            <a:xfrm>
              <a:off x="7291361" y="2113746"/>
              <a:ext cx="1960589" cy="4620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OCT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,</a:t>
              </a:r>
              <a:r>
                <a:rPr kumimoji="1"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 value 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)</a:t>
              </a:r>
              <a:endParaRPr kumimoji="1" lang="zh-CN" altLang="en-US" sz="2400" b="1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6768" name="Oval 39"/>
            <p:cNvSpPr>
              <a:spLocks noChangeArrowheads="1"/>
            </p:cNvSpPr>
            <p:nvPr/>
          </p:nvSpPr>
          <p:spPr bwMode="auto">
            <a:xfrm>
              <a:off x="6817269" y="2156108"/>
              <a:ext cx="503622" cy="3771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5" name="Oval 29"/>
            <p:cNvSpPr>
              <a:spLocks noChangeArrowheads="1"/>
            </p:cNvSpPr>
            <p:nvPr/>
          </p:nvSpPr>
          <p:spPr bwMode="auto">
            <a:xfrm>
              <a:off x="6890060" y="2215686"/>
              <a:ext cx="360316" cy="26968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4</a:t>
              </a:r>
              <a:endParaRPr lang="en-US" altLang="zh-CN" sz="20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组合 10"/>
          <p:cNvGrpSpPr/>
          <p:nvPr/>
        </p:nvGrpSpPr>
        <p:grpSpPr bwMode="auto">
          <a:xfrm>
            <a:off x="5410200" y="2514600"/>
            <a:ext cx="3771900" cy="993775"/>
            <a:chOff x="5410222" y="2514215"/>
            <a:chExt cx="3771952" cy="994160"/>
          </a:xfrm>
        </p:grpSpPr>
        <p:sp>
          <p:nvSpPr>
            <p:cNvPr id="126" name="Oval 17"/>
            <p:cNvSpPr>
              <a:spLocks noChangeArrowheads="1"/>
            </p:cNvSpPr>
            <p:nvPr/>
          </p:nvSpPr>
          <p:spPr bwMode="auto">
            <a:xfrm>
              <a:off x="5486423" y="3178047"/>
              <a:ext cx="381005" cy="28586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6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116754" name="Text Box 23"/>
            <p:cNvSpPr txBox="1">
              <a:spLocks noChangeArrowheads="1"/>
            </p:cNvSpPr>
            <p:nvPr/>
          </p:nvSpPr>
          <p:spPr bwMode="auto">
            <a:xfrm>
              <a:off x="5410222" y="2618190"/>
              <a:ext cx="312758" cy="399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000" b="1">
                  <a:latin typeface="Times New Roman" panose="02020603050405020304" pitchFamily="18" charset="0"/>
                </a:rPr>
                <a:t>x</a:t>
              </a:r>
              <a:endParaRPr kumimoji="1"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16755" name="Text Box 24"/>
            <p:cNvSpPr txBox="1">
              <a:spLocks noChangeArrowheads="1"/>
            </p:cNvSpPr>
            <p:nvPr/>
          </p:nvSpPr>
          <p:spPr bwMode="auto">
            <a:xfrm>
              <a:off x="5786446" y="2928940"/>
              <a:ext cx="888397" cy="400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000" b="1">
                  <a:latin typeface="Times New Roman" panose="02020603050405020304" pitchFamily="18" charset="0"/>
                </a:rPr>
                <a:t>0-9,</a:t>
              </a:r>
              <a:r>
                <a:rPr kumimoji="1" lang="en-US" altLang="zh-CN" sz="2000" b="1" i="1"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-</a:t>
              </a:r>
              <a:r>
                <a:rPr kumimoji="1" lang="en-US" altLang="zh-CN" sz="2000" b="1" i="1">
                  <a:latin typeface="Times New Roman" panose="02020603050405020304" pitchFamily="18" charset="0"/>
                </a:rPr>
                <a:t>f</a:t>
              </a:r>
              <a:endParaRPr kumimoji="1" lang="en-US" altLang="zh-CN" sz="2000" b="1" i="1">
                <a:latin typeface="Times New Roman" panose="02020603050405020304" pitchFamily="18" charset="0"/>
              </a:endParaRPr>
            </a:p>
          </p:txBody>
        </p:sp>
        <p:sp>
          <p:nvSpPr>
            <p:cNvPr id="116756" name="Text Box 26"/>
            <p:cNvSpPr txBox="1">
              <a:spLocks noChangeArrowheads="1"/>
            </p:cNvSpPr>
            <p:nvPr/>
          </p:nvSpPr>
          <p:spPr bwMode="auto">
            <a:xfrm>
              <a:off x="6489668" y="2514215"/>
              <a:ext cx="1332000" cy="399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000" b="1">
                  <a:latin typeface="Times New Roman" panose="02020603050405020304" pitchFamily="18" charset="0"/>
                </a:rPr>
                <a:t>0-9,</a:t>
              </a:r>
              <a:r>
                <a:rPr kumimoji="1" lang="en-US" altLang="zh-CN" sz="2000" b="1" i="1"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2000" b="1">
                  <a:latin typeface="Times New Roman" panose="02020603050405020304" pitchFamily="18" charset="0"/>
                </a:rPr>
                <a:t>-</a:t>
              </a:r>
              <a:r>
                <a:rPr kumimoji="1" lang="en-US" altLang="zh-CN" sz="2000" b="1" i="1">
                  <a:latin typeface="Times New Roman" panose="02020603050405020304" pitchFamily="18" charset="0"/>
                </a:rPr>
                <a:t>f</a:t>
              </a:r>
              <a:endParaRPr kumimoji="1" lang="en-US" altLang="zh-CN" sz="2000" b="1" i="1">
                <a:latin typeface="Times New Roman" panose="02020603050405020304" pitchFamily="18" charset="0"/>
              </a:endParaRPr>
            </a:p>
          </p:txBody>
        </p:sp>
        <p:sp>
          <p:nvSpPr>
            <p:cNvPr id="116757" name="Line 27"/>
            <p:cNvSpPr>
              <a:spLocks noChangeShapeType="1"/>
            </p:cNvSpPr>
            <p:nvPr/>
          </p:nvSpPr>
          <p:spPr bwMode="auto">
            <a:xfrm>
              <a:off x="5867006" y="3304338"/>
              <a:ext cx="8527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cxnSp>
          <p:nvCxnSpPr>
            <p:cNvPr id="132" name="直接箭头连接符 131"/>
            <p:cNvCxnSpPr/>
            <p:nvPr/>
          </p:nvCxnSpPr>
          <p:spPr bwMode="auto">
            <a:xfrm flipH="1">
              <a:off x="5676926" y="2514215"/>
              <a:ext cx="11113" cy="66383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弧形 132"/>
            <p:cNvSpPr/>
            <p:nvPr/>
          </p:nvSpPr>
          <p:spPr bwMode="auto">
            <a:xfrm rot="16200000">
              <a:off x="6848474" y="2779522"/>
              <a:ext cx="233452" cy="493720"/>
            </a:xfrm>
            <a:prstGeom prst="arc">
              <a:avLst>
                <a:gd name="adj1" fmla="val 12721186"/>
                <a:gd name="adj2" fmla="val 9111514"/>
              </a:avLst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16760" name="Text Box 2"/>
            <p:cNvSpPr txBox="1">
              <a:spLocks noChangeArrowheads="1"/>
            </p:cNvSpPr>
            <p:nvPr/>
          </p:nvSpPr>
          <p:spPr bwMode="auto">
            <a:xfrm>
              <a:off x="7153321" y="3019133"/>
              <a:ext cx="2028853" cy="4620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HEX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,</a:t>
              </a:r>
              <a:r>
                <a:rPr kumimoji="1"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 value 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)</a:t>
              </a:r>
              <a:endPara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6761" name="Oval 39"/>
            <p:cNvSpPr>
              <a:spLocks noChangeArrowheads="1"/>
            </p:cNvSpPr>
            <p:nvPr/>
          </p:nvSpPr>
          <p:spPr bwMode="auto">
            <a:xfrm>
              <a:off x="6707109" y="3131200"/>
              <a:ext cx="503622" cy="3771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0" name="Oval 29"/>
            <p:cNvSpPr>
              <a:spLocks noChangeArrowheads="1"/>
            </p:cNvSpPr>
            <p:nvPr/>
          </p:nvSpPr>
          <p:spPr bwMode="auto">
            <a:xfrm>
              <a:off x="6778666" y="3190752"/>
              <a:ext cx="360368" cy="26998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sz="2000" b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7</a:t>
              </a:r>
              <a:endParaRPr lang="en-US" altLang="zh-CN" sz="20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组合 7"/>
          <p:cNvGrpSpPr/>
          <p:nvPr/>
        </p:nvGrpSpPr>
        <p:grpSpPr bwMode="auto">
          <a:xfrm>
            <a:off x="4833938" y="1643063"/>
            <a:ext cx="2176462" cy="884237"/>
            <a:chOff x="4833952" y="1643056"/>
            <a:chExt cx="2176492" cy="884272"/>
          </a:xfrm>
        </p:grpSpPr>
        <p:sp>
          <p:nvSpPr>
            <p:cNvPr id="116747" name="Text Box 34"/>
            <p:cNvSpPr txBox="1">
              <a:spLocks noChangeArrowheads="1"/>
            </p:cNvSpPr>
            <p:nvPr/>
          </p:nvSpPr>
          <p:spPr bwMode="auto">
            <a:xfrm>
              <a:off x="5138756" y="1643056"/>
              <a:ext cx="1871688" cy="4620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(</a:t>
              </a:r>
              <a:r>
                <a:rPr kumimoji="1"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DEC,</a:t>
              </a:r>
              <a:r>
                <a:rPr kumimoji="1"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 0 )</a:t>
              </a:r>
              <a:endPara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6748" name="Line 39"/>
            <p:cNvSpPr>
              <a:spLocks noChangeShapeType="1"/>
            </p:cNvSpPr>
            <p:nvPr/>
          </p:nvSpPr>
          <p:spPr bwMode="auto">
            <a:xfrm>
              <a:off x="4929960" y="1924277"/>
              <a:ext cx="432741" cy="44046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116749" name="Text Box 41"/>
            <p:cNvSpPr txBox="1">
              <a:spLocks noChangeArrowheads="1"/>
            </p:cNvSpPr>
            <p:nvPr/>
          </p:nvSpPr>
          <p:spPr bwMode="auto">
            <a:xfrm>
              <a:off x="4833952" y="1924277"/>
              <a:ext cx="312730" cy="4001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000" b="1">
                  <a:latin typeface="Times New Roman" panose="02020603050405020304" pitchFamily="18" charset="0"/>
                </a:rPr>
                <a:t>0</a:t>
              </a:r>
              <a:endParaRPr kumimoji="1" lang="en-US" altLang="zh-CN" sz="2000" b="1">
                <a:latin typeface="Times New Roman" panose="02020603050405020304" pitchFamily="18" charset="0"/>
              </a:endParaRPr>
            </a:p>
          </p:txBody>
        </p:sp>
        <p:grpSp>
          <p:nvGrpSpPr>
            <p:cNvPr id="116750" name="组合 110"/>
            <p:cNvGrpSpPr/>
            <p:nvPr/>
          </p:nvGrpSpPr>
          <p:grpSpPr bwMode="auto">
            <a:xfrm>
              <a:off x="5354642" y="2150153"/>
              <a:ext cx="822475" cy="377175"/>
              <a:chOff x="7282962" y="3764993"/>
              <a:chExt cx="503615" cy="377105"/>
            </a:xfrm>
          </p:grpSpPr>
          <p:sp>
            <p:nvSpPr>
              <p:cNvPr id="116751" name="Oval 39"/>
              <p:cNvSpPr>
                <a:spLocks noChangeArrowheads="1"/>
              </p:cNvSpPr>
              <p:nvPr/>
            </p:nvSpPr>
            <p:spPr bwMode="auto">
              <a:xfrm>
                <a:off x="7282962" y="3764993"/>
                <a:ext cx="503615" cy="377105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4" name="Oval 29"/>
              <p:cNvSpPr>
                <a:spLocks noChangeArrowheads="1"/>
              </p:cNvSpPr>
              <p:nvPr/>
            </p:nvSpPr>
            <p:spPr bwMode="auto">
              <a:xfrm>
                <a:off x="7354905" y="3823058"/>
                <a:ext cx="360636" cy="27142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2,3,5</a:t>
                </a:r>
                <a:endParaRPr lang="en-US" altLang="zh-CN" sz="2000" b="1" dirty="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识别注释的</a:t>
            </a:r>
            <a:r>
              <a:rPr lang="en-US" altLang="zh-CN" sz="3000" i="1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DFA</a:t>
            </a:r>
            <a:endParaRPr lang="zh-CN" altLang="en-US" sz="3000" i="1" dirty="0">
              <a:solidFill>
                <a:schemeClr val="tx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52"/>
          <p:cNvGrpSpPr/>
          <p:nvPr/>
        </p:nvGrpSpPr>
        <p:grpSpPr bwMode="auto">
          <a:xfrm>
            <a:off x="1638300" y="2149475"/>
            <a:ext cx="5291138" cy="1501775"/>
            <a:chOff x="1638283" y="3214692"/>
            <a:chExt cx="5291166" cy="1501784"/>
          </a:xfrm>
        </p:grpSpPr>
        <p:grpSp>
          <p:nvGrpSpPr>
            <p:cNvPr id="118793" name="组合 2"/>
            <p:cNvGrpSpPr/>
            <p:nvPr/>
          </p:nvGrpSpPr>
          <p:grpSpPr bwMode="auto">
            <a:xfrm>
              <a:off x="2624138" y="3643322"/>
              <a:ext cx="1447796" cy="542615"/>
              <a:chOff x="245793" y="5527478"/>
              <a:chExt cx="1448894" cy="724365"/>
            </a:xfrm>
          </p:grpSpPr>
          <p:sp>
            <p:nvSpPr>
              <p:cNvPr id="108572" name="Oval 7"/>
              <p:cNvSpPr>
                <a:spLocks noChangeArrowheads="1"/>
              </p:cNvSpPr>
              <p:nvPr/>
            </p:nvSpPr>
            <p:spPr bwMode="auto">
              <a:xfrm>
                <a:off x="245781" y="5595291"/>
                <a:ext cx="519509" cy="652728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sz="2500" b="1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0</a:t>
                </a:r>
                <a:endParaRPr lang="en-US" altLang="zh-CN" sz="2500" b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8815" name="Rectangle 31"/>
              <p:cNvSpPr>
                <a:spLocks noChangeArrowheads="1"/>
              </p:cNvSpPr>
              <p:nvPr/>
            </p:nvSpPr>
            <p:spPr bwMode="auto">
              <a:xfrm>
                <a:off x="832402" y="5527478"/>
                <a:ext cx="504825" cy="2873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500" b="1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/</a:t>
                </a:r>
                <a:endParaRPr lang="en-US" altLang="zh-CN" sz="2500" b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8574" name="Oval 29"/>
              <p:cNvSpPr>
                <a:spLocks noChangeArrowheads="1"/>
              </p:cNvSpPr>
              <p:nvPr/>
            </p:nvSpPr>
            <p:spPr bwMode="auto">
              <a:xfrm>
                <a:off x="1194242" y="5622842"/>
                <a:ext cx="500445" cy="629416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sz="2500" b="1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1</a:t>
                </a:r>
                <a:endParaRPr lang="en-US" altLang="zh-CN" sz="2500" b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8817" name="Line 27"/>
              <p:cNvSpPr>
                <a:spLocks noChangeShapeType="1"/>
              </p:cNvSpPr>
              <p:nvPr/>
            </p:nvSpPr>
            <p:spPr bwMode="auto">
              <a:xfrm>
                <a:off x="765289" y="5915989"/>
                <a:ext cx="40417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" name="Rectangle 20"/>
            <p:cNvSpPr>
              <a:spLocks noChangeArrowheads="1"/>
            </p:cNvSpPr>
            <p:nvPr/>
          </p:nvSpPr>
          <p:spPr bwMode="auto">
            <a:xfrm>
              <a:off x="4357685" y="3214692"/>
              <a:ext cx="504828" cy="21590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/>
            <a:lstStyle/>
            <a:p>
              <a:pPr eaLnBrk="1" hangingPunct="1">
                <a:defRPr/>
              </a:pPr>
              <a:r>
                <a:rPr lang="en-US" altLang="zh-CN" sz="25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others</a:t>
              </a:r>
              <a:endParaRPr lang="en-US" altLang="zh-CN" sz="25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grpSp>
          <p:nvGrpSpPr>
            <p:cNvPr id="118795" name="组合 21510"/>
            <p:cNvGrpSpPr/>
            <p:nvPr/>
          </p:nvGrpSpPr>
          <p:grpSpPr bwMode="auto">
            <a:xfrm>
              <a:off x="4071934" y="3500446"/>
              <a:ext cx="1861438" cy="714377"/>
              <a:chOff x="1014919" y="5002748"/>
              <a:chExt cx="1862111" cy="952911"/>
            </a:xfrm>
          </p:grpSpPr>
          <p:sp>
            <p:nvSpPr>
              <p:cNvPr id="108567" name="Oval 10"/>
              <p:cNvSpPr>
                <a:spLocks noChangeArrowheads="1"/>
              </p:cNvSpPr>
              <p:nvPr/>
            </p:nvSpPr>
            <p:spPr bwMode="auto">
              <a:xfrm>
                <a:off x="2372729" y="5339442"/>
                <a:ext cx="505010" cy="61621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sz="2500" b="1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3</a:t>
                </a:r>
                <a:endParaRPr lang="en-US" altLang="zh-CN" sz="2500" b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8810" name="Line 13"/>
              <p:cNvSpPr>
                <a:spLocks noChangeShapeType="1"/>
              </p:cNvSpPr>
              <p:nvPr/>
            </p:nvSpPr>
            <p:spPr bwMode="auto">
              <a:xfrm>
                <a:off x="1943949" y="5622750"/>
                <a:ext cx="43180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569" name="Oval 15"/>
              <p:cNvSpPr>
                <a:spLocks noChangeArrowheads="1"/>
              </p:cNvSpPr>
              <p:nvPr/>
            </p:nvSpPr>
            <p:spPr bwMode="auto">
              <a:xfrm>
                <a:off x="1443701" y="5288620"/>
                <a:ext cx="522479" cy="62257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sz="2500" b="1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2</a:t>
                </a:r>
                <a:endParaRPr lang="en-US" altLang="zh-CN" sz="2500" b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8812" name="Line 13"/>
              <p:cNvSpPr>
                <a:spLocks noChangeShapeType="1"/>
              </p:cNvSpPr>
              <p:nvPr/>
            </p:nvSpPr>
            <p:spPr bwMode="auto">
              <a:xfrm>
                <a:off x="1014919" y="5613671"/>
                <a:ext cx="43180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813" name="Freeform 19"/>
              <p:cNvSpPr/>
              <p:nvPr/>
            </p:nvSpPr>
            <p:spPr bwMode="auto">
              <a:xfrm>
                <a:off x="1515166" y="5002748"/>
                <a:ext cx="382588" cy="300038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8796" name="组合 21511"/>
            <p:cNvGrpSpPr/>
            <p:nvPr/>
          </p:nvGrpSpPr>
          <p:grpSpPr bwMode="auto">
            <a:xfrm>
              <a:off x="4786314" y="3529463"/>
              <a:ext cx="2143135" cy="870771"/>
              <a:chOff x="1933551" y="5041809"/>
              <a:chExt cx="2141532" cy="1162019"/>
            </a:xfrm>
          </p:grpSpPr>
          <p:sp>
            <p:nvSpPr>
              <p:cNvPr id="118803" name="Line 27"/>
              <p:cNvSpPr>
                <a:spLocks noChangeShapeType="1"/>
              </p:cNvSpPr>
              <p:nvPr/>
            </p:nvSpPr>
            <p:spPr bwMode="auto">
              <a:xfrm>
                <a:off x="3075701" y="5640720"/>
                <a:ext cx="38798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804" name="Oval 39"/>
              <p:cNvSpPr>
                <a:spLocks noChangeArrowheads="1"/>
              </p:cNvSpPr>
              <p:nvPr/>
            </p:nvSpPr>
            <p:spPr bwMode="auto">
              <a:xfrm>
                <a:off x="3432623" y="5260793"/>
                <a:ext cx="642460" cy="79095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8805" name="Rectangle 20"/>
              <p:cNvSpPr>
                <a:spLocks noChangeArrowheads="1"/>
              </p:cNvSpPr>
              <p:nvPr/>
            </p:nvSpPr>
            <p:spPr bwMode="auto">
              <a:xfrm>
                <a:off x="3105545" y="5289088"/>
                <a:ext cx="398463" cy="2607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500" b="1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/</a:t>
                </a:r>
                <a:endParaRPr lang="en-US" altLang="zh-CN" sz="2500" b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任意多边形 33"/>
              <p:cNvSpPr/>
              <p:nvPr/>
            </p:nvSpPr>
            <p:spPr>
              <a:xfrm rot="21363809" flipH="1">
                <a:off x="1933550" y="5918269"/>
                <a:ext cx="785228" cy="285996"/>
              </a:xfrm>
              <a:custGeom>
                <a:avLst/>
                <a:gdLst>
                  <a:gd name="connsiteX0" fmla="*/ 0 w 856343"/>
                  <a:gd name="connsiteY0" fmla="*/ 29029 h 333939"/>
                  <a:gd name="connsiteX1" fmla="*/ 420915 w 856343"/>
                  <a:gd name="connsiteY1" fmla="*/ 333829 h 333939"/>
                  <a:gd name="connsiteX2" fmla="*/ 856343 w 856343"/>
                  <a:gd name="connsiteY2" fmla="*/ 0 h 333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56343" h="333939">
                    <a:moveTo>
                      <a:pt x="0" y="29029"/>
                    </a:moveTo>
                    <a:cubicBezTo>
                      <a:pt x="139095" y="183848"/>
                      <a:pt x="278191" y="338667"/>
                      <a:pt x="420915" y="333829"/>
                    </a:cubicBezTo>
                    <a:cubicBezTo>
                      <a:pt x="563639" y="328991"/>
                      <a:pt x="709991" y="164495"/>
                      <a:pt x="856343" y="0"/>
                    </a:cubicBezTo>
                  </a:path>
                </a:pathLst>
              </a:cu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8565" name="Oval 29"/>
              <p:cNvSpPr>
                <a:spLocks noChangeArrowheads="1"/>
              </p:cNvSpPr>
              <p:nvPr/>
            </p:nvSpPr>
            <p:spPr bwMode="auto">
              <a:xfrm>
                <a:off x="3504008" y="5337804"/>
                <a:ext cx="499691" cy="618598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sz="2500" b="1"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4</a:t>
                </a:r>
                <a:endParaRPr lang="en-US" altLang="zh-CN" sz="2500" b="1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8808" name="Freeform 19"/>
              <p:cNvSpPr/>
              <p:nvPr/>
            </p:nvSpPr>
            <p:spPr bwMode="auto">
              <a:xfrm>
                <a:off x="2647394" y="5041809"/>
                <a:ext cx="382588" cy="300037"/>
              </a:xfrm>
              <a:custGeom>
                <a:avLst/>
                <a:gdLst>
                  <a:gd name="T0" fmla="*/ 2147483646 w 241"/>
                  <a:gd name="T1" fmla="*/ 2147483646 h 189"/>
                  <a:gd name="T2" fmla="*/ 2147483646 w 241"/>
                  <a:gd name="T3" fmla="*/ 2147483646 h 189"/>
                  <a:gd name="T4" fmla="*/ 2147483646 w 241"/>
                  <a:gd name="T5" fmla="*/ 2147483646 h 189"/>
                  <a:gd name="T6" fmla="*/ 2147483646 w 241"/>
                  <a:gd name="T7" fmla="*/ 2147483646 h 189"/>
                  <a:gd name="T8" fmla="*/ 2147483646 w 241"/>
                  <a:gd name="T9" fmla="*/ 2147483646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89"/>
                  <a:gd name="T17" fmla="*/ 241 w 241"/>
                  <a:gd name="T18" fmla="*/ 189 h 1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89">
                    <a:moveTo>
                      <a:pt x="52" y="189"/>
                    </a:moveTo>
                    <a:cubicBezTo>
                      <a:pt x="26" y="181"/>
                      <a:pt x="0" y="173"/>
                      <a:pt x="7" y="143"/>
                    </a:cubicBezTo>
                    <a:cubicBezTo>
                      <a:pt x="14" y="113"/>
                      <a:pt x="59" y="14"/>
                      <a:pt x="97" y="7"/>
                    </a:cubicBezTo>
                    <a:cubicBezTo>
                      <a:pt x="135" y="0"/>
                      <a:pt x="225" y="68"/>
                      <a:pt x="233" y="98"/>
                    </a:cubicBezTo>
                    <a:cubicBezTo>
                      <a:pt x="241" y="128"/>
                      <a:pt x="192" y="158"/>
                      <a:pt x="143" y="18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8797" name="Rectangle 22"/>
            <p:cNvSpPr>
              <a:spLocks noChangeArrowheads="1"/>
            </p:cNvSpPr>
            <p:nvPr/>
          </p:nvSpPr>
          <p:spPr bwMode="auto">
            <a:xfrm>
              <a:off x="1638283" y="3781425"/>
              <a:ext cx="504825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5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start</a:t>
              </a:r>
              <a:endPara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118798" name="Line 27"/>
            <p:cNvSpPr>
              <a:spLocks noChangeShapeType="1"/>
            </p:cNvSpPr>
            <p:nvPr/>
          </p:nvSpPr>
          <p:spPr bwMode="auto">
            <a:xfrm>
              <a:off x="2286000" y="3933825"/>
              <a:ext cx="3317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Rectangle 31"/>
            <p:cNvSpPr>
              <a:spLocks noChangeArrowheads="1"/>
            </p:cNvSpPr>
            <p:nvPr/>
          </p:nvSpPr>
          <p:spPr bwMode="auto">
            <a:xfrm>
              <a:off x="4000496" y="3713170"/>
              <a:ext cx="504828" cy="21590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/>
            <a:lstStyle/>
            <a:p>
              <a:pPr eaLnBrk="1" hangingPunct="1">
                <a:defRPr/>
              </a:pPr>
              <a:r>
                <a:rPr lang="zh-CN" altLang="en-US" sz="25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＊</a:t>
              </a:r>
              <a:endParaRPr lang="en-US" altLang="zh-CN" sz="25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0" name="Rectangle 31"/>
            <p:cNvSpPr>
              <a:spLocks noChangeArrowheads="1"/>
            </p:cNvSpPr>
            <p:nvPr/>
          </p:nvSpPr>
          <p:spPr bwMode="auto">
            <a:xfrm>
              <a:off x="4929188" y="3714758"/>
              <a:ext cx="504828" cy="21590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/>
            <a:lstStyle/>
            <a:p>
              <a:pPr eaLnBrk="1" hangingPunct="1">
                <a:defRPr/>
              </a:pPr>
              <a:r>
                <a:rPr lang="zh-CN" altLang="en-US" sz="25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＊</a:t>
              </a:r>
              <a:endParaRPr lang="en-US" altLang="zh-CN" sz="25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1" name="Rectangle 31"/>
            <p:cNvSpPr>
              <a:spLocks noChangeArrowheads="1"/>
            </p:cNvSpPr>
            <p:nvPr/>
          </p:nvSpPr>
          <p:spPr bwMode="auto">
            <a:xfrm>
              <a:off x="5424491" y="3357568"/>
              <a:ext cx="504828" cy="21590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/>
            <a:lstStyle/>
            <a:p>
              <a:pPr eaLnBrk="1" hangingPunct="1">
                <a:defRPr/>
              </a:pPr>
              <a:r>
                <a:rPr lang="zh-CN" altLang="en-US" sz="25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＊</a:t>
              </a:r>
              <a:endParaRPr lang="en-US" altLang="zh-CN" sz="25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2" name="Rectangle 20"/>
            <p:cNvSpPr>
              <a:spLocks noChangeArrowheads="1"/>
            </p:cNvSpPr>
            <p:nvPr/>
          </p:nvSpPr>
          <p:spPr bwMode="auto">
            <a:xfrm>
              <a:off x="4781550" y="4500575"/>
              <a:ext cx="504828" cy="21590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/>
            <a:lstStyle/>
            <a:p>
              <a:pPr eaLnBrk="1" hangingPunct="1">
                <a:defRPr/>
              </a:pPr>
              <a:r>
                <a:rPr lang="en-US" altLang="zh-CN" sz="25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others</a:t>
              </a:r>
              <a:endParaRPr lang="en-US" altLang="zh-CN" sz="25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8788" name="组合 44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5" name="五边形 5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18792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493838" y="1128713"/>
            <a:ext cx="4884737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i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others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除了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*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之外的其它字符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99592" y="3900488"/>
            <a:ext cx="7704855" cy="831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思考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如果注释文本中允许出现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*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，只要不出现“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*/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”子串，如何定义？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Oval 3"/>
          <p:cNvSpPr>
            <a:spLocks noChangeArrowheads="1"/>
          </p:cNvSpPr>
          <p:nvPr/>
        </p:nvSpPr>
        <p:spPr bwMode="auto">
          <a:xfrm>
            <a:off x="1776413" y="1482725"/>
            <a:ext cx="381000" cy="2857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835" name="Text Box 15"/>
          <p:cNvSpPr txBox="1">
            <a:spLocks noChangeArrowheads="1"/>
          </p:cNvSpPr>
          <p:nvPr/>
        </p:nvSpPr>
        <p:spPr bwMode="auto">
          <a:xfrm>
            <a:off x="3286125" y="725488"/>
            <a:ext cx="131959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letter</a:t>
            </a:r>
            <a:r>
              <a:rPr kumimoji="1"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digit</a:t>
            </a:r>
            <a:endParaRPr kumimoji="1" lang="en-US" altLang="zh-CN" sz="20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836" name="Text Box 16"/>
          <p:cNvSpPr txBox="1">
            <a:spLocks noChangeArrowheads="1"/>
          </p:cNvSpPr>
          <p:nvPr/>
        </p:nvSpPr>
        <p:spPr bwMode="auto">
          <a:xfrm>
            <a:off x="2389188" y="1201738"/>
            <a:ext cx="85151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letter_</a:t>
            </a:r>
            <a:endParaRPr kumimoji="1" lang="en-US" altLang="zh-CN" sz="20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837" name="Text Box 17"/>
          <p:cNvSpPr txBox="1">
            <a:spLocks noChangeArrowheads="1"/>
          </p:cNvSpPr>
          <p:nvPr/>
        </p:nvSpPr>
        <p:spPr bwMode="auto">
          <a:xfrm>
            <a:off x="4592638" y="1143000"/>
            <a:ext cx="27654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IDN</a:t>
            </a:r>
            <a:r>
              <a:rPr kumimoji="1"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kumimoji="1"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1"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838" name="Line 29"/>
          <p:cNvSpPr>
            <a:spLocks noChangeShapeType="1"/>
          </p:cNvSpPr>
          <p:nvPr/>
        </p:nvSpPr>
        <p:spPr bwMode="auto">
          <a:xfrm>
            <a:off x="2124075" y="1670050"/>
            <a:ext cx="1674813" cy="142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120839" name="Line 31"/>
          <p:cNvSpPr>
            <a:spLocks noChangeShapeType="1"/>
          </p:cNvSpPr>
          <p:nvPr/>
        </p:nvSpPr>
        <p:spPr bwMode="auto">
          <a:xfrm>
            <a:off x="1214438" y="1630363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120840" name="Text Box 32"/>
          <p:cNvSpPr txBox="1">
            <a:spLocks noChangeArrowheads="1"/>
          </p:cNvSpPr>
          <p:nvPr/>
        </p:nvSpPr>
        <p:spPr bwMode="auto">
          <a:xfrm>
            <a:off x="1000125" y="1130300"/>
            <a:ext cx="990600" cy="406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/>
              <a:buNone/>
            </a:pPr>
            <a:r>
              <a:rPr kumimoji="1"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endParaRPr kumimoji="1" lang="en-US" altLang="zh-CN" sz="20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0841" name="Group 61"/>
          <p:cNvGrpSpPr/>
          <p:nvPr/>
        </p:nvGrpSpPr>
        <p:grpSpPr bwMode="auto">
          <a:xfrm>
            <a:off x="2035175" y="1844674"/>
            <a:ext cx="4918075" cy="1083361"/>
            <a:chOff x="1247" y="1671"/>
            <a:chExt cx="3098" cy="909"/>
          </a:xfrm>
        </p:grpSpPr>
        <p:sp>
          <p:nvSpPr>
            <p:cNvPr id="120879" name="Text Box 18"/>
            <p:cNvSpPr txBox="1">
              <a:spLocks noChangeArrowheads="1"/>
            </p:cNvSpPr>
            <p:nvPr/>
          </p:nvSpPr>
          <p:spPr bwMode="auto">
            <a:xfrm>
              <a:off x="1547" y="1810"/>
              <a:ext cx="383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digit</a:t>
              </a:r>
              <a:endParaRPr kumimoji="1"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0880" name="Text Box 22"/>
            <p:cNvSpPr txBox="1">
              <a:spLocks noChangeArrowheads="1"/>
            </p:cNvSpPr>
            <p:nvPr/>
          </p:nvSpPr>
          <p:spPr bwMode="auto">
            <a:xfrm>
              <a:off x="2664" y="2270"/>
              <a:ext cx="1681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kumimoji="1" lang="en-US" altLang="zh-CN" b="1" i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NUM</a:t>
              </a:r>
              <a:r>
                <a:rPr kumimoji="1" lang="en-US" altLang="zh-CN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kumimoji="1" lang="en-US" altLang="zh-CN" b="1" i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value</a:t>
              </a:r>
              <a:r>
                <a:rPr kumimoji="1" lang="en-US" altLang="zh-CN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kumimoji="1" lang="zh-CN" altLang="en-US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0881" name="Freeform 30"/>
            <p:cNvSpPr/>
            <p:nvPr/>
          </p:nvSpPr>
          <p:spPr bwMode="auto">
            <a:xfrm>
              <a:off x="1247" y="1676"/>
              <a:ext cx="1159" cy="884"/>
            </a:xfrm>
            <a:custGeom>
              <a:avLst/>
              <a:gdLst>
                <a:gd name="T0" fmla="*/ 0 w 1728"/>
                <a:gd name="T1" fmla="*/ 0 h 976"/>
                <a:gd name="T2" fmla="*/ 1 w 1728"/>
                <a:gd name="T3" fmla="*/ 5 h 976"/>
                <a:gd name="T4" fmla="*/ 1 w 1728"/>
                <a:gd name="T5" fmla="*/ 5 h 976"/>
                <a:gd name="T6" fmla="*/ 0 60000 65536"/>
                <a:gd name="T7" fmla="*/ 0 60000 65536"/>
                <a:gd name="T8" fmla="*/ 0 60000 65536"/>
                <a:gd name="T9" fmla="*/ 0 w 1728"/>
                <a:gd name="T10" fmla="*/ 0 h 976"/>
                <a:gd name="T11" fmla="*/ 1728 w 1728"/>
                <a:gd name="T12" fmla="*/ 976 h 9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8" h="976">
                  <a:moveTo>
                    <a:pt x="0" y="0"/>
                  </a:moveTo>
                  <a:cubicBezTo>
                    <a:pt x="288" y="328"/>
                    <a:pt x="576" y="656"/>
                    <a:pt x="864" y="816"/>
                  </a:cubicBezTo>
                  <a:cubicBezTo>
                    <a:pt x="1152" y="976"/>
                    <a:pt x="1544" y="904"/>
                    <a:pt x="1728" y="96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cxnSp>
          <p:nvCxnSpPr>
            <p:cNvPr id="120882" name="AutoShape 12"/>
            <p:cNvCxnSpPr>
              <a:cxnSpLocks noChangeShapeType="1"/>
            </p:cNvCxnSpPr>
            <p:nvPr/>
          </p:nvCxnSpPr>
          <p:spPr bwMode="auto">
            <a:xfrm rot="10800000" flipH="1" flipV="1">
              <a:off x="2406" y="2450"/>
              <a:ext cx="258" cy="1"/>
            </a:xfrm>
            <a:prstGeom prst="curvedConnector5">
              <a:avLst>
                <a:gd name="adj1" fmla="val -52324"/>
                <a:gd name="adj2" fmla="val -38005551"/>
                <a:gd name="adj3" fmla="val 106074"/>
              </a:avLst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0883" name="Text Box 19"/>
            <p:cNvSpPr txBox="1">
              <a:spLocks noChangeArrowheads="1"/>
            </p:cNvSpPr>
            <p:nvPr/>
          </p:nvSpPr>
          <p:spPr bwMode="auto">
            <a:xfrm>
              <a:off x="2312" y="1671"/>
              <a:ext cx="383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digit</a:t>
              </a:r>
              <a:endParaRPr kumimoji="1"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0842" name="Group 60"/>
          <p:cNvGrpSpPr/>
          <p:nvPr/>
        </p:nvGrpSpPr>
        <p:grpSpPr bwMode="auto">
          <a:xfrm>
            <a:off x="2035175" y="1924050"/>
            <a:ext cx="5365750" cy="1849438"/>
            <a:chOff x="1247" y="1737"/>
            <a:chExt cx="3380" cy="1553"/>
          </a:xfrm>
        </p:grpSpPr>
        <p:sp>
          <p:nvSpPr>
            <p:cNvPr id="2" name="Oval 6"/>
            <p:cNvSpPr>
              <a:spLocks noChangeArrowheads="1"/>
            </p:cNvSpPr>
            <p:nvPr/>
          </p:nvSpPr>
          <p:spPr bwMode="auto">
            <a:xfrm>
              <a:off x="1810" y="3050"/>
              <a:ext cx="240" cy="24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0874" name="AutoShape 13"/>
            <p:cNvCxnSpPr>
              <a:cxnSpLocks noChangeShapeType="1"/>
            </p:cNvCxnSpPr>
            <p:nvPr/>
          </p:nvCxnSpPr>
          <p:spPr bwMode="auto">
            <a:xfrm flipV="1">
              <a:off x="2035" y="3075"/>
              <a:ext cx="850" cy="155"/>
            </a:xfrm>
            <a:prstGeom prst="curvedConnector2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0875" name="Text Box 23"/>
            <p:cNvSpPr txBox="1">
              <a:spLocks noChangeArrowheads="1"/>
            </p:cNvSpPr>
            <p:nvPr/>
          </p:nvSpPr>
          <p:spPr bwMode="auto">
            <a:xfrm>
              <a:off x="3223" y="2769"/>
              <a:ext cx="140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kumimoji="1" lang="en-US" altLang="zh-CN" b="1" i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ASG</a:t>
              </a:r>
              <a:r>
                <a:rPr kumimoji="1" lang="en-US" altLang="zh-CN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_ )</a:t>
              </a:r>
              <a:endParaRPr kumimoji="1" lang="en-US" altLang="zh-CN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0876" name="Text Box 24"/>
            <p:cNvSpPr txBox="1">
              <a:spLocks noChangeArrowheads="1"/>
            </p:cNvSpPr>
            <p:nvPr/>
          </p:nvSpPr>
          <p:spPr bwMode="auto">
            <a:xfrm>
              <a:off x="2252" y="2825"/>
              <a:ext cx="19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endParaRPr kumimoji="1"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0877" name="Text Box 25"/>
            <p:cNvSpPr txBox="1">
              <a:spLocks noChangeArrowheads="1"/>
            </p:cNvSpPr>
            <p:nvPr/>
          </p:nvSpPr>
          <p:spPr bwMode="auto">
            <a:xfrm>
              <a:off x="1617" y="2304"/>
              <a:ext cx="26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>
                  <a:latin typeface="Times New Roman" panose="02020603050405020304" pitchFamily="18" charset="0"/>
                  <a:cs typeface="Times New Roman" panose="02020603050405020304" pitchFamily="18" charset="0"/>
                </a:rPr>
                <a:t>：</a:t>
              </a:r>
              <a:endParaRPr kumimoji="1"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0878" name="Line 34"/>
            <p:cNvSpPr>
              <a:spLocks noChangeShapeType="1"/>
            </p:cNvSpPr>
            <p:nvPr/>
          </p:nvSpPr>
          <p:spPr bwMode="auto">
            <a:xfrm>
              <a:off x="1247" y="1737"/>
              <a:ext cx="583" cy="138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</p:grpSp>
      <p:grpSp>
        <p:nvGrpSpPr>
          <p:cNvPr id="120843" name="Group 1061"/>
          <p:cNvGrpSpPr/>
          <p:nvPr/>
        </p:nvGrpSpPr>
        <p:grpSpPr bwMode="auto">
          <a:xfrm>
            <a:off x="928688" y="1778000"/>
            <a:ext cx="1042987" cy="3097213"/>
            <a:chOff x="352" y="1615"/>
            <a:chExt cx="657" cy="2600"/>
          </a:xfrm>
        </p:grpSpPr>
        <p:cxnSp>
          <p:nvCxnSpPr>
            <p:cNvPr id="120871" name="AutoShape 14"/>
            <p:cNvCxnSpPr>
              <a:cxnSpLocks noChangeShapeType="1"/>
            </p:cNvCxnSpPr>
            <p:nvPr/>
          </p:nvCxnSpPr>
          <p:spPr bwMode="auto">
            <a:xfrm rot="16200000" flipH="1">
              <a:off x="-294" y="2912"/>
              <a:ext cx="2600" cy="6"/>
            </a:xfrm>
            <a:prstGeom prst="curvedConnector3">
              <a:avLst>
                <a:gd name="adj1" fmla="val 50000"/>
              </a:avLst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0872" name="Text Box 40"/>
            <p:cNvSpPr txBox="1">
              <a:spLocks noChangeArrowheads="1"/>
            </p:cNvSpPr>
            <p:nvPr/>
          </p:nvSpPr>
          <p:spPr bwMode="auto">
            <a:xfrm>
              <a:off x="352" y="2387"/>
              <a:ext cx="657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000" b="1" i="1">
                  <a:latin typeface="Times New Roman" panose="02020603050405020304" pitchFamily="18" charset="0"/>
                  <a:ea typeface="楷体_GB2312"/>
                  <a:cs typeface="楷体_GB2312"/>
                </a:rPr>
                <a:t>others</a:t>
              </a:r>
              <a:endParaRPr kumimoji="1" lang="en-US" altLang="zh-CN" sz="2000" b="1" i="1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</p:grpSp>
      <p:grpSp>
        <p:nvGrpSpPr>
          <p:cNvPr id="120844" name="Group 59"/>
          <p:cNvGrpSpPr/>
          <p:nvPr/>
        </p:nvGrpSpPr>
        <p:grpSpPr bwMode="auto">
          <a:xfrm>
            <a:off x="2000250" y="1851025"/>
            <a:ext cx="5400675" cy="2684097"/>
            <a:chOff x="1225" y="1676"/>
            <a:chExt cx="3402" cy="2255"/>
          </a:xfrm>
        </p:grpSpPr>
        <p:sp>
          <p:nvSpPr>
            <p:cNvPr id="120865" name="Text Box 26"/>
            <p:cNvSpPr txBox="1">
              <a:spLocks noChangeArrowheads="1"/>
            </p:cNvSpPr>
            <p:nvPr/>
          </p:nvSpPr>
          <p:spPr bwMode="auto">
            <a:xfrm>
              <a:off x="1303" y="2751"/>
              <a:ext cx="19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0866" name="Line 35"/>
            <p:cNvSpPr>
              <a:spLocks noChangeShapeType="1"/>
            </p:cNvSpPr>
            <p:nvPr/>
          </p:nvSpPr>
          <p:spPr bwMode="auto">
            <a:xfrm>
              <a:off x="1225" y="1676"/>
              <a:ext cx="385" cy="170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120867" name="Text Box 27"/>
            <p:cNvSpPr txBox="1">
              <a:spLocks noChangeArrowheads="1"/>
            </p:cNvSpPr>
            <p:nvPr/>
          </p:nvSpPr>
          <p:spPr bwMode="auto">
            <a:xfrm>
              <a:off x="1315" y="3621"/>
              <a:ext cx="136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kumimoji="1" lang="en-US" altLang="zh-CN" b="1" i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ADD</a:t>
              </a:r>
              <a:r>
                <a:rPr kumimoji="1" lang="en-US" altLang="zh-CN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_ )</a:t>
              </a:r>
              <a:endParaRPr kumimoji="1" lang="en-US" altLang="zh-CN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0868" name="Line 37"/>
            <p:cNvSpPr>
              <a:spLocks noChangeShapeType="1"/>
            </p:cNvSpPr>
            <p:nvPr/>
          </p:nvSpPr>
          <p:spPr bwMode="auto">
            <a:xfrm>
              <a:off x="1882" y="3566"/>
              <a:ext cx="1021" cy="2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120869" name="Text Box 38"/>
            <p:cNvSpPr txBox="1">
              <a:spLocks noChangeArrowheads="1"/>
            </p:cNvSpPr>
            <p:nvPr/>
          </p:nvSpPr>
          <p:spPr bwMode="auto">
            <a:xfrm>
              <a:off x="2404" y="3383"/>
              <a:ext cx="19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0870" name="Text Box 39"/>
            <p:cNvSpPr txBox="1">
              <a:spLocks noChangeArrowheads="1"/>
            </p:cNvSpPr>
            <p:nvPr/>
          </p:nvSpPr>
          <p:spPr bwMode="auto">
            <a:xfrm>
              <a:off x="3226" y="3531"/>
              <a:ext cx="1401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kumimoji="1" lang="en-US" altLang="zh-CN" b="1" i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INC</a:t>
              </a:r>
              <a:r>
                <a:rPr kumimoji="1" lang="en-US" altLang="zh-CN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_ )</a:t>
              </a:r>
              <a:endParaRPr kumimoji="1" lang="en-US" altLang="zh-CN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1459" name="标题 4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识别</a:t>
            </a:r>
            <a:r>
              <a:rPr lang="en-US" altLang="zh-CN" sz="3000" i="1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Token</a:t>
            </a: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3000" i="1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DFA</a:t>
            </a:r>
            <a:endParaRPr lang="zh-CN" altLang="en-US" sz="3000" i="1" dirty="0">
              <a:solidFill>
                <a:schemeClr val="tx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20846" name="AutoShape 12"/>
          <p:cNvCxnSpPr>
            <a:cxnSpLocks noChangeShapeType="1"/>
          </p:cNvCxnSpPr>
          <p:nvPr/>
        </p:nvCxnSpPr>
        <p:spPr bwMode="auto">
          <a:xfrm rot="10800000" flipH="1" flipV="1">
            <a:off x="3871913" y="1635125"/>
            <a:ext cx="409575" cy="1588"/>
          </a:xfrm>
          <a:prstGeom prst="curvedConnector5">
            <a:avLst>
              <a:gd name="adj1" fmla="val -52324"/>
              <a:gd name="adj2" fmla="val -26400009"/>
              <a:gd name="adj3" fmla="val 152324"/>
            </a:avLst>
          </a:prstGeom>
          <a:noFill/>
          <a:ln w="508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20847" name="组合 44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45" name="五边形 4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0864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120848" name="组合 5"/>
          <p:cNvGrpSpPr/>
          <p:nvPr/>
        </p:nvGrpSpPr>
        <p:grpSpPr bwMode="auto">
          <a:xfrm>
            <a:off x="2552700" y="3817938"/>
            <a:ext cx="503238" cy="377825"/>
            <a:chOff x="7282962" y="3764993"/>
            <a:chExt cx="503615" cy="377105"/>
          </a:xfrm>
        </p:grpSpPr>
        <p:sp>
          <p:nvSpPr>
            <p:cNvPr id="120861" name="Oval 39"/>
            <p:cNvSpPr>
              <a:spLocks noChangeArrowheads="1"/>
            </p:cNvSpPr>
            <p:nvPr/>
          </p:nvSpPr>
          <p:spPr bwMode="auto">
            <a:xfrm>
              <a:off x="7282962" y="3764993"/>
              <a:ext cx="503615" cy="37710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1" name="Oval 29"/>
            <p:cNvSpPr>
              <a:spLocks noChangeArrowheads="1"/>
            </p:cNvSpPr>
            <p:nvPr/>
          </p:nvSpPr>
          <p:spPr bwMode="auto">
            <a:xfrm>
              <a:off x="7354454" y="3823618"/>
              <a:ext cx="360632" cy="270946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0849" name="组合 62"/>
          <p:cNvGrpSpPr/>
          <p:nvPr/>
        </p:nvGrpSpPr>
        <p:grpSpPr bwMode="auto">
          <a:xfrm>
            <a:off x="3851275" y="1546225"/>
            <a:ext cx="504825" cy="377825"/>
            <a:chOff x="7282962" y="3764993"/>
            <a:chExt cx="503615" cy="377105"/>
          </a:xfrm>
        </p:grpSpPr>
        <p:sp>
          <p:nvSpPr>
            <p:cNvPr id="120859" name="Oval 39"/>
            <p:cNvSpPr>
              <a:spLocks noChangeArrowheads="1"/>
            </p:cNvSpPr>
            <p:nvPr/>
          </p:nvSpPr>
          <p:spPr bwMode="auto">
            <a:xfrm>
              <a:off x="7282962" y="3764993"/>
              <a:ext cx="503615" cy="37710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5" name="Oval 29"/>
            <p:cNvSpPr>
              <a:spLocks noChangeArrowheads="1"/>
            </p:cNvSpPr>
            <p:nvPr/>
          </p:nvSpPr>
          <p:spPr bwMode="auto">
            <a:xfrm>
              <a:off x="7354229" y="3823619"/>
              <a:ext cx="361082" cy="27094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0850" name="组合 65"/>
          <p:cNvGrpSpPr/>
          <p:nvPr/>
        </p:nvGrpSpPr>
        <p:grpSpPr bwMode="auto">
          <a:xfrm>
            <a:off x="3851275" y="2716213"/>
            <a:ext cx="504825" cy="376237"/>
            <a:chOff x="7282962" y="3764993"/>
            <a:chExt cx="503615" cy="377105"/>
          </a:xfrm>
        </p:grpSpPr>
        <p:sp>
          <p:nvSpPr>
            <p:cNvPr id="120857" name="Oval 39"/>
            <p:cNvSpPr>
              <a:spLocks noChangeArrowheads="1"/>
            </p:cNvSpPr>
            <p:nvPr/>
          </p:nvSpPr>
          <p:spPr bwMode="auto">
            <a:xfrm>
              <a:off x="7282962" y="3764993"/>
              <a:ext cx="503615" cy="37710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8" name="Oval 29"/>
            <p:cNvSpPr>
              <a:spLocks noChangeArrowheads="1"/>
            </p:cNvSpPr>
            <p:nvPr/>
          </p:nvSpPr>
          <p:spPr bwMode="auto">
            <a:xfrm>
              <a:off x="7354229" y="3823866"/>
              <a:ext cx="361082" cy="27049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0851" name="组合 71"/>
          <p:cNvGrpSpPr/>
          <p:nvPr/>
        </p:nvGrpSpPr>
        <p:grpSpPr bwMode="auto">
          <a:xfrm>
            <a:off x="4645025" y="3346450"/>
            <a:ext cx="503238" cy="377825"/>
            <a:chOff x="7282962" y="3764993"/>
            <a:chExt cx="503615" cy="377105"/>
          </a:xfrm>
        </p:grpSpPr>
        <p:sp>
          <p:nvSpPr>
            <p:cNvPr id="120855" name="Oval 39"/>
            <p:cNvSpPr>
              <a:spLocks noChangeArrowheads="1"/>
            </p:cNvSpPr>
            <p:nvPr/>
          </p:nvSpPr>
          <p:spPr bwMode="auto">
            <a:xfrm>
              <a:off x="7282962" y="3764993"/>
              <a:ext cx="503615" cy="37710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4" name="Oval 29"/>
            <p:cNvSpPr>
              <a:spLocks noChangeArrowheads="1"/>
            </p:cNvSpPr>
            <p:nvPr/>
          </p:nvSpPr>
          <p:spPr bwMode="auto">
            <a:xfrm>
              <a:off x="7354454" y="3823619"/>
              <a:ext cx="360632" cy="27094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0852" name="组合 74"/>
          <p:cNvGrpSpPr/>
          <p:nvPr/>
        </p:nvGrpSpPr>
        <p:grpSpPr bwMode="auto">
          <a:xfrm>
            <a:off x="4643438" y="4211638"/>
            <a:ext cx="504825" cy="376237"/>
            <a:chOff x="7282962" y="3764993"/>
            <a:chExt cx="503615" cy="377105"/>
          </a:xfrm>
        </p:grpSpPr>
        <p:sp>
          <p:nvSpPr>
            <p:cNvPr id="120853" name="Oval 39"/>
            <p:cNvSpPr>
              <a:spLocks noChangeArrowheads="1"/>
            </p:cNvSpPr>
            <p:nvPr/>
          </p:nvSpPr>
          <p:spPr bwMode="auto">
            <a:xfrm>
              <a:off x="7282962" y="3764993"/>
              <a:ext cx="503615" cy="37710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7" name="Oval 29"/>
            <p:cNvSpPr>
              <a:spLocks noChangeArrowheads="1"/>
            </p:cNvSpPr>
            <p:nvPr/>
          </p:nvSpPr>
          <p:spPr bwMode="auto">
            <a:xfrm>
              <a:off x="7354228" y="3823866"/>
              <a:ext cx="361082" cy="27049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内容占位符 2"/>
          <p:cNvSpPr>
            <a:spLocks noGrp="1"/>
          </p:cNvSpPr>
          <p:nvPr>
            <p:ph idx="1"/>
          </p:nvPr>
        </p:nvSpPr>
        <p:spPr>
          <a:xfrm>
            <a:off x="4524375" y="1357313"/>
            <a:ext cx="4619625" cy="3246437"/>
          </a:xfrm>
        </p:spPr>
        <p:txBody>
          <a:bodyPr/>
          <a:lstStyle/>
          <a:p>
            <a:pPr eaLnBrk="1" hangingPunct="1">
              <a:lnSpc>
                <a:spcPts val="4000"/>
              </a:lnSpc>
              <a:buFont typeface="Symbol" panose="05050102010706020507" pitchFamily="18" charset="2"/>
              <a:buNone/>
              <a:defRPr/>
            </a:pPr>
            <a:r>
              <a:rPr lang="en-US" altLang="zh-CN" sz="25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25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单词的描述</a:t>
            </a:r>
            <a:endParaRPr lang="zh-CN" altLang="en-US" sz="25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ts val="4000"/>
              </a:lnSpc>
              <a:buFont typeface="Symbol" panose="05050102010706020507" pitchFamily="18" charset="2"/>
              <a:buNone/>
              <a:defRPr/>
            </a:pPr>
            <a:r>
              <a:rPr lang="en-US" altLang="zh-CN" sz="25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25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单词的识别</a:t>
            </a:r>
            <a:endParaRPr lang="zh-CN" altLang="en-US" sz="25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ts val="4000"/>
              </a:lnSpc>
              <a:buFont typeface="Symbol" panose="05050102010706020507" pitchFamily="18" charset="2"/>
              <a:buNone/>
              <a:defRPr/>
            </a:pP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词法分析阶段的错误处理</a:t>
            </a:r>
            <a:endParaRPr lang="en-US" altLang="zh-CN" sz="25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ts val="4000"/>
              </a:lnSpc>
              <a:buFont typeface="Symbol" panose="05050102010706020507" pitchFamily="18" charset="2"/>
              <a:buNone/>
              <a:defRPr/>
            </a:pPr>
            <a:r>
              <a:rPr lang="en-US" altLang="zh-CN" sz="25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altLang="en-US" sz="25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词法分析器生成工具</a:t>
            </a:r>
            <a:r>
              <a:rPr lang="en-US" altLang="zh-CN" sz="2500" b="1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Lex</a:t>
            </a:r>
            <a:br>
              <a:rPr lang="en-US" altLang="zh-CN" sz="25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en-US" sz="25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0"/>
            <a:ext cx="9144000" cy="1500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pic>
        <p:nvPicPr>
          <p:cNvPr id="125956" name="Picture 7" descr="E:\工大编译\ppt\制作\0330e9c554c768200000158fc50d53d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38" r="21837"/>
          <a:stretch>
            <a:fillRect/>
          </a:stretch>
        </p:blipFill>
        <p:spPr bwMode="auto">
          <a:xfrm>
            <a:off x="-6350" y="0"/>
            <a:ext cx="429577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/>
          <p:cNvSpPr/>
          <p:nvPr/>
        </p:nvSpPr>
        <p:spPr>
          <a:xfrm>
            <a:off x="4143375" y="357188"/>
            <a:ext cx="1928813" cy="7858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b="1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提纲</a:t>
            </a:r>
            <a:endParaRPr lang="zh-CN" altLang="en-US" sz="1600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8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词法分析阶段的错误处理</a:t>
            </a:r>
            <a:endParaRPr lang="zh-CN" altLang="en-US" sz="3000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8003" name="组合 44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8006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7" name="内容占位符 2"/>
          <p:cNvSpPr txBox="1"/>
          <p:nvPr/>
        </p:nvSpPr>
        <p:spPr bwMode="auto">
          <a:xfrm>
            <a:off x="395536" y="843558"/>
            <a:ext cx="8280846" cy="40322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73050" indent="-2730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576580" indent="-2730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85598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1462405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1919605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376805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2834005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291205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词法错误的类型</a:t>
            </a:r>
            <a:endParaRPr lang="en-US" altLang="zh-CN" sz="3000" b="1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非法字符</a:t>
            </a:r>
            <a:endParaRPr lang="en-US" altLang="zh-CN" sz="2500" b="1" dirty="0">
              <a:solidFill>
                <a:srgbClr val="0070C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2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例：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~ @</a:t>
            </a:r>
            <a:endParaRPr lang="en-US" altLang="zh-CN" sz="2500" b="1" dirty="0">
              <a:solidFill>
                <a:srgbClr val="0070C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单词拼写错误</a:t>
            </a:r>
            <a:endParaRPr lang="en-US" altLang="zh-CN" sz="2500" b="1" dirty="0">
              <a:solidFill>
                <a:srgbClr val="0070C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2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例：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int </a:t>
            </a:r>
            <a:r>
              <a:rPr lang="en-US" altLang="zh-CN" sz="25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5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5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;  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float j 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5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1.05</a:t>
            </a:r>
            <a:r>
              <a:rPr lang="en-US" altLang="zh-CN" sz="25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; </a:t>
            </a:r>
            <a:endParaRPr lang="en-US" altLang="zh-CN" sz="2500" b="1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30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词法错误检测</a:t>
            </a:r>
            <a:endParaRPr lang="en-US" altLang="zh-CN" sz="3000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457200" lvl="1" indent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如果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当前状态与当前输入符号</a:t>
            </a: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在转换表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对应项</a:t>
            </a: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中的信息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为空</a:t>
            </a: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，而当前状态又不是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终止状态</a:t>
            </a:r>
            <a:r>
              <a:rPr lang="zh-CN" alt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，则调用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错误处理程序</a:t>
            </a:r>
            <a:endParaRPr lang="en-US" altLang="zh-CN" sz="2500" b="1" dirty="0">
              <a:solidFill>
                <a:srgbClr val="0000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652120" y="2758157"/>
            <a:ext cx="28841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//G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识别为标识符</a:t>
            </a:r>
            <a:endParaRPr lang="zh-CN" altLang="en-US" sz="2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内容占位符 2"/>
          <p:cNvSpPr>
            <a:spLocks noGrp="1"/>
          </p:cNvSpPr>
          <p:nvPr>
            <p:ph idx="1"/>
          </p:nvPr>
        </p:nvSpPr>
        <p:spPr>
          <a:xfrm>
            <a:off x="428625" y="928688"/>
            <a:ext cx="8439150" cy="2808287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查找已扫描字符串中最后一个对应于某终态的字符</a:t>
            </a:r>
            <a:endParaRPr lang="en-US" altLang="zh-CN" sz="2800" b="1" dirty="0">
              <a:solidFill>
                <a:schemeClr val="tx1"/>
              </a:solidFill>
              <a:latin typeface="+mn-ea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如果</a:t>
            </a:r>
            <a:r>
              <a:rPr lang="zh-CN" altLang="en-US" sz="2500" b="1" dirty="0">
                <a:solidFill>
                  <a:srgbClr val="0000FF"/>
                </a:solidFill>
                <a:latin typeface="+mn-ea"/>
              </a:rPr>
              <a:t>找到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了，将该字符与其前面的字符识别成一个单词。然后将输入指针退回到该字符，扫描器重新回到初始状态，继续识别下一个单词</a:t>
            </a:r>
            <a:endParaRPr lang="en-US" altLang="zh-CN" sz="2500" b="1" dirty="0">
              <a:solidFill>
                <a:schemeClr val="tx1"/>
              </a:solidFill>
              <a:latin typeface="+mn-ea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如果</a:t>
            </a:r>
            <a:r>
              <a:rPr lang="zh-CN" altLang="en-US" sz="2500" b="1" dirty="0">
                <a:solidFill>
                  <a:srgbClr val="0000FF"/>
                </a:solidFill>
                <a:latin typeface="+mn-ea"/>
              </a:rPr>
              <a:t>没找到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，则确定出错，采用错误恢复策略</a:t>
            </a:r>
            <a:endParaRPr lang="zh-CN" altLang="en-US" sz="25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2468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错误处理</a:t>
            </a:r>
            <a:endParaRPr lang="zh-CN" altLang="en-US" sz="3000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0052" name="组合 44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30054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内容占位符 2"/>
          <p:cNvSpPr>
            <a:spLocks noGrp="1"/>
          </p:cNvSpPr>
          <p:nvPr>
            <p:ph idx="1"/>
          </p:nvPr>
        </p:nvSpPr>
        <p:spPr>
          <a:xfrm>
            <a:off x="357188" y="928688"/>
            <a:ext cx="8501062" cy="3730625"/>
          </a:xfrm>
        </p:spPr>
        <p:txBody>
          <a:bodyPr/>
          <a:lstStyle/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700" b="1" dirty="0">
                <a:solidFill>
                  <a:schemeClr val="tx1"/>
                </a:solidFill>
                <a:latin typeface="+mn-ea"/>
              </a:rPr>
              <a:t>最简单的错误恢复策略</a:t>
            </a:r>
            <a:r>
              <a:rPr lang="zh-CN" altLang="en-US" sz="2700" b="1" spc="-2000" dirty="0">
                <a:solidFill>
                  <a:schemeClr val="tx1"/>
                </a:solidFill>
                <a:latin typeface="+mn-ea"/>
              </a:rPr>
              <a:t>：</a:t>
            </a:r>
            <a:r>
              <a:rPr lang="zh-CN" altLang="en-US" sz="2700" b="1" dirty="0">
                <a:solidFill>
                  <a:schemeClr val="tx1"/>
                </a:solidFill>
                <a:latin typeface="+mn-ea"/>
              </a:rPr>
              <a:t>“</a:t>
            </a:r>
            <a:r>
              <a:rPr lang="zh-CN" altLang="en-US" sz="2700" b="1" dirty="0">
                <a:solidFill>
                  <a:srgbClr val="FF0000"/>
                </a:solidFill>
                <a:latin typeface="+mn-ea"/>
              </a:rPr>
              <a:t>恐慌模式</a:t>
            </a:r>
            <a:r>
              <a:rPr lang="zh-CN" altLang="en-US" sz="27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panic mode</a:t>
            </a:r>
            <a:r>
              <a:rPr lang="en-US" altLang="zh-CN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sz="2700" b="1" dirty="0">
                <a:solidFill>
                  <a:schemeClr val="tx1"/>
                </a:solidFill>
                <a:latin typeface="+mn-ea"/>
              </a:rPr>
              <a:t>”恢复</a:t>
            </a:r>
            <a:endParaRPr lang="zh-CN" altLang="en-US" sz="2700" b="1" dirty="0">
              <a:solidFill>
                <a:schemeClr val="tx1"/>
              </a:solidFill>
              <a:latin typeface="+mn-ea"/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从剩余的输入中不断删除字符，直到词法分析器能够在剩余输入的开头发现一个正确的字符为止</a:t>
            </a:r>
            <a:endParaRPr lang="en-US" altLang="zh-CN" sz="2500" b="1" dirty="0">
              <a:solidFill>
                <a:schemeClr val="tx1"/>
              </a:solidFill>
              <a:latin typeface="+mn-ea"/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700" b="1" dirty="0">
                <a:solidFill>
                  <a:schemeClr val="tx1"/>
                </a:solidFill>
                <a:latin typeface="+mn-ea"/>
              </a:rPr>
              <a:t>进行修补尝试</a:t>
            </a:r>
            <a:endParaRPr lang="en-US" altLang="zh-CN" sz="2700" b="1" dirty="0">
              <a:solidFill>
                <a:schemeClr val="tx1"/>
              </a:solidFill>
              <a:latin typeface="+mn-ea"/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删除一个多余的字符</a:t>
            </a:r>
            <a:endParaRPr lang="en-US" altLang="zh-CN" sz="2500" b="1" dirty="0">
              <a:solidFill>
                <a:schemeClr val="tx1"/>
              </a:solidFill>
              <a:latin typeface="+mn-ea"/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插入一个遗漏的字符</a:t>
            </a:r>
            <a:endParaRPr lang="en-US" altLang="zh-CN" sz="2500" b="1" dirty="0">
              <a:solidFill>
                <a:schemeClr val="tx1"/>
              </a:solidFill>
              <a:latin typeface="+mn-ea"/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用一个正确的字符代替一个不正确的字符；</a:t>
            </a:r>
            <a:endParaRPr lang="en-US" altLang="zh-CN" sz="2500" b="1" dirty="0">
              <a:solidFill>
                <a:schemeClr val="tx1"/>
              </a:solidFill>
              <a:latin typeface="+mn-ea"/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交换两个相邻的字符</a:t>
            </a:r>
            <a:endParaRPr lang="zh-CN" altLang="en-US" sz="25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2468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错误恢复策略</a:t>
            </a:r>
            <a:endParaRPr lang="zh-CN" altLang="en-US" sz="3000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2100" name="组合 44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32102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9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9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9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内容占位符 2"/>
          <p:cNvSpPr>
            <a:spLocks noGrp="1"/>
          </p:cNvSpPr>
          <p:nvPr>
            <p:ph idx="1"/>
          </p:nvPr>
        </p:nvSpPr>
        <p:spPr>
          <a:xfrm>
            <a:off x="428625" y="928688"/>
            <a:ext cx="8439150" cy="2808287"/>
          </a:xfrm>
        </p:spPr>
        <p:txBody>
          <a:bodyPr/>
          <a:lstStyle/>
          <a:p>
            <a:pPr marL="0" indent="0" eaLnBrk="1" hangingPunct="1">
              <a:lnSpc>
                <a:spcPct val="100000"/>
              </a:lnSpc>
              <a:buClrTx/>
              <a:buFont typeface="Wingdings" panose="05000000000000000000" pitchFamily="2" charset="2"/>
              <a:buNone/>
              <a:defRPr/>
            </a:pPr>
            <a:r>
              <a:rPr lang="en-US" altLang="zh-CN" sz="2500" b="1" dirty="0">
                <a:solidFill>
                  <a:schemeClr val="tx1"/>
                </a:solidFill>
                <a:latin typeface="+mn-ea"/>
              </a:rPr>
              <a:t>1. 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构建每类单词的正则表达式</a:t>
            </a:r>
            <a:endParaRPr lang="zh-CN" altLang="en-US" sz="2500" b="1" dirty="0">
              <a:solidFill>
                <a:schemeClr val="tx1"/>
              </a:solidFill>
              <a:latin typeface="+mn-ea"/>
            </a:endParaRPr>
          </a:p>
          <a:p>
            <a:pPr marL="0" indent="0" eaLnBrk="1" hangingPunct="1">
              <a:lnSpc>
                <a:spcPct val="100000"/>
              </a:lnSpc>
              <a:buClrTx/>
              <a:buFont typeface="Wingdings" panose="05000000000000000000" pitchFamily="2" charset="2"/>
              <a:buNone/>
              <a:defRPr/>
            </a:pPr>
            <a:r>
              <a:rPr lang="en-US" altLang="zh-CN" sz="2500" b="1" dirty="0">
                <a:solidFill>
                  <a:schemeClr val="tx1"/>
                </a:solidFill>
                <a:latin typeface="+mn-ea"/>
              </a:rPr>
              <a:t>2. 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构建识别所有单词的</a:t>
            </a:r>
            <a:r>
              <a:rPr lang="en-US" altLang="zh-CN" sz="2500" b="1" dirty="0">
                <a:solidFill>
                  <a:schemeClr val="tx1"/>
                </a:solidFill>
                <a:latin typeface="+mn-ea"/>
              </a:rPr>
              <a:t>DFA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，并构建转换表</a:t>
            </a:r>
            <a:endParaRPr lang="en-US" altLang="zh-CN" sz="2500" b="1" dirty="0">
              <a:solidFill>
                <a:schemeClr val="tx1"/>
              </a:solidFill>
              <a:latin typeface="+mn-ea"/>
            </a:endParaRPr>
          </a:p>
          <a:p>
            <a:pPr marL="0" indent="0" eaLnBrk="1" hangingPunct="1">
              <a:lnSpc>
                <a:spcPct val="100000"/>
              </a:lnSpc>
              <a:buClrTx/>
              <a:buFont typeface="Wingdings" panose="05000000000000000000" pitchFamily="2" charset="2"/>
              <a:buNone/>
              <a:defRPr/>
            </a:pPr>
            <a:r>
              <a:rPr lang="en-US" altLang="zh-CN" sz="2500" b="1" dirty="0">
                <a:solidFill>
                  <a:schemeClr val="tx1"/>
                </a:solidFill>
                <a:latin typeface="+mn-ea"/>
              </a:rPr>
              <a:t>3. 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开发</a:t>
            </a:r>
            <a:r>
              <a:rPr lang="en-US" altLang="zh-CN" sz="2500" b="1" dirty="0">
                <a:solidFill>
                  <a:schemeClr val="tx1"/>
                </a:solidFill>
                <a:latin typeface="+mn-ea"/>
              </a:rPr>
              <a:t>DFA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模拟器根据</a:t>
            </a:r>
            <a:r>
              <a:rPr lang="en-US" altLang="zh-CN" sz="2500" b="1" dirty="0">
                <a:solidFill>
                  <a:schemeClr val="tx1"/>
                </a:solidFill>
                <a:latin typeface="+mn-ea"/>
              </a:rPr>
              <a:t>DFA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转换表识别单词并输出</a:t>
            </a:r>
            <a:endParaRPr lang="zh-CN" altLang="en-US" sz="2500" b="1" dirty="0">
              <a:solidFill>
                <a:schemeClr val="tx1"/>
              </a:solidFill>
              <a:latin typeface="+mn-ea"/>
            </a:endParaRPr>
          </a:p>
          <a:p>
            <a:pPr marL="0" indent="0" eaLnBrk="1" hangingPunct="1">
              <a:lnSpc>
                <a:spcPct val="100000"/>
              </a:lnSpc>
              <a:buClrTx/>
              <a:buFont typeface="Wingdings" panose="05000000000000000000" pitchFamily="2" charset="2"/>
              <a:buNone/>
              <a:defRPr/>
            </a:pPr>
            <a:r>
              <a:rPr lang="en-US" altLang="zh-CN" sz="2500" b="1" dirty="0">
                <a:solidFill>
                  <a:schemeClr val="tx1"/>
                </a:solidFill>
                <a:latin typeface="+mn-ea"/>
              </a:rPr>
              <a:t>4. 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加入错误处理</a:t>
            </a:r>
            <a:endParaRPr lang="en-US" altLang="zh-CN" sz="25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2468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词法分析器构造</a:t>
            </a:r>
            <a:endParaRPr lang="zh-CN" altLang="en-US" sz="3000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0052" name="组合 44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30054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8" name="内容占位符 2"/>
          <p:cNvSpPr txBox="1"/>
          <p:nvPr/>
        </p:nvSpPr>
        <p:spPr bwMode="auto">
          <a:xfrm>
            <a:off x="3131820" y="2297430"/>
            <a:ext cx="5043805" cy="28105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 anchor="ctr"/>
          <a:lstStyle/>
          <a:p>
            <a:pPr marL="273050" indent="-273050" eaLnBrk="1" hangingPunct="1">
              <a:lnSpc>
                <a:spcPts val="20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2200" b="1" i="1" dirty="0">
                <a:latin typeface="Times New Roman" panose="02020603050405020304" pitchFamily="18" charset="0"/>
                <a:ea typeface="+mn-ea"/>
              </a:rPr>
              <a:t>s =</a:t>
            </a:r>
            <a:r>
              <a:rPr lang="en-US" altLang="zh-CN" sz="2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zh-CN" sz="2200" b="1" dirty="0">
                <a:latin typeface="Times New Roman" panose="02020603050405020304" pitchFamily="18" charset="0"/>
              </a:rPr>
              <a:t>;</a:t>
            </a:r>
            <a:endParaRPr lang="en-US" altLang="zh-CN" sz="2200" b="1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3050" indent="-273050" eaLnBrk="1" hangingPunct="1">
              <a:lnSpc>
                <a:spcPts val="20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2200" b="1" i="1" dirty="0">
                <a:latin typeface="Times New Roman" panose="02020603050405020304" pitchFamily="18" charset="0"/>
              </a:rPr>
              <a:t>c = 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nextCha</a:t>
            </a:r>
            <a:r>
              <a:rPr lang="en-US" altLang="zh-CN" sz="2200" b="1" i="1" spc="-300" dirty="0" err="1">
                <a:latin typeface="Times New Roman" panose="02020603050405020304" pitchFamily="18" charset="0"/>
              </a:rPr>
              <a:t>r</a:t>
            </a:r>
            <a:r>
              <a:rPr lang="zh-CN" altLang="en-US" sz="2200" b="1" spc="-300" dirty="0">
                <a:latin typeface="Times New Roman" panose="02020603050405020304" pitchFamily="18" charset="0"/>
              </a:rPr>
              <a:t>（）</a:t>
            </a:r>
            <a:r>
              <a:rPr lang="en-US" altLang="zh-CN" sz="2200" b="1" dirty="0">
                <a:latin typeface="Times New Roman" panose="02020603050405020304" pitchFamily="18" charset="0"/>
              </a:rPr>
              <a:t>;</a:t>
            </a:r>
            <a:endParaRPr lang="en-US" altLang="zh-CN" sz="2200" b="1" dirty="0">
              <a:latin typeface="Times New Roman" panose="02020603050405020304" pitchFamily="18" charset="0"/>
            </a:endParaRPr>
          </a:p>
          <a:p>
            <a:pPr marL="273050" indent="-273050" eaLnBrk="1" hangingPunct="1">
              <a:lnSpc>
                <a:spcPts val="20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22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whil</a:t>
            </a:r>
            <a:r>
              <a:rPr lang="en-US" altLang="zh-CN" sz="2200" b="1" spc="-3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</a:t>
            </a:r>
            <a:r>
              <a:rPr lang="zh-CN" altLang="en-US" sz="2200" b="1" spc="-300" dirty="0">
                <a:latin typeface="Times New Roman" panose="02020603050405020304" pitchFamily="18" charset="0"/>
              </a:rPr>
              <a:t>（ 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200" b="1" dirty="0">
                <a:latin typeface="Times New Roman" panose="02020603050405020304" pitchFamily="18" charset="0"/>
              </a:rPr>
              <a:t>!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 = </a:t>
            </a:r>
            <a:r>
              <a:rPr lang="en-US" altLang="zh-CN" sz="2200" b="1" dirty="0" err="1">
                <a:latin typeface="Times New Roman" panose="02020603050405020304" pitchFamily="18" charset="0"/>
              </a:rPr>
              <a:t>eof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 </a:t>
            </a:r>
            <a:r>
              <a:rPr lang="zh-CN" altLang="en-US" sz="2200" b="1" spc="-1000" dirty="0">
                <a:latin typeface="Times New Roman" panose="02020603050405020304" pitchFamily="18" charset="0"/>
              </a:rPr>
              <a:t>）｛</a:t>
            </a:r>
            <a:endParaRPr lang="en-US" altLang="zh-CN" sz="2200" b="1" spc="-1000" dirty="0">
              <a:latin typeface="Times New Roman" panose="02020603050405020304" pitchFamily="18" charset="0"/>
            </a:endParaRPr>
          </a:p>
          <a:p>
            <a:pPr marL="273050" indent="-273050" eaLnBrk="1" hangingPunct="1">
              <a:lnSpc>
                <a:spcPts val="20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2200" b="1" i="1" dirty="0">
                <a:latin typeface="Times New Roman" panose="02020603050405020304" pitchFamily="18" charset="0"/>
              </a:rPr>
              <a:t>              s = move </a:t>
            </a:r>
            <a:r>
              <a:rPr lang="en-US" altLang="zh-CN" sz="2200" b="1" dirty="0">
                <a:latin typeface="Times New Roman" panose="02020603050405020304" pitchFamily="18" charset="0"/>
              </a:rPr>
              <a:t>( 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s , c </a:t>
            </a:r>
            <a:r>
              <a:rPr lang="en-US" altLang="zh-CN" sz="2200" b="1" dirty="0">
                <a:latin typeface="Times New Roman" panose="02020603050405020304" pitchFamily="18" charset="0"/>
              </a:rPr>
              <a:t>) ;  </a:t>
            </a:r>
            <a:r>
              <a:rPr lang="en-US" altLang="zh-CN" sz="2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push(s); </a:t>
            </a:r>
            <a:endParaRPr lang="en-US" altLang="zh-CN" sz="2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273050" indent="-273050" algn="l" eaLnBrk="1" hangingPunct="1">
              <a:lnSpc>
                <a:spcPts val="2000"/>
              </a:lnSpc>
              <a:spcBef>
                <a:spcPct val="20000"/>
              </a:spcBef>
              <a:buClrTx/>
              <a:buSzTx/>
              <a:buFontTx/>
              <a:defRPr/>
            </a:pPr>
            <a:r>
              <a:rPr lang="en-US" altLang="zh-CN" sz="2200" b="1" spc="-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</a:t>
            </a:r>
            <a:r>
              <a:rPr lang="en-US" altLang="zh-CN" sz="2200" b="1" spc="-3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if ( s ==  -1 )  rollback( );</a:t>
            </a:r>
            <a:endParaRPr lang="en-US" altLang="zh-CN" sz="2200" b="1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3050" indent="-273050" eaLnBrk="1" hangingPunct="1">
              <a:lnSpc>
                <a:spcPts val="18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2200" b="1" i="1" dirty="0">
                <a:latin typeface="Times New Roman" panose="02020603050405020304" pitchFamily="18" charset="0"/>
              </a:rPr>
              <a:t>              c = 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nextChar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200" b="1" dirty="0">
                <a:latin typeface="Times New Roman" panose="02020603050405020304" pitchFamily="18" charset="0"/>
              </a:rPr>
              <a:t>( ) ;</a:t>
            </a:r>
            <a:endParaRPr lang="en-US" altLang="zh-CN" sz="2200" b="1" dirty="0">
              <a:latin typeface="Times New Roman" panose="02020603050405020304" pitchFamily="18" charset="0"/>
            </a:endParaRPr>
          </a:p>
          <a:p>
            <a:pPr marL="273050" indent="-273050" eaLnBrk="1" hangingPunct="1">
              <a:lnSpc>
                <a:spcPts val="1800"/>
              </a:lnSpc>
              <a:spcBef>
                <a:spcPct val="20000"/>
              </a:spcBef>
              <a:buSzPct val="100000"/>
              <a:defRPr/>
            </a:pPr>
            <a:r>
              <a:rPr lang="zh-CN" altLang="en-US" sz="2200" b="1" spc="-300" dirty="0">
                <a:latin typeface="Times New Roman" panose="02020603050405020304" pitchFamily="18" charset="0"/>
              </a:rPr>
              <a:t>｝</a:t>
            </a:r>
            <a:endParaRPr lang="en-US" altLang="zh-CN" sz="2200" b="1" spc="-300" dirty="0">
              <a:latin typeface="Times New Roman" panose="02020603050405020304" pitchFamily="18" charset="0"/>
            </a:endParaRPr>
          </a:p>
          <a:p>
            <a:pPr marL="273050" indent="-273050" eaLnBrk="1" hangingPunct="1">
              <a:lnSpc>
                <a:spcPts val="18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2200" b="1" dirty="0">
                <a:latin typeface="Times New Roman" panose="02020603050405020304" pitchFamily="18" charset="0"/>
              </a:rPr>
              <a:t>if (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s</a:t>
            </a:r>
            <a:r>
              <a:rPr lang="zh-CN" altLang="en-US" sz="2200" b="1" dirty="0">
                <a:latin typeface="+mn-ea"/>
                <a:ea typeface="+mn-ea"/>
              </a:rPr>
              <a:t>在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F</a:t>
            </a:r>
            <a:r>
              <a:rPr lang="zh-CN" altLang="en-US" sz="2200" b="1" dirty="0">
                <a:latin typeface="+mn-ea"/>
                <a:ea typeface="+mn-ea"/>
              </a:rPr>
              <a:t>中</a:t>
            </a:r>
            <a:r>
              <a:rPr lang="en-US" altLang="zh-CN" sz="2200" b="1" dirty="0">
                <a:latin typeface="Times New Roman" panose="02020603050405020304" pitchFamily="18" charset="0"/>
              </a:rPr>
              <a:t>) return</a:t>
            </a:r>
            <a:r>
              <a:rPr lang="zh-CN" altLang="en-US" sz="2200" b="1" dirty="0">
                <a:latin typeface="Times New Roman" panose="02020603050405020304" pitchFamily="18" charset="0"/>
              </a:rPr>
              <a:t>“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yes</a:t>
            </a:r>
            <a:r>
              <a:rPr lang="zh-CN" altLang="en-US" sz="2200" b="1" spc="-300" dirty="0">
                <a:latin typeface="Times New Roman" panose="02020603050405020304" pitchFamily="18" charset="0"/>
              </a:rPr>
              <a:t>”</a:t>
            </a:r>
            <a:r>
              <a:rPr lang="en-US" altLang="zh-CN" sz="2200" b="1" spc="-300" dirty="0">
                <a:latin typeface="Times New Roman" panose="02020603050405020304" pitchFamily="18" charset="0"/>
              </a:rPr>
              <a:t> ;</a:t>
            </a:r>
            <a:endParaRPr lang="en-US" altLang="zh-CN" sz="2200" b="1" spc="-300" dirty="0">
              <a:latin typeface="Times New Roman" panose="02020603050405020304" pitchFamily="18" charset="0"/>
            </a:endParaRPr>
          </a:p>
          <a:p>
            <a:pPr marL="273050" indent="-273050" eaLnBrk="1" hangingPunct="1">
              <a:lnSpc>
                <a:spcPts val="20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2200" b="1" dirty="0">
                <a:latin typeface="Times New Roman" panose="02020603050405020304" pitchFamily="18" charset="0"/>
              </a:rPr>
              <a:t>else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  </a:t>
            </a:r>
            <a:r>
              <a:rPr lang="en-US" altLang="zh-CN" sz="2200" b="1" dirty="0">
                <a:latin typeface="Times New Roman" panose="02020603050405020304" pitchFamily="18" charset="0"/>
              </a:rPr>
              <a:t>return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 </a:t>
            </a:r>
            <a:r>
              <a:rPr lang="zh-CN" altLang="en-US" sz="2200" b="1" dirty="0">
                <a:latin typeface="Times New Roman" panose="02020603050405020304" pitchFamily="18" charset="0"/>
              </a:rPr>
              <a:t>“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no</a:t>
            </a:r>
            <a:r>
              <a:rPr lang="zh-CN" altLang="en-US" sz="2200" b="1" spc="-300" dirty="0">
                <a:latin typeface="Times New Roman" panose="02020603050405020304" pitchFamily="18" charset="0"/>
              </a:rPr>
              <a:t>”</a:t>
            </a:r>
            <a:r>
              <a:rPr lang="en-US" altLang="zh-CN" sz="2200" b="1" spc="-300" dirty="0">
                <a:latin typeface="Times New Roman" panose="02020603050405020304" pitchFamily="18" charset="0"/>
              </a:rPr>
              <a:t> ;</a:t>
            </a:r>
            <a:endParaRPr lang="zh-CN" altLang="en-US" sz="2200" b="1" spc="-3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内容占位符 2"/>
          <p:cNvSpPr>
            <a:spLocks noGrp="1"/>
          </p:cNvSpPr>
          <p:nvPr>
            <p:ph idx="1"/>
          </p:nvPr>
        </p:nvSpPr>
        <p:spPr>
          <a:xfrm>
            <a:off x="4524375" y="1357313"/>
            <a:ext cx="4619625" cy="3246437"/>
          </a:xfrm>
        </p:spPr>
        <p:txBody>
          <a:bodyPr/>
          <a:lstStyle/>
          <a:p>
            <a:pPr eaLnBrk="1" hangingPunct="1">
              <a:lnSpc>
                <a:spcPts val="4000"/>
              </a:lnSpc>
              <a:buFont typeface="Symbol" panose="05050102010706020507" pitchFamily="18" charset="2"/>
              <a:buNone/>
              <a:defRPr/>
            </a:pPr>
            <a:r>
              <a:rPr lang="en-US" altLang="zh-CN" sz="25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25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单词的描述</a:t>
            </a:r>
            <a:endParaRPr lang="zh-CN" altLang="en-US" sz="25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ts val="4000"/>
              </a:lnSpc>
              <a:buFont typeface="Symbol" panose="05050102010706020507" pitchFamily="18" charset="2"/>
              <a:buNone/>
              <a:defRPr/>
            </a:pPr>
            <a:r>
              <a:rPr lang="en-US" altLang="zh-CN" sz="25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25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单词的识别</a:t>
            </a:r>
            <a:endParaRPr lang="zh-CN" altLang="en-US" sz="25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ts val="4000"/>
              </a:lnSpc>
              <a:buFont typeface="Symbol" panose="05050102010706020507" pitchFamily="18" charset="2"/>
              <a:buNone/>
              <a:defRPr/>
            </a:pPr>
            <a:r>
              <a:rPr lang="en-US" altLang="zh-CN" sz="25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5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词法分析阶段的错误处理</a:t>
            </a:r>
            <a:endParaRPr lang="en-US" altLang="zh-CN" sz="25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ts val="4000"/>
              </a:lnSpc>
              <a:buFont typeface="Symbol" panose="05050102010706020507" pitchFamily="18" charset="2"/>
              <a:buNone/>
              <a:defRPr/>
            </a:pP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词法分析器生成工具</a:t>
            </a:r>
            <a:r>
              <a:rPr lang="en-US" altLang="zh-CN" sz="25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Lex</a:t>
            </a:r>
            <a:b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en-US" sz="25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0"/>
            <a:ext cx="9144000" cy="1500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pic>
        <p:nvPicPr>
          <p:cNvPr id="134148" name="Picture 7" descr="E:\工大编译\ppt\制作\0330e9c554c768200000158fc50d53d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38" r="21837"/>
          <a:stretch>
            <a:fillRect/>
          </a:stretch>
        </p:blipFill>
        <p:spPr bwMode="auto">
          <a:xfrm>
            <a:off x="-6350" y="0"/>
            <a:ext cx="429577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/>
          <p:cNvSpPr/>
          <p:nvPr/>
        </p:nvSpPr>
        <p:spPr>
          <a:xfrm>
            <a:off x="4143375" y="357188"/>
            <a:ext cx="1928813" cy="7858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b="1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提纲</a:t>
            </a:r>
            <a:endParaRPr lang="zh-CN" altLang="en-US" sz="1600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9"/>
          <p:cNvSpPr>
            <a:spLocks noGrp="1"/>
          </p:cNvSpPr>
          <p:nvPr>
            <p:ph idx="1"/>
          </p:nvPr>
        </p:nvSpPr>
        <p:spPr>
          <a:xfrm>
            <a:off x="638175" y="2429510"/>
            <a:ext cx="5353050" cy="2524125"/>
          </a:xfrm>
        </p:spPr>
        <p:txBody>
          <a:bodyPr/>
          <a:lstStyle/>
          <a:p>
            <a:r>
              <a:rPr lang="zh-CN" altLang="en-US" sz="2200" b="1" dirty="0"/>
              <a:t>接收一组</a:t>
            </a:r>
            <a:r>
              <a:rPr lang="zh-CN" altLang="en-US" sz="2200" b="1" dirty="0">
                <a:solidFill>
                  <a:srgbClr val="C00000"/>
                </a:solidFill>
              </a:rPr>
              <a:t>自定义</a:t>
            </a:r>
            <a:r>
              <a:rPr lang="en-US" altLang="zh-CN" sz="2200" b="1" dirty="0">
                <a:solidFill>
                  <a:srgbClr val="C00000"/>
                </a:solidFill>
              </a:rPr>
              <a:t>RE</a:t>
            </a:r>
            <a:r>
              <a:rPr lang="en-US" altLang="zh-CN" sz="2200" b="1" dirty="0">
                <a:solidFill>
                  <a:srgbClr val="0070C0"/>
                </a:solidFill>
              </a:rPr>
              <a:t> </a:t>
            </a:r>
            <a:r>
              <a:rPr lang="zh-CN" altLang="en-US" sz="2200" b="1" dirty="0"/>
              <a:t>和 识别单词后的</a:t>
            </a:r>
            <a:r>
              <a:rPr lang="zh-CN" altLang="en-US" sz="2200" b="1" dirty="0">
                <a:solidFill>
                  <a:srgbClr val="C00000"/>
                </a:solidFill>
              </a:rPr>
              <a:t>动作代码</a:t>
            </a:r>
            <a:endParaRPr lang="en-US" altLang="zh-CN" sz="2200" b="1" dirty="0">
              <a:solidFill>
                <a:srgbClr val="0070C0"/>
              </a:solidFill>
            </a:endParaRPr>
          </a:p>
          <a:p>
            <a:pPr lvl="1"/>
            <a:r>
              <a:rPr lang="zh-CN" altLang="en-US" b="1" dirty="0"/>
              <a:t>调用预先写好算法转换为</a:t>
            </a:r>
            <a:r>
              <a:rPr lang="en-US" altLang="zh-CN" b="1" i="1" dirty="0"/>
              <a:t>DFA</a:t>
            </a:r>
            <a:r>
              <a:rPr lang="zh-CN" altLang="en-US" b="1" dirty="0"/>
              <a:t>转换表</a:t>
            </a:r>
            <a:endParaRPr lang="en-US" altLang="zh-CN" b="1" dirty="0"/>
          </a:p>
          <a:p>
            <a:pPr lvl="1"/>
            <a:r>
              <a:rPr lang="zh-CN" altLang="en-US" b="1" dirty="0"/>
              <a:t>使用预先写好的</a:t>
            </a:r>
            <a:r>
              <a:rPr lang="en-US" altLang="zh-CN" b="1" i="1" dirty="0"/>
              <a:t>DFA</a:t>
            </a:r>
            <a:r>
              <a:rPr lang="zh-CN" altLang="en-US" b="1" dirty="0"/>
              <a:t>模拟器按</a:t>
            </a:r>
            <a:r>
              <a:rPr lang="en-US" altLang="zh-CN" b="1" i="1" dirty="0"/>
              <a:t>DFA</a:t>
            </a:r>
            <a:r>
              <a:rPr lang="zh-CN" altLang="en-US" b="1" dirty="0"/>
              <a:t>转换表识别各类单词，并根据单词类别调用自定义处理代码，即可生成词法分析器程序。</a:t>
            </a:r>
            <a:endParaRPr lang="en-US" altLang="zh-CN" b="1" dirty="0"/>
          </a:p>
        </p:txBody>
      </p:sp>
      <p:sp>
        <p:nvSpPr>
          <p:cNvPr id="5017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自动生成词法分析器的基本思想</a:t>
            </a:r>
            <a:endParaRPr lang="zh-CN" altLang="en-US" sz="3000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57347" y="1601360"/>
            <a:ext cx="865188" cy="39846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sz="25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RE</a:t>
            </a:r>
            <a:endParaRPr lang="zh-CN" altLang="en-US" sz="2500" b="1" i="1" dirty="0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6156325" y="1660525"/>
            <a:ext cx="1856105" cy="40005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sz="24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DFA</a:t>
            </a:r>
            <a:r>
              <a:rPr lang="zh-CN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转换表</a:t>
            </a:r>
            <a:endParaRPr lang="zh-CN" altLang="en-US" sz="2400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93191" name="组合 44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6" name="五边形 1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199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3" name="组合 6"/>
          <p:cNvGrpSpPr/>
          <p:nvPr/>
        </p:nvGrpSpPr>
        <p:grpSpPr bwMode="auto">
          <a:xfrm>
            <a:off x="1621443" y="866348"/>
            <a:ext cx="4437063" cy="782638"/>
            <a:chOff x="1777651" y="2146310"/>
            <a:chExt cx="4437988" cy="782629"/>
          </a:xfrm>
        </p:grpSpPr>
        <p:sp>
          <p:nvSpPr>
            <p:cNvPr id="6" name="矩形 5"/>
            <p:cNvSpPr/>
            <p:nvPr/>
          </p:nvSpPr>
          <p:spPr bwMode="auto">
            <a:xfrm>
              <a:off x="3563962" y="2146310"/>
              <a:ext cx="1133576" cy="400046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CN" sz="28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ε</a:t>
              </a:r>
              <a:r>
                <a:rPr lang="en-US" altLang="zh-CN" sz="28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-</a:t>
              </a:r>
              <a:r>
                <a:rPr lang="en-US" altLang="zh-CN" sz="25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</a:rPr>
                <a:t>NFA</a:t>
              </a:r>
              <a:endParaRPr lang="zh-CN" altLang="en-US" sz="25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endParaRPr>
            </a:p>
          </p:txBody>
        </p:sp>
        <p:cxnSp>
          <p:nvCxnSpPr>
            <p:cNvPr id="19" name="直接箭头连接符 18"/>
            <p:cNvCxnSpPr>
              <a:endCxn id="6" idx="1"/>
            </p:cNvCxnSpPr>
            <p:nvPr/>
          </p:nvCxnSpPr>
          <p:spPr>
            <a:xfrm flipV="1">
              <a:off x="1777651" y="2346332"/>
              <a:ext cx="1786310" cy="511170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>
              <a:stCxn id="6" idx="3"/>
            </p:cNvCxnSpPr>
            <p:nvPr/>
          </p:nvCxnSpPr>
          <p:spPr>
            <a:xfrm>
              <a:off x="4697538" y="2346332"/>
              <a:ext cx="1518101" cy="582607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>
          <a:xfrm rot="20690928">
            <a:off x="1687495" y="951804"/>
            <a:ext cx="17011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Thompson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算法</a:t>
            </a:r>
            <a:endParaRPr lang="zh-CN" alt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 rot="1292215">
            <a:off x="4580233" y="933863"/>
            <a:ext cx="13468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Helvetica Neue"/>
              </a:rPr>
              <a:t>子集构造法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270625" y="2360930"/>
            <a:ext cx="1570355" cy="579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b="1" i="1" dirty="0">
                <a:solidFill>
                  <a:srgbClr val="2862AA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DFA</a:t>
            </a:r>
            <a:r>
              <a:rPr lang="zh-CN" altLang="en-US" sz="2000" b="1" dirty="0">
                <a:solidFill>
                  <a:srgbClr val="2862AA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模拟器</a:t>
            </a:r>
            <a:endParaRPr lang="zh-CN" altLang="en-US" sz="2000" b="1" dirty="0">
              <a:solidFill>
                <a:srgbClr val="2862AA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083935" y="1442720"/>
            <a:ext cx="2009775" cy="2634615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8"/>
          <p:cNvSpPr>
            <a:spLocks noChangeArrowheads="1"/>
          </p:cNvSpPr>
          <p:nvPr/>
        </p:nvSpPr>
        <p:spPr bwMode="auto">
          <a:xfrm>
            <a:off x="6344330" y="969163"/>
            <a:ext cx="163991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spcBef>
                <a:spcPct val="30000"/>
              </a:spcBef>
            </a:pPr>
            <a:r>
              <a: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词法分析器</a:t>
            </a:r>
            <a:endParaRPr lang="en-US" altLang="zh-CN" sz="2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 flipH="1">
            <a:off x="7131940" y="2931739"/>
            <a:ext cx="2540" cy="299085"/>
          </a:xfrm>
          <a:prstGeom prst="straightConnector1">
            <a:avLst/>
          </a:prstGeom>
          <a:ln w="28575">
            <a:solidFill>
              <a:srgbClr val="2862AA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6436430" y="3231093"/>
            <a:ext cx="1390871" cy="6420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自定义动作代码</a:t>
            </a:r>
            <a:endParaRPr lang="zh-CN" altLang="en-US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V="1">
            <a:off x="7091935" y="2067504"/>
            <a:ext cx="0" cy="284480"/>
          </a:xfrm>
          <a:prstGeom prst="straightConnector1">
            <a:avLst/>
          </a:prstGeom>
          <a:ln w="28575">
            <a:solidFill>
              <a:srgbClr val="2862AA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1717040" y="771525"/>
            <a:ext cx="4091305" cy="1368425"/>
          </a:xfrm>
          <a:prstGeom prst="rect">
            <a:avLst/>
          </a:prstGeom>
          <a:noFill/>
          <a:ln>
            <a:solidFill>
              <a:schemeClr val="tx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3067095" y="1673378"/>
            <a:ext cx="1639915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1">
              <a:spcBef>
                <a:spcPct val="30000"/>
              </a:spcBef>
            </a:pPr>
            <a:r>
              <a:rPr lang="en-US" altLang="zh-CN" sz="2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Flex</a:t>
            </a:r>
            <a:r>
              <a:rPr lang="zh-CN" altLang="en-US" sz="2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编译器</a:t>
            </a:r>
            <a:endParaRPr lang="zh-CN" altLang="en-US" sz="22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1" grpId="0" bldLvl="0" animBg="1"/>
      <p:bldP spid="12" grpId="0" bldLvl="0" animBg="1"/>
      <p:bldP spid="25" grpId="0"/>
      <p:bldP spid="30" grpId="0" bldLvl="0" animBg="1"/>
      <p:bldP spid="7" grpId="0" bldLvl="0" animBg="1"/>
      <p:bldP spid="9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内容占位符 2"/>
          <p:cNvSpPr>
            <a:spLocks noGrp="1"/>
          </p:cNvSpPr>
          <p:nvPr>
            <p:ph idx="1"/>
          </p:nvPr>
        </p:nvSpPr>
        <p:spPr>
          <a:xfrm>
            <a:off x="357188" y="928688"/>
            <a:ext cx="8501062" cy="2808287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700" b="1" dirty="0">
                <a:solidFill>
                  <a:schemeClr val="tx1"/>
                </a:solidFill>
                <a:latin typeface="+mn-ea"/>
              </a:rPr>
              <a:t>Lex</a:t>
            </a:r>
            <a:r>
              <a:rPr lang="zh-CN" altLang="en-US" sz="2700" b="1" dirty="0">
                <a:solidFill>
                  <a:schemeClr val="tx1"/>
                </a:solidFill>
                <a:latin typeface="+mn-ea"/>
              </a:rPr>
              <a:t>的构成</a:t>
            </a:r>
            <a:endParaRPr lang="zh-CN" altLang="en-US" sz="2700" b="1" dirty="0">
              <a:solidFill>
                <a:schemeClr val="tx1"/>
              </a:solidFill>
              <a:latin typeface="+mn-ea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500" b="1" dirty="0">
                <a:solidFill>
                  <a:schemeClr val="tx1"/>
                </a:solidFill>
                <a:latin typeface="+mn-ea"/>
              </a:rPr>
              <a:t>Lex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语言</a:t>
            </a:r>
            <a:endParaRPr lang="zh-CN" altLang="en-US" sz="2500" b="1" dirty="0">
              <a:solidFill>
                <a:schemeClr val="tx1"/>
              </a:solidFill>
              <a:latin typeface="+mn-ea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500" b="1" dirty="0">
                <a:solidFill>
                  <a:schemeClr val="tx1"/>
                </a:solidFill>
                <a:latin typeface="+mn-ea"/>
              </a:rPr>
              <a:t>Lex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编译器</a:t>
            </a:r>
            <a:endParaRPr lang="zh-CN" altLang="en-US" sz="25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2468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词法分析器生成工具</a:t>
            </a:r>
            <a:r>
              <a:rPr lang="en-US" altLang="zh-CN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Lex</a:t>
            </a:r>
            <a:endParaRPr lang="zh-CN" altLang="en-US" sz="3000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6196" name="组合 44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36199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136197" name="矩形 4"/>
          <p:cNvSpPr>
            <a:spLocks noChangeArrowheads="1"/>
          </p:cNvSpPr>
          <p:nvPr/>
        </p:nvSpPr>
        <p:spPr bwMode="auto">
          <a:xfrm>
            <a:off x="684213" y="3109913"/>
            <a:ext cx="755967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Lesk, M.E. (October 1975). "Lex – A Lexical Analyzer Generator". </a:t>
            </a:r>
            <a:r>
              <a:rPr lang="en-US" altLang="zh-CN" sz="18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Comp. Sci. Tech. Rep. No. 39</a:t>
            </a:r>
            <a:r>
              <a:rPr lang="en-US" altLang="zh-CN" sz="18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(Murray Hill, New Jersey: Bell Laboratories).</a:t>
            </a:r>
            <a:endParaRPr lang="en-US" altLang="zh-CN" sz="180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8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Lex</a:t>
            </a: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的使用</a:t>
            </a:r>
            <a:endParaRPr lang="zh-CN" altLang="en-US" sz="3000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8243" name="组合 44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38268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6373813" y="3857943"/>
            <a:ext cx="2303462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buClr>
                <a:srgbClr val="333399"/>
              </a:buClr>
              <a:buSzPct val="75000"/>
              <a:buFont typeface="Monotype Sorts"/>
              <a:buNone/>
            </a:pPr>
            <a:r>
              <a:rPr kumimoji="1" lang="en-US" altLang="zh-CN" b="1" i="1">
                <a:solidFill>
                  <a:srgbClr val="3333CC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p</a:t>
            </a:r>
            <a:r>
              <a:rPr kumimoji="1" lang="zh-CN" altLang="en-US" b="1">
                <a:solidFill>
                  <a:srgbClr val="3333CC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的</a:t>
            </a:r>
            <a:r>
              <a:rPr kumimoji="1" lang="en-US" altLang="zh-CN" b="1">
                <a:solidFill>
                  <a:srgbClr val="3333CC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token</a:t>
            </a:r>
            <a:r>
              <a:rPr kumimoji="1" lang="zh-CN" altLang="en-US" b="1">
                <a:solidFill>
                  <a:srgbClr val="3333CC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序列</a:t>
            </a:r>
            <a:endParaRPr kumimoji="1" lang="zh-CN" altLang="en-US" b="1">
              <a:solidFill>
                <a:srgbClr val="3333CC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3387725" y="3867468"/>
            <a:ext cx="2808288" cy="863600"/>
          </a:xfrm>
          <a:prstGeom prst="rect">
            <a:avLst/>
          </a:prstGeom>
          <a:solidFill>
            <a:srgbClr val="FFCF01"/>
          </a:solidFill>
          <a:ln w="9525">
            <a:solidFill>
              <a:srgbClr val="000000"/>
            </a:solidFill>
            <a:miter lim="800000"/>
          </a:ln>
        </p:spPr>
        <p:txBody>
          <a:bodyPr lIns="92075" tIns="46038" rIns="92075" bIns="46038"/>
          <a:lstStyle/>
          <a:p>
            <a:pPr marL="342900" indent="-342900" algn="ctr" eaLnBrk="1" fontAlgn="auto" hangingPunct="1">
              <a:spcBef>
                <a:spcPct val="20000"/>
              </a:spcBef>
              <a:spcAft>
                <a:spcPts val="0"/>
              </a:spcAft>
              <a:buClr>
                <a:srgbClr val="333399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 i="1" kern="0" dirty="0" err="1">
                <a:solidFill>
                  <a:srgbClr val="3333CC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a.out</a:t>
            </a:r>
            <a:endParaRPr kumimoji="1" lang="en-US" altLang="zh-CN" sz="2400" b="1" i="1" kern="0" dirty="0">
              <a:solidFill>
                <a:srgbClr val="3333CC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342900" indent="-342900" algn="ctr" eaLnBrk="1" fontAlgn="auto" hangingPunct="1">
              <a:spcBef>
                <a:spcPct val="20000"/>
              </a:spcBef>
              <a:spcAft>
                <a:spcPts val="0"/>
              </a:spcAft>
              <a:buClr>
                <a:srgbClr val="333399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 i="1" kern="0" dirty="0">
                <a:solidFill>
                  <a:srgbClr val="3333CC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X</a:t>
            </a:r>
            <a:r>
              <a:rPr kumimoji="1" lang="zh-CN" altLang="en-US" sz="2400" b="1" kern="0" dirty="0">
                <a:solidFill>
                  <a:srgbClr val="3333CC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语言词法分析器</a:t>
            </a:r>
            <a:endParaRPr kumimoji="1" lang="en-US" altLang="zh-CN" sz="2400" b="1" kern="0" dirty="0">
              <a:solidFill>
                <a:srgbClr val="3333CC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539750" y="3784918"/>
            <a:ext cx="2808288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buClr>
                <a:srgbClr val="333399"/>
              </a:buClr>
              <a:buSzPct val="75000"/>
              <a:buFont typeface="Monotype Sorts"/>
              <a:buNone/>
            </a:pPr>
            <a:r>
              <a:rPr kumimoji="1" lang="en-US" altLang="zh-CN" b="1" i="1">
                <a:solidFill>
                  <a:srgbClr val="3333CC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X</a:t>
            </a:r>
            <a:r>
              <a:rPr kumimoji="1" lang="zh-CN" altLang="en-US" b="1">
                <a:solidFill>
                  <a:srgbClr val="3333CC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语言编写的程序</a:t>
            </a:r>
            <a:r>
              <a:rPr kumimoji="1" lang="en-US" altLang="zh-CN" b="1" i="1">
                <a:solidFill>
                  <a:srgbClr val="3333CC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p</a:t>
            </a:r>
            <a:endParaRPr kumimoji="1" lang="en-US" altLang="zh-CN" b="1" i="1">
              <a:solidFill>
                <a:srgbClr val="3333CC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grpSp>
        <p:nvGrpSpPr>
          <p:cNvPr id="18" name="组合 17"/>
          <p:cNvGrpSpPr/>
          <p:nvPr/>
        </p:nvGrpSpPr>
        <p:grpSpPr bwMode="auto">
          <a:xfrm>
            <a:off x="762000" y="2540635"/>
            <a:ext cx="3170555" cy="589280"/>
            <a:chOff x="762000" y="2550160"/>
            <a:chExt cx="3170555" cy="589280"/>
          </a:xfrm>
        </p:grpSpPr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1843405" y="2550160"/>
              <a:ext cx="2089150" cy="58928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lIns="92075" tIns="46038" rIns="92075" bIns="46038"/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auto">
                <a:spcBef>
                  <a:spcPct val="20000"/>
                </a:spcBef>
                <a:spcAft>
                  <a:spcPts val="0"/>
                </a:spcAft>
                <a:buClr>
                  <a:srgbClr val="333399"/>
                </a:buClr>
                <a:buSzPct val="75000"/>
                <a:buFont typeface="Monotype Sorts"/>
                <a:buNone/>
                <a:defRPr/>
              </a:pPr>
              <a:endParaRPr kumimoji="1" lang="en-US" altLang="zh-CN" sz="800" b="1" kern="0" dirty="0">
                <a:solidFill>
                  <a:srgbClr val="3333CC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  <a:p>
              <a:pPr marL="234315" indent="-198120" algn="ctr" fontAlgn="auto" latinLnBrk="0">
                <a:lnSpc>
                  <a:spcPts val="258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99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400" b="1" i="1" kern="0" dirty="0">
                  <a:solidFill>
                    <a:srgbClr val="3333CC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Lex</a:t>
              </a:r>
              <a:r>
                <a:rPr kumimoji="1" lang="zh-CN" altLang="en-US" sz="2400" b="1" kern="0" dirty="0">
                  <a:solidFill>
                    <a:srgbClr val="3333CC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编译器</a:t>
              </a:r>
              <a:endParaRPr kumimoji="1" lang="zh-CN" altLang="en-US" sz="2400" b="1" kern="0" dirty="0">
                <a:solidFill>
                  <a:srgbClr val="3333CC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16" name="AutoShape 12"/>
            <p:cNvSpPr>
              <a:spLocks noChangeArrowheads="1"/>
            </p:cNvSpPr>
            <p:nvPr/>
          </p:nvSpPr>
          <p:spPr bwMode="auto">
            <a:xfrm>
              <a:off x="762000" y="2714625"/>
              <a:ext cx="990600" cy="250825"/>
            </a:xfrm>
            <a:prstGeom prst="rightArrow">
              <a:avLst>
                <a:gd name="adj1" fmla="val 50000"/>
                <a:gd name="adj2" fmla="val 114706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lIns="92075" tIns="46038" rIns="92075" bIns="46038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 dirty="0">
                <a:solidFill>
                  <a:srgbClr val="3333CC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 bwMode="auto">
          <a:xfrm>
            <a:off x="4002088" y="2560003"/>
            <a:ext cx="2738120" cy="588645"/>
            <a:chOff x="4002088" y="2569528"/>
            <a:chExt cx="2738118" cy="588645"/>
          </a:xfrm>
        </p:grpSpPr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5370512" y="2569528"/>
              <a:ext cx="1369694" cy="588645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lIns="92075" tIns="46038" rIns="92075" bIns="46038"/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auto">
                <a:spcBef>
                  <a:spcPct val="20000"/>
                </a:spcBef>
                <a:spcAft>
                  <a:spcPts val="0"/>
                </a:spcAft>
                <a:buClr>
                  <a:srgbClr val="333399"/>
                </a:buClr>
                <a:buSzPct val="75000"/>
                <a:buFont typeface="Monotype Sorts"/>
                <a:buNone/>
                <a:defRPr/>
              </a:pPr>
              <a:endParaRPr kumimoji="1" lang="en-US" altLang="zh-CN" sz="800" b="1" kern="0" dirty="0">
                <a:solidFill>
                  <a:srgbClr val="3333CC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  <a:p>
              <a:pPr algn="ctr" fontAlgn="auto" latinLnBrk="0">
                <a:lnSpc>
                  <a:spcPts val="258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99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400" b="1" i="1" kern="0" dirty="0">
                  <a:solidFill>
                    <a:srgbClr val="3333CC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C</a:t>
              </a:r>
              <a:r>
                <a:rPr kumimoji="1" lang="zh-CN" altLang="en-US" sz="2400" b="1" kern="0" dirty="0">
                  <a:solidFill>
                    <a:srgbClr val="3333CC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编译器</a:t>
              </a:r>
              <a:endParaRPr kumimoji="1" lang="zh-CN" altLang="en-US" sz="2400" b="1" kern="0" dirty="0">
                <a:solidFill>
                  <a:srgbClr val="3333CC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17" name="AutoShape 12"/>
            <p:cNvSpPr>
              <a:spLocks noChangeArrowheads="1"/>
            </p:cNvSpPr>
            <p:nvPr/>
          </p:nvSpPr>
          <p:spPr bwMode="auto">
            <a:xfrm>
              <a:off x="4002088" y="2716213"/>
              <a:ext cx="1296986" cy="249237"/>
            </a:xfrm>
            <a:prstGeom prst="rightArrow">
              <a:avLst>
                <a:gd name="adj1" fmla="val 50000"/>
                <a:gd name="adj2" fmla="val 150184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lIns="92075" tIns="46038" rIns="92075" bIns="46038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3333CC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</p:grpSp>
      <p:sp>
        <p:nvSpPr>
          <p:cNvPr id="20" name="AutoShape 12"/>
          <p:cNvSpPr>
            <a:spLocks noChangeArrowheads="1"/>
          </p:cNvSpPr>
          <p:nvPr/>
        </p:nvSpPr>
        <p:spPr bwMode="auto">
          <a:xfrm>
            <a:off x="500063" y="4216718"/>
            <a:ext cx="2765425" cy="249237"/>
          </a:xfrm>
          <a:prstGeom prst="rightArrow">
            <a:avLst>
              <a:gd name="adj1" fmla="val 50000"/>
              <a:gd name="adj2" fmla="val 281434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000000"/>
            </a:solidFill>
            <a:miter lim="800000"/>
          </a:ln>
        </p:spPr>
        <p:txBody>
          <a:bodyPr wrap="none" lIns="92075" tIns="46038" rIns="92075" bIns="46038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rgbClr val="3333CC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21" name="AutoShape 12"/>
          <p:cNvSpPr>
            <a:spLocks noChangeArrowheads="1"/>
          </p:cNvSpPr>
          <p:nvPr/>
        </p:nvSpPr>
        <p:spPr bwMode="auto">
          <a:xfrm>
            <a:off x="6300788" y="4289743"/>
            <a:ext cx="2232025" cy="215900"/>
          </a:xfrm>
          <a:prstGeom prst="rightArrow">
            <a:avLst>
              <a:gd name="adj1" fmla="val 50000"/>
              <a:gd name="adj2" fmla="val 258456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000000"/>
            </a:solidFill>
            <a:miter lim="800000"/>
          </a:ln>
        </p:spPr>
        <p:txBody>
          <a:bodyPr wrap="none" lIns="92075" tIns="46038" rIns="92075" bIns="46038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rgbClr val="3333CC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grpSp>
        <p:nvGrpSpPr>
          <p:cNvPr id="15" name="组合 14"/>
          <p:cNvGrpSpPr/>
          <p:nvPr/>
        </p:nvGrpSpPr>
        <p:grpSpPr bwMode="auto">
          <a:xfrm>
            <a:off x="300673" y="899795"/>
            <a:ext cx="2693035" cy="1837055"/>
            <a:chOff x="300673" y="909321"/>
            <a:chExt cx="2693035" cy="1837054"/>
          </a:xfrm>
        </p:grpSpPr>
        <p:sp>
          <p:nvSpPr>
            <p:cNvPr id="138261" name="Rectangle 25"/>
            <p:cNvSpPr>
              <a:spLocks noChangeArrowheads="1"/>
            </p:cNvSpPr>
            <p:nvPr/>
          </p:nvSpPr>
          <p:spPr bwMode="auto">
            <a:xfrm>
              <a:off x="835025" y="2284413"/>
              <a:ext cx="722313" cy="4619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eaLnBrk="1" hangingPunct="1"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altLang="zh-CN" b="1" i="1">
                  <a:solidFill>
                    <a:srgbClr val="3333CC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lex.l</a:t>
              </a:r>
              <a:endParaRPr lang="zh-CN" altLang="en-US" b="1" i="1">
                <a:solidFill>
                  <a:srgbClr val="3333CC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22" name="AutoShape 32"/>
            <p:cNvSpPr>
              <a:spLocks noChangeArrowheads="1"/>
            </p:cNvSpPr>
            <p:nvPr/>
          </p:nvSpPr>
          <p:spPr bwMode="auto">
            <a:xfrm>
              <a:off x="300673" y="909321"/>
              <a:ext cx="2693035" cy="1156334"/>
            </a:xfrm>
            <a:prstGeom prst="wedgeRoundRectCallout">
              <a:avLst>
                <a:gd name="adj1" fmla="val -21022"/>
                <a:gd name="adj2" fmla="val 81977"/>
                <a:gd name="adj3" fmla="val 16667"/>
              </a:avLst>
            </a:prstGeom>
            <a:noFill/>
            <a:ln w="9525">
              <a:solidFill>
                <a:srgbClr val="0070C0"/>
              </a:solidFill>
              <a:prstDash val="lgDash"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auto" hangingPunct="1"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defRPr/>
              </a:pPr>
              <a:r>
                <a:rPr lang="en-US" altLang="zh-CN" b="1" i="1" kern="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Lex</a:t>
              </a:r>
              <a:r>
                <a:rPr lang="zh-CN" altLang="en-US" b="1" kern="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源程序</a:t>
              </a:r>
              <a:endParaRPr lang="en-US" altLang="zh-CN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  <a:p>
              <a:pPr algn="ctr" eaLnBrk="1" fontAlgn="auto" hangingPunct="1"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defRPr/>
              </a:pPr>
              <a:r>
                <a:rPr lang="zh-CN" altLang="en-US" b="1" kern="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（</a:t>
              </a:r>
              <a:r>
                <a:rPr lang="en-US" altLang="zh-CN" b="1" i="1" kern="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X</a:t>
              </a:r>
              <a:r>
                <a:rPr lang="zh-CN" altLang="en-US" b="1" kern="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语言的词法定义</a:t>
              </a:r>
              <a:r>
                <a:rPr lang="en-US" altLang="zh-CN" b="1" kern="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RE</a:t>
              </a:r>
              <a:r>
                <a:rPr lang="zh-CN" altLang="en-US" b="1" kern="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以及自定义处理程序）</a:t>
              </a:r>
              <a:endPara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 bwMode="auto">
          <a:xfrm>
            <a:off x="3348038" y="1192213"/>
            <a:ext cx="2887662" cy="1514475"/>
            <a:chOff x="3347864" y="1201738"/>
            <a:chExt cx="2887836" cy="1515367"/>
          </a:xfrm>
        </p:grpSpPr>
        <p:sp>
          <p:nvSpPr>
            <p:cNvPr id="138259" name="Rectangle 4"/>
            <p:cNvSpPr>
              <a:spLocks noChangeArrowheads="1"/>
            </p:cNvSpPr>
            <p:nvPr/>
          </p:nvSpPr>
          <p:spPr bwMode="auto">
            <a:xfrm>
              <a:off x="4003675" y="2283718"/>
              <a:ext cx="1208089" cy="433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eaLnBrk="1" hangingPunct="1"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altLang="zh-CN" b="1" i="1" dirty="0" err="1">
                  <a:solidFill>
                    <a:srgbClr val="3333CC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lex.yy.c</a:t>
              </a:r>
              <a:endParaRPr lang="en-US" altLang="zh-CN" b="1" i="1" dirty="0">
                <a:solidFill>
                  <a:srgbClr val="3333CC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23" name="AutoShape 34"/>
            <p:cNvSpPr>
              <a:spLocks noChangeArrowheads="1"/>
            </p:cNvSpPr>
            <p:nvPr/>
          </p:nvSpPr>
          <p:spPr bwMode="auto">
            <a:xfrm>
              <a:off x="3347864" y="1201738"/>
              <a:ext cx="2887836" cy="865697"/>
            </a:xfrm>
            <a:prstGeom prst="wedgeRoundRectCallout">
              <a:avLst>
                <a:gd name="adj1" fmla="val -7532"/>
                <a:gd name="adj2" fmla="val 82491"/>
                <a:gd name="adj3" fmla="val 16667"/>
              </a:avLst>
            </a:prstGeom>
            <a:noFill/>
            <a:ln w="9525">
              <a:solidFill>
                <a:srgbClr val="0070C0"/>
              </a:solidFill>
              <a:prstDash val="lgDash"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auto" hangingPunct="1"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defRPr/>
              </a:pPr>
              <a:r>
                <a:rPr lang="en-US" altLang="zh-CN" b="1" i="1" kern="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X</a:t>
              </a:r>
              <a:r>
                <a:rPr lang="zh-CN" altLang="en-US" b="1" kern="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语言词法分析源程序</a:t>
              </a:r>
              <a:endParaRPr lang="zh-CN" altLang="en-US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  <a:p>
              <a:pPr algn="ctr" eaLnBrk="1" fontAlgn="auto" hangingPunct="1"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  <a:defRPr/>
              </a:pPr>
              <a:r>
                <a:rPr lang="zh-CN" altLang="en-US" b="1" kern="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（</a:t>
              </a:r>
              <a:r>
                <a:rPr lang="en-US" altLang="zh-CN" b="1" kern="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C</a:t>
              </a:r>
              <a:r>
                <a:rPr lang="zh-CN" altLang="en-US" b="1" kern="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语言）</a:t>
              </a:r>
              <a:endPara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 bwMode="auto">
          <a:xfrm>
            <a:off x="6762750" y="1530668"/>
            <a:ext cx="1724025" cy="1546225"/>
            <a:chOff x="6762084" y="1469080"/>
            <a:chExt cx="1723898" cy="1546224"/>
          </a:xfrm>
        </p:grpSpPr>
        <p:sp>
          <p:nvSpPr>
            <p:cNvPr id="19" name="AutoShape 12"/>
            <p:cNvSpPr>
              <a:spLocks noChangeArrowheads="1"/>
            </p:cNvSpPr>
            <p:nvPr/>
          </p:nvSpPr>
          <p:spPr bwMode="auto">
            <a:xfrm>
              <a:off x="6762084" y="2669229"/>
              <a:ext cx="777818" cy="244475"/>
            </a:xfrm>
            <a:prstGeom prst="rightArrow">
              <a:avLst>
                <a:gd name="adj1" fmla="val 50000"/>
                <a:gd name="adj2" fmla="val 133456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lIns="92075" tIns="46038" rIns="92075" bIns="46038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3333CC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grpSp>
          <p:nvGrpSpPr>
            <p:cNvPr id="138256" name="组合 27"/>
            <p:cNvGrpSpPr/>
            <p:nvPr/>
          </p:nvGrpSpPr>
          <p:grpSpPr bwMode="auto">
            <a:xfrm>
              <a:off x="6830220" y="1469080"/>
              <a:ext cx="1655762" cy="1546224"/>
              <a:chOff x="6811963" y="1200151"/>
              <a:chExt cx="1655762" cy="1546224"/>
            </a:xfrm>
          </p:grpSpPr>
          <p:sp>
            <p:nvSpPr>
              <p:cNvPr id="138257" name="Rectangle 28"/>
              <p:cNvSpPr>
                <a:spLocks noChangeArrowheads="1"/>
              </p:cNvSpPr>
              <p:nvPr/>
            </p:nvSpPr>
            <p:spPr bwMode="auto">
              <a:xfrm>
                <a:off x="7531100" y="2284413"/>
                <a:ext cx="825500" cy="4619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100000"/>
                  <a:buFont typeface="Symbol" panose="05050102010706020507" pitchFamily="18" charset="2"/>
                  <a:buChar char=""/>
                  <a:defRPr sz="2400">
                    <a:solidFill>
                      <a:schemeClr val="tx2"/>
                    </a:solidFill>
                    <a:latin typeface="Candara" panose="020E0502030303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100000"/>
                  <a:buFont typeface="Symbol" panose="05050102010706020507" pitchFamily="18" charset="2"/>
                  <a:buChar char=""/>
                  <a:defRPr sz="2200">
                    <a:solidFill>
                      <a:schemeClr val="tx2"/>
                    </a:solidFill>
                    <a:latin typeface="Candara" panose="020E0502030303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100000"/>
                  <a:buFont typeface="Symbol" panose="05050102010706020507" pitchFamily="18" charset="2"/>
                  <a:buChar char=""/>
                  <a:defRPr sz="2000">
                    <a:solidFill>
                      <a:schemeClr val="tx2"/>
                    </a:solidFill>
                    <a:latin typeface="Candara" panose="020E0502030303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SzPct val="100000"/>
                  <a:buFont typeface="Symbol" panose="05050102010706020507" pitchFamily="18" charset="2"/>
                  <a:buChar char=""/>
                  <a:defRPr sz="2000">
                    <a:solidFill>
                      <a:schemeClr val="tx2"/>
                    </a:solidFill>
                    <a:latin typeface="Candara" panose="020E0502030303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100000"/>
                  <a:buFont typeface="Symbol" panose="05050102010706020507" pitchFamily="18" charset="2"/>
                  <a:buChar char=""/>
                  <a:defRPr sz="1600">
                    <a:solidFill>
                      <a:schemeClr val="tx2"/>
                    </a:solidFill>
                    <a:latin typeface="Candara" panose="020E0502030303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Symbol" panose="05050102010706020507" pitchFamily="18" charset="2"/>
                  <a:buChar char=""/>
                  <a:defRPr sz="1600">
                    <a:solidFill>
                      <a:schemeClr val="tx2"/>
                    </a:solidFill>
                    <a:latin typeface="Candara" panose="020E0502030303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Symbol" panose="05050102010706020507" pitchFamily="18" charset="2"/>
                  <a:buChar char=""/>
                  <a:defRPr sz="1600">
                    <a:solidFill>
                      <a:schemeClr val="tx2"/>
                    </a:solidFill>
                    <a:latin typeface="Candara" panose="020E0502030303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Symbol" panose="05050102010706020507" pitchFamily="18" charset="2"/>
                  <a:buChar char=""/>
                  <a:defRPr sz="1600">
                    <a:solidFill>
                      <a:schemeClr val="tx2"/>
                    </a:solidFill>
                    <a:latin typeface="Candara" panose="020E0502030303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Symbol" panose="05050102010706020507" pitchFamily="18" charset="2"/>
                  <a:buChar char=""/>
                  <a:defRPr sz="1600">
                    <a:solidFill>
                      <a:schemeClr val="tx2"/>
                    </a:solidFill>
                    <a:latin typeface="Candara" panose="020E0502030303020204" pitchFamily="34" charset="0"/>
                  </a:defRPr>
                </a:lvl9pPr>
              </a:lstStyle>
              <a:p>
                <a:pPr eaLnBrk="1" hangingPunct="1"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</a:pPr>
                <a:r>
                  <a:rPr lang="en-US" altLang="zh-CN" b="1" i="1">
                    <a:solidFill>
                      <a:srgbClr val="3333CC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</a:rPr>
                  <a:t>a.out</a:t>
                </a:r>
                <a:endParaRPr lang="zh-CN" altLang="en-US" b="1" i="1">
                  <a:solidFill>
                    <a:srgbClr val="3333CC"/>
                  </a:solidFill>
                  <a:latin typeface="Times New Roman" panose="02020603050405020304" pitchFamily="18" charset="0"/>
                  <a:ea typeface="楷体" panose="02010609060101010101" pitchFamily="49" charset="-122"/>
                </a:endParaRPr>
              </a:p>
            </p:txBody>
          </p:sp>
          <p:sp>
            <p:nvSpPr>
              <p:cNvPr id="24" name="AutoShape 35"/>
              <p:cNvSpPr>
                <a:spLocks noChangeArrowheads="1"/>
              </p:cNvSpPr>
              <p:nvPr/>
            </p:nvSpPr>
            <p:spPr bwMode="auto">
              <a:xfrm>
                <a:off x="6812085" y="1200151"/>
                <a:ext cx="1655640" cy="939799"/>
              </a:xfrm>
              <a:prstGeom prst="wedgeRoundRectCallout">
                <a:avLst>
                  <a:gd name="adj1" fmla="val 20462"/>
                  <a:gd name="adj2" fmla="val 72771"/>
                  <a:gd name="adj3" fmla="val 16667"/>
                </a:avLst>
              </a:prstGeom>
              <a:noFill/>
              <a:ln w="9525">
                <a:solidFill>
                  <a:srgbClr val="0070C0"/>
                </a:solidFill>
                <a:prstDash val="lgDash"/>
                <a:miter lim="800000"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auto" hangingPunct="1">
                  <a:spcBef>
                    <a:spcPct val="20000"/>
                  </a:spcBef>
                  <a:spcAft>
                    <a:spcPts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r>
                  <a:rPr lang="en-US" altLang="zh-CN" b="1" i="1" kern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</a:rPr>
                  <a:t>X</a:t>
                </a:r>
                <a:r>
                  <a:rPr lang="zh-CN" altLang="en-US" b="1" kern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</a:rPr>
                  <a:t>语言</a:t>
                </a:r>
                <a:endParaRPr lang="en-US" altLang="zh-CN" b="1" kern="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endParaRPr>
              </a:p>
              <a:p>
                <a:pPr algn="ctr" eaLnBrk="1" fontAlgn="auto" hangingPunct="1">
                  <a:spcBef>
                    <a:spcPct val="20000"/>
                  </a:spcBef>
                  <a:spcAft>
                    <a:spcPts val="0"/>
                  </a:spcAft>
                  <a:buClr>
                    <a:srgbClr val="3333CC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r>
                  <a:rPr lang="zh-CN" altLang="en-US" b="1" kern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</a:rPr>
                  <a:t>词法分析器</a:t>
                </a:r>
                <a:endParaRPr lang="zh-CN" altLang="en-US" kern="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endParaRPr>
              </a:p>
            </p:txBody>
          </p:sp>
        </p:grpSp>
      </p:grpSp>
      <p:cxnSp>
        <p:nvCxnSpPr>
          <p:cNvPr id="7" name="连接符: 肘形 6"/>
          <p:cNvCxnSpPr>
            <a:stCxn id="138257" idx="2"/>
            <a:endCxn id="13" idx="0"/>
          </p:cNvCxnSpPr>
          <p:nvPr/>
        </p:nvCxnSpPr>
        <p:spPr>
          <a:xfrm rot="5400000">
            <a:off x="5981700" y="1886585"/>
            <a:ext cx="791210" cy="3170555"/>
          </a:xfrm>
          <a:prstGeom prst="bentConnector3">
            <a:avLst>
              <a:gd name="adj1" fmla="val 49960"/>
            </a:avLst>
          </a:prstGeom>
          <a:ln w="50800">
            <a:solidFill>
              <a:srgbClr val="0070C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2055495" y="3119120"/>
            <a:ext cx="16522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</a:t>
            </a:r>
            <a:r>
              <a:rPr lang="zh-CN" altLang="en-US" b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到</a:t>
            </a:r>
            <a:r>
              <a:rPr lang="en-US" altLang="zh-CN" b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DFA</a:t>
            </a:r>
            <a:r>
              <a:rPr lang="zh-CN" altLang="en-US" b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转换及程序生成</a:t>
            </a:r>
            <a:endParaRPr lang="zh-CN" altLang="en-US" b="1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bldLvl="0" animBg="1"/>
      <p:bldP spid="14" grpId="0"/>
      <p:bldP spid="20" grpId="0" bldLvl="0" animBg="1"/>
      <p:bldP spid="21" grpId="0" bldLvl="0" animBg="1"/>
      <p:bldP spid="2" grpId="0"/>
      <p:bldP spid="2" grpId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/>
          <p:cNvSpPr/>
          <p:nvPr/>
        </p:nvSpPr>
        <p:spPr>
          <a:xfrm>
            <a:off x="1195705" y="3453130"/>
            <a:ext cx="4571365" cy="139319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1173163" y="2311400"/>
            <a:ext cx="5198964" cy="8556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168400" y="365125"/>
            <a:ext cx="4819650" cy="14049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187449" y="195263"/>
            <a:ext cx="5267325" cy="477043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ko-KR" dirty="0">
                <a:solidFill>
                  <a:schemeClr val="tx1"/>
                </a:solidFill>
              </a:rPr>
              <a:t>%{</a:t>
            </a:r>
            <a:r>
              <a:rPr lang="ko-KR" altLang="en-US" dirty="0">
                <a:solidFill>
                  <a:schemeClr val="tx1"/>
                </a:solidFill>
              </a:rPr>
              <a:t>／＊</a:t>
            </a:r>
            <a:r>
              <a:rPr lang="zh-CN" altLang="en-US" dirty="0">
                <a:solidFill>
                  <a:schemeClr val="tx1"/>
                </a:solidFill>
              </a:rPr>
              <a:t>此处省略 ＃</a:t>
            </a:r>
            <a:r>
              <a:rPr lang="en-US" altLang="zh-CN" dirty="0">
                <a:solidFill>
                  <a:schemeClr val="tx1"/>
                </a:solidFill>
              </a:rPr>
              <a:t>include</a:t>
            </a:r>
            <a:r>
              <a:rPr lang="zh-CN" altLang="en-US" dirty="0">
                <a:solidFill>
                  <a:schemeClr val="tx1"/>
                </a:solidFill>
              </a:rPr>
              <a:t>部分＊／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zh-CN" dirty="0">
                <a:solidFill>
                  <a:schemeClr val="tx1"/>
                </a:solidFill>
              </a:rPr>
              <a:t>     int chars=0;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zh-CN" dirty="0">
                <a:solidFill>
                  <a:schemeClr val="tx1"/>
                </a:solidFill>
              </a:rPr>
              <a:t>     int words = 0;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zh-CN" dirty="0">
                <a:solidFill>
                  <a:schemeClr val="tx1"/>
                </a:solidFill>
              </a:rPr>
              <a:t>     int lines=0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 dirty="0">
                <a:solidFill>
                  <a:schemeClr val="tx1"/>
                </a:solidFill>
              </a:rPr>
              <a:t>} %</a:t>
            </a:r>
            <a:endParaRPr lang="en-US" altLang="ko-KR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zh-CN" dirty="0">
                <a:solidFill>
                  <a:schemeClr val="tx1"/>
                </a:solidFill>
              </a:rPr>
              <a:t>letter [a-</a:t>
            </a:r>
            <a:r>
              <a:rPr lang="en-US" altLang="zh-CN" dirty="0" err="1">
                <a:solidFill>
                  <a:schemeClr val="tx1"/>
                </a:solidFill>
              </a:rPr>
              <a:t>zA</a:t>
            </a:r>
            <a:r>
              <a:rPr lang="en-US" altLang="zh-CN" dirty="0">
                <a:solidFill>
                  <a:schemeClr val="tx1"/>
                </a:solidFill>
              </a:rPr>
              <a:t>-Z]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ko-KR" dirty="0">
                <a:solidFill>
                  <a:srgbClr val="FF0000"/>
                </a:solidFill>
              </a:rPr>
              <a:t>%%</a:t>
            </a:r>
            <a:endParaRPr lang="en-US" altLang="ko-KR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altLang="ko-KR" dirty="0">
                <a:solidFill>
                  <a:srgbClr val="FF0000"/>
                </a:solidFill>
              </a:rPr>
              <a:t>{</a:t>
            </a:r>
            <a:r>
              <a:rPr lang="en-US" altLang="zh-CN" dirty="0">
                <a:solidFill>
                  <a:srgbClr val="FF0000"/>
                </a:solidFill>
              </a:rPr>
              <a:t>letter}+</a:t>
            </a:r>
            <a:r>
              <a:rPr lang="en-US" altLang="zh-CN" dirty="0">
                <a:solidFill>
                  <a:schemeClr val="tx1"/>
                </a:solidFill>
              </a:rPr>
              <a:t>  {words++;   chars+= </a:t>
            </a:r>
            <a:r>
              <a:rPr lang="en-US" altLang="zh-CN" dirty="0" err="1">
                <a:solidFill>
                  <a:schemeClr val="tx1"/>
                </a:solidFill>
              </a:rPr>
              <a:t>yyleng</a:t>
            </a:r>
            <a:r>
              <a:rPr lang="en-US" altLang="zh-CN" dirty="0">
                <a:solidFill>
                  <a:schemeClr val="tx1"/>
                </a:solidFill>
              </a:rPr>
              <a:t>; }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zh-CN" dirty="0">
                <a:solidFill>
                  <a:srgbClr val="FF0000"/>
                </a:solidFill>
              </a:rPr>
              <a:t>\n	</a:t>
            </a:r>
            <a:r>
              <a:rPr lang="en-US" altLang="zh-CN" dirty="0">
                <a:solidFill>
                  <a:schemeClr val="tx1"/>
                </a:solidFill>
              </a:rPr>
              <a:t> { chars++; </a:t>
            </a:r>
            <a:r>
              <a:rPr lang="en-US" altLang="zh-CN" dirty="0" err="1">
                <a:solidFill>
                  <a:schemeClr val="tx1"/>
                </a:solidFill>
              </a:rPr>
              <a:t>linesars</a:t>
            </a:r>
            <a:r>
              <a:rPr lang="en-US" altLang="zh-CN" dirty="0">
                <a:solidFill>
                  <a:schemeClr val="tx1"/>
                </a:solidFill>
              </a:rPr>
              <a:t>++;}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zh-CN" dirty="0">
                <a:solidFill>
                  <a:srgbClr val="FF0000"/>
                </a:solidFill>
              </a:rPr>
              <a:t>.</a:t>
            </a:r>
            <a:r>
              <a:rPr lang="en-US" altLang="zh-CN" dirty="0">
                <a:solidFill>
                  <a:schemeClr val="tx1"/>
                </a:solidFill>
              </a:rPr>
              <a:t> 	{ chars++; }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zh-CN" dirty="0">
                <a:solidFill>
                  <a:srgbClr val="FF0000"/>
                </a:solidFill>
              </a:rPr>
              <a:t>%%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altLang="zh-CN" dirty="0">
                <a:solidFill>
                  <a:schemeClr val="tx1"/>
                </a:solidFill>
              </a:rPr>
              <a:t>int main(int </a:t>
            </a:r>
            <a:r>
              <a:rPr lang="en-US" altLang="zh-CN" dirty="0" err="1">
                <a:solidFill>
                  <a:schemeClr val="tx1"/>
                </a:solidFill>
              </a:rPr>
              <a:t>argc, char</a:t>
            </a:r>
            <a:r>
              <a:rPr lang="en-US" altLang="zh-CN" dirty="0">
                <a:solidFill>
                  <a:schemeClr val="tx1"/>
                </a:solidFill>
              </a:rPr>
              <a:t>** </a:t>
            </a:r>
            <a:r>
              <a:rPr lang="en-US" altLang="zh-CN" dirty="0" err="1">
                <a:solidFill>
                  <a:schemeClr val="tx1"/>
                </a:solidFill>
              </a:rPr>
              <a:t>argv</a:t>
            </a:r>
            <a:r>
              <a:rPr lang="en-US" altLang="zh-CN" dirty="0">
                <a:solidFill>
                  <a:schemeClr val="tx1"/>
                </a:solidFill>
              </a:rPr>
              <a:t>) {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zh-CN" dirty="0">
                <a:solidFill>
                  <a:schemeClr val="tx1"/>
                </a:solidFill>
              </a:rPr>
              <a:t>if (</a:t>
            </a:r>
            <a:r>
              <a:rPr lang="en-US" altLang="zh-CN" dirty="0" err="1">
                <a:solidFill>
                  <a:schemeClr val="tx1"/>
                </a:solidFill>
              </a:rPr>
              <a:t>argc</a:t>
            </a:r>
            <a:r>
              <a:rPr lang="en-US" altLang="zh-CN" dirty="0">
                <a:solidFill>
                  <a:schemeClr val="tx1"/>
                </a:solidFill>
              </a:rPr>
              <a:t>&gt;1) { if (! (</a:t>
            </a:r>
            <a:r>
              <a:rPr lang="en-US" altLang="zh-CN" b="1" dirty="0" err="1">
                <a:solidFill>
                  <a:srgbClr val="FF0000"/>
                </a:solidFill>
              </a:rPr>
              <a:t>yyin</a:t>
            </a:r>
            <a:r>
              <a:rPr lang="en-US" altLang="zh-CN" b="1" dirty="0">
                <a:solidFill>
                  <a:srgbClr val="FF0000"/>
                </a:solidFill>
              </a:rPr>
              <a:t> = </a:t>
            </a:r>
            <a:r>
              <a:rPr lang="en-US" altLang="zh-CN" b="1" dirty="0" err="1">
                <a:solidFill>
                  <a:srgbClr val="FF0000"/>
                </a:solidFill>
              </a:rPr>
              <a:t>fopen</a:t>
            </a:r>
            <a:r>
              <a:rPr lang="en-US" altLang="zh-CN" b="1" dirty="0">
                <a:solidFill>
                  <a:srgbClr val="FF0000"/>
                </a:solidFill>
              </a:rPr>
              <a:t>(</a:t>
            </a:r>
            <a:r>
              <a:rPr lang="en-US" altLang="zh-CN" b="1" dirty="0" err="1">
                <a:solidFill>
                  <a:srgbClr val="FF0000"/>
                </a:solidFill>
              </a:rPr>
              <a:t>argv</a:t>
            </a:r>
            <a:r>
              <a:rPr lang="en-US" altLang="zh-CN" b="1" dirty="0">
                <a:solidFill>
                  <a:srgbClr val="FF0000"/>
                </a:solidFill>
              </a:rPr>
              <a:t>[1],"r") </a:t>
            </a:r>
            <a:r>
              <a:rPr lang="en-US" altLang="zh-CN" dirty="0">
                <a:solidFill>
                  <a:schemeClr val="tx1"/>
                </a:solidFill>
              </a:rPr>
              <a:t>) ) {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zh-CN" dirty="0">
                <a:solidFill>
                  <a:schemeClr val="tx1"/>
                </a:solidFill>
              </a:rPr>
              <a:t>       </a:t>
            </a:r>
            <a:r>
              <a:rPr lang="en-US" altLang="zh-CN" dirty="0" err="1">
                <a:solidFill>
                  <a:schemeClr val="tx1"/>
                </a:solidFill>
              </a:rPr>
              <a:t>perror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en-US" altLang="zh-CN" dirty="0" err="1">
                <a:solidFill>
                  <a:schemeClr val="tx1"/>
                </a:solidFill>
              </a:rPr>
              <a:t>argv</a:t>
            </a:r>
            <a:r>
              <a:rPr lang="en-US" altLang="zh-CN" dirty="0">
                <a:solidFill>
                  <a:schemeClr val="tx1"/>
                </a:solidFill>
              </a:rPr>
              <a:t>[1]); return 1;  } }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altLang="zh-CN" b="1" dirty="0" err="1">
                <a:solidFill>
                  <a:srgbClr val="FF0000"/>
                </a:solidFill>
              </a:rPr>
              <a:t>yylex</a:t>
            </a:r>
            <a:r>
              <a:rPr lang="en-US" altLang="zh-CN" b="1" dirty="0">
                <a:solidFill>
                  <a:srgbClr val="FF0000"/>
                </a:solidFill>
              </a:rPr>
              <a:t>();</a:t>
            </a:r>
            <a:endParaRPr lang="en-US" altLang="zh-CN" b="1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altLang="zh-CN" dirty="0" err="1">
                <a:solidFill>
                  <a:schemeClr val="tx1"/>
                </a:solidFill>
              </a:rPr>
              <a:t>printf</a:t>
            </a:r>
            <a:r>
              <a:rPr lang="en-US" altLang="zh-CN" dirty="0">
                <a:solidFill>
                  <a:schemeClr val="tx1"/>
                </a:solidFill>
              </a:rPr>
              <a:t>("%8d%8d%8d\</a:t>
            </a:r>
            <a:r>
              <a:rPr lang="en-US" altLang="zh-CN" dirty="0" err="1">
                <a:solidFill>
                  <a:schemeClr val="tx1"/>
                </a:solidFill>
              </a:rPr>
              <a:t>n",words</a:t>
            </a:r>
            <a:r>
              <a:rPr lang="en-US" altLang="zh-CN" dirty="0">
                <a:solidFill>
                  <a:schemeClr val="tx1"/>
                </a:solidFill>
              </a:rPr>
              <a:t>, chars);return 0;}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2468" name="标题 1"/>
          <p:cNvSpPr>
            <a:spLocks noGrp="1"/>
          </p:cNvSpPr>
          <p:nvPr>
            <p:ph type="title"/>
          </p:nvPr>
        </p:nvSpPr>
        <p:spPr>
          <a:xfrm>
            <a:off x="107633" y="490538"/>
            <a:ext cx="989012" cy="3521075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sz="2400" spc="3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Flex</a:t>
            </a:r>
            <a:br>
              <a:rPr lang="en-US" altLang="zh-CN" sz="2400" spc="3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2400" spc="3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程</a:t>
            </a:r>
            <a:br>
              <a:rPr lang="en-US" altLang="zh-CN" sz="2400" spc="3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2400" spc="3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序</a:t>
            </a:r>
            <a:br>
              <a:rPr lang="en-US" altLang="zh-CN" sz="2400" spc="3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2400" spc="3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br>
              <a:rPr lang="en-US" altLang="zh-CN" sz="2400" spc="3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2400" spc="3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结</a:t>
            </a:r>
            <a:br>
              <a:rPr lang="en-US" altLang="zh-CN" sz="2400" spc="3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2400" spc="3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构</a:t>
            </a:r>
            <a:endParaRPr lang="zh-CN" altLang="en-US" sz="2400" spc="300" dirty="0">
              <a:solidFill>
                <a:schemeClr val="tx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41319" name="组合 44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41345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141320" name="灯片编号占位符 3"/>
          <p:cNvSpPr txBox="1"/>
          <p:nvPr/>
        </p:nvSpPr>
        <p:spPr bwMode="auto">
          <a:xfrm>
            <a:off x="7145338" y="45085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FF3AF90-B687-44E6-BE56-F2492D0F31A0}" type="slidenum">
              <a:rPr lang="zh-CN" altLang="en-US" sz="1400">
                <a:solidFill>
                  <a:srgbClr val="000000"/>
                </a:solidFill>
                <a:latin typeface="Tahoma" panose="020B0604030504040204" pitchFamily="34" charset="0"/>
              </a:rPr>
            </a:fld>
            <a:endParaRPr lang="en-US" altLang="zh-CN" sz="1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 bwMode="auto">
          <a:xfrm>
            <a:off x="6156325" y="311150"/>
            <a:ext cx="1638300" cy="1730375"/>
            <a:chOff x="6383338" y="311349"/>
            <a:chExt cx="1144910" cy="1458925"/>
          </a:xfrm>
        </p:grpSpPr>
        <p:sp>
          <p:nvSpPr>
            <p:cNvPr id="141342" name="矩形 4"/>
            <p:cNvSpPr>
              <a:spLocks noChangeArrowheads="1"/>
            </p:cNvSpPr>
            <p:nvPr/>
          </p:nvSpPr>
          <p:spPr bwMode="auto">
            <a:xfrm>
              <a:off x="6534149" y="813644"/>
              <a:ext cx="994099" cy="389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b="1">
                  <a:solidFill>
                    <a:srgbClr val="0000FF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定义部分</a:t>
              </a:r>
              <a:endParaRPr lang="en-US" altLang="zh-CN" sz="18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2" name="右大括号 31"/>
            <p:cNvSpPr/>
            <p:nvPr/>
          </p:nvSpPr>
          <p:spPr>
            <a:xfrm>
              <a:off x="6383338" y="311349"/>
              <a:ext cx="224101" cy="1458925"/>
            </a:xfrm>
            <a:prstGeom prst="rightBrace">
              <a:avLst/>
            </a:prstGeom>
            <a:noFill/>
            <a:ln w="25400" cap="flat" cmpd="sng" algn="ctr">
              <a:solidFill>
                <a:srgbClr val="0000FF"/>
              </a:solidFill>
              <a:prstDash val="solid"/>
            </a:ln>
            <a:effectLst/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FF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 bwMode="auto">
          <a:xfrm>
            <a:off x="6643761" y="2322513"/>
            <a:ext cx="1744663" cy="825500"/>
            <a:chOff x="6356350" y="2322611"/>
            <a:chExt cx="1744447" cy="825204"/>
          </a:xfrm>
        </p:grpSpPr>
        <p:sp>
          <p:nvSpPr>
            <p:cNvPr id="141340" name="矩形 7"/>
            <p:cNvSpPr>
              <a:spLocks noChangeArrowheads="1"/>
            </p:cNvSpPr>
            <p:nvPr/>
          </p:nvSpPr>
          <p:spPr bwMode="auto">
            <a:xfrm>
              <a:off x="6678613" y="2499742"/>
              <a:ext cx="1422184" cy="461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b="1">
                  <a:solidFill>
                    <a:srgbClr val="0000FF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转换规则</a:t>
              </a:r>
              <a:endParaRPr lang="zh-CN" altLang="en-US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4" name="右大括号 33"/>
            <p:cNvSpPr/>
            <p:nvPr/>
          </p:nvSpPr>
          <p:spPr>
            <a:xfrm>
              <a:off x="6356350" y="2322611"/>
              <a:ext cx="322223" cy="825204"/>
            </a:xfrm>
            <a:prstGeom prst="rightBrace">
              <a:avLst/>
            </a:prstGeom>
            <a:noFill/>
            <a:ln w="25400" cap="flat" cmpd="sng" algn="ctr">
              <a:solidFill>
                <a:srgbClr val="0000FF"/>
              </a:solidFill>
              <a:prstDash val="solid"/>
            </a:ln>
            <a:effectLst/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</p:grpSp>
      <p:grpSp>
        <p:nvGrpSpPr>
          <p:cNvPr id="9" name="组合 8"/>
          <p:cNvGrpSpPr/>
          <p:nvPr/>
        </p:nvGrpSpPr>
        <p:grpSpPr bwMode="auto">
          <a:xfrm>
            <a:off x="5866765" y="3411538"/>
            <a:ext cx="2651125" cy="1366837"/>
            <a:chOff x="6383338" y="3780861"/>
            <a:chExt cx="2651105" cy="1366915"/>
          </a:xfrm>
        </p:grpSpPr>
        <p:sp>
          <p:nvSpPr>
            <p:cNvPr id="35" name="矩形 8"/>
            <p:cNvSpPr>
              <a:spLocks noChangeArrowheads="1"/>
            </p:cNvSpPr>
            <p:nvPr/>
          </p:nvSpPr>
          <p:spPr bwMode="auto">
            <a:xfrm>
              <a:off x="6607174" y="4093616"/>
              <a:ext cx="2427269" cy="46198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kern="0" dirty="0">
                  <a:solidFill>
                    <a:srgbClr val="0000FF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用户自定义代码</a:t>
              </a:r>
              <a:r>
                <a:rPr lang="en-US" altLang="zh-CN" sz="2400" b="1" kern="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 </a:t>
              </a:r>
              <a:endParaRPr lang="zh-CN" altLang="en-US" sz="1600" kern="0" dirty="0">
                <a:solidFill>
                  <a:srgbClr val="0000FF"/>
                </a:solidFill>
              </a:endParaRPr>
            </a:p>
          </p:txBody>
        </p:sp>
        <p:sp>
          <p:nvSpPr>
            <p:cNvPr id="36" name="右大括号 35"/>
            <p:cNvSpPr/>
            <p:nvPr/>
          </p:nvSpPr>
          <p:spPr>
            <a:xfrm>
              <a:off x="6383338" y="3780861"/>
              <a:ext cx="204786" cy="1366915"/>
            </a:xfrm>
            <a:prstGeom prst="rightBrace">
              <a:avLst>
                <a:gd name="adj1" fmla="val 0"/>
                <a:gd name="adj2" fmla="val 50000"/>
              </a:avLst>
            </a:prstGeom>
            <a:noFill/>
            <a:ln w="25400" cap="flat" cmpd="sng" algn="ctr">
              <a:solidFill>
                <a:srgbClr val="0000FF"/>
              </a:solidFill>
              <a:prstDash val="solid"/>
            </a:ln>
            <a:effectLst/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</p:grpSp>
      <p:sp>
        <p:nvSpPr>
          <p:cNvPr id="133133" name="Rectangle 15"/>
          <p:cNvSpPr>
            <a:spLocks noChangeArrowheads="1"/>
          </p:cNvSpPr>
          <p:nvPr/>
        </p:nvSpPr>
        <p:spPr bwMode="auto">
          <a:xfrm>
            <a:off x="4355975" y="2682875"/>
            <a:ext cx="2016151" cy="4651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0000FF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模式</a:t>
            </a: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(RE)</a:t>
            </a:r>
            <a:r>
              <a:rPr lang="zh-CN" altLang="en-US" sz="20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{</a:t>
            </a:r>
            <a:r>
              <a:rPr lang="zh-CN" altLang="en-US" sz="20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动作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}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" name="圆角矩形标注 38"/>
          <p:cNvSpPr/>
          <p:nvPr/>
        </p:nvSpPr>
        <p:spPr>
          <a:xfrm>
            <a:off x="3397250" y="877888"/>
            <a:ext cx="2327275" cy="739775"/>
          </a:xfrm>
          <a:prstGeom prst="wedgeRoundRectCallout">
            <a:avLst>
              <a:gd name="adj1" fmla="val -71251"/>
              <a:gd name="adj2" fmla="val -31786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25400" cap="flat" cmpd="sng" algn="ctr">
            <a:solidFill>
              <a:srgbClr val="00E4A8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所有内容都被直接复制到文件</a:t>
            </a:r>
            <a:r>
              <a:rPr lang="en-US" altLang="zh-CN" b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lex.yy.c</a:t>
            </a:r>
            <a:r>
              <a:rPr lang="zh-CN" altLang="en-US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中</a:t>
            </a:r>
            <a:endParaRPr lang="zh-CN" altLang="en-US" b="1" kern="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40" name="圆角矩形标注 39"/>
          <p:cNvSpPr/>
          <p:nvPr/>
        </p:nvSpPr>
        <p:spPr>
          <a:xfrm>
            <a:off x="6203315" y="4329113"/>
            <a:ext cx="2427288" cy="635000"/>
          </a:xfrm>
          <a:prstGeom prst="wedgeRoundRectCallout">
            <a:avLst>
              <a:gd name="adj1" fmla="val -12113"/>
              <a:gd name="adj2" fmla="val -86263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25400" cap="flat" cmpd="sng" algn="ctr">
            <a:solidFill>
              <a:srgbClr val="00E4A8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所有内容都被直接复制到文件</a:t>
            </a:r>
            <a:r>
              <a:rPr lang="en-US" altLang="zh-CN" b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lex.yy.c</a:t>
            </a:r>
            <a:r>
              <a:rPr lang="zh-CN" altLang="en-US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中</a:t>
            </a:r>
            <a:endParaRPr lang="zh-CN" altLang="en-US" b="1" kern="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grpSp>
        <p:nvGrpSpPr>
          <p:cNvPr id="4" name="组合 3"/>
          <p:cNvGrpSpPr/>
          <p:nvPr/>
        </p:nvGrpSpPr>
        <p:grpSpPr bwMode="auto">
          <a:xfrm>
            <a:off x="1201738" y="369888"/>
            <a:ext cx="398462" cy="1385887"/>
            <a:chOff x="1201861" y="370370"/>
            <a:chExt cx="398464" cy="1385864"/>
          </a:xfrm>
        </p:grpSpPr>
        <p:sp>
          <p:nvSpPr>
            <p:cNvPr id="29" name="矩形 28"/>
            <p:cNvSpPr/>
            <p:nvPr/>
          </p:nvSpPr>
          <p:spPr>
            <a:xfrm>
              <a:off x="1201861" y="370370"/>
              <a:ext cx="379414" cy="336544"/>
            </a:xfrm>
            <a:prstGeom prst="rect">
              <a:avLst/>
            </a:prstGeom>
            <a:noFill/>
            <a:ln w="25400" cap="flat" cmpd="sng" algn="ctr">
              <a:solidFill>
                <a:srgbClr val="0000FF"/>
              </a:solidFill>
              <a:prstDash val="solid"/>
            </a:ln>
            <a:effectLst/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FFFFFF"/>
                </a:solidFill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1201861" y="1419690"/>
              <a:ext cx="398464" cy="336544"/>
            </a:xfrm>
            <a:prstGeom prst="rect">
              <a:avLst/>
            </a:prstGeom>
            <a:noFill/>
            <a:ln w="25400" cap="flat" cmpd="sng" algn="ctr">
              <a:solidFill>
                <a:srgbClr val="0000FF"/>
              </a:solidFill>
              <a:prstDash val="solid"/>
            </a:ln>
            <a:effectLst/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7" name="组合 6"/>
          <p:cNvGrpSpPr/>
          <p:nvPr/>
        </p:nvGrpSpPr>
        <p:grpSpPr bwMode="auto">
          <a:xfrm>
            <a:off x="1168400" y="2041525"/>
            <a:ext cx="450850" cy="1370013"/>
            <a:chOff x="1168400" y="2040830"/>
            <a:chExt cx="450936" cy="1370493"/>
          </a:xfrm>
        </p:grpSpPr>
        <p:sp>
          <p:nvSpPr>
            <p:cNvPr id="41" name="矩形 40"/>
            <p:cNvSpPr/>
            <p:nvPr/>
          </p:nvSpPr>
          <p:spPr>
            <a:xfrm>
              <a:off x="1168400" y="2040830"/>
              <a:ext cx="446173" cy="257265"/>
            </a:xfrm>
            <a:prstGeom prst="rect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FFFFFF"/>
                </a:solidFill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173164" y="3154058"/>
              <a:ext cx="446172" cy="257265"/>
            </a:xfrm>
            <a:prstGeom prst="rect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FFFFFF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 bwMode="auto">
          <a:xfrm>
            <a:off x="2700338" y="1677988"/>
            <a:ext cx="2519362" cy="461962"/>
            <a:chOff x="2699792" y="1678037"/>
            <a:chExt cx="4878568" cy="461665"/>
          </a:xfrm>
        </p:grpSpPr>
        <p:cxnSp>
          <p:nvCxnSpPr>
            <p:cNvPr id="11" name="直接箭头连接符 10"/>
            <p:cNvCxnSpPr/>
            <p:nvPr/>
          </p:nvCxnSpPr>
          <p:spPr>
            <a:xfrm>
              <a:off x="2699792" y="1923941"/>
              <a:ext cx="3455269" cy="0"/>
            </a:xfrm>
            <a:prstGeom prst="straightConnector1">
              <a:avLst/>
            </a:prstGeom>
            <a:ln w="5715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333" name="矩形 11"/>
            <p:cNvSpPr>
              <a:spLocks noChangeArrowheads="1"/>
            </p:cNvSpPr>
            <p:nvPr/>
          </p:nvSpPr>
          <p:spPr bwMode="auto">
            <a:xfrm>
              <a:off x="6156176" y="1678037"/>
              <a:ext cx="14221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b="1">
                  <a:solidFill>
                    <a:srgbClr val="0000FF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正则定义</a:t>
              </a:r>
              <a:endParaRPr lang="zh-CN" altLang="en-US" sz="2400"/>
            </a:p>
          </p:txBody>
        </p:sp>
      </p:grpSp>
      <p:sp>
        <p:nvSpPr>
          <p:cNvPr id="15" name="矩形 14"/>
          <p:cNvSpPr/>
          <p:nvPr/>
        </p:nvSpPr>
        <p:spPr>
          <a:xfrm>
            <a:off x="8418513" y="709613"/>
            <a:ext cx="549275" cy="33845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b="1" dirty="0">
                <a:solidFill>
                  <a:srgbClr val="0000FF"/>
                </a:solidFill>
              </a:rPr>
              <a:t>两组</a:t>
            </a:r>
            <a:r>
              <a:rPr lang="en-US" altLang="zh-CN" b="1" dirty="0">
                <a:solidFill>
                  <a:srgbClr val="0000FF"/>
                </a:solidFill>
              </a:rPr>
              <a:t>%% </a:t>
            </a:r>
            <a:r>
              <a:rPr lang="zh-CN" altLang="en-US" b="1" dirty="0">
                <a:solidFill>
                  <a:srgbClr val="0000FF"/>
                </a:solidFill>
              </a:rPr>
              <a:t>将代码分为三部分</a:t>
            </a:r>
            <a:r>
              <a:rPr lang="en-US" altLang="zh-CN" b="1" dirty="0">
                <a:solidFill>
                  <a:srgbClr val="0000FF"/>
                </a:solidFill>
              </a:rPr>
              <a:t> 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42" name="矩形 4"/>
          <p:cNvSpPr>
            <a:spLocks noChangeArrowheads="1"/>
          </p:cNvSpPr>
          <p:nvPr/>
        </p:nvSpPr>
        <p:spPr bwMode="auto">
          <a:xfrm>
            <a:off x="3529013" y="-28575"/>
            <a:ext cx="2778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声明部分（可选）</a:t>
            </a:r>
            <a:endParaRPr lang="en-US" altLang="zh-CN" sz="1800" b="1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33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bldLvl="0" animBg="1"/>
      <p:bldP spid="24" grpId="0" bldLvl="0" animBg="1"/>
      <p:bldP spid="3" grpId="0" bldLvl="0" animBg="1"/>
      <p:bldP spid="133133" grpId="0" bldLvl="0" animBg="1"/>
      <p:bldP spid="39" grpId="0" bldLvl="0" animBg="1"/>
      <p:bldP spid="40" grpId="0" bldLvl="0" animBg="1"/>
      <p:bldP spid="15" grpId="0" bldLvl="0" animBg="1"/>
      <p:bldP spid="4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67" name="Object 13"/>
          <p:cNvGraphicFramePr>
            <a:graphicFrameLocks noChangeAspect="1"/>
          </p:cNvGraphicFramePr>
          <p:nvPr/>
        </p:nvGraphicFramePr>
        <p:xfrm>
          <a:off x="2266157" y="987108"/>
          <a:ext cx="5161915" cy="3496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63" name="Visio" r:id="rId1" imgW="2707005" imgH="1940560" progId="Visio.Drawing.11">
                  <p:embed/>
                </p:oleObj>
              </mc:Choice>
              <mc:Fallback>
                <p:oleObj name="Visio" r:id="rId1" imgW="2707005" imgH="1940560" progId="Visio.Drawing.11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6157" y="987108"/>
                        <a:ext cx="5161915" cy="34963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日期占位符 1"/>
          <p:cNvSpPr txBox="1">
            <a:spLocks noGrp="1"/>
          </p:cNvSpPr>
          <p:nvPr/>
        </p:nvSpPr>
        <p:spPr bwMode="auto">
          <a:xfrm>
            <a:off x="1485900" y="4684713"/>
            <a:ext cx="1600200" cy="357187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pPr eaLnBrk="1" hangingPunct="1">
              <a:defRPr/>
            </a:pPr>
            <a:fld id="{D3CCB869-D0D5-4075-A97C-6550E49437AA}" type="datetime1">
              <a:rPr lang="zh-CN" altLang="en-US" sz="1050">
                <a:latin typeface="+mn-lt"/>
              </a:rPr>
            </a:fld>
            <a:endParaRPr lang="en-US" altLang="zh-CN" sz="1050">
              <a:latin typeface="+mn-lt"/>
            </a:endParaRPr>
          </a:p>
        </p:txBody>
      </p:sp>
      <p:sp>
        <p:nvSpPr>
          <p:cNvPr id="106499" name="灯片编号占位符 3"/>
          <p:cNvSpPr txBox="1">
            <a:spLocks noGrp="1"/>
          </p:cNvSpPr>
          <p:nvPr/>
        </p:nvSpPr>
        <p:spPr bwMode="auto">
          <a:xfrm>
            <a:off x="6057900" y="4684713"/>
            <a:ext cx="1600200" cy="35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楷体_GB2312" panose="02010609030101010101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fld id="{9385EE14-AA1E-4777-A53D-057FA8120152}" type="slidenum">
              <a:rPr lang="en-US" altLang="zh-CN" sz="1050" b="0">
                <a:ea typeface="宋体" panose="02010600030101010101" pitchFamily="2" charset="-122"/>
              </a:rPr>
            </a:fld>
            <a:endParaRPr lang="en-US" altLang="zh-CN" sz="1050" b="0">
              <a:ea typeface="宋体" panose="02010600030101010101" pitchFamily="2" charset="-122"/>
            </a:endParaRPr>
          </a:p>
        </p:txBody>
      </p:sp>
      <p:sp>
        <p:nvSpPr>
          <p:cNvPr id="143364" name="Text Box 2"/>
          <p:cNvSpPr txBox="1">
            <a:spLocks noChangeArrowheads="1"/>
          </p:cNvSpPr>
          <p:nvPr/>
        </p:nvSpPr>
        <p:spPr bwMode="auto">
          <a:xfrm>
            <a:off x="1115695" y="769938"/>
            <a:ext cx="7011988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1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Lex</a:t>
            </a:r>
            <a:r>
              <a:rPr kumimoji="1" lang="zh-CN" altLang="zh-CN" sz="21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的功能是根据</a:t>
            </a:r>
            <a:r>
              <a:rPr kumimoji="1" lang="en-US" altLang="zh-CN" sz="21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Lex</a:t>
            </a:r>
            <a:r>
              <a:rPr kumimoji="1" lang="zh-CN" altLang="zh-CN" sz="21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源程序构造一个词法分析程序</a:t>
            </a:r>
            <a:endParaRPr kumimoji="1" lang="zh-CN" altLang="en-US" sz="2100" b="1">
              <a:solidFill>
                <a:schemeClr val="tx1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096715" name="Rectangle 11"/>
          <p:cNvSpPr>
            <a:spLocks noChangeArrowheads="1"/>
          </p:cNvSpPr>
          <p:nvPr/>
        </p:nvSpPr>
        <p:spPr bwMode="auto">
          <a:xfrm>
            <a:off x="1982470" y="4095115"/>
            <a:ext cx="560324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Lex</a:t>
            </a:r>
            <a:r>
              <a:rPr kumimoji="1" lang="zh-CN" altLang="en-US" sz="1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编译器根据</a:t>
            </a:r>
            <a:r>
              <a:rPr kumimoji="1" lang="en-US" altLang="zh-CN" sz="1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Lex</a:t>
            </a:r>
            <a:r>
              <a:rPr kumimoji="1" lang="zh-CN" altLang="en-US" sz="1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源程序中的</a:t>
            </a:r>
            <a:r>
              <a:rPr kumimoji="1" lang="en-US" altLang="zh-CN" sz="1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RE</a:t>
            </a:r>
            <a:r>
              <a:rPr kumimoji="1" lang="zh-CN" altLang="en-US" sz="1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生成</a:t>
            </a:r>
            <a:r>
              <a:rPr kumimoji="1" lang="en-US" altLang="zh-CN" sz="1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DFA</a:t>
            </a:r>
            <a:r>
              <a:rPr kumimoji="1" lang="zh-CN" altLang="en-US" sz="1800" b="1">
                <a:solidFill>
                  <a:schemeClr val="hlink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状态转换表</a:t>
            </a:r>
            <a:endParaRPr kumimoji="1" lang="zh-CN" altLang="en-US" sz="1800" b="1">
              <a:solidFill>
                <a:schemeClr val="hlink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43366" name="Rectangle 14"/>
          <p:cNvSpPr>
            <a:spLocks noChangeArrowheads="1"/>
          </p:cNvSpPr>
          <p:nvPr/>
        </p:nvSpPr>
        <p:spPr bwMode="auto">
          <a:xfrm>
            <a:off x="1071245" y="1719263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368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en-US" altLang="zh-CN" sz="3200">
                <a:latin typeface="Times New Roman" panose="02020603050405020304" pitchFamily="18" charset="0"/>
                <a:ea typeface="黑体" panose="02010609060101010101" pitchFamily="49" charset="-122"/>
              </a:rPr>
              <a:t>Lex</a:t>
            </a:r>
            <a:r>
              <a:rPr lang="zh-CN" altLang="en-US" sz="3200">
                <a:latin typeface="Times New Roman" panose="02020603050405020304" pitchFamily="18" charset="0"/>
                <a:ea typeface="黑体" panose="02010609060101010101" pitchFamily="49" charset="-122"/>
              </a:rPr>
              <a:t>的实现原理</a:t>
            </a:r>
            <a:endParaRPr lang="zh-CN" altLang="en-US"/>
          </a:p>
        </p:txBody>
      </p:sp>
      <p:sp>
        <p:nvSpPr>
          <p:cNvPr id="14" name="AutoShape 32"/>
          <p:cNvSpPr>
            <a:spLocks noChangeArrowheads="1"/>
          </p:cNvSpPr>
          <p:nvPr/>
        </p:nvSpPr>
        <p:spPr bwMode="auto">
          <a:xfrm>
            <a:off x="6786245" y="1962150"/>
            <a:ext cx="1385888" cy="873125"/>
          </a:xfrm>
          <a:prstGeom prst="wedgeRoundRectCallout">
            <a:avLst>
              <a:gd name="adj1" fmla="val -92848"/>
              <a:gd name="adj2" fmla="val 16496"/>
              <a:gd name="adj3" fmla="val 16667"/>
            </a:avLst>
          </a:prstGeom>
          <a:noFill/>
          <a:ln w="9525">
            <a:solidFill>
              <a:srgbClr val="0070C0"/>
            </a:solidFill>
            <a:prstDash val="lgDash"/>
            <a:miter lim="800000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auto" hangingPunct="1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Lex</a:t>
            </a:r>
            <a:endParaRPr lang="en-US" altLang="zh-CN" b="1" kern="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algn="ctr" eaLnBrk="1" fontAlgn="auto" hangingPunct="1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固定程序</a:t>
            </a:r>
            <a:endParaRPr lang="zh-CN" altLang="en-US" b="1" kern="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15" name="AutoShape 32"/>
          <p:cNvSpPr>
            <a:spLocks noChangeArrowheads="1"/>
          </p:cNvSpPr>
          <p:nvPr/>
        </p:nvSpPr>
        <p:spPr bwMode="auto">
          <a:xfrm>
            <a:off x="6938645" y="3076575"/>
            <a:ext cx="1385888" cy="1008063"/>
          </a:xfrm>
          <a:prstGeom prst="wedgeRoundRectCallout">
            <a:avLst>
              <a:gd name="adj1" fmla="val -100171"/>
              <a:gd name="adj2" fmla="val -7669"/>
              <a:gd name="adj3" fmla="val 16667"/>
            </a:avLst>
          </a:prstGeom>
          <a:noFill/>
          <a:ln w="9525">
            <a:solidFill>
              <a:srgbClr val="0070C0"/>
            </a:solidFill>
            <a:prstDash val="lgDash"/>
            <a:miter lim="800000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auto" hangingPunct="1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根据</a:t>
            </a:r>
            <a:r>
              <a:rPr lang="en-US" altLang="zh-CN" b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lex</a:t>
            </a:r>
            <a:r>
              <a:rPr lang="zh-CN" altLang="en-US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源程序自动生成</a:t>
            </a:r>
            <a:endParaRPr lang="zh-CN" altLang="en-US" b="1" kern="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11" name="AutoShape 32"/>
          <p:cNvSpPr>
            <a:spLocks noChangeArrowheads="1"/>
          </p:cNvSpPr>
          <p:nvPr/>
        </p:nvSpPr>
        <p:spPr bwMode="auto">
          <a:xfrm>
            <a:off x="974090" y="2194560"/>
            <a:ext cx="1381760" cy="1105535"/>
          </a:xfrm>
          <a:prstGeom prst="wedgeRoundRectCallout">
            <a:avLst>
              <a:gd name="adj1" fmla="val 59801"/>
              <a:gd name="adj2" fmla="val 56159"/>
              <a:gd name="adj3" fmla="val 16667"/>
            </a:avLst>
          </a:prstGeom>
          <a:noFill/>
          <a:ln w="9525">
            <a:solidFill>
              <a:srgbClr val="0070C0"/>
            </a:solidFill>
            <a:prstDash val="lgDash"/>
            <a:miter lim="800000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auto" hangingPunct="1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单词的</a:t>
            </a:r>
            <a:r>
              <a:rPr lang="en-US" altLang="zh-CN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RE</a:t>
            </a:r>
            <a:endParaRPr lang="en-US" altLang="zh-CN" b="1" kern="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algn="ctr" eaLnBrk="1" fontAlgn="auto" hangingPunct="1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及</a:t>
            </a:r>
            <a:endParaRPr lang="en-US" altLang="zh-CN" b="1" kern="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algn="ctr" eaLnBrk="1" fontAlgn="auto" hangingPunct="1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动作代码</a:t>
            </a:r>
            <a:endParaRPr lang="zh-CN" altLang="en-US" b="1" kern="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24553" y="2213662"/>
            <a:ext cx="1791817" cy="1737626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967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967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967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967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6715" grpId="0" autoUpdateAnimBg="0"/>
      <p:bldP spid="12" grpId="0" bldLvl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内容占位符 4"/>
          <p:cNvSpPr>
            <a:spLocks noGrp="1"/>
          </p:cNvSpPr>
          <p:nvPr>
            <p:ph idx="1"/>
          </p:nvPr>
        </p:nvSpPr>
        <p:spPr>
          <a:xfrm>
            <a:off x="539750" y="1492885"/>
            <a:ext cx="8147050" cy="3234690"/>
          </a:xfrm>
        </p:spPr>
        <p:txBody>
          <a:bodyPr/>
          <a:lstStyle/>
          <a:p>
            <a:pPr>
              <a:lnSpc>
                <a:spcPct val="130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Lex.yy.c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包含如下内容，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其核心是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 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yylex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 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30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基于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词法生成的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DFA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转换表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30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固定的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DFA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模拟执行程序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30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18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</a:t>
            </a:r>
            <a:r>
              <a:rPr lang="en-US" altLang="zh-CN" sz="18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lex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源代码中复制的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函数和动作代码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30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动作代码可以</a:t>
            </a: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返回</a:t>
            </a:r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</a:t>
            </a: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类型的词法单元编码</a:t>
            </a:r>
            <a:endParaRPr lang="zh-CN" altLang="en-US" sz="1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30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yylval</a:t>
            </a: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默认是全局变量，用于传递</a:t>
            </a: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词法单元的属性值</a:t>
            </a: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2">
              <a:lnSpc>
                <a:spcPct val="130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词法分析器中，通过为</a:t>
            </a:r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yylval</a:t>
            </a: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赋值而设置每个单词的属性值</a:t>
            </a:r>
            <a:endParaRPr lang="zh-CN" altLang="en-US" sz="1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2">
              <a:lnSpc>
                <a:spcPct val="130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Bison </a:t>
            </a: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会自动将</a:t>
            </a:r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yylex() </a:t>
            </a: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返回时的</a:t>
            </a:r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yylval </a:t>
            </a: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赋值给对应符号的属性槽，根据其在产生式右部的位置使用</a:t>
            </a:r>
            <a:r>
              <a:rPr lang="en-US" altLang="zh-CN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$1</a:t>
            </a: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$2</a:t>
            </a: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</a:t>
            </a:r>
            <a:r>
              <a:rPr lang="en-US" altLang="zh-CN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$3</a:t>
            </a: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等引用</a:t>
            </a: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符号的属性值</a:t>
            </a:r>
            <a:endParaRPr lang="zh-CN" altLang="en-US" sz="1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生成的词法分析器</a:t>
            </a:r>
            <a:r>
              <a:rPr lang="en-US" altLang="zh-CN" sz="3200" dirty="0" err="1"/>
              <a:t>Lex.yy.c</a:t>
            </a:r>
            <a:r>
              <a:rPr lang="zh-CN" altLang="en-US" dirty="0"/>
              <a:t>的结构</a:t>
            </a:r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 bwMode="auto">
          <a:xfrm>
            <a:off x="774700" y="627708"/>
            <a:ext cx="3170555" cy="697865"/>
            <a:chOff x="762000" y="2425700"/>
            <a:chExt cx="3170555" cy="697865"/>
          </a:xfrm>
        </p:grpSpPr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1843405" y="2425700"/>
              <a:ext cx="2089150" cy="697865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lIns="92075" tIns="46038" rIns="92075" bIns="46038"/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auto">
                <a:spcBef>
                  <a:spcPct val="20000"/>
                </a:spcBef>
                <a:spcAft>
                  <a:spcPts val="0"/>
                </a:spcAft>
                <a:buClr>
                  <a:srgbClr val="333399"/>
                </a:buClr>
                <a:buSzPct val="75000"/>
                <a:buFont typeface="Monotype Sorts"/>
                <a:buNone/>
                <a:defRPr/>
              </a:pPr>
              <a:endParaRPr kumimoji="1" lang="en-US" altLang="zh-CN" sz="800" b="1" kern="0" dirty="0">
                <a:solidFill>
                  <a:srgbClr val="3333CC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  <a:p>
              <a:pPr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99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400" b="1" kern="0" dirty="0">
                  <a:solidFill>
                    <a:srgbClr val="3333CC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Lex</a:t>
              </a:r>
              <a:r>
                <a:rPr kumimoji="1" lang="zh-CN" altLang="en-US" sz="2400" b="1" kern="0" dirty="0">
                  <a:solidFill>
                    <a:srgbClr val="3333CC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编译器</a:t>
              </a:r>
              <a:endParaRPr kumimoji="1" lang="zh-CN" altLang="en-US" sz="2400" b="1" kern="0" dirty="0">
                <a:solidFill>
                  <a:srgbClr val="3333CC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8" name="AutoShape 12"/>
            <p:cNvSpPr>
              <a:spLocks noChangeArrowheads="1"/>
            </p:cNvSpPr>
            <p:nvPr/>
          </p:nvSpPr>
          <p:spPr bwMode="auto">
            <a:xfrm>
              <a:off x="762000" y="2714625"/>
              <a:ext cx="990600" cy="250825"/>
            </a:xfrm>
            <a:prstGeom prst="rightArrow">
              <a:avLst>
                <a:gd name="adj1" fmla="val 50000"/>
                <a:gd name="adj2" fmla="val 114706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lIns="92075" tIns="46038" rIns="92075" bIns="46038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 dirty="0">
                <a:solidFill>
                  <a:srgbClr val="3333CC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 bwMode="auto">
          <a:xfrm>
            <a:off x="4014788" y="628660"/>
            <a:ext cx="2738120" cy="744855"/>
            <a:chOff x="4002088" y="2426653"/>
            <a:chExt cx="2738118" cy="744855"/>
          </a:xfrm>
        </p:grpSpPr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5370512" y="2426653"/>
              <a:ext cx="1369694" cy="744855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lIns="92075" tIns="46038" rIns="92075" bIns="46038"/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auto">
                <a:spcBef>
                  <a:spcPct val="20000"/>
                </a:spcBef>
                <a:spcAft>
                  <a:spcPts val="0"/>
                </a:spcAft>
                <a:buClr>
                  <a:srgbClr val="333399"/>
                </a:buClr>
                <a:buSzPct val="75000"/>
                <a:buFont typeface="Monotype Sorts"/>
                <a:buNone/>
                <a:defRPr/>
              </a:pPr>
              <a:endParaRPr kumimoji="1" lang="en-US" altLang="zh-CN" sz="800" b="1" kern="0" dirty="0">
                <a:solidFill>
                  <a:srgbClr val="3333CC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buClr>
                  <a:srgbClr val="333399"/>
                </a:buClr>
                <a:buSzPct val="75000"/>
                <a:buFont typeface="Monotype Sorts"/>
                <a:buNone/>
                <a:defRPr/>
              </a:pPr>
              <a:r>
                <a:rPr kumimoji="1" lang="en-US" altLang="zh-CN" sz="2400" b="1" i="1" kern="0" dirty="0">
                  <a:solidFill>
                    <a:srgbClr val="3333CC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C</a:t>
              </a:r>
              <a:r>
                <a:rPr kumimoji="1" lang="zh-CN" altLang="en-US" sz="2400" b="1" kern="0" dirty="0">
                  <a:solidFill>
                    <a:srgbClr val="3333CC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编译器</a:t>
              </a:r>
              <a:endParaRPr kumimoji="1" lang="zh-CN" altLang="en-US" sz="2400" b="1" kern="0" dirty="0">
                <a:solidFill>
                  <a:srgbClr val="3333CC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11" name="AutoShape 12"/>
            <p:cNvSpPr>
              <a:spLocks noChangeArrowheads="1"/>
            </p:cNvSpPr>
            <p:nvPr/>
          </p:nvSpPr>
          <p:spPr bwMode="auto">
            <a:xfrm>
              <a:off x="4002088" y="2716213"/>
              <a:ext cx="1296986" cy="249238"/>
            </a:xfrm>
            <a:prstGeom prst="rightArrow">
              <a:avLst>
                <a:gd name="adj1" fmla="val 50000"/>
                <a:gd name="adj2" fmla="val 150184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lIns="92075" tIns="46038" rIns="92075" bIns="46038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3333CC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 bwMode="auto">
          <a:xfrm>
            <a:off x="6775450" y="754708"/>
            <a:ext cx="1612900" cy="461962"/>
            <a:chOff x="6762084" y="2553342"/>
            <a:chExt cx="1612773" cy="461962"/>
          </a:xfrm>
        </p:grpSpPr>
        <p:sp>
          <p:nvSpPr>
            <p:cNvPr id="13" name="AutoShape 12"/>
            <p:cNvSpPr>
              <a:spLocks noChangeArrowheads="1"/>
            </p:cNvSpPr>
            <p:nvPr/>
          </p:nvSpPr>
          <p:spPr bwMode="auto">
            <a:xfrm>
              <a:off x="6762084" y="2669229"/>
              <a:ext cx="777814" cy="244475"/>
            </a:xfrm>
            <a:prstGeom prst="rightArrow">
              <a:avLst>
                <a:gd name="adj1" fmla="val 50000"/>
                <a:gd name="adj2" fmla="val 133456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lIns="92075" tIns="46038" rIns="92075" bIns="46038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3333CC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140298" name="Rectangle 28"/>
            <p:cNvSpPr>
              <a:spLocks noChangeArrowheads="1"/>
            </p:cNvSpPr>
            <p:nvPr/>
          </p:nvSpPr>
          <p:spPr bwMode="auto">
            <a:xfrm>
              <a:off x="7549357" y="2553342"/>
              <a:ext cx="825500" cy="4619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eaLnBrk="1" hangingPunct="1">
                <a:buClr>
                  <a:srgbClr val="3333CC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altLang="zh-CN" b="1" i="1">
                  <a:solidFill>
                    <a:srgbClr val="3333CC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a.out</a:t>
              </a:r>
              <a:endParaRPr lang="zh-CN" altLang="en-US" b="1" i="1">
                <a:solidFill>
                  <a:srgbClr val="3333CC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</p:grpSp>
      <p:sp>
        <p:nvSpPr>
          <p:cNvPr id="140295" name="Rectangle 25"/>
          <p:cNvSpPr>
            <a:spLocks noChangeArrowheads="1"/>
          </p:cNvSpPr>
          <p:nvPr/>
        </p:nvSpPr>
        <p:spPr bwMode="auto">
          <a:xfrm>
            <a:off x="868363" y="530870"/>
            <a:ext cx="722312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buClr>
                <a:srgbClr val="3333CC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b="1" i="1">
                <a:solidFill>
                  <a:srgbClr val="3333CC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lex.l</a:t>
            </a:r>
            <a:endParaRPr lang="zh-CN" altLang="en-US" b="1" i="1">
              <a:solidFill>
                <a:srgbClr val="3333CC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140296" name="Rectangle 4"/>
          <p:cNvSpPr>
            <a:spLocks noChangeArrowheads="1"/>
          </p:cNvSpPr>
          <p:nvPr/>
        </p:nvSpPr>
        <p:spPr bwMode="auto">
          <a:xfrm>
            <a:off x="4029075" y="508645"/>
            <a:ext cx="1208088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1" hangingPunct="1">
              <a:buClr>
                <a:srgbClr val="3333CC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b="1" i="1">
                <a:solidFill>
                  <a:srgbClr val="3333CC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lex.yy.c</a:t>
            </a:r>
            <a:endParaRPr lang="en-US" altLang="zh-CN" b="1" i="1">
              <a:solidFill>
                <a:srgbClr val="3333CC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内容占位符 2"/>
          <p:cNvSpPr>
            <a:spLocks noGrp="1"/>
          </p:cNvSpPr>
          <p:nvPr>
            <p:ph idx="1"/>
          </p:nvPr>
        </p:nvSpPr>
        <p:spPr>
          <a:xfrm>
            <a:off x="357188" y="928688"/>
            <a:ext cx="8501062" cy="2808287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700" b="1" dirty="0">
                <a:solidFill>
                  <a:schemeClr val="tx1"/>
                </a:solidFill>
                <a:latin typeface="+mn-ea"/>
              </a:rPr>
              <a:t>Lex</a:t>
            </a:r>
            <a:r>
              <a:rPr lang="zh-CN" altLang="en-US" sz="2700" b="1" dirty="0">
                <a:solidFill>
                  <a:schemeClr val="tx1"/>
                </a:solidFill>
                <a:latin typeface="+mn-ea"/>
              </a:rPr>
              <a:t>的构成加快了分析器的实现速度</a:t>
            </a:r>
            <a:endParaRPr lang="zh-CN" altLang="en-US" sz="2700" b="1" dirty="0">
              <a:solidFill>
                <a:schemeClr val="tx1"/>
              </a:solidFill>
              <a:latin typeface="+mn-ea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程序员只需在很高的</a:t>
            </a:r>
            <a:r>
              <a:rPr lang="zh-CN" altLang="en-US" sz="2500" b="1" dirty="0">
                <a:solidFill>
                  <a:srgbClr val="0000FF"/>
                </a:solidFill>
                <a:latin typeface="+mn-ea"/>
              </a:rPr>
              <a:t>模式层次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上描述软件，就可以依赖自动生成工具来生成详细的代码</a:t>
            </a:r>
            <a:endParaRPr lang="zh-CN" altLang="en-US" sz="2500" b="1" dirty="0">
              <a:solidFill>
                <a:schemeClr val="tx1"/>
              </a:solidFill>
              <a:latin typeface="+mn-ea"/>
            </a:endParaRPr>
          </a:p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700" b="1" dirty="0">
                <a:solidFill>
                  <a:schemeClr val="tx1"/>
                </a:solidFill>
                <a:latin typeface="+mn-ea"/>
              </a:rPr>
              <a:t>修改扫描器的工作变得更加简单</a:t>
            </a:r>
            <a:endParaRPr lang="zh-CN" altLang="en-US" sz="2700" b="1" dirty="0">
              <a:solidFill>
                <a:schemeClr val="tx1"/>
              </a:solidFill>
              <a:latin typeface="+mn-ea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只需修改那些受到影响的模式（</a:t>
            </a:r>
            <a:r>
              <a:rPr lang="en-US" altLang="zh-CN" sz="2500" b="1" dirty="0">
                <a:solidFill>
                  <a:schemeClr val="tx1"/>
                </a:solidFill>
                <a:latin typeface="+mn-ea"/>
              </a:rPr>
              <a:t>RE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），无需改写整个程序</a:t>
            </a:r>
            <a:endParaRPr lang="zh-CN" altLang="en-US" sz="25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2468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扫描器自动生成的意义</a:t>
            </a:r>
            <a:endParaRPr lang="zh-CN" altLang="en-US" sz="3000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5412" name="组合 44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45414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内容占位符 1"/>
          <p:cNvSpPr>
            <a:spLocks noGrp="1"/>
          </p:cNvSpPr>
          <p:nvPr>
            <p:ph idx="1"/>
          </p:nvPr>
        </p:nvSpPr>
        <p:spPr>
          <a:xfrm>
            <a:off x="755650" y="1027430"/>
            <a:ext cx="7416800" cy="4006215"/>
          </a:xfrm>
        </p:spPr>
        <p:txBody>
          <a:bodyPr/>
          <a:lstStyle/>
          <a:p>
            <a:r>
              <a:rPr lang="zh-CN" altLang="en-US" b="1" dirty="0"/>
              <a:t>实验指导书</a:t>
            </a:r>
            <a:r>
              <a:rPr lang="en-US" altLang="zh-CN" b="1" dirty="0"/>
              <a:t>-</a:t>
            </a:r>
            <a:r>
              <a:rPr lang="zh-CN" altLang="en-US" b="1" dirty="0"/>
              <a:t>词法分析与语法分析</a:t>
            </a:r>
            <a:endParaRPr lang="en-US" altLang="zh-CN" b="1" dirty="0"/>
          </a:p>
          <a:p>
            <a:r>
              <a:rPr lang="zh-CN" altLang="en-US" b="1" dirty="0">
                <a:solidFill>
                  <a:srgbClr val="FF0000"/>
                </a:solidFill>
              </a:rPr>
              <a:t>利用</a:t>
            </a:r>
            <a:r>
              <a:rPr lang="en-US" altLang="zh-CN" b="1" dirty="0">
                <a:solidFill>
                  <a:srgbClr val="FF0000"/>
                </a:solidFill>
              </a:rPr>
              <a:t>Flex</a:t>
            </a:r>
            <a:r>
              <a:rPr lang="zh-CN" altLang="en-US" b="1" dirty="0">
                <a:solidFill>
                  <a:srgbClr val="FF0000"/>
                </a:solidFill>
              </a:rPr>
              <a:t>实现词法分析器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/>
            <a:r>
              <a:rPr lang="zh-CN" altLang="en-US" b="1" dirty="0"/>
              <a:t>补全</a:t>
            </a:r>
            <a:r>
              <a:rPr lang="en-US" altLang="zh-CN" b="1" dirty="0"/>
              <a:t>C--</a:t>
            </a:r>
            <a:r>
              <a:rPr lang="zh-CN" altLang="en-US" b="1" dirty="0"/>
              <a:t>的词法规则</a:t>
            </a:r>
            <a:endParaRPr lang="en-US" altLang="zh-CN" b="1" dirty="0"/>
          </a:p>
          <a:p>
            <a:pPr lvl="1"/>
            <a:r>
              <a:rPr lang="zh-CN" altLang="en-US" b="1" dirty="0"/>
              <a:t>学习</a:t>
            </a:r>
            <a:r>
              <a:rPr lang="en-US" altLang="zh-CN" b="1" dirty="0"/>
              <a:t>Flex</a:t>
            </a:r>
            <a:r>
              <a:rPr lang="zh-CN" altLang="en-US" b="1" dirty="0"/>
              <a:t>使用，编写</a:t>
            </a:r>
            <a:r>
              <a:rPr lang="en-US" altLang="zh-CN" b="1" dirty="0"/>
              <a:t>Flex</a:t>
            </a:r>
            <a:r>
              <a:rPr lang="zh-CN" altLang="en-US" b="1" dirty="0"/>
              <a:t>源程序并编译</a:t>
            </a:r>
            <a:endParaRPr lang="en-US" altLang="zh-CN" b="1" dirty="0"/>
          </a:p>
          <a:p>
            <a:pPr lvl="1"/>
            <a:r>
              <a:rPr lang="zh-CN" altLang="en-US" b="1" dirty="0"/>
              <a:t>编写</a:t>
            </a:r>
            <a:r>
              <a:rPr lang="en-US" altLang="zh-CN" b="1" dirty="0"/>
              <a:t>main</a:t>
            </a:r>
            <a:r>
              <a:rPr lang="zh-CN" altLang="en-US" b="1" dirty="0"/>
              <a:t>函数调用词法分析函数</a:t>
            </a:r>
            <a:r>
              <a:rPr lang="en-US" altLang="zh-CN" b="1" dirty="0" err="1"/>
              <a:t>yylex</a:t>
            </a:r>
            <a:r>
              <a:rPr lang="zh-CN" altLang="en-US" b="1" dirty="0"/>
              <a:t>对输入</a:t>
            </a:r>
            <a:r>
              <a:rPr lang="en-US" altLang="zh-CN" b="1" dirty="0"/>
              <a:t>c--</a:t>
            </a:r>
            <a:r>
              <a:rPr lang="zh-CN" altLang="en-US" b="1" dirty="0"/>
              <a:t>源代码文件进行词法分析，并输出识别出的词法单元二元组和词法错误。（后面与语法分析集成）</a:t>
            </a:r>
            <a:endParaRPr lang="en-US" altLang="zh-CN" b="1" dirty="0"/>
          </a:p>
          <a:p>
            <a:pPr lvl="1"/>
            <a:r>
              <a:rPr lang="zh-CN" altLang="en-US" b="1" dirty="0"/>
              <a:t>对词法分析器进行测试</a:t>
            </a:r>
            <a:endParaRPr lang="en-US" altLang="zh-CN" b="1" dirty="0"/>
          </a:p>
          <a:p>
            <a:r>
              <a:rPr lang="zh-CN" altLang="en-US" b="1" dirty="0">
                <a:solidFill>
                  <a:srgbClr val="FF0000"/>
                </a:solidFill>
              </a:rPr>
              <a:t>实验教程</a:t>
            </a:r>
            <a:r>
              <a:rPr lang="en-US" altLang="zh-CN" b="1" dirty="0">
                <a:solidFill>
                  <a:srgbClr val="FF0000"/>
                </a:solidFill>
              </a:rPr>
              <a:t>-Project_1.pdf </a:t>
            </a:r>
            <a:r>
              <a:rPr lang="zh-CN" altLang="en-US" b="1" dirty="0">
                <a:solidFill>
                  <a:srgbClr val="FF0000"/>
                </a:solidFill>
              </a:rPr>
              <a:t>必须通过</a:t>
            </a:r>
            <a:r>
              <a:rPr lang="en-US" altLang="zh-CN" b="1" dirty="0">
                <a:solidFill>
                  <a:srgbClr val="FF0000"/>
                </a:solidFill>
              </a:rPr>
              <a:t>2.1.6</a:t>
            </a:r>
            <a:r>
              <a:rPr lang="zh-CN" altLang="en-US" b="1" dirty="0">
                <a:solidFill>
                  <a:srgbClr val="FF0000"/>
                </a:solidFill>
              </a:rPr>
              <a:t>（必做内容）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sp>
        <p:nvSpPr>
          <p:cNvPr id="150531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zh-CN" altLang="en-US"/>
              <a:t>实验一词法分析与语法分析</a:t>
            </a:r>
            <a:endParaRPr lang="zh-CN" altLang="en-US" dirty="0"/>
          </a:p>
        </p:txBody>
      </p:sp>
      <p:sp>
        <p:nvSpPr>
          <p:cNvPr id="62468" name="标题 1"/>
          <p:cNvSpPr>
            <a:spLocks noGrp="1"/>
          </p:cNvSpPr>
          <p:nvPr/>
        </p:nvSpPr>
        <p:spPr>
          <a:xfrm>
            <a:off x="882650" y="229870"/>
            <a:ext cx="2653030" cy="3587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 baseline="0">
                <a:solidFill>
                  <a:srgbClr val="FFFF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实验一要求</a:t>
            </a:r>
            <a:endParaRPr lang="zh-CN" altLang="en-US" sz="3000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5412" name="组合 44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45414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3980" y="339725"/>
            <a:ext cx="2319655" cy="224345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内容占位符 1"/>
          <p:cNvSpPr>
            <a:spLocks noGrp="1"/>
          </p:cNvSpPr>
          <p:nvPr>
            <p:ph idx="1"/>
          </p:nvPr>
        </p:nvSpPr>
        <p:spPr>
          <a:xfrm>
            <a:off x="755650" y="1027113"/>
            <a:ext cx="7416800" cy="3225800"/>
          </a:xfrm>
        </p:spPr>
        <p:txBody>
          <a:bodyPr/>
          <a:lstStyle/>
          <a:p>
            <a:r>
              <a:rPr lang="zh-CN" altLang="en-US" b="1"/>
              <a:t>重要提示：</a:t>
            </a:r>
            <a:endParaRPr lang="zh-CN" altLang="en-US" b="1"/>
          </a:p>
          <a:p>
            <a:pPr lvl="1"/>
            <a:r>
              <a:rPr lang="zh-CN" altLang="en-US" b="1"/>
              <a:t>三个实验任务是递进的，最终要构建一个完整的编译系统。</a:t>
            </a:r>
            <a:endParaRPr lang="en-US" altLang="zh-CN" b="1"/>
          </a:p>
          <a:p>
            <a:pPr lvl="1"/>
            <a:r>
              <a:rPr lang="zh-CN" altLang="en-US" b="1"/>
              <a:t>注意系统地设计代码结构，将程序功能模块化，并优化模块关系和接口。</a:t>
            </a:r>
            <a:endParaRPr lang="en-US" altLang="zh-CN" b="1"/>
          </a:p>
          <a:p>
            <a:pPr lvl="1"/>
            <a:r>
              <a:rPr lang="zh-CN" altLang="en-US" b="1"/>
              <a:t>功能模块要尽量松耦合，因为在某些实验中的输出或实现的任务（例如输出语法分析树），在后续实验中不再需要，要考虑模块易于剥离和维护。</a:t>
            </a:r>
            <a:endParaRPr lang="zh-CN" altLang="en-US" b="1"/>
          </a:p>
        </p:txBody>
      </p:sp>
      <p:sp>
        <p:nvSpPr>
          <p:cNvPr id="151555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zh-CN" altLang="en-US"/>
              <a:t>实验提示</a:t>
            </a:r>
            <a:r>
              <a:rPr lang="en-US" altLang="zh-CN"/>
              <a:t>——</a:t>
            </a:r>
            <a:r>
              <a:rPr lang="zh-CN" altLang="en-US"/>
              <a:t>系统思维</a:t>
            </a:r>
            <a:endParaRPr lang="zh-CN" altLang="en-US"/>
          </a:p>
        </p:txBody>
      </p:sp>
      <p:sp>
        <p:nvSpPr>
          <p:cNvPr id="62468" name="标题 1"/>
          <p:cNvSpPr>
            <a:spLocks noGrp="1"/>
          </p:cNvSpPr>
          <p:nvPr/>
        </p:nvSpPr>
        <p:spPr>
          <a:xfrm>
            <a:off x="882650" y="229870"/>
            <a:ext cx="2653030" cy="3587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 baseline="0">
                <a:solidFill>
                  <a:srgbClr val="FFFF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实验一要求</a:t>
            </a:r>
            <a:endParaRPr lang="zh-CN" altLang="en-US" sz="3000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5412" name="组合 44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45414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内容占位符 2"/>
          <p:cNvSpPr>
            <a:spLocks noGrp="1"/>
          </p:cNvSpPr>
          <p:nvPr>
            <p:ph idx="1"/>
          </p:nvPr>
        </p:nvSpPr>
        <p:spPr>
          <a:xfrm>
            <a:off x="357505" y="843280"/>
            <a:ext cx="8500745" cy="4091305"/>
          </a:xfrm>
        </p:spPr>
        <p:txBody>
          <a:bodyPr/>
          <a:lstStyle/>
          <a:p>
            <a:pPr eaLnBrk="1" hangingPunct="1">
              <a:lnSpc>
                <a:spcPts val="27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单词的描述</a:t>
            </a:r>
            <a:endParaRPr lang="zh-CN" altLang="en-US" sz="2000" b="1" dirty="0">
              <a:solidFill>
                <a:schemeClr val="tx1"/>
              </a:solidFill>
              <a:latin typeface="+mn-ea"/>
            </a:endParaRPr>
          </a:p>
          <a:p>
            <a:pPr lvl="1" eaLnBrk="1" hangingPunct="1">
              <a:lnSpc>
                <a:spcPts val="27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正则表达式</a:t>
            </a:r>
            <a:endParaRPr lang="zh-CN" altLang="en-US" sz="2000" b="1" dirty="0">
              <a:solidFill>
                <a:schemeClr val="tx1"/>
              </a:solidFill>
              <a:latin typeface="+mn-ea"/>
            </a:endParaRPr>
          </a:p>
          <a:p>
            <a:pPr lvl="1" eaLnBrk="1" hangingPunct="1">
              <a:lnSpc>
                <a:spcPts val="27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正则定义</a:t>
            </a:r>
            <a:endParaRPr lang="zh-CN" altLang="en-US" sz="2000" b="1" dirty="0">
              <a:solidFill>
                <a:schemeClr val="tx1"/>
              </a:solidFill>
              <a:latin typeface="+mn-ea"/>
            </a:endParaRPr>
          </a:p>
          <a:p>
            <a:pPr eaLnBrk="1" hangingPunct="1">
              <a:lnSpc>
                <a:spcPts val="27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单词的识别</a:t>
            </a:r>
            <a:endParaRPr lang="zh-CN" altLang="en-US" sz="2000" b="1" dirty="0">
              <a:solidFill>
                <a:schemeClr val="tx1"/>
              </a:solidFill>
              <a:latin typeface="+mn-ea"/>
            </a:endParaRPr>
          </a:p>
          <a:p>
            <a:pPr lvl="1" eaLnBrk="1" hangingPunct="1">
              <a:lnSpc>
                <a:spcPts val="27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有穷自动机 </a:t>
            </a:r>
            <a:endParaRPr lang="zh-CN" altLang="en-US" sz="2000" b="1" dirty="0">
              <a:solidFill>
                <a:schemeClr val="tx1"/>
              </a:solidFill>
              <a:latin typeface="+mn-ea"/>
            </a:endParaRPr>
          </a:p>
          <a:p>
            <a:pPr lvl="1" eaLnBrk="1" hangingPunct="1">
              <a:lnSpc>
                <a:spcPts val="27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有穷自动机的分类</a:t>
            </a:r>
            <a:endParaRPr lang="zh-CN" altLang="en-US" sz="2000" b="1" dirty="0">
              <a:solidFill>
                <a:schemeClr val="tx1"/>
              </a:solidFill>
              <a:latin typeface="+mn-ea"/>
            </a:endParaRPr>
          </a:p>
          <a:p>
            <a:pPr lvl="1" eaLnBrk="1" hangingPunct="1">
              <a:lnSpc>
                <a:spcPts val="27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从正则表达式到有穷自动机</a:t>
            </a:r>
            <a:endParaRPr lang="en-US" altLang="zh-CN" sz="2000" b="1" dirty="0">
              <a:solidFill>
                <a:schemeClr val="tx1"/>
              </a:solidFill>
              <a:latin typeface="+mn-ea"/>
            </a:endParaRPr>
          </a:p>
          <a:p>
            <a:pPr lvl="1" eaLnBrk="1" hangingPunct="1">
              <a:lnSpc>
                <a:spcPts val="27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识别单词的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DFA </a:t>
            </a:r>
            <a:endParaRPr lang="zh-CN" altLang="en-US" sz="2000" b="1" dirty="0">
              <a:solidFill>
                <a:schemeClr val="tx1"/>
              </a:solidFill>
              <a:latin typeface="+mn-ea"/>
            </a:endParaRPr>
          </a:p>
          <a:p>
            <a:pPr eaLnBrk="1" hangingPunct="1">
              <a:lnSpc>
                <a:spcPts val="27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词法分析阶段的错误处理</a:t>
            </a:r>
            <a:endParaRPr lang="zh-CN" altLang="en-US" sz="2000" b="1" dirty="0">
              <a:solidFill>
                <a:schemeClr val="tx1"/>
              </a:solidFill>
              <a:latin typeface="+mn-ea"/>
            </a:endParaRPr>
          </a:p>
          <a:p>
            <a:pPr eaLnBrk="1" hangingPunct="1">
              <a:lnSpc>
                <a:spcPts val="27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词法分析器生成工具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Lex</a:t>
            </a:r>
            <a:endParaRPr lang="en-US" altLang="zh-CN" sz="2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2468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本章小结</a:t>
            </a:r>
            <a:endParaRPr lang="zh-CN" altLang="en-US" sz="3000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7460" name="组合 44"/>
          <p:cNvGrpSpPr/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47462" name="五边形 4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内容占位符 2"/>
          <p:cNvSpPr>
            <a:spLocks noGrp="1"/>
          </p:cNvSpPr>
          <p:nvPr>
            <p:ph idx="1"/>
          </p:nvPr>
        </p:nvSpPr>
        <p:spPr>
          <a:xfrm>
            <a:off x="859007" y="1059989"/>
            <a:ext cx="7713521" cy="3888025"/>
          </a:xfrm>
        </p:spPr>
        <p:txBody>
          <a:bodyPr>
            <a:normAutofit/>
          </a:bodyPr>
          <a:lstStyle/>
          <a:p>
            <a:pPr marL="0" indent="0">
              <a:lnSpc>
                <a:spcPts val="2500"/>
              </a:lnSpc>
              <a:buClrTx/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1</a:t>
            </a:r>
            <a:r>
              <a:rPr lang="zh-CN" altLang="en-US" b="1" dirty="0">
                <a:solidFill>
                  <a:schemeClr val="tx1"/>
                </a:solidFill>
              </a:rPr>
              <a:t>．绪论 			（</a:t>
            </a:r>
            <a:r>
              <a:rPr lang="en-US" altLang="zh-CN" b="1" dirty="0">
                <a:solidFill>
                  <a:schemeClr val="tx1"/>
                </a:solidFill>
              </a:rPr>
              <a:t>2</a:t>
            </a:r>
            <a:r>
              <a:rPr lang="zh-CN" altLang="en-US" b="1" dirty="0">
                <a:solidFill>
                  <a:schemeClr val="tx1"/>
                </a:solidFill>
              </a:rPr>
              <a:t>学时）</a:t>
            </a:r>
            <a:endParaRPr lang="zh-CN" altLang="en-US" b="1" dirty="0">
              <a:solidFill>
                <a:schemeClr val="tx1"/>
              </a:solidFill>
            </a:endParaRPr>
          </a:p>
          <a:p>
            <a:pPr marL="0" indent="0">
              <a:lnSpc>
                <a:spcPts val="2500"/>
              </a:lnSpc>
              <a:buClrTx/>
              <a:buNone/>
            </a:pPr>
            <a:r>
              <a:rPr lang="en-US" altLang="zh-CN" b="1" dirty="0"/>
              <a:t>2.   </a:t>
            </a:r>
            <a:r>
              <a:rPr lang="zh-CN" altLang="en-US" b="1" dirty="0"/>
              <a:t>语言及其文法		（</a:t>
            </a:r>
            <a:r>
              <a:rPr lang="en-US" altLang="zh-CN" b="1" dirty="0"/>
              <a:t>2</a:t>
            </a:r>
            <a:r>
              <a:rPr lang="zh-CN" altLang="en-US" b="1" dirty="0"/>
              <a:t>学时） </a:t>
            </a:r>
            <a:endParaRPr lang="zh-CN" altLang="en-US" b="1" dirty="0"/>
          </a:p>
          <a:p>
            <a:pPr marL="0" indent="0">
              <a:lnSpc>
                <a:spcPts val="2500"/>
              </a:lnSpc>
              <a:buClrTx/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3</a:t>
            </a:r>
            <a:r>
              <a:rPr lang="zh-CN" altLang="en-US" b="1" dirty="0">
                <a:solidFill>
                  <a:schemeClr val="tx1"/>
                </a:solidFill>
              </a:rPr>
              <a:t>．词法分析		</a:t>
            </a:r>
            <a:r>
              <a:rPr lang="en-US" altLang="zh-CN" b="1" dirty="0">
                <a:solidFill>
                  <a:schemeClr val="tx1"/>
                </a:solidFill>
              </a:rPr>
              <a:t>	</a:t>
            </a:r>
            <a:r>
              <a:rPr lang="zh-CN" altLang="en-US" b="1" dirty="0">
                <a:solidFill>
                  <a:schemeClr val="tx1"/>
                </a:solidFill>
              </a:rPr>
              <a:t>（</a:t>
            </a:r>
            <a:r>
              <a:rPr lang="en-US" altLang="zh-CN" b="1" dirty="0">
                <a:solidFill>
                  <a:schemeClr val="tx1"/>
                </a:solidFill>
              </a:rPr>
              <a:t>3</a:t>
            </a:r>
            <a:r>
              <a:rPr lang="zh-CN" altLang="en-US" b="1" dirty="0">
                <a:solidFill>
                  <a:schemeClr val="tx1"/>
                </a:solidFill>
              </a:rPr>
              <a:t>学时） </a:t>
            </a:r>
            <a:endParaRPr lang="zh-CN" altLang="en-US" b="1" dirty="0">
              <a:solidFill>
                <a:schemeClr val="tx1"/>
              </a:solidFill>
            </a:endParaRPr>
          </a:p>
          <a:p>
            <a:pPr marL="0" indent="0">
              <a:lnSpc>
                <a:spcPts val="2500"/>
              </a:lnSpc>
              <a:buClrTx/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zh-CN" altLang="en-US" b="1" dirty="0">
                <a:solidFill>
                  <a:srgbClr val="FF0000"/>
                </a:solidFill>
              </a:rPr>
              <a:t>．语法分析		</a:t>
            </a:r>
            <a:r>
              <a:rPr lang="en-US" altLang="zh-CN" b="1" dirty="0">
                <a:solidFill>
                  <a:srgbClr val="FF0000"/>
                </a:solidFill>
              </a:rPr>
              <a:t>	</a:t>
            </a:r>
            <a:r>
              <a:rPr lang="zh-CN" altLang="en-US" b="1" dirty="0">
                <a:solidFill>
                  <a:srgbClr val="FF0000"/>
                </a:solidFill>
              </a:rPr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9</a:t>
            </a:r>
            <a:r>
              <a:rPr lang="zh-CN" altLang="en-US" b="1" dirty="0">
                <a:solidFill>
                  <a:srgbClr val="FF0000"/>
                </a:solidFill>
              </a:rPr>
              <a:t>学时） </a:t>
            </a:r>
            <a:endParaRPr lang="zh-CN" altLang="en-US" b="1" dirty="0">
              <a:solidFill>
                <a:srgbClr val="FF0000"/>
              </a:solidFill>
            </a:endParaRPr>
          </a:p>
          <a:p>
            <a:pPr marL="0" indent="0">
              <a:lnSpc>
                <a:spcPts val="2500"/>
              </a:lnSpc>
              <a:buClrTx/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5</a:t>
            </a:r>
            <a:r>
              <a:rPr lang="zh-CN" altLang="en-US" b="1" dirty="0">
                <a:solidFill>
                  <a:schemeClr val="tx1"/>
                </a:solidFill>
              </a:rPr>
              <a:t>．语法制导翻译		（</a:t>
            </a:r>
            <a:r>
              <a:rPr lang="en-US" altLang="zh-CN" b="1" dirty="0">
                <a:solidFill>
                  <a:schemeClr val="tx1"/>
                </a:solidFill>
              </a:rPr>
              <a:t>6</a:t>
            </a:r>
            <a:r>
              <a:rPr lang="zh-CN" altLang="en-US" b="1" dirty="0">
                <a:solidFill>
                  <a:schemeClr val="tx1"/>
                </a:solidFill>
              </a:rPr>
              <a:t>学时） </a:t>
            </a:r>
            <a:endParaRPr lang="zh-CN" altLang="en-US" b="1" dirty="0">
              <a:solidFill>
                <a:schemeClr val="tx1"/>
              </a:solidFill>
            </a:endParaRPr>
          </a:p>
          <a:p>
            <a:pPr marL="0" indent="0">
              <a:lnSpc>
                <a:spcPts val="2500"/>
              </a:lnSpc>
              <a:buClrTx/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6</a:t>
            </a:r>
            <a:r>
              <a:rPr lang="zh-CN" altLang="en-US" b="1" dirty="0">
                <a:solidFill>
                  <a:schemeClr val="tx1"/>
                </a:solidFill>
              </a:rPr>
              <a:t>．中间代码生成		（</a:t>
            </a:r>
            <a:r>
              <a:rPr lang="en-US" altLang="zh-CN" b="1" dirty="0">
                <a:solidFill>
                  <a:schemeClr val="tx1"/>
                </a:solidFill>
              </a:rPr>
              <a:t>7</a:t>
            </a:r>
            <a:r>
              <a:rPr lang="zh-CN" altLang="en-US" b="1" dirty="0">
                <a:solidFill>
                  <a:schemeClr val="tx1"/>
                </a:solidFill>
              </a:rPr>
              <a:t>学时） </a:t>
            </a:r>
            <a:endParaRPr lang="zh-CN" altLang="en-US" b="1" dirty="0">
              <a:solidFill>
                <a:schemeClr val="tx1"/>
              </a:solidFill>
            </a:endParaRPr>
          </a:p>
          <a:p>
            <a:pPr marL="0" indent="0">
              <a:lnSpc>
                <a:spcPts val="2500"/>
              </a:lnSpc>
              <a:buClrTx/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7</a:t>
            </a:r>
            <a:r>
              <a:rPr lang="zh-CN" altLang="en-US" b="1" dirty="0">
                <a:solidFill>
                  <a:schemeClr val="tx1"/>
                </a:solidFill>
              </a:rPr>
              <a:t>．运行时的存贮组织	（</a:t>
            </a:r>
            <a:r>
              <a:rPr lang="en-US" altLang="zh-CN" b="1" dirty="0">
                <a:solidFill>
                  <a:schemeClr val="tx1"/>
                </a:solidFill>
              </a:rPr>
              <a:t>3</a:t>
            </a:r>
            <a:r>
              <a:rPr lang="zh-CN" altLang="en-US" b="1" dirty="0">
                <a:solidFill>
                  <a:schemeClr val="tx1"/>
                </a:solidFill>
              </a:rPr>
              <a:t>学时） </a:t>
            </a:r>
            <a:endParaRPr lang="zh-CN" altLang="en-US" b="1" dirty="0">
              <a:solidFill>
                <a:schemeClr val="tx1"/>
              </a:solidFill>
            </a:endParaRPr>
          </a:p>
          <a:p>
            <a:pPr marL="0" indent="0">
              <a:lnSpc>
                <a:spcPts val="2500"/>
              </a:lnSpc>
              <a:buClrTx/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8</a:t>
            </a:r>
            <a:r>
              <a:rPr lang="zh-CN" altLang="en-US" b="1" dirty="0">
                <a:solidFill>
                  <a:schemeClr val="tx1"/>
                </a:solidFill>
              </a:rPr>
              <a:t>．代码优化       		（</a:t>
            </a:r>
            <a:r>
              <a:rPr lang="en-US" altLang="zh-CN" b="1" dirty="0">
                <a:solidFill>
                  <a:schemeClr val="tx1"/>
                </a:solidFill>
              </a:rPr>
              <a:t>6</a:t>
            </a:r>
            <a:r>
              <a:rPr lang="zh-CN" altLang="en-US" b="1" dirty="0">
                <a:solidFill>
                  <a:schemeClr val="tx1"/>
                </a:solidFill>
              </a:rPr>
              <a:t>学时） </a:t>
            </a:r>
            <a:endParaRPr lang="zh-CN" altLang="en-US" b="1" dirty="0">
              <a:solidFill>
                <a:schemeClr val="tx1"/>
              </a:solidFill>
            </a:endParaRPr>
          </a:p>
          <a:p>
            <a:pPr marL="0" indent="0">
              <a:lnSpc>
                <a:spcPts val="2500"/>
              </a:lnSpc>
              <a:buClrTx/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9</a:t>
            </a:r>
            <a:r>
              <a:rPr lang="zh-CN" altLang="en-US" b="1" dirty="0">
                <a:solidFill>
                  <a:schemeClr val="tx1"/>
                </a:solidFill>
              </a:rPr>
              <a:t>．代码生成       		（</a:t>
            </a:r>
            <a:r>
              <a:rPr lang="en-US" altLang="zh-CN" b="1" dirty="0">
                <a:solidFill>
                  <a:schemeClr val="tx1"/>
                </a:solidFill>
              </a:rPr>
              <a:t>2</a:t>
            </a:r>
            <a:r>
              <a:rPr lang="zh-CN" altLang="en-US" b="1" dirty="0">
                <a:solidFill>
                  <a:schemeClr val="tx1"/>
                </a:solidFill>
              </a:rPr>
              <a:t>学时） 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120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课程主要内容</a:t>
            </a:r>
            <a:endParaRPr lang="zh-CN" altLang="en-US" sz="3000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14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五边形 6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578" name="Picture 3" descr="G:\QQ截图201607142012副本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51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5148263" y="1714500"/>
            <a:ext cx="2952750" cy="939800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3500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结束</a:t>
            </a:r>
            <a:endParaRPr lang="en-US" altLang="zh-CN" sz="3500" spc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307*134"/>
  <p:tag name="TABLE_ENDDRAG_RECT" val="386*93*307*134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主题1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11482</Words>
  <Application>WPS 演示</Application>
  <PresentationFormat>全屏显示(16:9)</PresentationFormat>
  <Paragraphs>1718</Paragraphs>
  <Slides>68</Slides>
  <Notes>62</Notes>
  <HiddenSlides>0</HiddenSlides>
  <MMClips>0</MMClips>
  <ScaleCrop>false</ScaleCrop>
  <HeadingPairs>
    <vt:vector size="8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68</vt:i4>
      </vt:variant>
    </vt:vector>
  </HeadingPairs>
  <TitlesOfParts>
    <vt:vector size="101" baseType="lpstr">
      <vt:lpstr>Arial</vt:lpstr>
      <vt:lpstr>宋体</vt:lpstr>
      <vt:lpstr>Wingdings</vt:lpstr>
      <vt:lpstr>Tahoma</vt:lpstr>
      <vt:lpstr>Candara</vt:lpstr>
      <vt:lpstr>Symbol</vt:lpstr>
      <vt:lpstr>黑体</vt:lpstr>
      <vt:lpstr>Times New Roman</vt:lpstr>
      <vt:lpstr>楷体_GB2312</vt:lpstr>
      <vt:lpstr>新宋体</vt:lpstr>
      <vt:lpstr>Calibri</vt:lpstr>
      <vt:lpstr>Calibri</vt:lpstr>
      <vt:lpstr>微软雅黑</vt:lpstr>
      <vt:lpstr>Candara</vt:lpstr>
      <vt:lpstr>楷体</vt:lpstr>
      <vt:lpstr>Helvetica Neue</vt:lpstr>
      <vt:lpstr>楷体_GB2312</vt:lpstr>
      <vt:lpstr>Courier New</vt:lpstr>
      <vt:lpstr>华文楷体</vt:lpstr>
      <vt:lpstr>Arial Unicode MS</vt:lpstr>
      <vt:lpstr>Century Gothic</vt:lpstr>
      <vt:lpstr>Corbel</vt:lpstr>
      <vt:lpstr>Monotype Sorts</vt:lpstr>
      <vt:lpstr>Wingdings</vt:lpstr>
      <vt:lpstr>Monotype Sorts</vt:lpstr>
      <vt:lpstr>HY그래픽M</vt:lpstr>
      <vt:lpstr>Segoe Print</vt:lpstr>
      <vt:lpstr>华文新魏</vt:lpstr>
      <vt:lpstr>主题1</vt:lpstr>
      <vt:lpstr>波形</vt:lpstr>
      <vt:lpstr>4_波形</vt:lpstr>
      <vt:lpstr>2_波形</vt:lpstr>
      <vt:lpstr>Visio.Drawing.11</vt:lpstr>
      <vt:lpstr>PowerPoint 演示文稿</vt:lpstr>
      <vt:lpstr>3.2.3 从正则表达式到有穷自动机</vt:lpstr>
      <vt:lpstr>PowerPoint 演示文稿</vt:lpstr>
      <vt:lpstr>编译器的结构</vt:lpstr>
      <vt:lpstr>词法分析器(Scanner)</vt:lpstr>
      <vt:lpstr>词法单元符号设计</vt:lpstr>
      <vt:lpstr>例:语句if count&gt;7 then result := 3.14;</vt:lpstr>
      <vt:lpstr>3.1 单词的描述</vt:lpstr>
      <vt:lpstr>正则表达式的定义</vt:lpstr>
      <vt:lpstr>例</vt:lpstr>
      <vt:lpstr>例：C语言无符号整数的RE</vt:lpstr>
      <vt:lpstr>正则语言</vt:lpstr>
      <vt:lpstr>RE的代数定律</vt:lpstr>
      <vt:lpstr>正则文法与正则表达式等价</vt:lpstr>
      <vt:lpstr>正则定义（  Regular Definition）</vt:lpstr>
      <vt:lpstr>例1</vt:lpstr>
      <vt:lpstr>例2</vt:lpstr>
      <vt:lpstr>实验准备</vt:lpstr>
      <vt:lpstr>PowerPoint 演示文稿</vt:lpstr>
      <vt:lpstr>3.2 单词的识别</vt:lpstr>
      <vt:lpstr>3.2.1 有穷自动机 </vt:lpstr>
      <vt:lpstr>PowerPoint 演示文稿</vt:lpstr>
      <vt:lpstr>PowerPoint 演示文稿</vt:lpstr>
      <vt:lpstr>FA定义（接 收）的 语言</vt:lpstr>
      <vt:lpstr> 最长子串匹配原则(Longest String Matching Principle)</vt:lpstr>
      <vt:lpstr>3.2.2 FA的分类</vt:lpstr>
      <vt:lpstr>确定的有穷自动机 (DFA) </vt:lpstr>
      <vt:lpstr>例：一个DFA</vt:lpstr>
      <vt:lpstr>非确定的有穷自动机(NFA) </vt:lpstr>
      <vt:lpstr>PowerPoint 演示文稿</vt:lpstr>
      <vt:lpstr>带有“ε-边”的 NFA</vt:lpstr>
      <vt:lpstr>带有和不带有“ε-边”的 NFA 的等价性</vt:lpstr>
      <vt:lpstr>DFA和NFA的等价性</vt:lpstr>
      <vt:lpstr>DFA和NFA的等价性</vt:lpstr>
      <vt:lpstr>DFA的算法实现（DFA模拟器）</vt:lpstr>
      <vt:lpstr>3.2.3 从正则表达式到有穷自动机</vt:lpstr>
      <vt:lpstr>根据RE 构造ε-NFA（Thompson算法）</vt:lpstr>
      <vt:lpstr>根据RE 构造ε-NFA（Thompson算法）</vt:lpstr>
      <vt:lpstr>例:r=(a|b)*abb 对应的NFA</vt:lpstr>
      <vt:lpstr>例：从带有ε-NFA到DFA的转换</vt:lpstr>
      <vt:lpstr>例：从带有ε-NFA到DFA的转换</vt:lpstr>
      <vt:lpstr>子集构造法（  subset construction）</vt:lpstr>
      <vt:lpstr>计算 ε-closure (T )</vt:lpstr>
      <vt:lpstr>PowerPoint 演示文稿</vt:lpstr>
      <vt:lpstr>PowerPoint 演示文稿</vt:lpstr>
      <vt:lpstr>识别无符号数的DFA</vt:lpstr>
      <vt:lpstr>…</vt:lpstr>
      <vt:lpstr>识别各进制无符号整数的DFA</vt:lpstr>
      <vt:lpstr>识别注释的DFA</vt:lpstr>
      <vt:lpstr>识别Token的DFA</vt:lpstr>
      <vt:lpstr>PowerPoint 演示文稿</vt:lpstr>
      <vt:lpstr>3.4 词法分析阶段的错误处理</vt:lpstr>
      <vt:lpstr>错误处理</vt:lpstr>
      <vt:lpstr>错误恢复策略</vt:lpstr>
      <vt:lpstr>词法分析器构造</vt:lpstr>
      <vt:lpstr>PowerPoint 演示文稿</vt:lpstr>
      <vt:lpstr>自动生成词法分析器的基本思想</vt:lpstr>
      <vt:lpstr>3.4 词法分析器生成工具Lex</vt:lpstr>
      <vt:lpstr>Lex的使用</vt:lpstr>
      <vt:lpstr>Flex 程 序 的 结 构</vt:lpstr>
      <vt:lpstr>Lex的实现原理</vt:lpstr>
      <vt:lpstr>生成的词法分析器Lex.yy.c的结构</vt:lpstr>
      <vt:lpstr>扫描器自动生成的意义</vt:lpstr>
      <vt:lpstr>实验一词法分析与语法分析</vt:lpstr>
      <vt:lpstr>实验提示——系统思维</vt:lpstr>
      <vt:lpstr>本章小结</vt:lpstr>
      <vt:lpstr>课程主要内容</vt:lpstr>
      <vt:lpstr>PowerPoint 演示文稿</vt:lpstr>
    </vt:vector>
  </TitlesOfParts>
  <Company>HIT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编译原理</dc:title>
  <dc:creator>jsx</dc:creator>
  <cp:lastModifiedBy>单丽莉-哈工大</cp:lastModifiedBy>
  <cp:revision>1889</cp:revision>
  <cp:lastPrinted>2023-03-01T00:43:00Z</cp:lastPrinted>
  <dcterms:created xsi:type="dcterms:W3CDTF">2003-07-09T14:46:00Z</dcterms:created>
  <dcterms:modified xsi:type="dcterms:W3CDTF">2026-03-19T07:30:42Z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5</vt:i4>
  </property>
  <property fmtid="{D5CDD505-2E9C-101B-9397-08002B2CF9AE}" pid="3" name="ICV">
    <vt:lpwstr>E88885863CAC490FB3E8B012BD494F83_12</vt:lpwstr>
  </property>
  <property fmtid="{D5CDD505-2E9C-101B-9397-08002B2CF9AE}" pid="4" name="KSOProductBuildVer">
    <vt:lpwstr>2052-12.1.0.25225</vt:lpwstr>
  </property>
</Properties>
</file>