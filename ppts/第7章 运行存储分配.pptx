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>
  <p:sldMasterIdLst>
    <p:sldMasterId id="2147483648" r:id="rId1"/>
    <p:sldMasterId id="2147483652" r:id="rId3"/>
    <p:sldMasterId id="2147483655" r:id="rId4"/>
    <p:sldMasterId id="2147483658" r:id="rId5"/>
    <p:sldMasterId id="2147483661" r:id="rId6"/>
    <p:sldMasterId id="2147483664" r:id="rId7"/>
    <p:sldMasterId id="2147483667" r:id="rId8"/>
    <p:sldMasterId id="2147483670" r:id="rId9"/>
  </p:sldMasterIdLst>
  <p:notesMasterIdLst>
    <p:notesMasterId r:id="rId11"/>
  </p:notesMasterIdLst>
  <p:handoutMasterIdLst>
    <p:handoutMasterId r:id="rId147"/>
  </p:handoutMasterIdLst>
  <p:sldIdLst>
    <p:sldId id="925" r:id="rId10"/>
    <p:sldId id="798" r:id="rId12"/>
    <p:sldId id="1082" r:id="rId13"/>
    <p:sldId id="531" r:id="rId14"/>
    <p:sldId id="2674" r:id="rId15"/>
    <p:sldId id="835" r:id="rId16"/>
    <p:sldId id="832" r:id="rId17"/>
    <p:sldId id="927" r:id="rId18"/>
    <p:sldId id="850" r:id="rId19"/>
    <p:sldId id="820" r:id="rId20"/>
    <p:sldId id="800" r:id="rId21"/>
    <p:sldId id="663" r:id="rId22"/>
    <p:sldId id="759" r:id="rId23"/>
    <p:sldId id="702" r:id="rId24"/>
    <p:sldId id="2676" r:id="rId25"/>
    <p:sldId id="847" r:id="rId26"/>
    <p:sldId id="848" r:id="rId27"/>
    <p:sldId id="802" r:id="rId28"/>
    <p:sldId id="824" r:id="rId29"/>
    <p:sldId id="838" r:id="rId30"/>
    <p:sldId id="839" r:id="rId31"/>
    <p:sldId id="858" r:id="rId32"/>
    <p:sldId id="859" r:id="rId33"/>
    <p:sldId id="860" r:id="rId34"/>
    <p:sldId id="861" r:id="rId35"/>
    <p:sldId id="862" r:id="rId36"/>
    <p:sldId id="830" r:id="rId37"/>
    <p:sldId id="554" r:id="rId38"/>
    <p:sldId id="2678" r:id="rId39"/>
    <p:sldId id="840" r:id="rId40"/>
    <p:sldId id="709" r:id="rId41"/>
    <p:sldId id="2677" r:id="rId42"/>
    <p:sldId id="560" r:id="rId43"/>
    <p:sldId id="842" r:id="rId44"/>
    <p:sldId id="807" r:id="rId45"/>
    <p:sldId id="1248" r:id="rId46"/>
    <p:sldId id="1249" r:id="rId47"/>
    <p:sldId id="1081" r:id="rId48"/>
    <p:sldId id="878" r:id="rId49"/>
    <p:sldId id="879" r:id="rId50"/>
    <p:sldId id="2669" r:id="rId51"/>
    <p:sldId id="2670" r:id="rId52"/>
    <p:sldId id="2671" r:id="rId53"/>
    <p:sldId id="2672" r:id="rId54"/>
    <p:sldId id="880" r:id="rId55"/>
    <p:sldId id="881" r:id="rId56"/>
    <p:sldId id="882" r:id="rId57"/>
    <p:sldId id="883" r:id="rId58"/>
    <p:sldId id="885" r:id="rId59"/>
    <p:sldId id="886" r:id="rId60"/>
    <p:sldId id="887" r:id="rId61"/>
    <p:sldId id="1076" r:id="rId62"/>
    <p:sldId id="1077" r:id="rId63"/>
    <p:sldId id="1078" r:id="rId64"/>
    <p:sldId id="1066" r:id="rId65"/>
    <p:sldId id="1067" r:id="rId66"/>
    <p:sldId id="1068" r:id="rId67"/>
    <p:sldId id="1070" r:id="rId68"/>
    <p:sldId id="1072" r:id="rId69"/>
    <p:sldId id="1071" r:id="rId70"/>
    <p:sldId id="1069" r:id="rId71"/>
    <p:sldId id="1073" r:id="rId72"/>
    <p:sldId id="1074" r:id="rId73"/>
    <p:sldId id="2675" r:id="rId74"/>
    <p:sldId id="2679" r:id="rId75"/>
    <p:sldId id="931" r:id="rId76"/>
    <p:sldId id="933" r:id="rId77"/>
    <p:sldId id="960" r:id="rId78"/>
    <p:sldId id="961" r:id="rId79"/>
    <p:sldId id="962" r:id="rId80"/>
    <p:sldId id="963" r:id="rId81"/>
    <p:sldId id="935" r:id="rId82"/>
    <p:sldId id="937" r:id="rId83"/>
    <p:sldId id="939" r:id="rId84"/>
    <p:sldId id="940" r:id="rId85"/>
    <p:sldId id="945" r:id="rId86"/>
    <p:sldId id="946" r:id="rId87"/>
    <p:sldId id="949" r:id="rId88"/>
    <p:sldId id="950" r:id="rId89"/>
    <p:sldId id="951" r:id="rId90"/>
    <p:sldId id="952" r:id="rId91"/>
    <p:sldId id="953" r:id="rId92"/>
    <p:sldId id="954" r:id="rId93"/>
    <p:sldId id="955" r:id="rId94"/>
    <p:sldId id="956" r:id="rId95"/>
    <p:sldId id="964" r:id="rId96"/>
    <p:sldId id="965" r:id="rId97"/>
    <p:sldId id="966" r:id="rId98"/>
    <p:sldId id="967" r:id="rId99"/>
    <p:sldId id="959" r:id="rId100"/>
    <p:sldId id="898" r:id="rId101"/>
    <p:sldId id="976" r:id="rId102"/>
    <p:sldId id="1012" r:id="rId103"/>
    <p:sldId id="1015" r:id="rId104"/>
    <p:sldId id="1016" r:id="rId105"/>
    <p:sldId id="1014" r:id="rId106"/>
    <p:sldId id="1250" r:id="rId107"/>
    <p:sldId id="918" r:id="rId108"/>
    <p:sldId id="905" r:id="rId109"/>
    <p:sldId id="906" r:id="rId110"/>
    <p:sldId id="921" r:id="rId111"/>
    <p:sldId id="908" r:id="rId112"/>
    <p:sldId id="909" r:id="rId113"/>
    <p:sldId id="910" r:id="rId114"/>
    <p:sldId id="911" r:id="rId115"/>
    <p:sldId id="912" r:id="rId116"/>
    <p:sldId id="1061" r:id="rId117"/>
    <p:sldId id="1062" r:id="rId118"/>
    <p:sldId id="1252" r:id="rId119"/>
    <p:sldId id="1059" r:id="rId120"/>
    <p:sldId id="1060" r:id="rId121"/>
    <p:sldId id="1040" r:id="rId122"/>
    <p:sldId id="1028" r:id="rId123"/>
    <p:sldId id="1029" r:id="rId124"/>
    <p:sldId id="1030" r:id="rId125"/>
    <p:sldId id="1031" r:id="rId126"/>
    <p:sldId id="1032" r:id="rId127"/>
    <p:sldId id="1034" r:id="rId128"/>
    <p:sldId id="1035" r:id="rId129"/>
    <p:sldId id="1041" r:id="rId130"/>
    <p:sldId id="1043" r:id="rId131"/>
    <p:sldId id="1044" r:id="rId132"/>
    <p:sldId id="1045" r:id="rId133"/>
    <p:sldId id="1046" r:id="rId134"/>
    <p:sldId id="1047" r:id="rId135"/>
    <p:sldId id="1048" r:id="rId136"/>
    <p:sldId id="1049" r:id="rId137"/>
    <p:sldId id="1050" r:id="rId138"/>
    <p:sldId id="1051" r:id="rId139"/>
    <p:sldId id="1052" r:id="rId140"/>
    <p:sldId id="1053" r:id="rId141"/>
    <p:sldId id="1054" r:id="rId142"/>
    <p:sldId id="1058" r:id="rId143"/>
    <p:sldId id="928" r:id="rId144"/>
    <p:sldId id="710" r:id="rId145"/>
    <p:sldId id="926" r:id="rId146"/>
  </p:sldIdLst>
  <p:sldSz cx="9144000" cy="5143500" type="screen16x9"/>
  <p:notesSz cx="10234295" cy="70993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1pPr>
    <a:lvl2pPr marL="342900" indent="114300" algn="l" rtl="0" eaLnBrk="0" fontAlgn="base" hangingPunct="0">
      <a:spcBef>
        <a:spcPct val="0"/>
      </a:spcBef>
      <a:spcAft>
        <a:spcPct val="0"/>
      </a:spcAft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2pPr>
    <a:lvl3pPr marL="685800" indent="228600" algn="l" rtl="0" eaLnBrk="0" fontAlgn="base" hangingPunct="0">
      <a:spcBef>
        <a:spcPct val="0"/>
      </a:spcBef>
      <a:spcAft>
        <a:spcPct val="0"/>
      </a:spcAft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3pPr>
    <a:lvl4pPr marL="1028700" indent="342900" algn="l" rtl="0" eaLnBrk="0" fontAlgn="base" hangingPunct="0">
      <a:spcBef>
        <a:spcPct val="0"/>
      </a:spcBef>
      <a:spcAft>
        <a:spcPct val="0"/>
      </a:spcAft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4pPr>
    <a:lvl5pPr marL="1371600" indent="457200" algn="l" rtl="0" eaLnBrk="0" fontAlgn="base" hangingPunct="0">
      <a:spcBef>
        <a:spcPct val="0"/>
      </a:spcBef>
      <a:spcAft>
        <a:spcPct val="0"/>
      </a:spcAft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5pPr>
    <a:lvl6pPr marL="2286000" algn="l" defTabSz="914400" rtl="0" eaLnBrk="1" latinLnBrk="0" hangingPunct="1"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6pPr>
    <a:lvl7pPr marL="2743200" algn="l" defTabSz="914400" rtl="0" eaLnBrk="1" latinLnBrk="0" hangingPunct="1"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7pPr>
    <a:lvl8pPr marL="3200400" algn="l" defTabSz="914400" rtl="0" eaLnBrk="1" latinLnBrk="0" hangingPunct="1"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8pPr>
    <a:lvl9pPr marL="3657600" algn="l" defTabSz="914400" rtl="0" eaLnBrk="1" latinLnBrk="0" hangingPunct="1"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09" userDrawn="1">
          <p15:clr>
            <a:srgbClr val="A4A3A4"/>
          </p15:clr>
        </p15:guide>
        <p15:guide id="2" pos="28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CC"/>
    <a:srgbClr val="FBE6B3"/>
    <a:srgbClr val="0000FF"/>
    <a:srgbClr val="FFCCCC"/>
    <a:srgbClr val="FF99CC"/>
    <a:srgbClr val="CC99CC"/>
    <a:srgbClr val="FF6666"/>
    <a:srgbClr val="FFE066"/>
    <a:srgbClr val="D9B2D9"/>
    <a:srgbClr val="3B34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46" autoAdjust="0"/>
    <p:restoredTop sz="71233" autoAdjust="0"/>
  </p:normalViewPr>
  <p:slideViewPr>
    <p:cSldViewPr showGuides="1">
      <p:cViewPr varScale="1">
        <p:scale>
          <a:sx n="66" d="100"/>
          <a:sy n="66" d="100"/>
        </p:scale>
        <p:origin x="1191" y="42"/>
      </p:cViewPr>
      <p:guideLst>
        <p:guide orient="horz" pos="1609"/>
        <p:guide pos="289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9" Type="http://schemas.openxmlformats.org/officeDocument/2006/relationships/slide" Target="slides/slide89.xml"/><Relationship Id="rId98" Type="http://schemas.openxmlformats.org/officeDocument/2006/relationships/slide" Target="slides/slide88.xml"/><Relationship Id="rId97" Type="http://schemas.openxmlformats.org/officeDocument/2006/relationships/slide" Target="slides/slide87.xml"/><Relationship Id="rId96" Type="http://schemas.openxmlformats.org/officeDocument/2006/relationships/slide" Target="slides/slide86.xml"/><Relationship Id="rId95" Type="http://schemas.openxmlformats.org/officeDocument/2006/relationships/slide" Target="slides/slide85.xml"/><Relationship Id="rId94" Type="http://schemas.openxmlformats.org/officeDocument/2006/relationships/slide" Target="slides/slide84.xml"/><Relationship Id="rId93" Type="http://schemas.openxmlformats.org/officeDocument/2006/relationships/slide" Target="slides/slide83.xml"/><Relationship Id="rId92" Type="http://schemas.openxmlformats.org/officeDocument/2006/relationships/slide" Target="slides/slide82.xml"/><Relationship Id="rId91" Type="http://schemas.openxmlformats.org/officeDocument/2006/relationships/slide" Target="slides/slide81.xml"/><Relationship Id="rId90" Type="http://schemas.openxmlformats.org/officeDocument/2006/relationships/slide" Target="slides/slide80.xml"/><Relationship Id="rId9" Type="http://schemas.openxmlformats.org/officeDocument/2006/relationships/slideMaster" Target="slideMasters/slideMaster8.xml"/><Relationship Id="rId89" Type="http://schemas.openxmlformats.org/officeDocument/2006/relationships/slide" Target="slides/slide79.xml"/><Relationship Id="rId88" Type="http://schemas.openxmlformats.org/officeDocument/2006/relationships/slide" Target="slides/slide78.xml"/><Relationship Id="rId87" Type="http://schemas.openxmlformats.org/officeDocument/2006/relationships/slide" Target="slides/slide77.xml"/><Relationship Id="rId86" Type="http://schemas.openxmlformats.org/officeDocument/2006/relationships/slide" Target="slides/slide76.xml"/><Relationship Id="rId85" Type="http://schemas.openxmlformats.org/officeDocument/2006/relationships/slide" Target="slides/slide75.xml"/><Relationship Id="rId84" Type="http://schemas.openxmlformats.org/officeDocument/2006/relationships/slide" Target="slides/slide74.xml"/><Relationship Id="rId83" Type="http://schemas.openxmlformats.org/officeDocument/2006/relationships/slide" Target="slides/slide73.xml"/><Relationship Id="rId82" Type="http://schemas.openxmlformats.org/officeDocument/2006/relationships/slide" Target="slides/slide72.xml"/><Relationship Id="rId81" Type="http://schemas.openxmlformats.org/officeDocument/2006/relationships/slide" Target="slides/slide71.xml"/><Relationship Id="rId80" Type="http://schemas.openxmlformats.org/officeDocument/2006/relationships/slide" Target="slides/slide70.xml"/><Relationship Id="rId8" Type="http://schemas.openxmlformats.org/officeDocument/2006/relationships/slideMaster" Target="slideMasters/slideMaster7.xml"/><Relationship Id="rId79" Type="http://schemas.openxmlformats.org/officeDocument/2006/relationships/slide" Target="slides/slide69.xml"/><Relationship Id="rId78" Type="http://schemas.openxmlformats.org/officeDocument/2006/relationships/slide" Target="slides/slide68.xml"/><Relationship Id="rId77" Type="http://schemas.openxmlformats.org/officeDocument/2006/relationships/slide" Target="slides/slide67.xml"/><Relationship Id="rId76" Type="http://schemas.openxmlformats.org/officeDocument/2006/relationships/slide" Target="slides/slide66.xml"/><Relationship Id="rId75" Type="http://schemas.openxmlformats.org/officeDocument/2006/relationships/slide" Target="slides/slide65.xml"/><Relationship Id="rId74" Type="http://schemas.openxmlformats.org/officeDocument/2006/relationships/slide" Target="slides/slide64.xml"/><Relationship Id="rId73" Type="http://schemas.openxmlformats.org/officeDocument/2006/relationships/slide" Target="slides/slide63.xml"/><Relationship Id="rId72" Type="http://schemas.openxmlformats.org/officeDocument/2006/relationships/slide" Target="slides/slide62.xml"/><Relationship Id="rId71" Type="http://schemas.openxmlformats.org/officeDocument/2006/relationships/slide" Target="slides/slide61.xml"/><Relationship Id="rId70" Type="http://schemas.openxmlformats.org/officeDocument/2006/relationships/slide" Target="slides/slide60.xml"/><Relationship Id="rId7" Type="http://schemas.openxmlformats.org/officeDocument/2006/relationships/slideMaster" Target="slideMasters/slideMaster6.xml"/><Relationship Id="rId69" Type="http://schemas.openxmlformats.org/officeDocument/2006/relationships/slide" Target="slides/slide59.xml"/><Relationship Id="rId68" Type="http://schemas.openxmlformats.org/officeDocument/2006/relationships/slide" Target="slides/slide58.xml"/><Relationship Id="rId67" Type="http://schemas.openxmlformats.org/officeDocument/2006/relationships/slide" Target="slides/slide57.xml"/><Relationship Id="rId66" Type="http://schemas.openxmlformats.org/officeDocument/2006/relationships/slide" Target="slides/slide56.xml"/><Relationship Id="rId65" Type="http://schemas.openxmlformats.org/officeDocument/2006/relationships/slide" Target="slides/slide55.xml"/><Relationship Id="rId64" Type="http://schemas.openxmlformats.org/officeDocument/2006/relationships/slide" Target="slides/slide54.xml"/><Relationship Id="rId63" Type="http://schemas.openxmlformats.org/officeDocument/2006/relationships/slide" Target="slides/slide53.xml"/><Relationship Id="rId62" Type="http://schemas.openxmlformats.org/officeDocument/2006/relationships/slide" Target="slides/slide52.xml"/><Relationship Id="rId61" Type="http://schemas.openxmlformats.org/officeDocument/2006/relationships/slide" Target="slides/slide51.xml"/><Relationship Id="rId60" Type="http://schemas.openxmlformats.org/officeDocument/2006/relationships/slide" Target="slides/slide50.xml"/><Relationship Id="rId6" Type="http://schemas.openxmlformats.org/officeDocument/2006/relationships/slideMaster" Target="slideMasters/slideMaster5.xml"/><Relationship Id="rId59" Type="http://schemas.openxmlformats.org/officeDocument/2006/relationships/slide" Target="slides/slide49.xml"/><Relationship Id="rId58" Type="http://schemas.openxmlformats.org/officeDocument/2006/relationships/slide" Target="slides/slide48.xml"/><Relationship Id="rId57" Type="http://schemas.openxmlformats.org/officeDocument/2006/relationships/slide" Target="slides/slide47.xml"/><Relationship Id="rId56" Type="http://schemas.openxmlformats.org/officeDocument/2006/relationships/slide" Target="slides/slide46.xml"/><Relationship Id="rId55" Type="http://schemas.openxmlformats.org/officeDocument/2006/relationships/slide" Target="slides/slide45.xml"/><Relationship Id="rId54" Type="http://schemas.openxmlformats.org/officeDocument/2006/relationships/slide" Target="slides/slide44.xml"/><Relationship Id="rId53" Type="http://schemas.openxmlformats.org/officeDocument/2006/relationships/slide" Target="slides/slide43.xml"/><Relationship Id="rId52" Type="http://schemas.openxmlformats.org/officeDocument/2006/relationships/slide" Target="slides/slide42.xml"/><Relationship Id="rId51" Type="http://schemas.openxmlformats.org/officeDocument/2006/relationships/slide" Target="slides/slide41.xml"/><Relationship Id="rId50" Type="http://schemas.openxmlformats.org/officeDocument/2006/relationships/slide" Target="slides/slide40.xml"/><Relationship Id="rId5" Type="http://schemas.openxmlformats.org/officeDocument/2006/relationships/slideMaster" Target="slideMasters/slideMaster4.xml"/><Relationship Id="rId49" Type="http://schemas.openxmlformats.org/officeDocument/2006/relationships/slide" Target="slides/slide39.xml"/><Relationship Id="rId48" Type="http://schemas.openxmlformats.org/officeDocument/2006/relationships/slide" Target="slides/slide38.xml"/><Relationship Id="rId47" Type="http://schemas.openxmlformats.org/officeDocument/2006/relationships/slide" Target="slides/slide37.xml"/><Relationship Id="rId46" Type="http://schemas.openxmlformats.org/officeDocument/2006/relationships/slide" Target="slides/slide36.xml"/><Relationship Id="rId45" Type="http://schemas.openxmlformats.org/officeDocument/2006/relationships/slide" Target="slides/slide35.xml"/><Relationship Id="rId44" Type="http://schemas.openxmlformats.org/officeDocument/2006/relationships/slide" Target="slides/slide34.xml"/><Relationship Id="rId43" Type="http://schemas.openxmlformats.org/officeDocument/2006/relationships/slide" Target="slides/slide33.xml"/><Relationship Id="rId42" Type="http://schemas.openxmlformats.org/officeDocument/2006/relationships/slide" Target="slides/slide32.xml"/><Relationship Id="rId41" Type="http://schemas.openxmlformats.org/officeDocument/2006/relationships/slide" Target="slides/slide31.xml"/><Relationship Id="rId40" Type="http://schemas.openxmlformats.org/officeDocument/2006/relationships/slide" Target="slides/slide30.xml"/><Relationship Id="rId4" Type="http://schemas.openxmlformats.org/officeDocument/2006/relationships/slideMaster" Target="slideMasters/slideMaster3.xml"/><Relationship Id="rId39" Type="http://schemas.openxmlformats.org/officeDocument/2006/relationships/slide" Target="slides/slide29.xml"/><Relationship Id="rId38" Type="http://schemas.openxmlformats.org/officeDocument/2006/relationships/slide" Target="slides/slide28.xml"/><Relationship Id="rId37" Type="http://schemas.openxmlformats.org/officeDocument/2006/relationships/slide" Target="slides/slide27.xml"/><Relationship Id="rId36" Type="http://schemas.openxmlformats.org/officeDocument/2006/relationships/slide" Target="slides/slide26.xml"/><Relationship Id="rId35" Type="http://schemas.openxmlformats.org/officeDocument/2006/relationships/slide" Target="slides/slide25.xml"/><Relationship Id="rId34" Type="http://schemas.openxmlformats.org/officeDocument/2006/relationships/slide" Target="slides/slide24.xml"/><Relationship Id="rId33" Type="http://schemas.openxmlformats.org/officeDocument/2006/relationships/slide" Target="slides/slide23.xml"/><Relationship Id="rId32" Type="http://schemas.openxmlformats.org/officeDocument/2006/relationships/slide" Target="slides/slide22.xml"/><Relationship Id="rId31" Type="http://schemas.openxmlformats.org/officeDocument/2006/relationships/slide" Target="slides/slide21.xml"/><Relationship Id="rId30" Type="http://schemas.openxmlformats.org/officeDocument/2006/relationships/slide" Target="slides/slide20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19.xml"/><Relationship Id="rId28" Type="http://schemas.openxmlformats.org/officeDocument/2006/relationships/slide" Target="slides/slide18.xml"/><Relationship Id="rId27" Type="http://schemas.openxmlformats.org/officeDocument/2006/relationships/slide" Target="slides/slide17.xml"/><Relationship Id="rId26" Type="http://schemas.openxmlformats.org/officeDocument/2006/relationships/slide" Target="slides/slide16.xml"/><Relationship Id="rId25" Type="http://schemas.openxmlformats.org/officeDocument/2006/relationships/slide" Target="slides/slide15.xml"/><Relationship Id="rId24" Type="http://schemas.openxmlformats.org/officeDocument/2006/relationships/slide" Target="slides/slide14.xml"/><Relationship Id="rId23" Type="http://schemas.openxmlformats.org/officeDocument/2006/relationships/slide" Target="slides/slide13.xml"/><Relationship Id="rId22" Type="http://schemas.openxmlformats.org/officeDocument/2006/relationships/slide" Target="slides/slide12.xml"/><Relationship Id="rId21" Type="http://schemas.openxmlformats.org/officeDocument/2006/relationships/slide" Target="slides/slide11.xml"/><Relationship Id="rId20" Type="http://schemas.openxmlformats.org/officeDocument/2006/relationships/slide" Target="slides/slide10.xml"/><Relationship Id="rId2" Type="http://schemas.openxmlformats.org/officeDocument/2006/relationships/theme" Target="theme/theme1.xml"/><Relationship Id="rId19" Type="http://schemas.openxmlformats.org/officeDocument/2006/relationships/slide" Target="slides/slide9.xml"/><Relationship Id="rId18" Type="http://schemas.openxmlformats.org/officeDocument/2006/relationships/slide" Target="slides/slide8.xml"/><Relationship Id="rId17" Type="http://schemas.openxmlformats.org/officeDocument/2006/relationships/slide" Target="slides/slide7.xml"/><Relationship Id="rId16" Type="http://schemas.openxmlformats.org/officeDocument/2006/relationships/slide" Target="slides/slide6.xml"/><Relationship Id="rId150" Type="http://schemas.openxmlformats.org/officeDocument/2006/relationships/tableStyles" Target="tableStyles.xml"/><Relationship Id="rId15" Type="http://schemas.openxmlformats.org/officeDocument/2006/relationships/slide" Target="slides/slide5.xml"/><Relationship Id="rId149" Type="http://schemas.openxmlformats.org/officeDocument/2006/relationships/viewProps" Target="viewProps.xml"/><Relationship Id="rId148" Type="http://schemas.openxmlformats.org/officeDocument/2006/relationships/presProps" Target="presProps.xml"/><Relationship Id="rId147" Type="http://schemas.openxmlformats.org/officeDocument/2006/relationships/handoutMaster" Target="handoutMasters/handoutMaster1.xml"/><Relationship Id="rId146" Type="http://schemas.openxmlformats.org/officeDocument/2006/relationships/slide" Target="slides/slide136.xml"/><Relationship Id="rId145" Type="http://schemas.openxmlformats.org/officeDocument/2006/relationships/slide" Target="slides/slide135.xml"/><Relationship Id="rId144" Type="http://schemas.openxmlformats.org/officeDocument/2006/relationships/slide" Target="slides/slide134.xml"/><Relationship Id="rId143" Type="http://schemas.openxmlformats.org/officeDocument/2006/relationships/slide" Target="slides/slide133.xml"/><Relationship Id="rId142" Type="http://schemas.openxmlformats.org/officeDocument/2006/relationships/slide" Target="slides/slide132.xml"/><Relationship Id="rId141" Type="http://schemas.openxmlformats.org/officeDocument/2006/relationships/slide" Target="slides/slide131.xml"/><Relationship Id="rId140" Type="http://schemas.openxmlformats.org/officeDocument/2006/relationships/slide" Target="slides/slide130.xml"/><Relationship Id="rId14" Type="http://schemas.openxmlformats.org/officeDocument/2006/relationships/slide" Target="slides/slide4.xml"/><Relationship Id="rId139" Type="http://schemas.openxmlformats.org/officeDocument/2006/relationships/slide" Target="slides/slide129.xml"/><Relationship Id="rId138" Type="http://schemas.openxmlformats.org/officeDocument/2006/relationships/slide" Target="slides/slide128.xml"/><Relationship Id="rId137" Type="http://schemas.openxmlformats.org/officeDocument/2006/relationships/slide" Target="slides/slide127.xml"/><Relationship Id="rId136" Type="http://schemas.openxmlformats.org/officeDocument/2006/relationships/slide" Target="slides/slide126.xml"/><Relationship Id="rId135" Type="http://schemas.openxmlformats.org/officeDocument/2006/relationships/slide" Target="slides/slide125.xml"/><Relationship Id="rId134" Type="http://schemas.openxmlformats.org/officeDocument/2006/relationships/slide" Target="slides/slide124.xml"/><Relationship Id="rId133" Type="http://schemas.openxmlformats.org/officeDocument/2006/relationships/slide" Target="slides/slide123.xml"/><Relationship Id="rId132" Type="http://schemas.openxmlformats.org/officeDocument/2006/relationships/slide" Target="slides/slide122.xml"/><Relationship Id="rId131" Type="http://schemas.openxmlformats.org/officeDocument/2006/relationships/slide" Target="slides/slide121.xml"/><Relationship Id="rId130" Type="http://schemas.openxmlformats.org/officeDocument/2006/relationships/slide" Target="slides/slide120.xml"/><Relationship Id="rId13" Type="http://schemas.openxmlformats.org/officeDocument/2006/relationships/slide" Target="slides/slide3.xml"/><Relationship Id="rId129" Type="http://schemas.openxmlformats.org/officeDocument/2006/relationships/slide" Target="slides/slide119.xml"/><Relationship Id="rId128" Type="http://schemas.openxmlformats.org/officeDocument/2006/relationships/slide" Target="slides/slide118.xml"/><Relationship Id="rId127" Type="http://schemas.openxmlformats.org/officeDocument/2006/relationships/slide" Target="slides/slide117.xml"/><Relationship Id="rId126" Type="http://schemas.openxmlformats.org/officeDocument/2006/relationships/slide" Target="slides/slide116.xml"/><Relationship Id="rId125" Type="http://schemas.openxmlformats.org/officeDocument/2006/relationships/slide" Target="slides/slide115.xml"/><Relationship Id="rId124" Type="http://schemas.openxmlformats.org/officeDocument/2006/relationships/slide" Target="slides/slide114.xml"/><Relationship Id="rId123" Type="http://schemas.openxmlformats.org/officeDocument/2006/relationships/slide" Target="slides/slide113.xml"/><Relationship Id="rId122" Type="http://schemas.openxmlformats.org/officeDocument/2006/relationships/slide" Target="slides/slide112.xml"/><Relationship Id="rId121" Type="http://schemas.openxmlformats.org/officeDocument/2006/relationships/slide" Target="slides/slide111.xml"/><Relationship Id="rId120" Type="http://schemas.openxmlformats.org/officeDocument/2006/relationships/slide" Target="slides/slide110.xml"/><Relationship Id="rId12" Type="http://schemas.openxmlformats.org/officeDocument/2006/relationships/slide" Target="slides/slide2.xml"/><Relationship Id="rId119" Type="http://schemas.openxmlformats.org/officeDocument/2006/relationships/slide" Target="slides/slide109.xml"/><Relationship Id="rId118" Type="http://schemas.openxmlformats.org/officeDocument/2006/relationships/slide" Target="slides/slide108.xml"/><Relationship Id="rId117" Type="http://schemas.openxmlformats.org/officeDocument/2006/relationships/slide" Target="slides/slide107.xml"/><Relationship Id="rId116" Type="http://schemas.openxmlformats.org/officeDocument/2006/relationships/slide" Target="slides/slide106.xml"/><Relationship Id="rId115" Type="http://schemas.openxmlformats.org/officeDocument/2006/relationships/slide" Target="slides/slide105.xml"/><Relationship Id="rId114" Type="http://schemas.openxmlformats.org/officeDocument/2006/relationships/slide" Target="slides/slide104.xml"/><Relationship Id="rId113" Type="http://schemas.openxmlformats.org/officeDocument/2006/relationships/slide" Target="slides/slide103.xml"/><Relationship Id="rId112" Type="http://schemas.openxmlformats.org/officeDocument/2006/relationships/slide" Target="slides/slide102.xml"/><Relationship Id="rId111" Type="http://schemas.openxmlformats.org/officeDocument/2006/relationships/slide" Target="slides/slide101.xml"/><Relationship Id="rId110" Type="http://schemas.openxmlformats.org/officeDocument/2006/relationships/slide" Target="slides/slide100.xml"/><Relationship Id="rId11" Type="http://schemas.openxmlformats.org/officeDocument/2006/relationships/notesMaster" Target="notesMasters/notesMaster1.xml"/><Relationship Id="rId109" Type="http://schemas.openxmlformats.org/officeDocument/2006/relationships/slide" Target="slides/slide99.xml"/><Relationship Id="rId108" Type="http://schemas.openxmlformats.org/officeDocument/2006/relationships/slide" Target="slides/slide98.xml"/><Relationship Id="rId107" Type="http://schemas.openxmlformats.org/officeDocument/2006/relationships/slide" Target="slides/slide97.xml"/><Relationship Id="rId106" Type="http://schemas.openxmlformats.org/officeDocument/2006/relationships/slide" Target="slides/slide96.xml"/><Relationship Id="rId105" Type="http://schemas.openxmlformats.org/officeDocument/2006/relationships/slide" Target="slides/slide95.xml"/><Relationship Id="rId104" Type="http://schemas.openxmlformats.org/officeDocument/2006/relationships/slide" Target="slides/slide94.xml"/><Relationship Id="rId103" Type="http://schemas.openxmlformats.org/officeDocument/2006/relationships/slide" Target="slides/slide93.xml"/><Relationship Id="rId102" Type="http://schemas.openxmlformats.org/officeDocument/2006/relationships/slide" Target="slides/slide92.xml"/><Relationship Id="rId101" Type="http://schemas.openxmlformats.org/officeDocument/2006/relationships/slide" Target="slides/slide91.xml"/><Relationship Id="rId100" Type="http://schemas.openxmlformats.org/officeDocument/2006/relationships/slide" Target="slides/slide90.xml"/><Relationship Id="rId10" Type="http://schemas.openxmlformats.org/officeDocument/2006/relationships/slide" Target="slides/slid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4" y="2"/>
            <a:ext cx="4436039" cy="355929"/>
          </a:xfrm>
          <a:prstGeom prst="rect">
            <a:avLst/>
          </a:prstGeom>
        </p:spPr>
        <p:txBody>
          <a:bodyPr vert="horz" lIns="94873" tIns="47437" rIns="94873" bIns="47437" rtlCol="0"/>
          <a:lstStyle>
            <a:lvl1pPr algn="l">
              <a:defRPr sz="1200"/>
            </a:lvl1pPr>
          </a:lstStyle>
          <a:p>
            <a:endParaRPr lang="zh-CN" altLang="en-US">
              <a:ea typeface="方正楷体_GB2312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6173" y="2"/>
            <a:ext cx="4436039" cy="355929"/>
          </a:xfrm>
          <a:prstGeom prst="rect">
            <a:avLst/>
          </a:prstGeom>
        </p:spPr>
        <p:txBody>
          <a:bodyPr vert="horz" lIns="94873" tIns="47437" rIns="94873" bIns="47437" rtlCol="0"/>
          <a:lstStyle>
            <a:lvl1pPr algn="r">
              <a:defRPr sz="1200"/>
            </a:lvl1pPr>
          </a:lstStyle>
          <a:p>
            <a:fld id="{579DE515-39E6-4A86-88DB-635F51B8CDFC}" type="datetimeFigureOut">
              <a:rPr lang="zh-CN" altLang="en-US" smtClean="0">
                <a:ea typeface="方正楷体_GB2312" charset="0"/>
              </a:rPr>
            </a:fld>
            <a:endParaRPr lang="zh-CN" altLang="en-US">
              <a:ea typeface="方正楷体_GB2312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4" y="6743372"/>
            <a:ext cx="4436039" cy="355929"/>
          </a:xfrm>
          <a:prstGeom prst="rect">
            <a:avLst/>
          </a:prstGeom>
        </p:spPr>
        <p:txBody>
          <a:bodyPr vert="horz" lIns="94873" tIns="47437" rIns="94873" bIns="47437" rtlCol="0" anchor="b"/>
          <a:lstStyle>
            <a:lvl1pPr algn="l">
              <a:defRPr sz="1200"/>
            </a:lvl1pPr>
          </a:lstStyle>
          <a:p>
            <a:endParaRPr lang="zh-CN" altLang="en-US">
              <a:ea typeface="方正楷体_GB2312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6173" y="6743372"/>
            <a:ext cx="4436039" cy="355929"/>
          </a:xfrm>
          <a:prstGeom prst="rect">
            <a:avLst/>
          </a:prstGeom>
        </p:spPr>
        <p:txBody>
          <a:bodyPr vert="horz" lIns="94873" tIns="47437" rIns="94873" bIns="47437" rtlCol="0" anchor="b"/>
          <a:lstStyle>
            <a:lvl1pPr algn="r">
              <a:defRPr sz="1200"/>
            </a:lvl1pPr>
          </a:lstStyle>
          <a:p>
            <a:fld id="{5D24A144-CAAA-4060-913B-9D0EBE19BD82}" type="slidenum">
              <a:rPr lang="zh-CN" altLang="en-US" smtClean="0">
                <a:ea typeface="方正楷体_GB2312" charset="0"/>
              </a:rPr>
            </a:fld>
            <a:endParaRPr lang="zh-CN" altLang="en-US">
              <a:ea typeface="方正楷体_GB2312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4" y="2"/>
            <a:ext cx="4435304" cy="35457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08" tIns="45704" rIns="91408" bIns="45704" numCol="1" anchor="t" anchorCtr="0" compatLnSpc="1"/>
          <a:lstStyle>
            <a:lvl1pPr eaLnBrk="1" hangingPunct="1">
              <a:defRPr sz="1200" b="0">
                <a:latin typeface="Arial" panose="020B0604020202020204" pitchFamily="34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0038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797023" y="2"/>
            <a:ext cx="4435304" cy="35457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08" tIns="45704" rIns="91408" bIns="45704" numCol="1" anchor="t" anchorCtr="0" compatLnSpc="1"/>
          <a:lstStyle>
            <a:lvl1pPr algn="r" eaLnBrk="1" hangingPunct="1">
              <a:defRPr sz="1200" b="0">
                <a:latin typeface="Arial" panose="020B0604020202020204" pitchFamily="34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225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752725" y="533400"/>
            <a:ext cx="4729163" cy="26606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038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023006" y="3371809"/>
            <a:ext cx="8188606" cy="319452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08" tIns="45704" rIns="91408" bIns="45704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40039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4" y="6743622"/>
            <a:ext cx="4435304" cy="35457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08" tIns="45704" rIns="91408" bIns="45704" numCol="1" anchor="b" anchorCtr="0" compatLnSpc="1"/>
          <a:lstStyle>
            <a:lvl1pPr eaLnBrk="1" hangingPunct="1">
              <a:defRPr sz="1200" b="0">
                <a:latin typeface="Arial" panose="020B0604020202020204" pitchFamily="34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08" tIns="45704" rIns="91408" bIns="45704" numCol="1" anchor="b" anchorCtr="0" compatLnSpc="1"/>
          <a:lstStyle>
            <a:lvl1pPr algn="r" eaLnBrk="1" hangingPunct="1">
              <a:defRPr sz="1200" b="0">
                <a:latin typeface="Arial" panose="020B0604020202020204" pitchFamily="34" charset="0"/>
                <a:ea typeface="方正楷体_GB2312" charset="0"/>
                <a:cs typeface="+mn-cs"/>
              </a:defRPr>
            </a:lvl1pPr>
          </a:lstStyle>
          <a:p>
            <a:pPr>
              <a:defRPr/>
            </a:pPr>
            <a:fld id="{BF1EED8B-97B1-415D-8331-E49E42B9A480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342900"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685800"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028700"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371600"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3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6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7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8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9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0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2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3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4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5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6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7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8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9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0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2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3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4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5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6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7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8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9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0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2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3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4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5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6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7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8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9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0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2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3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4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5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6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7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8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9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0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2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3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4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5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6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7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8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9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0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2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3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4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5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6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7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8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9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0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2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3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4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5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826770" indent="-317500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27635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783715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29489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7520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2092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6664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41236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8E70F05F-B421-4EEC-A43E-675C7C4F757B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zh-CN" altLang="en-US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2662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6628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964F3FC9-35BE-4CD1-BD4E-6133EE1E65CF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D13AA36-BB1E-4090-AB44-27B03CF5D1F3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ED13AA36-BB1E-4090-AB44-27B03CF5D1F3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3004DC71-F4A5-4ED7-A4CE-2AFE4AA015AA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5F3B715-E9C3-425B-AB75-D5B3CBAE94E6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C1F7789-A22C-4AD1-A928-7E302C6326E6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686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36868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A4C5B8C4-25F0-4138-849C-9F89BF5908E8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891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3891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0E6561E-3D1A-45C3-B6A1-E641C9EE406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40963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CN" b="1" dirty="0"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0964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C43B2EF-1104-48ED-A2DF-4BB132DCB316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4301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CN">
              <a:latin typeface="Arial" panose="020B0604020202020204" pitchFamily="34" charset="0"/>
            </a:endParaRPr>
          </a:p>
        </p:txBody>
      </p:sp>
      <p:sp>
        <p:nvSpPr>
          <p:cNvPr id="4301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F88A3C6-822E-4DFE-A4D1-0E1A567C8463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99F09A9-553C-4D4C-AFEF-87C412E4CB10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F8F299B-6DE2-44DC-ADB4-BD2B25EE2876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4915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4915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3A973CA7-744C-48DF-9F50-43B1BB8E3D4A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zh-CN" altLang="en-US" dirty="0"/>
          </a:p>
        </p:txBody>
      </p:sp>
      <p:sp>
        <p:nvSpPr>
          <p:cNvPr id="51204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44F63B91-B9C4-4381-BEAD-83991E1CC2F2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zh-CN" altLang="en-US" dirty="0"/>
          </a:p>
        </p:txBody>
      </p:sp>
      <p:sp>
        <p:nvSpPr>
          <p:cNvPr id="51204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44F63B91-B9C4-4381-BEAD-83991E1CC2F2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5325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5325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6D08955-4C35-466C-992F-5B11031B2B97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5529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5530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7E1E5C00-AD2B-4512-9654-1B6A5BE7253C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26C945A6-7010-488E-893C-AD04E93C6116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4ADEBC9C-3C78-43C5-80BF-023C17021FFD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4B71C9DA-C864-4DA4-88B2-2E21794D3657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1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14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ABCB4124-F0A2-4F60-9769-453894B31125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solidFill>
                <a:schemeClr val="hlink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26176999-7F8E-4592-83AA-0D74A298E907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55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55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D86962DF-4216-42A0-A252-9111378FDF1C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75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E7827455-CF55-4A54-B795-15EB6D2F54E3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96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963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3CBFC2BF-F51D-4292-B9A2-CE4717F5223B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DD1AB9CA-F117-4408-9D70-517A113710AF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737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373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7DEEAEBF-F79D-4661-8A8D-68C5955CCA28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57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1B6EE0E2-9BFA-4454-9D58-BAB71E385048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77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782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b="1" dirty="0">
              <a:latin typeface="方正楷体_GB2312" charset="0"/>
              <a:ea typeface="楷体" panose="02010609060101010101" pitchFamily="49" charset="-122"/>
              <a:cs typeface="Times New Roman" panose="02020603050405020304" pitchFamily="18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1B6EE0E2-9BFA-4454-9D58-BAB71E385048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77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782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b="1" dirty="0">
              <a:latin typeface="方正楷体_GB2312" charset="0"/>
              <a:ea typeface="楷体" panose="02010609060101010101" pitchFamily="49" charset="-122"/>
              <a:cs typeface="Times New Roman" panose="02020603050405020304" pitchFamily="18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47A67AD3-53FD-4079-A4EF-659B6C22381B}" type="slidenum">
              <a:rPr lang="zh-CN" altLang="en-US" sz="1200" b="0"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798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9876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b="1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14" tIns="45708" rIns="91414" bIns="45708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E599083A-7ABC-42E0-9645-BBB37B7B0028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819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2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b="1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397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CN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zh-CN" altLang="en-US" dirty="0"/>
          </a:p>
        </p:txBody>
      </p:sp>
      <p:sp>
        <p:nvSpPr>
          <p:cNvPr id="8602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FDD3D44E-44DA-4C17-9C42-735FB0FCDB6E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8806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88068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D950DDFA-1DE6-43FE-9F6B-C5D6A7928F8F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98307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  <p:sp>
        <p:nvSpPr>
          <p:cNvPr id="9011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0BB7FD1-B0D1-49B5-96F0-5FFCAEF1C883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00355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  <p:sp>
        <p:nvSpPr>
          <p:cNvPr id="92164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2B6DBFF0-ED21-493C-A1CB-C4505ADE9C95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98307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  <p:sp>
        <p:nvSpPr>
          <p:cNvPr id="9011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0BB7FD1-B0D1-49B5-96F0-5FFCAEF1C883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6C633D4E-7294-4B6F-8387-F3E10194C772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69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FE8DEE80-724C-4DDB-B706-15F348D841B8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1044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44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F5042A41-2D7F-400D-93DB-161D52F48961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064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65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D13AAE4E-79AF-4110-9CE3-ED168A4785AC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085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3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EDA0B588-DFBC-4002-A6B3-60D39C99BFC5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4B8D7A25-884A-4DE8-9057-2C7976F00BD4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F5042A41-2D7F-400D-93DB-161D52F48961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064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65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D13AAE4E-79AF-4110-9CE3-ED168A4785AC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085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3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EDA0B588-DFBC-4002-A6B3-60D39C99BFC5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4B8D7A25-884A-4DE8-9057-2C7976F00BD4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04DD1A40-1983-444D-ACB5-0761EA68748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146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46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813A3864-A91B-455E-8670-F9DBFEAF5AD9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1167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D7FCC81-B2B5-40A5-96A4-40E8EF71B30F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187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87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lvl="2" eaLnBrk="1" hangingPunct="1"/>
            <a:endParaRPr lang="en-US" altLang="zh-CN" sz="1900" b="1" dirty="0">
              <a:solidFill>
                <a:srgbClr val="000000"/>
              </a:solidFill>
              <a:latin typeface="Arial" panose="020B0604020202020204" pitchFamily="34" charset="0"/>
              <a:ea typeface="楷体" panose="02010609060101010101" pitchFamily="49" charset="-12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6C633D4E-7294-4B6F-8387-F3E10194C772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69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4B8D7A25-884A-4DE8-9057-2C7976F00BD4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6C633D4E-7294-4B6F-8387-F3E10194C772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69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F5042A41-2D7F-400D-93DB-161D52F48961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064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65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D13AAE4E-79AF-4110-9CE3-ED168A4785AC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085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3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EDA0B588-DFBC-4002-A6B3-60D39C99BFC5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EDA0B588-DFBC-4002-A6B3-60D39C99BFC5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EDA0B588-DFBC-4002-A6B3-60D39C99BFC5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EDA0B588-DFBC-4002-A6B3-60D39C99BFC5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4B8D7A25-884A-4DE8-9057-2C7976F00BD4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4B8D7A25-884A-4DE8-9057-2C7976F00BD4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4B8D7A25-884A-4DE8-9057-2C7976F00BD4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F1EED8B-97B1-415D-8331-E49E42B9A480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CD6CB34-0033-4E97-B9F3-E349968D419B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CD6CB34-0033-4E97-B9F3-E349968D419B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CD6CB34-0033-4E97-B9F3-E349968D419B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CD6CB34-0033-4E97-B9F3-E349968D419B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CD6CB34-0033-4E97-B9F3-E349968D419B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CD6CB34-0033-4E97-B9F3-E349968D419B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686227A3-F21F-4EBC-841F-A25E04F2143D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1239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390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3107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13107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3D7ECF8-3D88-4A6E-881E-DF2CD361C20D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33123" name="备注占位符 2"/>
          <p:cNvSpPr>
            <a:spLocks noGrp="1"/>
          </p:cNvSpPr>
          <p:nvPr>
            <p:ph type="body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133124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7C15B51-FA19-4614-B3A9-488A29C55B3C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875CE19-2F8E-4D1E-B24F-77C3A281BB48}" type="slidenum">
              <a:rPr lang="zh-CN" altLang="en-US" sz="1200" b="0">
                <a:latin typeface="Arial" panose="020B0604020202020204" pitchFamily="34" charset="0"/>
              </a:rPr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3721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13722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8DE826A3-48BE-419B-B01E-4BA25CD03D9C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3926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139268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DD3BE94C-DE57-445E-AF84-15AAE433DD6D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4131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14131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774AF58E-EB25-46B0-BD30-020D1B979050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43363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143364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1E30D101-7003-4A57-8741-742BC920A636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4541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14541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2857BC5D-607A-4532-8BC3-947A742BB549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zh-CN" altLang="en-US" sz="900" dirty="0">
              <a:solidFill>
                <a:srgbClr val="0000FF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F1EED8B-97B1-415D-8331-E49E42B9A480}" type="slidenum">
              <a:rPr lang="zh-CN" altLang="en-US" smtClean="0">
                <a:solidFill>
                  <a:srgbClr val="000000"/>
                </a:solidFill>
              </a:rPr>
            </a:fld>
            <a:endParaRPr lang="en-US" altLang="zh-CN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1680" indent="-28448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2365" indent="-22796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599565" indent="-22796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5495" indent="-22796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496185" indent="-227965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36875" indent="-227965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376930" indent="-227965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17620" indent="-227965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686227A3-F21F-4EBC-841F-A25E04F2143D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39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390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4745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CN" dirty="0">
              <a:latin typeface="Times New Roman" panose="02020603050405020304" pitchFamily="18" charset="0"/>
            </a:endParaRPr>
          </a:p>
        </p:txBody>
      </p:sp>
      <p:sp>
        <p:nvSpPr>
          <p:cNvPr id="14746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826770" indent="-317500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27635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783715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29489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7520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2092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6664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41236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106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885159C-5E51-487C-BBC8-6B765E9FE5F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defTabSz="948690" eaLnBrk="1" hangingPunct="1">
              <a:defRPr/>
            </a:pPr>
            <a:endParaRPr lang="en-US" altLang="zh-CN" dirty="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defTabSz="948690" eaLnBrk="1" hangingPunct="1">
              <a:defRPr/>
            </a:pPr>
            <a:endParaRPr lang="en-US" altLang="zh-CN" b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4745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CN">
              <a:latin typeface="Times New Roman" panose="02020603050405020304" pitchFamily="18" charset="0"/>
            </a:endParaRPr>
          </a:p>
        </p:txBody>
      </p:sp>
      <p:sp>
        <p:nvSpPr>
          <p:cNvPr id="14746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826770" indent="-317500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27635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783715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29489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7520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2092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6664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41236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3885159C-5E51-487C-BBC8-6B765E9FE5F4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宋体" panose="02010600030101010101" pitchFamily="2" charset="-122"/>
              </a:rPr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39700" y="768350"/>
            <a:ext cx="6821488" cy="3836988"/>
          </a:xfrm>
        </p:spPr>
      </p:sp>
      <p:sp>
        <p:nvSpPr>
          <p:cNvPr id="11673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kumimoji="1" lang="zh-CN" altLang="en-US" dirty="0">
              <a:latin typeface="Arial" panose="020B0604020202020204" pitchFamily="34" charset="0"/>
            </a:endParaRPr>
          </a:p>
        </p:txBody>
      </p:sp>
      <p:sp>
        <p:nvSpPr>
          <p:cNvPr id="11674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70890" indent="-296545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86180" indent="-237490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60525" indent="-237490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134870" indent="-237490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609215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3083560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558540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4032885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fld id="{1CF6401E-EA17-4D07-B855-28725AEF3B1F}" type="slidenum">
              <a:rPr lang="zh-CN" altLang="en-US">
                <a:latin typeface="Arial" panose="020B0604020202020204" pitchFamily="34" charset="0"/>
              </a:rPr>
            </a:fld>
            <a:endParaRPr lang="en-US" altLang="zh-CN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4950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149508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826770" indent="-317500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27635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783715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29489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7520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2092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6664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41236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9757BE6C-C0B5-4B63-96F7-07CDEE8383A2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宋体" panose="02010600030101010101" pitchFamily="2" charset="-122"/>
              </a:rPr>
            </a:fld>
            <a:endParaRPr lang="zh-CN" altLang="en-US" sz="1200" b="0">
              <a:solidFill>
                <a:srgbClr val="000000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4354DE9C-EF8A-434A-A9AF-80EBC91D7122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6"/>
          <p:cNvGrpSpPr/>
          <p:nvPr userDrawn="1"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5" name="五边形 4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方正楷体_GB2312" charset="0"/>
                <a:cs typeface="方正楷体_GB2312" charset="0"/>
              </a:endParaRPr>
            </a:p>
          </p:txBody>
        </p:sp>
        <p:sp>
          <p:nvSpPr>
            <p:cNvPr id="6" name="五边形 8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 eaLnBrk="1" hangingPunct="1"/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方正楷体_GB2312" charset="0"/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8776E3E9-DC9E-4990-BCC9-4E58880CF638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fld id="{BFB77E6A-F5D0-4B81-A6A2-7670B3152CB5}" type="datetime1">
              <a:rPr lang="zh-CN" altLang="en-US"/>
            </a:fld>
            <a:endParaRPr lang="en-US" altLang="zh-CN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ea typeface="方正楷体_GB2312" charset="0"/>
              </a:defRPr>
            </a:lvl1pPr>
          </a:lstStyle>
          <a:p>
            <a:pPr>
              <a:defRPr/>
            </a:pPr>
            <a:fld id="{97AD1EE5-475A-487C-B002-8DFD5D5D9196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560CBABA-6F55-496A-B8A4-3CA2470A0480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6"/>
          <p:cNvGrpSpPr/>
          <p:nvPr userDrawn="1"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5" name="五边形 4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华文楷体" panose="02010600040101010101" pitchFamily="2" charset="-122"/>
              </a:endParaRPr>
            </a:p>
          </p:txBody>
        </p:sp>
        <p:sp>
          <p:nvSpPr>
            <p:cNvPr id="6" name="五边形 8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 eaLnBrk="1" hangingPunct="1"/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华文楷体" panose="02010600040101010101" pitchFamily="2" charset="-122"/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A00E0565-7E0D-4A75-9ADF-0735BA62E8F7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7C56C03C-35D5-499B-BA7A-3F39A34ECDE0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6"/>
          <p:cNvGrpSpPr/>
          <p:nvPr userDrawn="1"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5" name="五边形 4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华文楷体" panose="02010600040101010101" pitchFamily="2" charset="-122"/>
              </a:endParaRPr>
            </a:p>
          </p:txBody>
        </p:sp>
        <p:sp>
          <p:nvSpPr>
            <p:cNvPr id="6" name="五边形 8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 eaLnBrk="1" hangingPunct="1"/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华文楷体" panose="02010600040101010101" pitchFamily="2" charset="-122"/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3" y="1044338"/>
            <a:ext cx="8219257" cy="3615643"/>
          </a:xfrm>
        </p:spPr>
        <p:txBody>
          <a:bodyPr/>
          <a:lstStyle>
            <a:lvl1pPr marL="269875" indent="-269875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3405" indent="-269875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852805" indent="-225425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39825" indent="-225425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59230" indent="-225425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>
            <a:lvl1pPr algn="l">
              <a:defRPr sz="3000" b="1" baseline="0">
                <a:solidFill>
                  <a:schemeClr val="tx1"/>
                </a:solidFill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30022" y="4870450"/>
            <a:ext cx="513978" cy="273050"/>
          </a:xfrm>
        </p:spPr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AA35DEC3-0C51-495B-B28A-93C301D17AAE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4491DB1B-3F0E-4672-9E8C-12D65E84953C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6"/>
          <p:cNvGrpSpPr/>
          <p:nvPr userDrawn="1"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5" name="五边形 4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华文楷体" panose="02010600040101010101" pitchFamily="2" charset="-122"/>
              </a:endParaRPr>
            </a:p>
          </p:txBody>
        </p:sp>
        <p:sp>
          <p:nvSpPr>
            <p:cNvPr id="6" name="五边形 8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 eaLnBrk="1" hangingPunct="1"/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华文楷体" panose="02010600040101010101" pitchFamily="2" charset="-122"/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FF42F544-B2FE-4093-ACBD-2464918D1545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800" b="0">
              <a:solidFill>
                <a:prstClr val="white"/>
              </a:solidFill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hangingPunct="0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hangingPunct="0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hangingPunct="0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fld id="{CFF391A9-F9C7-4646-A335-5AD55868CA55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6" y="267494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hangingPunct="0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hangingPunct="0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hangingPunct="0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fld id="{DCDD32E7-4F9B-4644-B8D3-91CB554F1EEB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en-US" altLang="zh-CN" sz="1800" b="0">
              <a:solidFill>
                <a:srgbClr val="FFFFFF"/>
              </a:solidFill>
              <a:latin typeface="Candara" panose="020E0502030303020204" pitchFamily="34" charset="0"/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EEBD4A1F-64A4-481F-B88B-75016B515571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6" y="267494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07D3E535-419A-497F-A425-2DAF1B5C1D8B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en-US" altLang="zh-CN" sz="1800" b="0">
              <a:solidFill>
                <a:srgbClr val="FFFFFF"/>
              </a:solidFill>
              <a:latin typeface="Candara" panose="020E0502030303020204" pitchFamily="34" charset="0"/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916BBB1A-B77E-4769-AFE0-87064943197D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6" y="267494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751F737D-225A-4EE7-99C0-1EAEE7AD27FB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1" y="171451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4354DE9C-EF8A-434A-A9AF-80EBC91D7122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6"/>
          <p:cNvGrpSpPr/>
          <p:nvPr userDrawn="1"/>
        </p:nvGrpSpPr>
        <p:grpSpPr bwMode="auto">
          <a:xfrm>
            <a:off x="0" y="195264"/>
            <a:ext cx="755650" cy="431800"/>
            <a:chOff x="-786" y="195486"/>
            <a:chExt cx="756363" cy="432048"/>
          </a:xfrm>
        </p:grpSpPr>
        <p:sp>
          <p:nvSpPr>
            <p:cNvPr id="5" name="五边形 4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方正楷体_GB2312" charset="0"/>
                <a:cs typeface="方正楷体_GB2312" charset="0"/>
              </a:endParaRPr>
            </a:p>
          </p:txBody>
        </p:sp>
        <p:sp>
          <p:nvSpPr>
            <p:cNvPr id="6" name="五边形 8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 eaLnBrk="1" hangingPunct="1"/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方正楷体_GB2312" charset="0"/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8776E3E9-DC9E-4990-BCC9-4E58880CF638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heme" Target="../theme/theme7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theme" Target="../theme/theme8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7" name="Group 15"/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1033" name="Freeform 14"/>
            <p:cNvSpPr/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4" name="Freeform 18"/>
            <p:cNvSpPr/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5" name="Freeform 22"/>
            <p:cNvSpPr/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6" name="Freeform 26"/>
            <p:cNvSpPr/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37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028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方正楷体_GB2312" charset="0"/>
                <a:cs typeface="+mn-cs"/>
              </a:defRPr>
            </a:lvl1pPr>
          </a:lstStyle>
          <a:p>
            <a:pPr>
              <a:defRPr/>
            </a:pPr>
            <a:fld id="{BDCB7CAD-2C0E-4EC3-AA0F-652A11C2BD42}" type="slidenum">
              <a:rPr lang="zh-CN" altLang="en-US"/>
            </a:fld>
            <a:endParaRPr lang="en-US" altLang="zh-CN"/>
          </a:p>
        </p:txBody>
      </p:sp>
      <p:sp>
        <p:nvSpPr>
          <p:cNvPr id="103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1780" indent="-27178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4675" indent="-27178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4075" indent="-22733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1730" indent="-22733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0500" indent="-22733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2051" name="Group 15"/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2057" name="Freeform 14"/>
            <p:cNvSpPr/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2058" name="Freeform 18"/>
            <p:cNvSpPr/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2059" name="Freeform 22"/>
            <p:cNvSpPr/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2060" name="Freeform 26"/>
            <p:cNvSpPr/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2061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052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fld id="{790BFD99-4A90-400A-8C45-252C7A9211C1}" type="slidenum">
              <a:rPr lang="zh-CN" altLang="en-US"/>
            </a:fld>
            <a:endParaRPr lang="en-US" altLang="zh-CN"/>
          </a:p>
        </p:txBody>
      </p:sp>
      <p:sp>
        <p:nvSpPr>
          <p:cNvPr id="205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3405" indent="-26987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2805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39825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59230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3075" name="Group 15"/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3081" name="Freeform 14"/>
            <p:cNvSpPr/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082" name="Freeform 18"/>
            <p:cNvSpPr/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083" name="Freeform 22"/>
            <p:cNvSpPr/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084" name="Freeform 26"/>
            <p:cNvSpPr/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3085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3076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fld id="{567E3C83-3872-460E-910F-BEB2F2B30AC4}" type="slidenum">
              <a:rPr lang="zh-CN" altLang="en-US"/>
            </a:fld>
            <a:endParaRPr lang="en-US" altLang="zh-CN"/>
          </a:p>
        </p:txBody>
      </p:sp>
      <p:sp>
        <p:nvSpPr>
          <p:cNvPr id="308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3405" indent="-26987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2805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39825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59230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4099" name="Group 15"/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4105" name="Freeform 14"/>
            <p:cNvSpPr/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106" name="Freeform 18"/>
            <p:cNvSpPr/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107" name="Freeform 22"/>
            <p:cNvSpPr/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108" name="Freeform 26"/>
            <p:cNvSpPr/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4109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4100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fld id="{1170368F-9EB5-44D8-A9A8-C4675D1F6290}" type="slidenum">
              <a:rPr lang="zh-CN" altLang="en-US"/>
            </a:fld>
            <a:endParaRPr lang="en-US" altLang="zh-CN"/>
          </a:p>
        </p:txBody>
      </p:sp>
      <p:sp>
        <p:nvSpPr>
          <p:cNvPr id="410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3405" indent="-26987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2805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39825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59230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800" b="0">
              <a:solidFill>
                <a:prstClr val="white"/>
              </a:solidFill>
            </a:endParaRPr>
          </a:p>
        </p:txBody>
      </p:sp>
      <p:grpSp>
        <p:nvGrpSpPr>
          <p:cNvPr id="5123" name="Group 15"/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5129" name="Freeform 14"/>
            <p:cNvSpPr/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5130" name="Freeform 18"/>
            <p:cNvSpPr/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5131" name="Freeform 22"/>
            <p:cNvSpPr/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5132" name="Freeform 26"/>
            <p:cNvSpPr/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5133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5124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fld id="{EA3BAD8B-AFF6-4AC2-90D2-BC95FEDAA16D}" type="slidenum">
              <a:rPr lang="zh-CN" altLang="en-US"/>
            </a:fld>
            <a:endParaRPr lang="en-US" altLang="zh-CN"/>
          </a:p>
        </p:txBody>
      </p:sp>
      <p:sp>
        <p:nvSpPr>
          <p:cNvPr id="51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658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598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kern="1200">
          <a:solidFill>
            <a:schemeClr val="tx2"/>
          </a:solidFill>
          <a:latin typeface="+mn-lt"/>
          <a:ea typeface="+mn-ea"/>
          <a:cs typeface="+mn-cs"/>
        </a:defRPr>
      </a:lvl4pPr>
      <a:lvl5pPr marL="1462405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en-US" altLang="zh-CN" sz="1800" b="0">
              <a:solidFill>
                <a:srgbClr val="FFFFFF"/>
              </a:solidFill>
              <a:latin typeface="Candara" panose="020E0502030303020204" pitchFamily="34" charset="0"/>
            </a:endParaRPr>
          </a:p>
        </p:txBody>
      </p:sp>
      <p:grpSp>
        <p:nvGrpSpPr>
          <p:cNvPr id="6147" name="Group 15"/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6153" name="Freeform 14"/>
            <p:cNvSpPr/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154" name="Freeform 18"/>
            <p:cNvSpPr/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155" name="Freeform 22"/>
            <p:cNvSpPr/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156" name="Freeform 26"/>
            <p:cNvSpPr/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6157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6148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fld id="{FD3ED6D8-4008-4786-82B3-1AB59623EB7D}" type="slidenum">
              <a:rPr lang="zh-CN" altLang="en-US"/>
            </a:fld>
            <a:endParaRPr lang="en-US" altLang="zh-CN"/>
          </a:p>
        </p:txBody>
      </p:sp>
      <p:sp>
        <p:nvSpPr>
          <p:cNvPr id="61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658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598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2405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en-US" altLang="zh-CN" sz="1800" b="0">
              <a:solidFill>
                <a:srgbClr val="FFFFFF"/>
              </a:solidFill>
              <a:latin typeface="Candara" panose="020E0502030303020204" pitchFamily="34" charset="0"/>
            </a:endParaRPr>
          </a:p>
        </p:txBody>
      </p:sp>
      <p:grpSp>
        <p:nvGrpSpPr>
          <p:cNvPr id="7171" name="Group 15"/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7177" name="Freeform 14"/>
            <p:cNvSpPr/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178" name="Freeform 18"/>
            <p:cNvSpPr/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179" name="Freeform 22"/>
            <p:cNvSpPr/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180" name="Freeform 26"/>
            <p:cNvSpPr/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7181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7172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fld id="{5DF5B028-6C96-4DC4-92EB-70D27714FDA3}" type="slidenum">
              <a:rPr lang="zh-CN" altLang="en-US"/>
            </a:fld>
            <a:endParaRPr lang="en-US" altLang="zh-CN"/>
          </a:p>
        </p:txBody>
      </p:sp>
      <p:sp>
        <p:nvSpPr>
          <p:cNvPr id="717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658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598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2405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1" y="171451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1027" name="Group 15"/>
          <p:cNvGrpSpPr>
            <a:grpSpLocks noChangeAspect="1"/>
          </p:cNvGrpSpPr>
          <p:nvPr/>
        </p:nvGrpSpPr>
        <p:grpSpPr bwMode="auto">
          <a:xfrm>
            <a:off x="211139" y="1058863"/>
            <a:ext cx="8824912" cy="576262"/>
            <a:chOff x="-3905251" y="4294188"/>
            <a:chExt cx="13027839" cy="1892300"/>
          </a:xfrm>
        </p:grpSpPr>
        <p:sp>
          <p:nvSpPr>
            <p:cNvPr id="1033" name="Freeform 14"/>
            <p:cNvSpPr/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>
          <p:nvSpPr>
            <p:cNvPr id="1034" name="Freeform 18"/>
            <p:cNvSpPr/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>
          <p:nvSpPr>
            <p:cNvPr id="1035" name="Freeform 22"/>
            <p:cNvSpPr/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>
          <p:nvSpPr>
            <p:cNvPr id="1036" name="Freeform 26"/>
            <p:cNvSpPr/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 useBgFill="1">
          <p:nvSpPr>
            <p:cNvPr id="1037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</p:grpSp>
      <p:sp>
        <p:nvSpPr>
          <p:cNvPr id="1028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4" y="268289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9" y="4687888"/>
            <a:ext cx="3786187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方正楷体_GB2312" charset="0"/>
                <a:cs typeface="+mn-cs"/>
              </a:defRPr>
            </a:lvl1pPr>
          </a:lstStyle>
          <a:p>
            <a:pPr>
              <a:defRPr/>
            </a:pPr>
            <a:fld id="{BDCB7CAD-2C0E-4EC3-AA0F-652A11C2BD42}" type="slidenum">
              <a:rPr lang="zh-CN" altLang="en-US"/>
            </a:fld>
            <a:endParaRPr lang="en-US" altLang="zh-CN"/>
          </a:p>
        </p:txBody>
      </p:sp>
      <p:sp>
        <p:nvSpPr>
          <p:cNvPr id="103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1" y="1368426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1145" indent="-27114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4675" indent="-27114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4075" indent="-22669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1095" indent="-22669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0500" indent="-22669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0.xml"/><Relationship Id="rId1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5.jpe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9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9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7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7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7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7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7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7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7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7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7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7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7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7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7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7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7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7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7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7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7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7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7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7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7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5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3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 descr="G:\QQ截图201607142012副本.jpg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51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4500563" y="1489075"/>
            <a:ext cx="3443287" cy="939800"/>
          </a:xfrm>
          <a:prstGeom prst="rect">
            <a:avLst/>
          </a:prstGeom>
        </p:spPr>
        <p:txBody>
          <a:bodyPr anchor="ctr"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zh-CN" altLang="en-US" sz="2400" b="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第七章 </a:t>
            </a:r>
            <a:endParaRPr lang="en-US" altLang="zh-CN" sz="2400" b="0" spc="60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eaLnBrk="1" fontAlgn="auto" hangingPunct="1">
              <a:spcAft>
                <a:spcPts val="0"/>
              </a:spcAft>
              <a:defRPr/>
            </a:pPr>
            <a:r>
              <a:rPr lang="zh-CN" altLang="en-US" sz="3500" b="0" spc="3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运行存储分配</a:t>
            </a:r>
            <a:endParaRPr lang="en-US" altLang="zh-CN" sz="3500" b="0" spc="60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4572000" y="2428875"/>
            <a:ext cx="3729038" cy="939800"/>
          </a:xfrm>
          <a:prstGeom prst="rect">
            <a:avLst/>
          </a:prstGeom>
        </p:spPr>
        <p:txBody>
          <a:bodyPr anchor="ctr"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zh-CN" sz="2500" dirty="0">
                <a:solidFill>
                  <a:prstClr val="white"/>
                </a:solidFill>
                <a:latin typeface="Candara" panose="020E0502030303020204"/>
                <a:ea typeface="楷体" panose="02010609060101010101" pitchFamily="49" charset="-122"/>
              </a:rPr>
              <a:t> </a:t>
            </a:r>
            <a:r>
              <a:rPr lang="zh-CN" altLang="en-US" sz="2000" dirty="0">
                <a:solidFill>
                  <a:prstClr val="white"/>
                </a:solidFill>
                <a:latin typeface="Candara" panose="020E0502030303020204"/>
                <a:ea typeface="楷体" panose="02010609060101010101" pitchFamily="49" charset="-122"/>
              </a:rPr>
              <a:t>哈尔滨工业大学  陈鄞 单丽莉</a:t>
            </a:r>
            <a:endParaRPr lang="zh-CN" altLang="en-US" sz="2000" spc="60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5508625" y="984250"/>
            <a:ext cx="3143250" cy="441325"/>
          </a:xfrm>
          <a:prstGeom prst="rect">
            <a:avLst/>
          </a:prstGeom>
          <a:ln w="12700">
            <a:noFill/>
          </a:ln>
        </p:spPr>
        <p:txBody>
          <a:bodyPr anchor="ctr"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zh-CN" altLang="en-US" sz="2000" b="0" spc="3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编译原理</a:t>
            </a:r>
            <a:endParaRPr lang="zh-CN" altLang="en-US" sz="800" b="0" spc="30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8" name="矩形 7"/>
          <p:cNvSpPr/>
          <p:nvPr/>
        </p:nvSpPr>
        <p:spPr>
          <a:xfrm>
            <a:off x="4500563" y="1357313"/>
            <a:ext cx="4357687" cy="3147015"/>
          </a:xfrm>
          <a:prstGeom prst="rect">
            <a:avLst/>
          </a:prstGeom>
          <a:ln w="12700">
            <a:noFill/>
          </a:ln>
        </p:spPr>
        <p:txBody>
          <a:bodyPr lIns="68580" tIns="34290" rIns="68580" bIns="34290">
            <a:spAutoFit/>
          </a:bodyPr>
          <a:lstStyle/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7.1 </a:t>
            </a:r>
            <a:r>
              <a:rPr lang="zh-CN" altLang="en-US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存储组织</a:t>
            </a:r>
            <a:endParaRPr lang="zh-CN" altLang="en-US" sz="2500" b="0" dirty="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7.2 </a:t>
            </a:r>
            <a:r>
              <a:rPr lang="zh-CN" altLang="en-US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静态存储分配</a:t>
            </a:r>
            <a:endParaRPr lang="zh-CN" altLang="en-US" sz="2500" b="0" dirty="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7.3 </a:t>
            </a:r>
            <a:r>
              <a:rPr lang="zh-CN" altLang="en-US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栈式存储分配</a:t>
            </a:r>
            <a:endParaRPr lang="zh-CN" altLang="en-US" sz="2500" b="0" dirty="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7.4 </a:t>
            </a:r>
            <a:r>
              <a:rPr lang="zh-CN" altLang="en-US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非局部数据的访问</a:t>
            </a:r>
            <a:endParaRPr lang="zh-CN" altLang="en-US" sz="2500" b="0" dirty="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7.5 </a:t>
            </a:r>
            <a:r>
              <a:rPr lang="zh-CN" altLang="en-US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参数传递</a:t>
            </a:r>
            <a:endParaRPr lang="en-US" altLang="zh-CN" sz="2500" b="0" dirty="0">
              <a:solidFill>
                <a:srgbClr val="2D83F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7.6 </a:t>
            </a:r>
            <a:r>
              <a:rPr lang="zh-CN" altLang="en-US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符号表</a:t>
            </a:r>
            <a:endParaRPr lang="zh-CN" altLang="en-US" sz="2500" b="0" dirty="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</p:txBody>
      </p:sp>
      <p:pic>
        <p:nvPicPr>
          <p:cNvPr id="25604" name="Picture 7" descr="E:\工大编译\ppt\制作\0330e9c554c768200000158fc50d53d.jpg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矩形 15"/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提纲</a:t>
            </a: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74701"/>
            <a:ext cx="8535988" cy="4173538"/>
          </a:xfrm>
        </p:spPr>
        <p:txBody>
          <a:bodyPr/>
          <a:lstStyle/>
          <a:p>
            <a:pPr marL="272415" indent="-272415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一个目标程序运行所需的存储空间包括</a:t>
            </a:r>
            <a:endParaRPr lang="zh-CN" altLang="en-US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575945" lvl="1" indent="-272415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代码区</a:t>
            </a:r>
            <a:endParaRPr lang="zh-CN" altLang="en-US" sz="23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575945" lvl="1" indent="-272415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数据区</a:t>
            </a:r>
            <a:endParaRPr lang="zh-CN" altLang="en-US" sz="23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7651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7.1 </a:t>
            </a:r>
            <a:r>
              <a:rPr lang="zh-CN" altLang="en-US" sz="30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存储组织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610549" y="3715386"/>
            <a:ext cx="267768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defRPr/>
            </a:pPr>
            <a:r>
              <a:rPr lang="zh-CN" altLang="en-US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算法 </a:t>
            </a:r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数据结构 </a:t>
            </a:r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 </a:t>
            </a:r>
            <a:r>
              <a:rPr lang="zh-CN" altLang="en-US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程序</a:t>
            </a:r>
            <a:endParaRPr lang="zh-CN" altLang="en-US" sz="24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1002368" y="2519015"/>
            <a:ext cx="1634422" cy="2421993"/>
            <a:chOff x="977260" y="3738003"/>
            <a:chExt cx="1634422" cy="2421993"/>
          </a:xfrm>
        </p:grpSpPr>
        <p:sp>
          <p:nvSpPr>
            <p:cNvPr id="7" name="Text Box 17"/>
            <p:cNvSpPr txBox="1">
              <a:spLocks noChangeArrowheads="1"/>
            </p:cNvSpPr>
            <p:nvPr/>
          </p:nvSpPr>
          <p:spPr bwMode="auto">
            <a:xfrm>
              <a:off x="977260" y="5852219"/>
              <a:ext cx="163442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914400" eaLnBrk="1" hangingPunct="1">
                <a:spcBef>
                  <a:spcPct val="0"/>
                </a:spcBef>
                <a:buClrTx/>
                <a:buSzTx/>
                <a:buNone/>
              </a:pPr>
              <a:r>
                <a:rPr lang="en-GB" altLang="zh-CN" sz="2000" dirty="0" err="1">
                  <a:solidFill>
                    <a:prstClr val="black"/>
                  </a:solidFill>
                  <a:ea typeface="宋体" panose="02010600030101010101" pitchFamily="2" charset="-122"/>
                </a:rPr>
                <a:t>Niklaus</a:t>
              </a:r>
              <a:r>
                <a:rPr lang="en-GB" altLang="zh-CN" sz="2000" dirty="0">
                  <a:solidFill>
                    <a:prstClr val="black"/>
                  </a:solidFill>
                  <a:ea typeface="宋体" panose="02010600030101010101" pitchFamily="2" charset="-122"/>
                </a:rPr>
                <a:t> Wirth</a:t>
              </a:r>
              <a:endParaRPr lang="en-GB" altLang="zh-CN" sz="2000" dirty="0">
                <a:solidFill>
                  <a:prstClr val="black"/>
                </a:solidFill>
                <a:ea typeface="宋体" panose="02010600030101010101" pitchFamily="2" charset="-122"/>
              </a:endParaRPr>
            </a:p>
          </p:txBody>
        </p:sp>
        <p:pic>
          <p:nvPicPr>
            <p:cNvPr id="8" name="Picture 18" descr="9568135"/>
            <p:cNvPicPr>
              <a:picLocks noChangeAspect="1" noChangeArrowheads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7465" y="3738003"/>
              <a:ext cx="1391222" cy="20764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9" name="Picture 2" descr="https://images-na.ssl-images-amazon.com/images/I/31zJeiNoggL._SX258_BO1,204,203,200_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87" r="17761"/>
          <a:stretch>
            <a:fillRect/>
          </a:stretch>
        </p:blipFill>
        <p:spPr bwMode="auto">
          <a:xfrm>
            <a:off x="2899128" y="2515181"/>
            <a:ext cx="1606062" cy="2476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组合 11"/>
          <p:cNvGrpSpPr/>
          <p:nvPr/>
        </p:nvGrpSpPr>
        <p:grpSpPr>
          <a:xfrm>
            <a:off x="2003960" y="1491631"/>
            <a:ext cx="3000087" cy="2223755"/>
            <a:chOff x="2003961" y="1491630"/>
            <a:chExt cx="3000087" cy="2223755"/>
          </a:xfrm>
        </p:grpSpPr>
        <p:cxnSp>
          <p:nvCxnSpPr>
            <p:cNvPr id="3" name="直接连接符 2"/>
            <p:cNvCxnSpPr/>
            <p:nvPr/>
          </p:nvCxnSpPr>
          <p:spPr>
            <a:xfrm>
              <a:off x="2003961" y="1491630"/>
              <a:ext cx="3000087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箭头连接符 9"/>
            <p:cNvCxnSpPr/>
            <p:nvPr/>
          </p:nvCxnSpPr>
          <p:spPr>
            <a:xfrm>
              <a:off x="5004048" y="1491630"/>
              <a:ext cx="0" cy="2223755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组合 14"/>
          <p:cNvGrpSpPr/>
          <p:nvPr/>
        </p:nvGrpSpPr>
        <p:grpSpPr>
          <a:xfrm>
            <a:off x="2003962" y="1923679"/>
            <a:ext cx="4224224" cy="1896200"/>
            <a:chOff x="779825" y="1819185"/>
            <a:chExt cx="4224224" cy="1896200"/>
          </a:xfrm>
        </p:grpSpPr>
        <p:cxnSp>
          <p:nvCxnSpPr>
            <p:cNvPr id="16" name="直接连接符 15"/>
            <p:cNvCxnSpPr/>
            <p:nvPr/>
          </p:nvCxnSpPr>
          <p:spPr>
            <a:xfrm>
              <a:off x="779825" y="1819185"/>
              <a:ext cx="4224224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/>
            <p:cNvCxnSpPr/>
            <p:nvPr/>
          </p:nvCxnSpPr>
          <p:spPr>
            <a:xfrm>
              <a:off x="5004048" y="1819185"/>
              <a:ext cx="0" cy="1896200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74700"/>
            <a:ext cx="8535988" cy="4173538"/>
          </a:xfrm>
        </p:spPr>
        <p:txBody>
          <a:bodyPr/>
          <a:lstStyle/>
          <a:p>
            <a:pPr marL="272415" indent="-272415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对于那些在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编译时刻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就可以确定大小的数据对象，可以在编译时刻就为它们分配存储空间，这样的分配策略称为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静态存储分配</a:t>
            </a:r>
            <a:endParaRPr lang="zh-CN" altLang="en-US" sz="2500" b="1" dirty="0">
              <a:solidFill>
                <a:srgbClr val="FF0000"/>
              </a:solidFill>
              <a:cs typeface="Times New Roman" panose="02020603050405020304" pitchFamily="18" charset="0"/>
            </a:endParaRPr>
          </a:p>
          <a:p>
            <a:pPr marL="272415" indent="-272415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反之，如果不能在编译时完全确定数据对象的大小，就要采用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动态存储分配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的策略。即在编译时仅产生各种必要的信息，而在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运行时刻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，再动态地分配数据对象的存储空间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854710" lvl="2" indent="-227330" algn="just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栈式</a:t>
            </a:r>
            <a:r>
              <a:rPr lang="zh-CN" altLang="en-US" sz="2200" b="1" dirty="0">
                <a:solidFill>
                  <a:schemeClr val="tx1"/>
                </a:solidFill>
                <a:latin typeface="楷体" panose="02010609060101010101" pitchFamily="49" charset="-122"/>
              </a:rPr>
              <a:t>存储分配</a:t>
            </a:r>
            <a:endParaRPr lang="zh-CN" altLang="en-US" sz="2200" b="1" dirty="0">
              <a:solidFill>
                <a:schemeClr val="tx1"/>
              </a:solidFill>
              <a:ea typeface="方正楷体_GB2312" charset="0"/>
            </a:endParaRPr>
          </a:p>
          <a:p>
            <a:pPr marL="854710" lvl="2" indent="-227330" algn="just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latin typeface="楷体" panose="02010609060101010101" pitchFamily="49" charset="-122"/>
              </a:rPr>
              <a:t>堆式存储分配</a:t>
            </a:r>
            <a:endParaRPr lang="en-US" altLang="zh-CN" sz="2200" b="1" dirty="0">
              <a:solidFill>
                <a:schemeClr val="tx1"/>
              </a:solidFill>
              <a:ea typeface="方正楷体_GB2312" charset="0"/>
            </a:endParaRPr>
          </a:p>
          <a:p>
            <a:pPr marL="0" indent="0">
              <a:lnSpc>
                <a:spcPts val="3500"/>
              </a:lnSpc>
              <a:buClrTx/>
              <a:buFont typeface="Symbol" panose="05050102010706020507" pitchFamily="18" charset="2"/>
              <a:buNone/>
              <a:defRPr/>
            </a:pPr>
            <a:endParaRPr lang="zh-CN" altLang="en-US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7651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存储分配策略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1907704" y="4299942"/>
            <a:ext cx="6048797" cy="45397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wrap="square"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5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静态</a:t>
            </a:r>
            <a:r>
              <a:rPr lang="zh-CN" altLang="en-US" sz="2500" dirty="0">
                <a:latin typeface="楷体" panose="02010609060101010101" pitchFamily="49" charset="-122"/>
                <a:ea typeface="楷体" panose="02010609060101010101" pitchFamily="49" charset="-122"/>
              </a:rPr>
              <a:t>和</a:t>
            </a:r>
            <a:r>
              <a:rPr lang="zh-CN" altLang="en-US" sz="25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动态</a:t>
            </a:r>
            <a:r>
              <a:rPr lang="zh-CN" altLang="en-US" sz="2500" dirty="0">
                <a:latin typeface="楷体" panose="02010609060101010101" pitchFamily="49" charset="-122"/>
                <a:ea typeface="楷体" panose="02010609060101010101" pitchFamily="49" charset="-122"/>
              </a:rPr>
              <a:t>分别对应</a:t>
            </a:r>
            <a:r>
              <a:rPr lang="zh-CN" altLang="en-US" sz="25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编译时刻</a:t>
            </a:r>
            <a:r>
              <a:rPr lang="zh-CN" altLang="en-US" sz="2500" dirty="0">
                <a:latin typeface="楷体" panose="02010609060101010101" pitchFamily="49" charset="-122"/>
                <a:ea typeface="楷体" panose="02010609060101010101" pitchFamily="49" charset="-122"/>
              </a:rPr>
              <a:t>和</a:t>
            </a:r>
            <a:r>
              <a:rPr lang="zh-CN" altLang="en-US" sz="25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运行时刻</a:t>
            </a:r>
            <a:endParaRPr lang="zh-CN" altLang="en-US" sz="2500" dirty="0">
              <a:solidFill>
                <a:schemeClr val="folHlin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运行时内存的划分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4" name="组合 3"/>
          <p:cNvGrpSpPr/>
          <p:nvPr/>
        </p:nvGrpSpPr>
        <p:grpSpPr>
          <a:xfrm rot="10800000">
            <a:off x="3281363" y="1275606"/>
            <a:ext cx="2451100" cy="2951710"/>
            <a:chOff x="3384550" y="1285875"/>
            <a:chExt cx="2451100" cy="2951710"/>
          </a:xfrm>
        </p:grpSpPr>
        <p:grpSp>
          <p:nvGrpSpPr>
            <p:cNvPr id="3" name="组合 2"/>
            <p:cNvGrpSpPr/>
            <p:nvPr/>
          </p:nvGrpSpPr>
          <p:grpSpPr>
            <a:xfrm>
              <a:off x="3384550" y="1285875"/>
              <a:ext cx="2451100" cy="2951710"/>
              <a:chOff x="3384550" y="1285875"/>
              <a:chExt cx="2451100" cy="2951710"/>
            </a:xfrm>
          </p:grpSpPr>
          <p:grpSp>
            <p:nvGrpSpPr>
              <p:cNvPr id="29699" name="Group 3"/>
              <p:cNvGrpSpPr/>
              <p:nvPr/>
            </p:nvGrpSpPr>
            <p:grpSpPr bwMode="auto">
              <a:xfrm>
                <a:off x="3384550" y="1285875"/>
                <a:ext cx="2451100" cy="2922985"/>
                <a:chOff x="1952" y="1344"/>
                <a:chExt cx="2059" cy="2455"/>
              </a:xfrm>
            </p:grpSpPr>
            <p:sp>
              <p:nvSpPr>
                <p:cNvPr id="29703" name="Rectangle 4"/>
                <p:cNvSpPr>
                  <a:spLocks noChangeArrowheads="1"/>
                </p:cNvSpPr>
                <p:nvPr/>
              </p:nvSpPr>
              <p:spPr bwMode="auto">
                <a:xfrm>
                  <a:off x="1964" y="1344"/>
                  <a:ext cx="2045" cy="2455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>
                  <a:lvl1pPr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1pPr>
                  <a:lvl2pPr marL="742950" indent="-28575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2pPr>
                  <a:lvl3pPr marL="11430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3pPr>
                  <a:lvl4pPr marL="16002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4pPr>
                  <a:lvl5pPr marL="20574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9pPr>
                </a:lstStyle>
                <a:p>
                  <a:pPr eaLnBrk="1" hangingPunct="1"/>
                  <a:endParaRPr lang="zh-CN" altLang="en-US" sz="1800" b="0">
                    <a:ea typeface="楷体" panose="0201060906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704" name="Rectangle 5"/>
                <p:cNvSpPr>
                  <a:spLocks noChangeArrowheads="1"/>
                </p:cNvSpPr>
                <p:nvPr/>
              </p:nvSpPr>
              <p:spPr bwMode="auto">
                <a:xfrm rot="10800000">
                  <a:off x="2006" y="1389"/>
                  <a:ext cx="1948" cy="3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254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tIns="82800"/>
                <a:lstStyle>
                  <a:lvl1pPr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1pPr>
                  <a:lvl2pPr marL="742950" indent="-28575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2pPr>
                  <a:lvl3pPr marL="11430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3pPr>
                  <a:lvl4pPr marL="16002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4pPr>
                  <a:lvl5pPr marL="20574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9pPr>
                </a:lstStyle>
                <a:p>
                  <a:pPr algn="ctr"/>
                  <a:r>
                    <a:rPr lang="zh-CN" altLang="en-US" sz="2000" dirty="0"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静态代码区</a:t>
                  </a:r>
                  <a:endPara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705" name="Line 6"/>
                <p:cNvSpPr>
                  <a:spLocks noChangeShapeType="1"/>
                </p:cNvSpPr>
                <p:nvPr/>
              </p:nvSpPr>
              <p:spPr bwMode="auto">
                <a:xfrm>
                  <a:off x="1977" y="1780"/>
                  <a:ext cx="2019" cy="0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>
                    <a:ea typeface="方正楷体_GB2312" charset="0"/>
                  </a:endParaRPr>
                </a:p>
              </p:txBody>
            </p:sp>
            <p:sp>
              <p:nvSpPr>
                <p:cNvPr id="29706" name="Rectangle 7"/>
                <p:cNvSpPr>
                  <a:spLocks noChangeArrowheads="1"/>
                </p:cNvSpPr>
                <p:nvPr/>
              </p:nvSpPr>
              <p:spPr bwMode="auto">
                <a:xfrm rot="10800000">
                  <a:off x="2008" y="1808"/>
                  <a:ext cx="1948" cy="37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254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tIns="82800"/>
                <a:lstStyle>
                  <a:lvl1pPr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1pPr>
                  <a:lvl2pPr marL="742950" indent="-28575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2pPr>
                  <a:lvl3pPr marL="11430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3pPr>
                  <a:lvl4pPr marL="16002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4pPr>
                  <a:lvl5pPr marL="20574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9pPr>
                </a:lstStyle>
                <a:p>
                  <a:pPr algn="ctr"/>
                  <a:r>
                    <a:rPr lang="zh-CN" altLang="en-US" sz="2000" dirty="0">
                      <a:solidFill>
                        <a:srgbClr val="C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静态数据区</a:t>
                  </a:r>
                  <a:endParaRPr lang="zh-CN" altLang="en-US" sz="2000" dirty="0">
                    <a:solidFill>
                      <a:srgbClr val="C00000"/>
                    </a:solidFill>
                    <a:ea typeface="楷体" panose="0201060906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707" name="Line 8"/>
                <p:cNvSpPr>
                  <a:spLocks noChangeShapeType="1"/>
                </p:cNvSpPr>
                <p:nvPr/>
              </p:nvSpPr>
              <p:spPr bwMode="auto">
                <a:xfrm>
                  <a:off x="1952" y="2216"/>
                  <a:ext cx="2057" cy="0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>
                    <a:ea typeface="方正楷体_GB2312" charset="0"/>
                  </a:endParaRPr>
                </a:p>
              </p:txBody>
            </p:sp>
            <p:sp>
              <p:nvSpPr>
                <p:cNvPr id="29708" name="Rectangle 9"/>
                <p:cNvSpPr>
                  <a:spLocks noChangeArrowheads="1"/>
                </p:cNvSpPr>
                <p:nvPr/>
              </p:nvSpPr>
              <p:spPr bwMode="auto">
                <a:xfrm rot="10800000">
                  <a:off x="2306" y="3366"/>
                  <a:ext cx="1692" cy="3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254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tIns="82800"/>
                <a:lstStyle>
                  <a:lvl1pPr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1pPr>
                  <a:lvl2pPr marL="742950" indent="-28575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2pPr>
                  <a:lvl3pPr marL="11430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3pPr>
                  <a:lvl4pPr marL="16002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4pPr>
                  <a:lvl5pPr marL="20574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9pPr>
                </a:lstStyle>
                <a:p>
                  <a:pPr algn="ctr"/>
                  <a:r>
                    <a:rPr lang="zh-CN" altLang="en-US" sz="2000" dirty="0">
                      <a:solidFill>
                        <a:srgbClr val="C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栈</a:t>
                  </a:r>
                  <a:r>
                    <a:rPr lang="en-US" altLang="zh-CN" sz="1500" dirty="0">
                      <a:solidFill>
                        <a:srgbClr val="C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(</a:t>
                  </a:r>
                  <a:r>
                    <a:rPr lang="en-US" altLang="zh-CN" sz="1500" i="1" dirty="0">
                      <a:solidFill>
                        <a:srgbClr val="C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Stack</a:t>
                  </a:r>
                  <a:r>
                    <a:rPr lang="en-US" altLang="zh-CN" sz="1500" dirty="0">
                      <a:solidFill>
                        <a:srgbClr val="C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)</a:t>
                  </a:r>
                  <a:r>
                    <a:rPr lang="zh-CN" altLang="en-US" sz="2000" dirty="0">
                      <a:solidFill>
                        <a:srgbClr val="C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区</a:t>
                  </a:r>
                  <a:endParaRPr lang="zh-CN" altLang="en-US" sz="1500" dirty="0">
                    <a:solidFill>
                      <a:srgbClr val="C00000"/>
                    </a:solidFill>
                    <a:ea typeface="楷体" panose="0201060906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709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2284" y="3305"/>
                  <a:ext cx="1727" cy="0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>
                    <a:ea typeface="方正楷体_GB2312" charset="0"/>
                  </a:endParaRPr>
                </a:p>
              </p:txBody>
            </p:sp>
            <p:sp>
              <p:nvSpPr>
                <p:cNvPr id="29710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2284" y="2639"/>
                  <a:ext cx="1727" cy="12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>
                    <a:ea typeface="方正楷体_GB2312" charset="0"/>
                  </a:endParaRPr>
                </a:p>
              </p:txBody>
            </p:sp>
            <p:sp>
              <p:nvSpPr>
                <p:cNvPr id="29711" name="Rectangle 12"/>
                <p:cNvSpPr>
                  <a:spLocks noChangeArrowheads="1"/>
                </p:cNvSpPr>
                <p:nvPr/>
              </p:nvSpPr>
              <p:spPr bwMode="auto">
                <a:xfrm>
                  <a:off x="2021" y="2654"/>
                  <a:ext cx="1948" cy="3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254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tIns="82800"/>
                <a:lstStyle>
                  <a:lvl1pPr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1pPr>
                  <a:lvl2pPr marL="742950" indent="-28575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2pPr>
                  <a:lvl3pPr marL="11430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3pPr>
                  <a:lvl4pPr marL="16002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4pPr>
                  <a:lvl5pPr marL="20574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9pPr>
                </a:lstStyle>
                <a:p>
                  <a:pPr algn="ctr"/>
                  <a:endParaRPr lang="zh-CN" altLang="en-US" sz="1800" b="0">
                    <a:ea typeface="楷体" panose="0201060906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712" name="Rectangle 13"/>
                <p:cNvSpPr>
                  <a:spLocks noChangeArrowheads="1"/>
                </p:cNvSpPr>
                <p:nvPr/>
              </p:nvSpPr>
              <p:spPr bwMode="auto">
                <a:xfrm rot="10800000">
                  <a:off x="2275" y="2249"/>
                  <a:ext cx="1732" cy="3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254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tIns="82800"/>
                <a:lstStyle>
                  <a:lvl1pPr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1pPr>
                  <a:lvl2pPr marL="742950" indent="-28575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2pPr>
                  <a:lvl3pPr marL="11430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3pPr>
                  <a:lvl4pPr marL="16002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4pPr>
                  <a:lvl5pPr marL="20574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9pPr>
                </a:lstStyle>
                <a:p>
                  <a:pPr algn="ctr" eaLnBrk="1" hangingPunct="1"/>
                  <a:r>
                    <a:rPr lang="zh-CN" altLang="en-US" sz="2000" dirty="0">
                      <a:solidFill>
                        <a:srgbClr val="0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堆</a:t>
                  </a:r>
                  <a:r>
                    <a:rPr lang="en-US" altLang="zh-CN" sz="2000" dirty="0">
                      <a:solidFill>
                        <a:srgbClr val="0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 </a:t>
                  </a:r>
                  <a:r>
                    <a:rPr lang="en-US" altLang="zh-CN" sz="1500" dirty="0">
                      <a:solidFill>
                        <a:srgbClr val="0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(</a:t>
                  </a:r>
                  <a:r>
                    <a:rPr lang="en-US" altLang="zh-CN" sz="1500" i="1" dirty="0"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en-US" altLang="zh-CN" sz="1500" dirty="0">
                      <a:solidFill>
                        <a:srgbClr val="0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)</a:t>
                  </a:r>
                  <a:r>
                    <a:rPr lang="zh-CN" altLang="en-US" sz="2000" dirty="0">
                      <a:solidFill>
                        <a:srgbClr val="0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区</a:t>
                  </a:r>
                  <a:endParaRPr lang="zh-CN" altLang="en-US" sz="1500" dirty="0">
                    <a:solidFill>
                      <a:srgbClr val="000000"/>
                    </a:solidFill>
                    <a:ea typeface="楷体" panose="02010609060101010101" pitchFamily="49" charset="-122"/>
                    <a:cs typeface="Times New Roman" panose="02020603050405020304" pitchFamily="18" charset="0"/>
                  </a:endParaRPr>
                </a:p>
                <a:p>
                  <a:pPr algn="ctr"/>
                  <a:endParaRPr lang="zh-CN" altLang="en-US" sz="1500" dirty="0">
                    <a:ea typeface="楷体" panose="0201060906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713" name="Line 14"/>
                <p:cNvSpPr>
                  <a:spLocks noChangeShapeType="1"/>
                </p:cNvSpPr>
                <p:nvPr/>
              </p:nvSpPr>
              <p:spPr bwMode="auto">
                <a:xfrm>
                  <a:off x="3146" y="2651"/>
                  <a:ext cx="0" cy="267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tailEnd type="stealth" w="med" len="lg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>
                    <a:ea typeface="方正楷体_GB2312" charset="0"/>
                  </a:endParaRPr>
                </a:p>
              </p:txBody>
            </p:sp>
            <p:sp>
              <p:nvSpPr>
                <p:cNvPr id="29714" name="Line 15"/>
                <p:cNvSpPr>
                  <a:spLocks noChangeShapeType="1"/>
                </p:cNvSpPr>
                <p:nvPr/>
              </p:nvSpPr>
              <p:spPr bwMode="auto">
                <a:xfrm flipV="1">
                  <a:off x="3144" y="3027"/>
                  <a:ext cx="0" cy="266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tailEnd type="stealth" w="med" len="lg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>
                    <a:ea typeface="方正楷体_GB2312" charset="0"/>
                  </a:endParaRPr>
                </a:p>
              </p:txBody>
            </p:sp>
          </p:grpSp>
          <p:sp>
            <p:nvSpPr>
              <p:cNvPr id="29700" name="Rectangle 18"/>
              <p:cNvSpPr>
                <a:spLocks noChangeArrowheads="1"/>
              </p:cNvSpPr>
              <p:nvPr/>
            </p:nvSpPr>
            <p:spPr bwMode="auto">
              <a:xfrm rot="10800000">
                <a:off x="3406404" y="2281785"/>
                <a:ext cx="490537" cy="19558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8580" tIns="34290" rIns="68580" bIns="34290" anchor="ctr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pPr algn="r" eaLnBrk="1" hangingPunct="1"/>
                <a:r>
                  <a: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rPr>
                  <a:t>动</a:t>
                </a:r>
                <a:endParaRPr lang="en-US" altLang="zh-CN" sz="2000" dirty="0"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  <a:p>
                <a:pPr algn="r" eaLnBrk="1" hangingPunct="1"/>
                <a:r>
                  <a: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rPr>
                  <a:t>态</a:t>
                </a:r>
                <a:endParaRPr lang="en-US" altLang="zh-CN" sz="2000" dirty="0"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  <a:p>
                <a:pPr algn="r" eaLnBrk="1" hangingPunct="1"/>
                <a:r>
                  <a: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rPr>
                  <a:t>数</a:t>
                </a:r>
                <a:endParaRPr lang="en-US" altLang="zh-CN" sz="2000" dirty="0"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  <a:p>
                <a:pPr algn="r" eaLnBrk="1" hangingPunct="1"/>
                <a:r>
                  <a: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rPr>
                  <a:t>据</a:t>
                </a:r>
                <a:endParaRPr lang="en-US" altLang="zh-CN" sz="2000" dirty="0"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  <a:p>
                <a:pPr algn="r" eaLnBrk="1" hangingPunct="1"/>
                <a:r>
                  <a: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rPr>
                  <a:t>区</a:t>
                </a:r>
                <a:endParaRPr lang="en-US" altLang="zh-CN" sz="2000" dirty="0"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  <a:p>
                <a:pPr algn="r" eaLnBrk="1" hangingPunct="1"/>
                <a:r>
                  <a: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rPr>
                  <a:t>域</a:t>
                </a:r>
                <a:endParaRPr lang="zh-CN" altLang="en-US" sz="2000" dirty="0"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9701" name="Rectangle 9"/>
              <p:cNvSpPr>
                <a:spLocks noChangeArrowheads="1"/>
              </p:cNvSpPr>
              <p:nvPr/>
            </p:nvSpPr>
            <p:spPr bwMode="auto">
              <a:xfrm rot="10800000">
                <a:off x="3823892" y="3006725"/>
                <a:ext cx="1962153" cy="4476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62100" rIns="68580" bIns="34290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pPr algn="ctr"/>
                <a:r>
                  <a: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rPr>
                  <a:t>空闲内存</a:t>
                </a:r>
                <a:endParaRPr lang="zh-CN" altLang="en-US" sz="2000" dirty="0"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9702" name="Line 11"/>
            <p:cNvSpPr>
              <a:spLocks noChangeShapeType="1"/>
            </p:cNvSpPr>
            <p:nvPr/>
          </p:nvSpPr>
          <p:spPr bwMode="auto">
            <a:xfrm>
              <a:off x="3779838" y="2330253"/>
              <a:ext cx="0" cy="18970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2394864" y="3941645"/>
            <a:ext cx="9361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>
                <a:ea typeface="方正楷体_GB2312" charset="0"/>
              </a:rPr>
              <a:t>低地址</a:t>
            </a:r>
            <a:endParaRPr lang="zh-CN" altLang="en-US" sz="1600" dirty="0">
              <a:ea typeface="方正楷体_GB2312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2410733" y="946132"/>
            <a:ext cx="9361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>
                <a:ea typeface="方正楷体_GB2312" charset="0"/>
              </a:rPr>
              <a:t>高地址</a:t>
            </a:r>
            <a:endParaRPr lang="zh-CN" altLang="en-US" sz="1600" dirty="0">
              <a:ea typeface="方正楷体_GB2312" charset="0"/>
            </a:endParaRPr>
          </a:p>
        </p:txBody>
      </p:sp>
      <p:grpSp>
        <p:nvGrpSpPr>
          <p:cNvPr id="24" name="组合 23"/>
          <p:cNvGrpSpPr/>
          <p:nvPr/>
        </p:nvGrpSpPr>
        <p:grpSpPr>
          <a:xfrm>
            <a:off x="5856097" y="3208140"/>
            <a:ext cx="1824053" cy="1000125"/>
            <a:chOff x="5940152" y="1303887"/>
            <a:chExt cx="1824053" cy="1000125"/>
          </a:xfrm>
        </p:grpSpPr>
        <p:sp>
          <p:nvSpPr>
            <p:cNvPr id="25" name="右大括号 24"/>
            <p:cNvSpPr/>
            <p:nvPr/>
          </p:nvSpPr>
          <p:spPr>
            <a:xfrm>
              <a:off x="5940152" y="1303887"/>
              <a:ext cx="159455" cy="1000125"/>
            </a:xfrm>
            <a:prstGeom prst="rightBrace">
              <a:avLst>
                <a:gd name="adj1" fmla="val 8333"/>
                <a:gd name="adj2" fmla="val 51992"/>
              </a:avLst>
            </a:prstGeom>
            <a:ln w="190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070C0"/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6051459" y="1629339"/>
              <a:ext cx="171274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dirty="0">
                  <a:solidFill>
                    <a:srgbClr val="0070C0"/>
                  </a:solidFill>
                  <a:latin typeface="+mn-ea"/>
                  <a:ea typeface="+mn-ea"/>
                </a:rPr>
                <a:t>编译时确定</a:t>
              </a:r>
              <a:endParaRPr lang="zh-CN" altLang="en-US" sz="2000" dirty="0">
                <a:solidFill>
                  <a:srgbClr val="0070C0"/>
                </a:solidFill>
                <a:latin typeface="+mn-ea"/>
                <a:ea typeface="+mn-ea"/>
              </a:endParaRPr>
            </a:p>
          </p:txBody>
        </p:sp>
      </p:grpSp>
      <p:grpSp>
        <p:nvGrpSpPr>
          <p:cNvPr id="27" name="组合 26"/>
          <p:cNvGrpSpPr/>
          <p:nvPr/>
        </p:nvGrpSpPr>
        <p:grpSpPr>
          <a:xfrm>
            <a:off x="5845902" y="1281286"/>
            <a:ext cx="1787940" cy="1879652"/>
            <a:chOff x="5940151" y="1303887"/>
            <a:chExt cx="1787940" cy="1879652"/>
          </a:xfrm>
        </p:grpSpPr>
        <p:sp>
          <p:nvSpPr>
            <p:cNvPr id="28" name="右大括号 27"/>
            <p:cNvSpPr/>
            <p:nvPr/>
          </p:nvSpPr>
          <p:spPr>
            <a:xfrm>
              <a:off x="5940151" y="1303887"/>
              <a:ext cx="169413" cy="1879652"/>
            </a:xfrm>
            <a:prstGeom prst="rightBrace">
              <a:avLst>
                <a:gd name="adj1" fmla="val 8333"/>
                <a:gd name="adj2" fmla="val 51992"/>
              </a:avLst>
            </a:prstGeom>
            <a:ln w="190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109565" y="2092970"/>
              <a:ext cx="161852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dirty="0">
                  <a:solidFill>
                    <a:srgbClr val="0070C0"/>
                  </a:solidFill>
                  <a:latin typeface="+mn-ea"/>
                  <a:ea typeface="+mn-ea"/>
                </a:rPr>
                <a:t>运行时分配</a:t>
              </a:r>
              <a:endParaRPr lang="zh-CN" altLang="en-US" sz="2000" dirty="0">
                <a:solidFill>
                  <a:srgbClr val="0070C0"/>
                </a:solidFill>
                <a:latin typeface="+mn-ea"/>
                <a:ea typeface="+mn-ea"/>
              </a:endParaRPr>
            </a:p>
          </p:txBody>
        </p:sp>
      </p:grpSp>
      <p:sp>
        <p:nvSpPr>
          <p:cNvPr id="30" name="矩形 29"/>
          <p:cNvSpPr/>
          <p:nvPr/>
        </p:nvSpPr>
        <p:spPr>
          <a:xfrm>
            <a:off x="2351557" y="4463140"/>
            <a:ext cx="4440886" cy="4333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Linux</a:t>
            </a:r>
            <a:r>
              <a:rPr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操作系统编译器的可能内存管理</a:t>
            </a:r>
            <a:endParaRPr lang="zh-CN" altLang="en-US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组合 9"/>
          <p:cNvGrpSpPr/>
          <p:nvPr/>
        </p:nvGrpSpPr>
        <p:grpSpPr>
          <a:xfrm>
            <a:off x="867807" y="1352892"/>
            <a:ext cx="2371992" cy="706755"/>
            <a:chOff x="867807" y="1352892"/>
            <a:chExt cx="2371992" cy="706755"/>
          </a:xfrm>
        </p:grpSpPr>
        <p:cxnSp>
          <p:nvCxnSpPr>
            <p:cNvPr id="7" name="直接连接符 6"/>
            <p:cNvCxnSpPr/>
            <p:nvPr/>
          </p:nvCxnSpPr>
          <p:spPr>
            <a:xfrm flipH="1">
              <a:off x="2946260" y="1607020"/>
              <a:ext cx="293539" cy="0"/>
            </a:xfrm>
            <a:prstGeom prst="line">
              <a:avLst/>
            </a:prstGeom>
            <a:ln w="190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/>
            <p:cNvSpPr txBox="1"/>
            <p:nvPr/>
          </p:nvSpPr>
          <p:spPr>
            <a:xfrm>
              <a:off x="867807" y="1352892"/>
              <a:ext cx="2224405" cy="706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dirty="0">
                  <a:solidFill>
                    <a:srgbClr val="0070C0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与过程同生命期</a:t>
              </a:r>
              <a:endParaRPr lang="zh-CN" altLang="en-US" sz="2000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endParaRPr>
            </a:p>
            <a:p>
              <a:pPr algn="ctr"/>
              <a:r>
                <a:rPr lang="zh-CN" altLang="en-US" sz="2000" dirty="0">
                  <a:solidFill>
                    <a:srgbClr val="0070C0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的数据</a:t>
              </a:r>
              <a:endParaRPr lang="zh-CN" altLang="en-US" sz="2000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1130452" y="2532509"/>
            <a:ext cx="2093739" cy="706755"/>
            <a:chOff x="1187624" y="2553230"/>
            <a:chExt cx="2093739" cy="706755"/>
          </a:xfrm>
        </p:grpSpPr>
        <p:cxnSp>
          <p:nvCxnSpPr>
            <p:cNvPr id="40" name="直接连接符 39"/>
            <p:cNvCxnSpPr/>
            <p:nvPr/>
          </p:nvCxnSpPr>
          <p:spPr>
            <a:xfrm flipH="1">
              <a:off x="2987824" y="2921659"/>
              <a:ext cx="293539" cy="0"/>
            </a:xfrm>
            <a:prstGeom prst="line">
              <a:avLst/>
            </a:prstGeom>
            <a:ln w="190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文本框 40"/>
            <p:cNvSpPr txBox="1"/>
            <p:nvPr/>
          </p:nvSpPr>
          <p:spPr>
            <a:xfrm>
              <a:off x="1187624" y="2553230"/>
              <a:ext cx="1904454" cy="706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dirty="0">
                  <a:solidFill>
                    <a:srgbClr val="0070C0"/>
                  </a:solidFill>
                  <a:latin typeface="楷体" panose="02010609060101010101" pitchFamily="49" charset="-122"/>
                  <a:ea typeface="楷体" panose="02010609060101010101" pitchFamily="49" charset="-122"/>
                </a:rPr>
                <a:t>可控制生命期的数据</a:t>
              </a:r>
              <a:endParaRPr lang="zh-CN" altLang="en-US" sz="2000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endParaRPr>
            </a:p>
          </p:txBody>
        </p:sp>
      </p:grpSp>
      <p:grpSp>
        <p:nvGrpSpPr>
          <p:cNvPr id="5" name="组合 4"/>
          <p:cNvGrpSpPr/>
          <p:nvPr/>
        </p:nvGrpSpPr>
        <p:grpSpPr>
          <a:xfrm>
            <a:off x="1099337" y="3184019"/>
            <a:ext cx="2093739" cy="706755"/>
            <a:chOff x="1187624" y="2567200"/>
            <a:chExt cx="2093739" cy="706755"/>
          </a:xfrm>
        </p:grpSpPr>
        <p:cxnSp>
          <p:nvCxnSpPr>
            <p:cNvPr id="6" name="直接连接符 5"/>
            <p:cNvCxnSpPr/>
            <p:nvPr/>
          </p:nvCxnSpPr>
          <p:spPr>
            <a:xfrm flipH="1">
              <a:off x="2987824" y="2921659"/>
              <a:ext cx="293539" cy="0"/>
            </a:xfrm>
            <a:prstGeom prst="line">
              <a:avLst/>
            </a:prstGeom>
            <a:ln w="190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文本框 7"/>
            <p:cNvSpPr txBox="1"/>
            <p:nvPr/>
          </p:nvSpPr>
          <p:spPr>
            <a:xfrm>
              <a:off x="1187624" y="2567200"/>
              <a:ext cx="1904454" cy="706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dirty="0">
                  <a:solidFill>
                    <a:srgbClr val="0070C0"/>
                  </a:solidFill>
                  <a:latin typeface="楷体" panose="02010609060101010101" pitchFamily="49" charset="-122"/>
                  <a:ea typeface="楷体" panose="02010609060101010101" pitchFamily="49" charset="-122"/>
                </a:rPr>
                <a:t>长生命期的数据</a:t>
              </a:r>
              <a:endParaRPr lang="zh-CN" altLang="en-US" sz="2000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803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846138"/>
            <a:ext cx="8215313" cy="3957637"/>
          </a:xfrm>
        </p:spPr>
        <p:txBody>
          <a:bodyPr/>
          <a:lstStyle/>
          <a:p>
            <a:pPr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使用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过程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或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函数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、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方法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作为用户自定义动作的单元的语言，其编译器通常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以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过程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为单位分配存储空间</a:t>
            </a:r>
            <a:endParaRPr lang="en-US" altLang="zh-CN" sz="2500" b="1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过程体的每次执行称为该过程的一个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活动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activation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过程每执行一次，就为它分配一块连续存储区，用来管理过程一次执行所需的信息，这块连续存储区称为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活动记录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(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activation record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31747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活动记录</a:t>
            </a:r>
            <a:endParaRPr lang="zh-CN" altLang="en-US" sz="30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4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44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44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44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48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448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448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448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48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448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448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448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活动记录的一般形式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33795" name="Group 3"/>
          <p:cNvGrpSpPr/>
          <p:nvPr/>
        </p:nvGrpSpPr>
        <p:grpSpPr bwMode="auto">
          <a:xfrm>
            <a:off x="4248150" y="1214438"/>
            <a:ext cx="3443288" cy="2927350"/>
            <a:chOff x="1908" y="1357"/>
            <a:chExt cx="2076" cy="2414"/>
          </a:xfrm>
        </p:grpSpPr>
        <p:sp>
          <p:nvSpPr>
            <p:cNvPr id="33799" name="Rectangle 4"/>
            <p:cNvSpPr>
              <a:spLocks noChangeArrowheads="1"/>
            </p:cNvSpPr>
            <p:nvPr/>
          </p:nvSpPr>
          <p:spPr bwMode="auto">
            <a:xfrm>
              <a:off x="1908" y="1406"/>
              <a:ext cx="2076" cy="234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/>
              <a:endParaRPr lang="zh-CN" altLang="en-US" sz="1800" b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800" name="Rectangle 5"/>
            <p:cNvSpPr>
              <a:spLocks noChangeArrowheads="1"/>
            </p:cNvSpPr>
            <p:nvPr/>
          </p:nvSpPr>
          <p:spPr bwMode="auto">
            <a:xfrm>
              <a:off x="1950" y="1357"/>
              <a:ext cx="1949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20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实 参</a:t>
              </a:r>
              <a:endParaRPr lang="zh-CN" altLang="en-US" sz="20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801" name="Line 6"/>
            <p:cNvSpPr>
              <a:spLocks noChangeShapeType="1"/>
            </p:cNvSpPr>
            <p:nvPr/>
          </p:nvSpPr>
          <p:spPr bwMode="auto">
            <a:xfrm>
              <a:off x="1935" y="1744"/>
              <a:ext cx="202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24585" name="Rectangle 7"/>
            <p:cNvSpPr>
              <a:spLocks noChangeArrowheads="1"/>
            </p:cNvSpPr>
            <p:nvPr/>
          </p:nvSpPr>
          <p:spPr bwMode="auto">
            <a:xfrm>
              <a:off x="1952" y="3366"/>
              <a:ext cx="1949" cy="405"/>
            </a:xfrm>
            <a:prstGeom prst="rect">
              <a:avLst/>
            </a:prstGeom>
            <a:noFill/>
            <a:ln>
              <a:noFill/>
            </a:ln>
          </p:spPr>
          <p:txBody>
            <a:bodyPr tIns="82800"/>
            <a:lstStyle/>
            <a:p>
              <a:pPr algn="ctr">
                <a:defRPr/>
              </a:pPr>
              <a:r>
                <a:rPr lang="zh-CN" altLang="en-US" sz="2000" kern="0" dirty="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</a:rPr>
                <a:t>临时变量</a:t>
              </a:r>
              <a:endParaRPr lang="zh-CN" altLang="en-US" sz="2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803" name="Rectangle 8"/>
            <p:cNvSpPr>
              <a:spLocks noChangeArrowheads="1"/>
            </p:cNvSpPr>
            <p:nvPr/>
          </p:nvSpPr>
          <p:spPr bwMode="auto">
            <a:xfrm>
              <a:off x="1952" y="1711"/>
              <a:ext cx="1949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zh-CN" altLang="en-US" sz="20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804" name="Line 9"/>
            <p:cNvSpPr>
              <a:spLocks noChangeShapeType="1"/>
            </p:cNvSpPr>
            <p:nvPr/>
          </p:nvSpPr>
          <p:spPr bwMode="auto">
            <a:xfrm>
              <a:off x="1921" y="2070"/>
              <a:ext cx="20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3805" name="Line 10"/>
            <p:cNvSpPr>
              <a:spLocks noChangeShapeType="1"/>
            </p:cNvSpPr>
            <p:nvPr/>
          </p:nvSpPr>
          <p:spPr bwMode="auto">
            <a:xfrm>
              <a:off x="1922" y="3409"/>
              <a:ext cx="203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3806" name="Rectangle 11"/>
            <p:cNvSpPr>
              <a:spLocks noChangeArrowheads="1"/>
            </p:cNvSpPr>
            <p:nvPr/>
          </p:nvSpPr>
          <p:spPr bwMode="auto">
            <a:xfrm>
              <a:off x="1964" y="2022"/>
              <a:ext cx="1950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2000" dirty="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控制链</a:t>
              </a:r>
              <a:endParaRPr lang="zh-CN" altLang="en-US" sz="20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807" name="Line 12"/>
            <p:cNvSpPr>
              <a:spLocks noChangeShapeType="1"/>
            </p:cNvSpPr>
            <p:nvPr/>
          </p:nvSpPr>
          <p:spPr bwMode="auto">
            <a:xfrm>
              <a:off x="1920" y="3071"/>
              <a:ext cx="203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3808" name="Line 13"/>
            <p:cNvSpPr>
              <a:spLocks noChangeShapeType="1"/>
            </p:cNvSpPr>
            <p:nvPr/>
          </p:nvSpPr>
          <p:spPr bwMode="auto">
            <a:xfrm>
              <a:off x="1924" y="2733"/>
              <a:ext cx="203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3809" name="Line 14"/>
            <p:cNvSpPr>
              <a:spLocks noChangeShapeType="1"/>
            </p:cNvSpPr>
            <p:nvPr/>
          </p:nvSpPr>
          <p:spPr bwMode="auto">
            <a:xfrm>
              <a:off x="1922" y="2382"/>
              <a:ext cx="206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3810" name="Rectangle 15"/>
            <p:cNvSpPr>
              <a:spLocks noChangeArrowheads="1"/>
            </p:cNvSpPr>
            <p:nvPr/>
          </p:nvSpPr>
          <p:spPr bwMode="auto">
            <a:xfrm>
              <a:off x="1963" y="2349"/>
              <a:ext cx="1949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20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20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811" name="Rectangle 16"/>
            <p:cNvSpPr>
              <a:spLocks noChangeArrowheads="1"/>
            </p:cNvSpPr>
            <p:nvPr/>
          </p:nvSpPr>
          <p:spPr bwMode="auto">
            <a:xfrm>
              <a:off x="1964" y="2703"/>
              <a:ext cx="1950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2000" dirty="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保存的机器状态</a:t>
              </a:r>
              <a:endParaRPr lang="zh-CN" altLang="en-US" sz="20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812" name="Rectangle 17"/>
            <p:cNvSpPr>
              <a:spLocks noChangeArrowheads="1"/>
            </p:cNvSpPr>
            <p:nvPr/>
          </p:nvSpPr>
          <p:spPr bwMode="auto">
            <a:xfrm>
              <a:off x="1952" y="3031"/>
              <a:ext cx="1949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20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局部数据</a:t>
              </a:r>
              <a:endParaRPr lang="zh-CN" altLang="en-US" sz="20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24580" name="AutoShape 18"/>
          <p:cNvSpPr/>
          <p:nvPr/>
        </p:nvSpPr>
        <p:spPr bwMode="auto">
          <a:xfrm>
            <a:off x="928688" y="1874838"/>
            <a:ext cx="2765425" cy="355600"/>
          </a:xfrm>
          <a:prstGeom prst="accentBorderCallout1">
            <a:avLst>
              <a:gd name="adj1" fmla="val 11338"/>
              <a:gd name="adj2" fmla="val 102579"/>
              <a:gd name="adj3" fmla="val 98793"/>
              <a:gd name="adj4" fmla="val 148218"/>
            </a:avLst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rgbClr val="0000FF"/>
            </a:solidFill>
            <a:miter lim="800000"/>
          </a:ln>
        </p:spPr>
        <p:txBody>
          <a:bodyPr lIns="68580" tIns="34290" rIns="68580" bIns="34290"/>
          <a:lstStyle/>
          <a:p>
            <a:pPr algn="ctr" eaLnBrk="1" hangingPunct="1">
              <a:defRPr/>
            </a:pPr>
            <a:r>
              <a:rPr lang="zh-CN" altLang="en-US" sz="2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指向调用者的活动记录</a:t>
            </a:r>
            <a:endParaRPr lang="zh-CN" altLang="en-US" sz="2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4581" name="AutoShape 19"/>
          <p:cNvSpPr/>
          <p:nvPr/>
        </p:nvSpPr>
        <p:spPr bwMode="auto">
          <a:xfrm>
            <a:off x="928688" y="2847975"/>
            <a:ext cx="2765425" cy="712788"/>
          </a:xfrm>
          <a:prstGeom prst="accentBorderCallout1">
            <a:avLst>
              <a:gd name="adj1" fmla="val 8361"/>
              <a:gd name="adj2" fmla="val 102579"/>
              <a:gd name="adj3" fmla="val -26445"/>
              <a:gd name="adj4" fmla="val 151143"/>
            </a:avLst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rgbClr val="0000FF"/>
            </a:solidFill>
            <a:miter lim="800000"/>
          </a:ln>
        </p:spPr>
        <p:txBody>
          <a:bodyPr lIns="68580" tIns="34290" rIns="68580" bIns="34290"/>
          <a:lstStyle/>
          <a:p>
            <a:pPr algn="ctr" eaLnBrk="1" hangingPunct="1">
              <a:defRPr/>
            </a:pPr>
            <a:r>
              <a:rPr lang="zh-CN" altLang="en-US" sz="2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用来访问存放于其它活动记录中的</a:t>
            </a:r>
            <a:r>
              <a:rPr lang="zh-CN" altLang="en-US" sz="20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非局部数据</a:t>
            </a:r>
            <a:endParaRPr lang="zh-CN" altLang="en-US" sz="20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33798" name="矩形 1"/>
          <p:cNvSpPr>
            <a:spLocks noChangeArrowheads="1"/>
          </p:cNvSpPr>
          <p:nvPr/>
        </p:nvSpPr>
        <p:spPr bwMode="auto">
          <a:xfrm>
            <a:off x="5454650" y="1666875"/>
            <a:ext cx="9588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0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返回值</a:t>
            </a:r>
            <a:endParaRPr lang="zh-CN" altLang="en-US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5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5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45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45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5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0" grpId="0" animBg="1"/>
      <p:bldP spid="2458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35843" name="矩形 7"/>
          <p:cNvSpPr>
            <a:spLocks noChangeArrowheads="1"/>
          </p:cNvSpPr>
          <p:nvPr/>
        </p:nvSpPr>
        <p:spPr bwMode="auto">
          <a:xfrm>
            <a:off x="4500563" y="1357313"/>
            <a:ext cx="3671837" cy="31470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80" tIns="34290" rIns="68580" bIns="34290">
            <a:spAutoFit/>
          </a:bodyPr>
          <a:lstStyle/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7.1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存储组织</a:t>
            </a:r>
            <a:endParaRPr lang="zh-CN" altLang="en-US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7.2 </a:t>
            </a:r>
            <a:r>
              <a:rPr lang="zh-CN" altLang="en-US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静态存储分配</a:t>
            </a:r>
            <a:endParaRPr lang="zh-CN" altLang="en-US" sz="2500" b="0" dirty="0">
              <a:solidFill>
                <a:srgbClr val="2D83F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7.3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栈式存储分配</a:t>
            </a:r>
            <a:endParaRPr lang="zh-CN" altLang="en-US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7.4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非局部数据的访问</a:t>
            </a:r>
            <a:endParaRPr lang="zh-CN" altLang="en-US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7.5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参数传递</a:t>
            </a:r>
            <a:endParaRPr lang="en-US" altLang="zh-CN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7.6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符号表</a:t>
            </a:r>
            <a:endParaRPr lang="zh-CN" altLang="en-US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5844" name="Picture 7" descr="E:\工大编译\ppt\制作\0330e9c554c768200000158fc50d53d.jpg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矩形 15"/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提纲</a:t>
            </a: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内容占位符 1"/>
          <p:cNvSpPr>
            <a:spLocks noGrp="1"/>
          </p:cNvSpPr>
          <p:nvPr>
            <p:ph idx="1"/>
          </p:nvPr>
        </p:nvSpPr>
        <p:spPr>
          <a:xfrm>
            <a:off x="500063" y="857251"/>
            <a:ext cx="8143875" cy="3586708"/>
          </a:xfrm>
          <a:ln>
            <a:solidFill>
              <a:schemeClr val="accent2"/>
            </a:solidFill>
          </a:ln>
        </p:spPr>
        <p:txBody>
          <a:bodyPr/>
          <a:lstStyle/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在静态存储分配中，编译器为每个过程确定其</a:t>
            </a:r>
            <a:r>
              <a:rPr lang="zh-CN" altLang="en-US" sz="26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活动记录在目标程序中的位置</a:t>
            </a:r>
            <a:endParaRPr lang="zh-CN" altLang="en-US" sz="2600" b="1" dirty="0">
              <a:solidFill>
                <a:srgbClr val="0070C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这样，过程中每个名字的存储位置就确定了</a:t>
            </a:r>
            <a:endParaRPr lang="zh-CN" altLang="en-US" sz="26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因此，这些名字的</a:t>
            </a:r>
            <a:r>
              <a:rPr lang="zh-CN" altLang="en-US" sz="26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存储地址</a:t>
            </a: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可以被编译到</a:t>
            </a:r>
            <a:r>
              <a:rPr lang="zh-CN" altLang="en-US" sz="26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目标代码</a:t>
            </a: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中</a:t>
            </a:r>
            <a:endParaRPr lang="zh-CN" altLang="en-US" sz="26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过程</a:t>
            </a:r>
            <a:r>
              <a:rPr lang="zh-CN" altLang="en-US" sz="26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每次执行</a:t>
            </a: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时，它的名字都绑定到</a:t>
            </a:r>
            <a:r>
              <a:rPr lang="zh-CN" altLang="en-US" sz="26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同样的存储单元</a:t>
            </a:r>
            <a:endParaRPr lang="zh-CN" altLang="en-US" sz="2600" b="1" dirty="0">
              <a:solidFill>
                <a:srgbClr val="0070C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37891" name="标题 2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7.2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静态存储分配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内容占位符 1"/>
          <p:cNvSpPr>
            <a:spLocks noGrp="1"/>
          </p:cNvSpPr>
          <p:nvPr>
            <p:ph idx="1"/>
          </p:nvPr>
        </p:nvSpPr>
        <p:spPr>
          <a:xfrm>
            <a:off x="500063" y="857250"/>
            <a:ext cx="8032750" cy="3802732"/>
          </a:xfrm>
        </p:spPr>
        <p:txBody>
          <a:bodyPr/>
          <a:lstStyle/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适合静态存储分配的语言必须满足以下条件</a:t>
            </a:r>
            <a:endParaRPr lang="en-US" altLang="zh-CN" sz="28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lvl="1">
              <a:lnSpc>
                <a:spcPts val="40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数组上下界</a:t>
            </a: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必须是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常数</a:t>
            </a:r>
            <a:endParaRPr lang="en-US" altLang="zh-CN" sz="2500" b="1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lvl="1">
              <a:lnSpc>
                <a:spcPts val="40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不允许</a:t>
            </a: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过程的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递归</a:t>
            </a: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调用</a:t>
            </a:r>
            <a:endParaRPr lang="en-US" altLang="zh-CN" sz="25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lvl="1">
              <a:lnSpc>
                <a:spcPts val="40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不允许</a:t>
            </a: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用户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动态建立</a:t>
            </a: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数据实体</a:t>
            </a:r>
            <a:endParaRPr lang="en-US" altLang="zh-CN" sz="25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满足这些条件的语言有</a:t>
            </a:r>
            <a:r>
              <a:rPr lang="en-US" altLang="zh-CN" sz="28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BASIC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和早期的</a:t>
            </a:r>
            <a:r>
              <a:rPr lang="en-US" altLang="zh-CN" sz="2800" b="1" dirty="0">
                <a:solidFill>
                  <a:schemeClr val="tx1"/>
                </a:solidFill>
                <a:ea typeface="楷体" panose="02010609060101010101" pitchFamily="49" charset="-122"/>
              </a:rPr>
              <a:t>FORTRAN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等</a:t>
            </a:r>
            <a:endParaRPr lang="en-US" altLang="zh-CN" sz="28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39939" name="标题 2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静态存储分配的限制条件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4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4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4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内容占位符 1"/>
          <p:cNvSpPr>
            <a:spLocks noGrp="1"/>
          </p:cNvSpPr>
          <p:nvPr>
            <p:ph idx="1"/>
          </p:nvPr>
        </p:nvSpPr>
        <p:spPr>
          <a:xfrm>
            <a:off x="500063" y="857250"/>
            <a:ext cx="8032750" cy="3225800"/>
          </a:xfrm>
        </p:spPr>
        <p:txBody>
          <a:bodyPr/>
          <a:lstStyle/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3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顺序分配法</a:t>
            </a:r>
            <a:endParaRPr lang="en-US" altLang="zh-CN" sz="30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3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层次分配法</a:t>
            </a:r>
            <a:endParaRPr lang="zh-CN" altLang="en-US" sz="3000" b="1" dirty="0">
              <a:solidFill>
                <a:schemeClr val="tx1"/>
              </a:solidFill>
            </a:endParaRPr>
          </a:p>
        </p:txBody>
      </p:sp>
      <p:sp>
        <p:nvSpPr>
          <p:cNvPr id="41987" name="标题 2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常用的静态存储分配方法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866" name="Rectangle 18"/>
          <p:cNvSpPr>
            <a:spLocks noGrp="1" noChangeArrowheads="1"/>
          </p:cNvSpPr>
          <p:nvPr>
            <p:ph idx="1"/>
          </p:nvPr>
        </p:nvSpPr>
        <p:spPr>
          <a:xfrm>
            <a:off x="142875" y="785813"/>
            <a:ext cx="7272338" cy="642937"/>
          </a:xfrm>
        </p:spPr>
        <p:txBody>
          <a:bodyPr/>
          <a:lstStyle/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按照过程出现的先后</a:t>
            </a:r>
            <a:r>
              <a:rPr lang="zh-CN" altLang="en-US" sz="25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顺序</a:t>
            </a:r>
            <a:r>
              <a:rPr lang="zh-CN" altLang="en-US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逐段</a:t>
            </a:r>
            <a:r>
              <a:rPr lang="zh-CN" altLang="en-US" sz="25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分配</a:t>
            </a:r>
            <a:r>
              <a:rPr lang="zh-CN" altLang="en-US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存储空间</a:t>
            </a:r>
            <a:endParaRPr lang="zh-CN" altLang="en-US" sz="25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各过程的活动记录占用</a:t>
            </a:r>
            <a:r>
              <a:rPr lang="zh-CN" altLang="en-US" sz="25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互不相交</a:t>
            </a:r>
            <a:r>
              <a:rPr lang="zh-CN" altLang="en-US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的存储空间</a:t>
            </a:r>
            <a:r>
              <a:rPr lang="en-US" altLang="zh-CN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 </a:t>
            </a:r>
            <a:endParaRPr lang="zh-CN" altLang="en-US" sz="25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4403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顺序分配法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2" name="Group 4"/>
          <p:cNvGrpSpPr/>
          <p:nvPr/>
        </p:nvGrpSpPr>
        <p:grpSpPr bwMode="auto">
          <a:xfrm>
            <a:off x="1655763" y="1881188"/>
            <a:ext cx="2857500" cy="2084387"/>
            <a:chOff x="192" y="2016"/>
            <a:chExt cx="2400" cy="1750"/>
          </a:xfrm>
        </p:grpSpPr>
        <p:sp>
          <p:nvSpPr>
            <p:cNvPr id="44041" name="Text Box 5"/>
            <p:cNvSpPr txBox="1">
              <a:spLocks noChangeArrowheads="1"/>
            </p:cNvSpPr>
            <p:nvPr/>
          </p:nvSpPr>
          <p:spPr bwMode="auto">
            <a:xfrm>
              <a:off x="960" y="2016"/>
              <a:ext cx="576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1/22</a:t>
              </a:r>
              <a:endParaRPr kumimoji="1" lang="zh-CN" altLang="en-US" sz="1800"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4042" name="Text Box 6"/>
            <p:cNvSpPr txBox="1">
              <a:spLocks noChangeArrowheads="1"/>
            </p:cNvSpPr>
            <p:nvPr/>
          </p:nvSpPr>
          <p:spPr bwMode="auto">
            <a:xfrm>
              <a:off x="624" y="2638"/>
              <a:ext cx="577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2/15</a:t>
              </a:r>
              <a:endParaRPr kumimoji="1" lang="zh-CN" altLang="en-US" sz="1800"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4043" name="Text Box 7"/>
            <p:cNvSpPr txBox="1">
              <a:spLocks noChangeArrowheads="1"/>
            </p:cNvSpPr>
            <p:nvPr/>
          </p:nvSpPr>
          <p:spPr bwMode="auto">
            <a:xfrm>
              <a:off x="1488" y="2688"/>
              <a:ext cx="624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3/18</a:t>
              </a:r>
              <a:endParaRPr kumimoji="1" lang="zh-CN" altLang="en-US" sz="1800"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4044" name="Text Box 8"/>
            <p:cNvSpPr txBox="1">
              <a:spLocks noChangeArrowheads="1"/>
            </p:cNvSpPr>
            <p:nvPr/>
          </p:nvSpPr>
          <p:spPr bwMode="auto">
            <a:xfrm>
              <a:off x="192" y="3456"/>
              <a:ext cx="528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4/17</a:t>
              </a:r>
              <a:endParaRPr kumimoji="1" lang="zh-CN" altLang="en-US" sz="1800"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4045" name="Text Box 9"/>
            <p:cNvSpPr txBox="1">
              <a:spLocks noChangeArrowheads="1"/>
            </p:cNvSpPr>
            <p:nvPr/>
          </p:nvSpPr>
          <p:spPr bwMode="auto">
            <a:xfrm>
              <a:off x="1104" y="3408"/>
              <a:ext cx="576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6/10</a:t>
              </a:r>
              <a:endParaRPr kumimoji="1" lang="zh-CN" altLang="en-US" sz="1800"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4046" name="Text Box 10"/>
            <p:cNvSpPr txBox="1">
              <a:spLocks noChangeArrowheads="1"/>
            </p:cNvSpPr>
            <p:nvPr/>
          </p:nvSpPr>
          <p:spPr bwMode="auto">
            <a:xfrm>
              <a:off x="2064" y="3456"/>
              <a:ext cx="528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5/23</a:t>
              </a:r>
              <a:endParaRPr kumimoji="1" lang="zh-CN" altLang="en-US" sz="1800"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4047" name="Line 11"/>
            <p:cNvSpPr>
              <a:spLocks noChangeShapeType="1"/>
            </p:cNvSpPr>
            <p:nvPr/>
          </p:nvSpPr>
          <p:spPr bwMode="auto">
            <a:xfrm flipH="1">
              <a:off x="816" y="2256"/>
              <a:ext cx="288" cy="4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4048" name="Line 12"/>
            <p:cNvSpPr>
              <a:spLocks noChangeShapeType="1"/>
            </p:cNvSpPr>
            <p:nvPr/>
          </p:nvSpPr>
          <p:spPr bwMode="auto">
            <a:xfrm flipH="1">
              <a:off x="1296" y="2928"/>
              <a:ext cx="336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4049" name="Line 13"/>
            <p:cNvSpPr>
              <a:spLocks noChangeShapeType="1"/>
            </p:cNvSpPr>
            <p:nvPr/>
          </p:nvSpPr>
          <p:spPr bwMode="auto">
            <a:xfrm>
              <a:off x="1680" y="2928"/>
              <a:ext cx="576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4050" name="Line 14"/>
            <p:cNvSpPr>
              <a:spLocks noChangeShapeType="1"/>
            </p:cNvSpPr>
            <p:nvPr/>
          </p:nvSpPr>
          <p:spPr bwMode="auto">
            <a:xfrm>
              <a:off x="1152" y="2256"/>
              <a:ext cx="528" cy="4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4051" name="Line 15"/>
            <p:cNvSpPr>
              <a:spLocks noChangeShapeType="1"/>
            </p:cNvSpPr>
            <p:nvPr/>
          </p:nvSpPr>
          <p:spPr bwMode="auto">
            <a:xfrm flipH="1">
              <a:off x="384" y="2928"/>
              <a:ext cx="384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4052" name="Line 16"/>
            <p:cNvSpPr>
              <a:spLocks noChangeShapeType="1"/>
            </p:cNvSpPr>
            <p:nvPr/>
          </p:nvSpPr>
          <p:spPr bwMode="auto">
            <a:xfrm>
              <a:off x="768" y="2880"/>
              <a:ext cx="528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846867" name="Text Box 19"/>
          <p:cNvSpPr txBox="1">
            <a:spLocks noChangeArrowheads="1"/>
          </p:cNvSpPr>
          <p:nvPr/>
        </p:nvSpPr>
        <p:spPr bwMode="auto">
          <a:xfrm>
            <a:off x="1500188" y="3979863"/>
            <a:ext cx="2894012" cy="3778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>
            <a:spAutoFit/>
          </a:bodyPr>
          <a:lstStyle>
            <a:lvl1pPr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1pPr>
            <a:lvl2pPr marL="742950" indent="-28575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2pPr>
            <a:lvl3pPr marL="1143000" indent="-22860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3pPr>
            <a:lvl4pPr marL="1600200" indent="-22860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4pPr>
            <a:lvl5pPr marL="2057400" indent="-22860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过程编号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/</a:t>
            </a: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所需存储空间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846868" name="Text Box 20"/>
          <p:cNvSpPr txBox="1">
            <a:spLocks noChangeArrowheads="1"/>
          </p:cNvSpPr>
          <p:nvPr/>
        </p:nvSpPr>
        <p:spPr bwMode="auto">
          <a:xfrm>
            <a:off x="5178425" y="1662113"/>
            <a:ext cx="2751138" cy="270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 marL="342900" indent="-3429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>
              <a:lnSpc>
                <a:spcPts val="2600"/>
              </a:lnSpc>
            </a:pPr>
            <a:r>
              <a:rPr lang="zh-CN" altLang="en-US" sz="1500" b="0">
                <a:ea typeface="楷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过程       存储</a:t>
            </a:r>
            <a:r>
              <a:rPr kumimoji="1"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区域</a:t>
            </a:r>
            <a:endParaRPr kumimoji="1" lang="zh-CN" altLang="en-US" sz="200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>
              <a:lnSpc>
                <a:spcPts val="2600"/>
              </a:lnSpc>
            </a:pPr>
            <a:r>
              <a:rPr kumimoji="1"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       </a:t>
            </a:r>
            <a:r>
              <a:rPr kumimoji="1" lang="en-US" altLang="zh-CN" sz="2000">
                <a:ea typeface="楷体" panose="02010609060101010101" pitchFamily="49" charset="-122"/>
                <a:cs typeface="Times New Roman" panose="02020603050405020304" pitchFamily="18" charset="0"/>
              </a:rPr>
              <a:t>1              0~21</a:t>
            </a:r>
            <a:endParaRPr kumimoji="1" lang="en-US" altLang="zh-CN" sz="200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>
              <a:lnSpc>
                <a:spcPts val="2600"/>
              </a:lnSpc>
            </a:pPr>
            <a:r>
              <a:rPr kumimoji="1" lang="en-US" altLang="zh-CN" sz="2000">
                <a:ea typeface="楷体" panose="02010609060101010101" pitchFamily="49" charset="-122"/>
                <a:cs typeface="Times New Roman" panose="02020603050405020304" pitchFamily="18" charset="0"/>
              </a:rPr>
              <a:t>       2            22~36</a:t>
            </a:r>
            <a:endParaRPr kumimoji="1" lang="en-US" altLang="zh-CN" sz="200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>
              <a:lnSpc>
                <a:spcPts val="2600"/>
              </a:lnSpc>
            </a:pPr>
            <a:r>
              <a:rPr kumimoji="1"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       </a:t>
            </a:r>
            <a:r>
              <a:rPr kumimoji="1" lang="en-US" altLang="zh-CN" sz="2000">
                <a:ea typeface="楷体" panose="02010609060101010101" pitchFamily="49" charset="-122"/>
                <a:cs typeface="Times New Roman" panose="02020603050405020304" pitchFamily="18" charset="0"/>
              </a:rPr>
              <a:t>3            37~54</a:t>
            </a:r>
            <a:endParaRPr kumimoji="1" lang="en-US" altLang="zh-CN" sz="200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>
              <a:lnSpc>
                <a:spcPts val="2600"/>
              </a:lnSpc>
            </a:pPr>
            <a:r>
              <a:rPr kumimoji="1"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       </a:t>
            </a:r>
            <a:r>
              <a:rPr kumimoji="1" lang="en-US" altLang="zh-CN" sz="2000">
                <a:ea typeface="楷体" panose="02010609060101010101" pitchFamily="49" charset="-122"/>
                <a:cs typeface="Times New Roman" panose="02020603050405020304" pitchFamily="18" charset="0"/>
              </a:rPr>
              <a:t>4            55~71</a:t>
            </a:r>
            <a:endParaRPr kumimoji="1" lang="en-US" altLang="zh-CN" sz="200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>
              <a:lnSpc>
                <a:spcPts val="2600"/>
              </a:lnSpc>
            </a:pPr>
            <a:r>
              <a:rPr kumimoji="1"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       </a:t>
            </a:r>
            <a:r>
              <a:rPr kumimoji="1" lang="en-US" altLang="zh-CN" sz="2000">
                <a:ea typeface="楷体" panose="02010609060101010101" pitchFamily="49" charset="-122"/>
                <a:cs typeface="Times New Roman" panose="02020603050405020304" pitchFamily="18" charset="0"/>
              </a:rPr>
              <a:t>5            72~94</a:t>
            </a:r>
            <a:endParaRPr kumimoji="1" lang="en-US" altLang="zh-CN" sz="200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>
              <a:lnSpc>
                <a:spcPts val="2600"/>
              </a:lnSpc>
            </a:pPr>
            <a:r>
              <a:rPr kumimoji="1"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       </a:t>
            </a:r>
            <a:r>
              <a:rPr kumimoji="1" lang="en-US" altLang="zh-CN" sz="2000">
                <a:ea typeface="楷体" panose="02010609060101010101" pitchFamily="49" charset="-122"/>
                <a:cs typeface="Times New Roman" panose="02020603050405020304" pitchFamily="18" charset="0"/>
              </a:rPr>
              <a:t>6            95~104</a:t>
            </a:r>
            <a:endParaRPr kumimoji="1" lang="en-US" altLang="zh-CN" sz="200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>
              <a:lnSpc>
                <a:spcPts val="2600"/>
              </a:lnSpc>
            </a:pPr>
            <a:r>
              <a:rPr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共需要</a:t>
            </a:r>
            <a:r>
              <a:rPr lang="en-US" altLang="zh-CN" sz="2000">
                <a:ea typeface="楷体" panose="02010609060101010101" pitchFamily="49" charset="-122"/>
                <a:cs typeface="Times New Roman" panose="02020603050405020304" pitchFamily="18" charset="0"/>
              </a:rPr>
              <a:t>105</a:t>
            </a:r>
            <a:r>
              <a:rPr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个存储单元</a:t>
            </a:r>
            <a:endParaRPr lang="zh-CN" altLang="en-US" sz="200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846870" name="Rectangle 22"/>
          <p:cNvSpPr>
            <a:spLocks noChangeArrowheads="1"/>
          </p:cNvSpPr>
          <p:nvPr/>
        </p:nvSpPr>
        <p:spPr bwMode="auto">
          <a:xfrm>
            <a:off x="4429125" y="4357688"/>
            <a:ext cx="4556125" cy="68421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zh-CN" altLang="en-US" sz="2000" dirty="0">
                <a:solidFill>
                  <a:srgbClr val="0000FF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优点：处理上简单</a:t>
            </a:r>
            <a:endParaRPr lang="zh-CN" altLang="en-US" sz="2000" dirty="0">
              <a:solidFill>
                <a:srgbClr val="0000FF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defRPr/>
            </a:pPr>
            <a:r>
              <a:rPr lang="zh-CN" altLang="en-US" sz="2000" dirty="0">
                <a:solidFill>
                  <a:srgbClr val="0000FF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缺点：对内存空间的使用不够经济合理</a:t>
            </a:r>
            <a:endParaRPr lang="zh-CN" altLang="en-US" sz="2000" dirty="0">
              <a:solidFill>
                <a:srgbClr val="0000FF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846871" name="AutoShape 23"/>
          <p:cNvSpPr>
            <a:spLocks noChangeArrowheads="1"/>
          </p:cNvSpPr>
          <p:nvPr/>
        </p:nvSpPr>
        <p:spPr bwMode="auto">
          <a:xfrm>
            <a:off x="571500" y="4479925"/>
            <a:ext cx="3429000" cy="539750"/>
          </a:xfrm>
          <a:prstGeom prst="cloudCallout">
            <a:avLst>
              <a:gd name="adj1" fmla="val 50148"/>
              <a:gd name="adj2" fmla="val -68648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/>
            </a:solidFill>
            <a:round/>
          </a:ln>
        </p:spPr>
        <p:txBody>
          <a:bodyPr lIns="68580" tIns="34290" rIns="68580" bIns="34290"/>
          <a:lstStyle/>
          <a:p>
            <a:pPr eaLnBrk="1" hangingPunct="1">
              <a:defRPr/>
            </a:pPr>
            <a:r>
              <a:rPr kumimoji="1" lang="zh-CN" altLang="en-US" sz="2000" dirty="0">
                <a:solidFill>
                  <a:schemeClr val="bg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能用更少的空间么？</a:t>
            </a:r>
            <a:endParaRPr kumimoji="1" lang="zh-CN" altLang="en-US" sz="2000" dirty="0">
              <a:solidFill>
                <a:schemeClr val="bg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468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468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468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468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468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468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468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468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468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8468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8468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468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8468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8468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468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8468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8468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468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8468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8468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468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8468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8468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468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8468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8468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468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8468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8468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468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8468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8468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468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8468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8468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8468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6867" grpId="0" animBg="1" autoUpdateAnimBg="0"/>
      <p:bldP spid="846868" grpId="0" autoUpdateAnimBg="0" build="p"/>
      <p:bldP spid="846870" grpId="0" animBg="1"/>
      <p:bldP spid="84687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866" name="Rectangle 18"/>
          <p:cNvSpPr>
            <a:spLocks noGrp="1" noChangeArrowheads="1"/>
          </p:cNvSpPr>
          <p:nvPr>
            <p:ph idx="1"/>
          </p:nvPr>
        </p:nvSpPr>
        <p:spPr>
          <a:xfrm>
            <a:off x="142875" y="774700"/>
            <a:ext cx="8272463" cy="3225800"/>
          </a:xfrm>
        </p:spPr>
        <p:txBody>
          <a:bodyPr/>
          <a:lstStyle/>
          <a:p>
            <a:pPr marL="575310" lvl="1" indent="-272415" eaLnBrk="1" hangingPunct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通过对过程间的调用关系进行分析，凡属无相互调用关系的并列过程，尽量使其局部数据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共享</a:t>
            </a:r>
            <a:r>
              <a:rPr lang="zh-CN" altLang="en-US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存储空间</a:t>
            </a:r>
            <a:endParaRPr lang="zh-CN" altLang="en-US" sz="25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4608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层次分配法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Rectangle 24"/>
          <p:cNvSpPr>
            <a:spLocks noChangeArrowheads="1"/>
          </p:cNvSpPr>
          <p:nvPr/>
        </p:nvSpPr>
        <p:spPr bwMode="auto">
          <a:xfrm>
            <a:off x="5216525" y="4227513"/>
            <a:ext cx="1000125" cy="7715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wrap="none" lIns="68580" tIns="34290" rIns="68580" bIns="34290" anchor="ctr"/>
          <a:lstStyle/>
          <a:p>
            <a:pPr algn="ctr" eaLnBrk="1" hangingPunct="1">
              <a:defRPr/>
            </a:pP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过程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4</a:t>
            </a:r>
            <a:endParaRPr lang="en-US" altLang="zh-CN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ctr" eaLnBrk="1" hangingPunct="1">
              <a:defRPr/>
            </a:pP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(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0~16</a:t>
            </a: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 )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2" name="Rectangle 25"/>
          <p:cNvSpPr>
            <a:spLocks noChangeArrowheads="1"/>
          </p:cNvSpPr>
          <p:nvPr/>
        </p:nvSpPr>
        <p:spPr bwMode="auto">
          <a:xfrm>
            <a:off x="5216525" y="3524250"/>
            <a:ext cx="1000125" cy="70326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wrap="none" lIns="68580" tIns="34290" rIns="68580" bIns="34290" anchor="ctr"/>
          <a:lstStyle/>
          <a:p>
            <a:pPr algn="ctr" eaLnBrk="1" hangingPunct="1">
              <a:defRPr/>
            </a:pP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过程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2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ctr" eaLnBrk="1" hangingPunct="1">
              <a:defRPr/>
            </a:pP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(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17~31</a:t>
            </a: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 )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3" name="Rectangle 26"/>
          <p:cNvSpPr>
            <a:spLocks noChangeArrowheads="1"/>
          </p:cNvSpPr>
          <p:nvPr/>
        </p:nvSpPr>
        <p:spPr bwMode="auto">
          <a:xfrm>
            <a:off x="6288088" y="4325938"/>
            <a:ext cx="881062" cy="67627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wrap="none" lIns="68580" tIns="34290" rIns="68580" bIns="34290" anchor="ctr"/>
          <a:lstStyle/>
          <a:p>
            <a:pPr algn="ctr" eaLnBrk="1" hangingPunct="1">
              <a:defRPr/>
            </a:pP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过程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6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ctr" eaLnBrk="1" hangingPunct="1">
              <a:defRPr/>
            </a:pP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(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0~9</a:t>
            </a: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 )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4" name="Rectangle 27"/>
          <p:cNvSpPr>
            <a:spLocks noChangeArrowheads="1"/>
          </p:cNvSpPr>
          <p:nvPr/>
        </p:nvSpPr>
        <p:spPr bwMode="auto">
          <a:xfrm>
            <a:off x="7264400" y="4064000"/>
            <a:ext cx="979488" cy="9350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wrap="none" lIns="68580" tIns="34290" rIns="68580" bIns="34290" anchor="ctr"/>
          <a:lstStyle/>
          <a:p>
            <a:pPr algn="ctr" eaLnBrk="1" hangingPunct="1">
              <a:defRPr/>
            </a:pP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过程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5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ctr" eaLnBrk="1" hangingPunct="1">
              <a:defRPr/>
            </a:pP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(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0~22</a:t>
            </a: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 )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5" name="Rectangle 28"/>
          <p:cNvSpPr>
            <a:spLocks noChangeArrowheads="1"/>
          </p:cNvSpPr>
          <p:nvPr/>
        </p:nvSpPr>
        <p:spPr bwMode="auto">
          <a:xfrm>
            <a:off x="7264400" y="3295650"/>
            <a:ext cx="979488" cy="76835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wrap="none" lIns="68580" tIns="34290" rIns="68580" bIns="34290" anchor="ctr"/>
          <a:lstStyle/>
          <a:p>
            <a:pPr algn="ctr" eaLnBrk="1" hangingPunct="1">
              <a:defRPr/>
            </a:pP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过程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3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ctr" eaLnBrk="1" hangingPunct="1">
              <a:defRPr/>
            </a:pP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(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23~40</a:t>
            </a: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 )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6" name="Rectangle 29"/>
          <p:cNvSpPr>
            <a:spLocks noChangeArrowheads="1"/>
          </p:cNvSpPr>
          <p:nvPr/>
        </p:nvSpPr>
        <p:spPr bwMode="auto">
          <a:xfrm>
            <a:off x="7264400" y="2582863"/>
            <a:ext cx="979488" cy="71596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wrap="none" lIns="68580" tIns="34290" rIns="68580" bIns="34290" anchor="ctr"/>
          <a:lstStyle/>
          <a:p>
            <a:pPr algn="ctr" eaLnBrk="1" hangingPunct="1">
              <a:defRPr/>
            </a:pP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过程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1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ctr" eaLnBrk="1" hangingPunct="1">
              <a:defRPr/>
            </a:pP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(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41~62</a:t>
            </a: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 )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7" name="AutoShape 30"/>
          <p:cNvSpPr/>
          <p:nvPr/>
        </p:nvSpPr>
        <p:spPr bwMode="auto">
          <a:xfrm>
            <a:off x="5599113" y="2084388"/>
            <a:ext cx="1474787" cy="642937"/>
          </a:xfrm>
          <a:prstGeom prst="borderCallout2">
            <a:avLst>
              <a:gd name="adj1" fmla="val 17602"/>
              <a:gd name="adj2" fmla="val 105287"/>
              <a:gd name="adj3" fmla="val 17602"/>
              <a:gd name="adj4" fmla="val 115088"/>
              <a:gd name="adj5" fmla="val 68949"/>
              <a:gd name="adj6" fmla="val 142736"/>
            </a:avLst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lIns="68580" tIns="34290" rIns="68580" bIns="34290"/>
          <a:lstStyle/>
          <a:p>
            <a:pPr algn="ctr" eaLnBrk="1" hangingPunct="1">
              <a:defRPr/>
            </a:pPr>
            <a:r>
              <a:rPr lang="zh-CN" altLang="en-US" sz="20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共需要</a:t>
            </a:r>
            <a:r>
              <a:rPr lang="en-US" altLang="zh-CN" sz="20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63</a:t>
            </a:r>
            <a:r>
              <a:rPr lang="zh-CN" altLang="en-US" sz="20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个存储单元</a:t>
            </a:r>
            <a:endParaRPr lang="zh-CN" altLang="en-US" sz="2000" dirty="0">
              <a:solidFill>
                <a:srgbClr val="000000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8" name="Line 32"/>
          <p:cNvSpPr>
            <a:spLocks noChangeShapeType="1"/>
          </p:cNvSpPr>
          <p:nvPr/>
        </p:nvSpPr>
        <p:spPr bwMode="auto">
          <a:xfrm flipV="1">
            <a:off x="5002213" y="3670300"/>
            <a:ext cx="0" cy="13493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2" name="组合 1"/>
          <p:cNvGrpSpPr/>
          <p:nvPr/>
        </p:nvGrpSpPr>
        <p:grpSpPr bwMode="auto">
          <a:xfrm>
            <a:off x="2466972" y="2209006"/>
            <a:ext cx="1614488" cy="1463675"/>
            <a:chOff x="2987675" y="1827213"/>
            <a:chExt cx="1614488" cy="1463675"/>
          </a:xfrm>
        </p:grpSpPr>
        <p:sp>
          <p:nvSpPr>
            <p:cNvPr id="29" name="Line 21"/>
            <p:cNvSpPr>
              <a:spLocks noChangeShapeType="1"/>
            </p:cNvSpPr>
            <p:nvPr/>
          </p:nvSpPr>
          <p:spPr bwMode="auto">
            <a:xfrm>
              <a:off x="2987675" y="1827213"/>
              <a:ext cx="1257300" cy="57150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prstDash val="sysDash"/>
              <a:round/>
              <a:headEnd type="none" w="sm" len="sm"/>
              <a:tailEnd type="none" w="sm" len="sm"/>
            </a:ln>
          </p:spPr>
          <p:txBody>
            <a:bodyPr lIns="68580" tIns="34290" rIns="68580" bIns="34290"/>
            <a:lstStyle/>
            <a:p>
              <a:pPr eaLnBrk="1" hangingPunct="1">
                <a:defRPr/>
              </a:pPr>
              <a:endParaRPr lang="zh-CN" altLang="en-US">
                <a:ea typeface="方正楷体_GB2312" charset="0"/>
                <a:cs typeface="方正楷体_GB2312" charset="0"/>
              </a:endParaRPr>
            </a:p>
          </p:txBody>
        </p:sp>
        <p:sp>
          <p:nvSpPr>
            <p:cNvPr id="30" name="Text Box 22"/>
            <p:cNvSpPr txBox="1">
              <a:spLocks noChangeArrowheads="1"/>
            </p:cNvSpPr>
            <p:nvPr/>
          </p:nvSpPr>
          <p:spPr bwMode="auto">
            <a:xfrm>
              <a:off x="4030663" y="2355850"/>
              <a:ext cx="571500" cy="347663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</p:spPr>
          <p:txBody>
            <a:bodyPr lIns="68580" tIns="34290" rIns="68580" bIns="34290">
              <a:spAutoFit/>
            </a:bodyPr>
            <a:lstStyle/>
            <a:p>
              <a:pPr>
                <a:spcBef>
                  <a:spcPct val="50000"/>
                </a:spcBef>
                <a:defRPr/>
              </a:pPr>
              <a:r>
                <a:rPr kumimoji="1" lang="zh-CN" altLang="en-US" sz="18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7/80</a:t>
              </a:r>
              <a:endParaRPr kumimoji="1" lang="zh-CN" altLang="en-US" sz="1800" dirty="0">
                <a:solidFill>
                  <a:schemeClr val="tx2">
                    <a:lumMod val="60000"/>
                    <a:lumOff val="40000"/>
                  </a:schemeClr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1" name="Line 23"/>
            <p:cNvSpPr>
              <a:spLocks noChangeShapeType="1"/>
            </p:cNvSpPr>
            <p:nvPr/>
          </p:nvSpPr>
          <p:spPr bwMode="auto">
            <a:xfrm>
              <a:off x="4337050" y="2643188"/>
              <a:ext cx="0" cy="64770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prstDash val="sysDash"/>
              <a:round/>
              <a:headEnd type="none" w="sm" len="sm"/>
              <a:tailEnd type="none" w="sm" len="sm"/>
            </a:ln>
          </p:spPr>
          <p:txBody>
            <a:bodyPr lIns="68580" tIns="34290" rIns="68580" bIns="34290"/>
            <a:lstStyle/>
            <a:p>
              <a:pPr eaLnBrk="1" hangingPunct="1">
                <a:defRPr/>
              </a:pPr>
              <a:endParaRPr lang="zh-CN" altLang="en-US">
                <a:ea typeface="方正楷体_GB2312" charset="0"/>
                <a:cs typeface="方正楷体_GB2312" charset="0"/>
              </a:endParaRPr>
            </a:p>
          </p:txBody>
        </p:sp>
      </p:grpSp>
      <p:sp>
        <p:nvSpPr>
          <p:cNvPr id="32" name="AutoShape 31"/>
          <p:cNvSpPr>
            <a:spLocks noChangeArrowheads="1"/>
          </p:cNvSpPr>
          <p:nvPr/>
        </p:nvSpPr>
        <p:spPr bwMode="auto">
          <a:xfrm>
            <a:off x="2827335" y="1796256"/>
            <a:ext cx="2024062" cy="485775"/>
          </a:xfrm>
          <a:prstGeom prst="cloudCallout">
            <a:avLst>
              <a:gd name="adj1" fmla="val -20218"/>
              <a:gd name="adj2" fmla="val 112225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/>
            </a:solidFill>
            <a:round/>
          </a:ln>
        </p:spPr>
        <p:txBody>
          <a:bodyPr lIns="68580" tIns="34290" rIns="68580" bIns="34290"/>
          <a:lstStyle/>
          <a:p>
            <a:pPr algn="ctr" eaLnBrk="1" hangingPunct="1">
              <a:defRPr/>
            </a:pPr>
            <a:r>
              <a:rPr kumimoji="1" lang="zh-CN" altLang="en-US" sz="2000" dirty="0">
                <a:solidFill>
                  <a:schemeClr val="bg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如何分配？</a:t>
            </a:r>
            <a:endParaRPr kumimoji="1" lang="zh-CN" altLang="en-US" sz="2000" dirty="0">
              <a:solidFill>
                <a:schemeClr val="bg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46094" name="Group 4"/>
          <p:cNvGrpSpPr/>
          <p:nvPr/>
        </p:nvGrpSpPr>
        <p:grpSpPr bwMode="auto">
          <a:xfrm>
            <a:off x="1135060" y="1878806"/>
            <a:ext cx="2857500" cy="2084387"/>
            <a:chOff x="192" y="2016"/>
            <a:chExt cx="2400" cy="1750"/>
          </a:xfrm>
        </p:grpSpPr>
        <p:sp>
          <p:nvSpPr>
            <p:cNvPr id="46096" name="Text Box 5"/>
            <p:cNvSpPr txBox="1">
              <a:spLocks noChangeArrowheads="1"/>
            </p:cNvSpPr>
            <p:nvPr/>
          </p:nvSpPr>
          <p:spPr bwMode="auto">
            <a:xfrm>
              <a:off x="960" y="2016"/>
              <a:ext cx="576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1/22</a:t>
              </a:r>
              <a:endParaRPr kumimoji="1" lang="zh-CN" altLang="en-US" sz="1800"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6097" name="Text Box 6"/>
            <p:cNvSpPr txBox="1">
              <a:spLocks noChangeArrowheads="1"/>
            </p:cNvSpPr>
            <p:nvPr/>
          </p:nvSpPr>
          <p:spPr bwMode="auto">
            <a:xfrm>
              <a:off x="624" y="2638"/>
              <a:ext cx="577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2/15</a:t>
              </a:r>
              <a:endParaRPr kumimoji="1" lang="zh-CN" altLang="en-US" sz="1800"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6098" name="Text Box 7"/>
            <p:cNvSpPr txBox="1">
              <a:spLocks noChangeArrowheads="1"/>
            </p:cNvSpPr>
            <p:nvPr/>
          </p:nvSpPr>
          <p:spPr bwMode="auto">
            <a:xfrm>
              <a:off x="1488" y="2688"/>
              <a:ext cx="624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3/18</a:t>
              </a:r>
              <a:endParaRPr kumimoji="1" lang="zh-CN" altLang="en-US" sz="1800"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6099" name="Text Box 8"/>
            <p:cNvSpPr txBox="1">
              <a:spLocks noChangeArrowheads="1"/>
            </p:cNvSpPr>
            <p:nvPr/>
          </p:nvSpPr>
          <p:spPr bwMode="auto">
            <a:xfrm>
              <a:off x="192" y="3456"/>
              <a:ext cx="528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4/17</a:t>
              </a:r>
              <a:endParaRPr kumimoji="1" lang="zh-CN" altLang="en-US" sz="1800"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6100" name="Text Box 9"/>
            <p:cNvSpPr txBox="1">
              <a:spLocks noChangeArrowheads="1"/>
            </p:cNvSpPr>
            <p:nvPr/>
          </p:nvSpPr>
          <p:spPr bwMode="auto">
            <a:xfrm>
              <a:off x="1104" y="3408"/>
              <a:ext cx="576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6/10</a:t>
              </a:r>
              <a:endParaRPr kumimoji="1" lang="zh-CN" altLang="en-US" sz="1800"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6101" name="Text Box 10"/>
            <p:cNvSpPr txBox="1">
              <a:spLocks noChangeArrowheads="1"/>
            </p:cNvSpPr>
            <p:nvPr/>
          </p:nvSpPr>
          <p:spPr bwMode="auto">
            <a:xfrm>
              <a:off x="2064" y="3456"/>
              <a:ext cx="528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5/23</a:t>
              </a:r>
              <a:endParaRPr kumimoji="1" lang="zh-CN" altLang="en-US" sz="1800"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6102" name="Line 11"/>
            <p:cNvSpPr>
              <a:spLocks noChangeShapeType="1"/>
            </p:cNvSpPr>
            <p:nvPr/>
          </p:nvSpPr>
          <p:spPr bwMode="auto">
            <a:xfrm flipH="1">
              <a:off x="816" y="2256"/>
              <a:ext cx="288" cy="4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6103" name="Line 12"/>
            <p:cNvSpPr>
              <a:spLocks noChangeShapeType="1"/>
            </p:cNvSpPr>
            <p:nvPr/>
          </p:nvSpPr>
          <p:spPr bwMode="auto">
            <a:xfrm flipH="1">
              <a:off x="1296" y="2928"/>
              <a:ext cx="336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6104" name="Line 13"/>
            <p:cNvSpPr>
              <a:spLocks noChangeShapeType="1"/>
            </p:cNvSpPr>
            <p:nvPr/>
          </p:nvSpPr>
          <p:spPr bwMode="auto">
            <a:xfrm>
              <a:off x="1680" y="2928"/>
              <a:ext cx="576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6105" name="Line 14"/>
            <p:cNvSpPr>
              <a:spLocks noChangeShapeType="1"/>
            </p:cNvSpPr>
            <p:nvPr/>
          </p:nvSpPr>
          <p:spPr bwMode="auto">
            <a:xfrm>
              <a:off x="1152" y="2256"/>
              <a:ext cx="528" cy="4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6106" name="Line 15"/>
            <p:cNvSpPr>
              <a:spLocks noChangeShapeType="1"/>
            </p:cNvSpPr>
            <p:nvPr/>
          </p:nvSpPr>
          <p:spPr bwMode="auto">
            <a:xfrm flipH="1">
              <a:off x="384" y="2928"/>
              <a:ext cx="384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6107" name="Line 16"/>
            <p:cNvSpPr>
              <a:spLocks noChangeShapeType="1"/>
            </p:cNvSpPr>
            <p:nvPr/>
          </p:nvSpPr>
          <p:spPr bwMode="auto">
            <a:xfrm>
              <a:off x="768" y="2880"/>
              <a:ext cx="528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47" name="Text Box 19"/>
          <p:cNvSpPr txBox="1">
            <a:spLocks noChangeArrowheads="1"/>
          </p:cNvSpPr>
          <p:nvPr/>
        </p:nvSpPr>
        <p:spPr bwMode="auto">
          <a:xfrm>
            <a:off x="1061588" y="4219439"/>
            <a:ext cx="3019872" cy="315471"/>
          </a:xfrm>
          <a:prstGeom prst="rect">
            <a:avLst/>
          </a:prstGeom>
          <a:noFill/>
          <a:ln>
            <a:noFill/>
          </a:ln>
        </p:spPr>
        <p:txBody>
          <a:bodyPr wrap="square" lIns="68580" tIns="34290" rIns="68580" bIns="34290">
            <a:spAutoFit/>
          </a:bodyPr>
          <a:lstStyle>
            <a:lvl1pPr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1pPr>
            <a:lvl2pPr marL="742950" indent="-28575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2pPr>
            <a:lvl3pPr marL="1143000" indent="-22860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3pPr>
            <a:lvl4pPr marL="1600200" indent="-22860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4pPr>
            <a:lvl5pPr marL="2057400" indent="-22860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zh-CN" altLang="en-US" sz="1600" dirty="0">
                <a:ea typeface="楷体" panose="02010609060101010101" pitchFamily="49" charset="-122"/>
                <a:cs typeface="Times New Roman" panose="02020603050405020304" pitchFamily="18" charset="0"/>
              </a:rPr>
              <a:t>节点：过程编号</a:t>
            </a:r>
            <a:r>
              <a:rPr lang="en-US" altLang="zh-CN" sz="1600" dirty="0">
                <a:ea typeface="楷体" panose="02010609060101010101" pitchFamily="49" charset="-122"/>
                <a:cs typeface="Times New Roman" panose="02020603050405020304" pitchFamily="18" charset="0"/>
              </a:rPr>
              <a:t>/</a:t>
            </a:r>
            <a:r>
              <a:rPr lang="zh-CN" altLang="en-US" sz="1600" dirty="0">
                <a:ea typeface="楷体" panose="02010609060101010101" pitchFamily="49" charset="-122"/>
                <a:cs typeface="Times New Roman" panose="02020603050405020304" pitchFamily="18" charset="0"/>
              </a:rPr>
              <a:t>所需空间大小</a:t>
            </a:r>
            <a:endParaRPr lang="zh-CN" altLang="en-US" sz="1600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59" name="Rectangle 3"/>
          <p:cNvSpPr>
            <a:spLocks noGrp="1" noChangeArrowheads="1"/>
          </p:cNvSpPr>
          <p:nvPr>
            <p:ph idx="1"/>
          </p:nvPr>
        </p:nvSpPr>
        <p:spPr>
          <a:xfrm>
            <a:off x="500062" y="785812"/>
            <a:ext cx="8350288" cy="4089395"/>
          </a:xfrm>
        </p:spPr>
        <p:txBody>
          <a:bodyPr/>
          <a:lstStyle/>
          <a:p>
            <a:pPr>
              <a:lnSpc>
                <a:spcPct val="90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0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0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][</a:t>
            </a:r>
            <a:r>
              <a:rPr lang="en-US" altLang="zh-CN" sz="20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：过程调用关系矩阵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[ </a:t>
            </a:r>
            <a:r>
              <a:rPr lang="en-US" altLang="zh-CN" sz="18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][ 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 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]=1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： 表示第</a:t>
            </a:r>
            <a:r>
              <a:rPr lang="en-US" altLang="zh-CN" sz="18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个过程调用第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个过程，且第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个过程未分配内存</a:t>
            </a:r>
            <a:endParaRPr lang="zh-CN" altLang="en-US" sz="1800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[ </a:t>
            </a:r>
            <a:r>
              <a:rPr lang="en-US" altLang="zh-CN" sz="18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][ 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 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]=0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：表示第</a:t>
            </a:r>
            <a:r>
              <a:rPr lang="en-US" altLang="zh-CN" sz="18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个过程不调用第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个过程或第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个过程已分配内存</a:t>
            </a:r>
            <a:endParaRPr lang="en-US" altLang="zh-CN" sz="1800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48131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层次分配算法</a:t>
            </a:r>
            <a:endParaRPr lang="en-US" altLang="zh-CN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30725" name="Picture 18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3948" y="2032144"/>
            <a:ext cx="2636649" cy="19588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组合 39"/>
          <p:cNvGrpSpPr/>
          <p:nvPr/>
        </p:nvGrpSpPr>
        <p:grpSpPr bwMode="auto">
          <a:xfrm>
            <a:off x="5286375" y="1911896"/>
            <a:ext cx="3246065" cy="2676078"/>
            <a:chOff x="5214942" y="2143122"/>
            <a:chExt cx="3571900" cy="2729456"/>
          </a:xfrm>
        </p:grpSpPr>
        <p:sp>
          <p:nvSpPr>
            <p:cNvPr id="36" name="Rectangle 4"/>
            <p:cNvSpPr>
              <a:spLocks noChangeArrowheads="1"/>
            </p:cNvSpPr>
            <p:nvPr/>
          </p:nvSpPr>
          <p:spPr bwMode="auto">
            <a:xfrm>
              <a:off x="5214942" y="2143122"/>
              <a:ext cx="3571900" cy="249972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</a:ln>
          </p:spPr>
          <p:txBody>
            <a:bodyPr/>
            <a:lstStyle/>
            <a:p>
              <a:pPr eaLnBrk="1" hangingPunct="1">
                <a:defRPr/>
              </a:pPr>
              <a:endParaRPr lang="zh-CN" altLang="en-US" sz="1600" b="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8135" name="Text Box 19"/>
            <p:cNvSpPr txBox="1">
              <a:spLocks noChangeArrowheads="1"/>
            </p:cNvSpPr>
            <p:nvPr/>
          </p:nvSpPr>
          <p:spPr bwMode="auto">
            <a:xfrm>
              <a:off x="5214942" y="2143122"/>
              <a:ext cx="3571900" cy="27294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altLang="zh-CN" sz="1800" dirty="0">
                  <a:ea typeface="楷体" panose="02010609060101010101" pitchFamily="49" charset="-122"/>
                  <a:cs typeface="Times New Roman" panose="02020603050405020304" pitchFamily="18" charset="0"/>
                </a:rPr>
                <a:t>        1      2      3      4      5       6</a:t>
              </a:r>
              <a:endParaRPr lang="en-US" altLang="zh-CN" sz="1800" dirty="0"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>
                <a:lnSpc>
                  <a:spcPts val="1600"/>
                </a:lnSpc>
                <a:spcBef>
                  <a:spcPct val="50000"/>
                </a:spcBef>
              </a:pPr>
              <a:r>
                <a:rPr lang="en-US" altLang="zh-CN" sz="1800" dirty="0">
                  <a:ea typeface="楷体" panose="02010609060101010101" pitchFamily="49" charset="-122"/>
                  <a:cs typeface="Times New Roman" panose="02020603050405020304" pitchFamily="18" charset="0"/>
                </a:rPr>
                <a:t> 1     0      1      1      0      0       0</a:t>
              </a:r>
              <a:endParaRPr lang="en-US" altLang="zh-CN" sz="1800" dirty="0"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>
                <a:lnSpc>
                  <a:spcPts val="1600"/>
                </a:lnSpc>
                <a:spcBef>
                  <a:spcPct val="50000"/>
                </a:spcBef>
              </a:pPr>
              <a:r>
                <a:rPr lang="en-US" altLang="zh-CN" sz="1800" dirty="0">
                  <a:ea typeface="楷体" panose="02010609060101010101" pitchFamily="49" charset="-122"/>
                  <a:cs typeface="Times New Roman" panose="02020603050405020304" pitchFamily="18" charset="0"/>
                </a:rPr>
                <a:t> 2     0      0      0      1      0       1</a:t>
              </a:r>
              <a:endParaRPr lang="en-US" altLang="zh-CN" sz="1800" dirty="0"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>
                <a:lnSpc>
                  <a:spcPts val="1600"/>
                </a:lnSpc>
                <a:spcBef>
                  <a:spcPct val="50000"/>
                </a:spcBef>
              </a:pPr>
              <a:r>
                <a:rPr lang="en-US" altLang="zh-CN" sz="1800" dirty="0">
                  <a:ea typeface="楷体" panose="02010609060101010101" pitchFamily="49" charset="-122"/>
                  <a:cs typeface="Times New Roman" panose="02020603050405020304" pitchFamily="18" charset="0"/>
                </a:rPr>
                <a:t> 3     0      0      0      0      1       1</a:t>
              </a:r>
              <a:endParaRPr lang="en-US" altLang="zh-CN" sz="1800" dirty="0"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>
                <a:lnSpc>
                  <a:spcPts val="1600"/>
                </a:lnSpc>
                <a:spcBef>
                  <a:spcPct val="50000"/>
                </a:spcBef>
              </a:pPr>
              <a:r>
                <a:rPr lang="en-US" altLang="zh-CN" sz="1800" dirty="0">
                  <a:ea typeface="楷体" panose="02010609060101010101" pitchFamily="49" charset="-122"/>
                  <a:cs typeface="Times New Roman" panose="02020603050405020304" pitchFamily="18" charset="0"/>
                </a:rPr>
                <a:t> 4     0      0      0      0      0       0</a:t>
              </a:r>
              <a:endParaRPr lang="en-US" altLang="zh-CN" sz="1800" dirty="0"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>
                <a:lnSpc>
                  <a:spcPts val="1600"/>
                </a:lnSpc>
                <a:spcBef>
                  <a:spcPct val="50000"/>
                </a:spcBef>
              </a:pPr>
              <a:r>
                <a:rPr lang="en-US" altLang="zh-CN" sz="1800" dirty="0">
                  <a:ea typeface="楷体" panose="02010609060101010101" pitchFamily="49" charset="-122"/>
                  <a:cs typeface="Times New Roman" panose="02020603050405020304" pitchFamily="18" charset="0"/>
                </a:rPr>
                <a:t> 5     0      0      0      0      0       0</a:t>
              </a:r>
              <a:endParaRPr lang="en-US" altLang="zh-CN" sz="1800" dirty="0"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>
                <a:lnSpc>
                  <a:spcPts val="1600"/>
                </a:lnSpc>
                <a:spcBef>
                  <a:spcPct val="50000"/>
                </a:spcBef>
              </a:pPr>
              <a:r>
                <a:rPr lang="en-US" altLang="zh-CN" sz="1800" dirty="0">
                  <a:ea typeface="楷体" panose="02010609060101010101" pitchFamily="49" charset="-122"/>
                  <a:cs typeface="Times New Roman" panose="02020603050405020304" pitchFamily="18" charset="0"/>
                </a:rPr>
                <a:t> 6     0      0      0      0      0       0</a:t>
              </a:r>
              <a:endParaRPr lang="zh-CN" altLang="en-US" sz="1800" dirty="0"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8136" name="Line 13"/>
            <p:cNvSpPr>
              <a:spLocks noChangeShapeType="1"/>
            </p:cNvSpPr>
            <p:nvPr/>
          </p:nvSpPr>
          <p:spPr bwMode="auto">
            <a:xfrm>
              <a:off x="5214942" y="2500312"/>
              <a:ext cx="356400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050">
                <a:ea typeface="方正楷体_GB2312" charset="0"/>
              </a:endParaRPr>
            </a:p>
          </p:txBody>
        </p:sp>
        <p:sp>
          <p:nvSpPr>
            <p:cNvPr id="48137" name="Line 13"/>
            <p:cNvSpPr>
              <a:spLocks noChangeShapeType="1"/>
            </p:cNvSpPr>
            <p:nvPr/>
          </p:nvSpPr>
          <p:spPr bwMode="auto">
            <a:xfrm flipH="1">
              <a:off x="5572132" y="2143122"/>
              <a:ext cx="0" cy="24840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050">
                <a:ea typeface="方正楷体_GB2312" charset="0"/>
              </a:endParaRPr>
            </a:p>
          </p:txBody>
        </p:sp>
      </p:grpSp>
      <p:sp>
        <p:nvSpPr>
          <p:cNvPr id="10" name="矩形 9"/>
          <p:cNvSpPr/>
          <p:nvPr/>
        </p:nvSpPr>
        <p:spPr>
          <a:xfrm>
            <a:off x="435940" y="4419326"/>
            <a:ext cx="8176716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kumimoji="1"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总体思想：先为不调用其它过程的过程分配内存，再为调用的所有过程都已分配内存的过程分配内存。</a:t>
            </a:r>
            <a:endParaRPr lang="zh-CN" altLang="en-US" sz="1800" dirty="0"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249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49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249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9859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79" name="Picture 4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5988"/>
            <a:ext cx="1979613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1928813" y="627535"/>
            <a:ext cx="7035675" cy="43924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 anchor="ctr"/>
          <a:lstStyle/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初始化所有过程的基地址和分配标记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kumimoji="1" lang="en-US" altLang="zh-CN" sz="1600" dirty="0">
              <a:solidFill>
                <a:schemeClr val="accent3">
                  <a:lumMod val="50000"/>
                </a:schemeClr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每个过程 </a:t>
            </a:r>
            <a:r>
              <a:rPr kumimoji="1" lang="en-US" altLang="zh-CN" sz="1600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)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{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过程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的基地址初始化为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；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</a:rPr>
              <a:t>   </a:t>
            </a:r>
            <a:endParaRPr kumimoji="1" lang="en-US" altLang="zh-CN" sz="1600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过程</a:t>
            </a:r>
            <a:r>
              <a:rPr kumimoji="1" lang="zh-CN" altLang="en-US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ea typeface="华文楷体" panose="02010600040101010101" pitchFamily="2" charset="-122"/>
              </a:rPr>
              <a:t>标记为未分配</a:t>
            </a:r>
            <a:endParaRPr kumimoji="1" lang="en-US" altLang="zh-CN" sz="1600" dirty="0"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}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 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若还有过程未分配内存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  <a:endParaRPr kumimoji="1" lang="en-US" altLang="zh-CN" sz="1600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/*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找到可以分配的所有过程 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kumimoji="1" lang="en-US" altLang="zh-CN" sz="1600" dirty="0">
              <a:solidFill>
                <a:schemeClr val="accent3">
                  <a:lumMod val="50000"/>
                </a:schemeClr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每个过程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 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{                 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  </a:t>
            </a:r>
            <a:endParaRPr kumimoji="1" lang="en-US" altLang="zh-CN" sz="1600" dirty="0">
              <a:solidFill>
                <a:schemeClr val="accent3">
                  <a:lumMod val="50000"/>
                </a:schemeClr>
              </a:solidFill>
              <a:latin typeface="华文楷体" panose="02010600040101010101" pitchFamily="2" charset="-122"/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zh-CN" altLang="en-US" sz="1600" i="1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                </a:t>
            </a:r>
            <a:r>
              <a:rPr kumimoji="1" lang="en-US" altLang="zh-CN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if</a:t>
            </a:r>
            <a:r>
              <a:rPr kumimoji="1" lang="en-US" altLang="zh-CN" sz="1600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(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矩阵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B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的第</a:t>
            </a:r>
            <a:r>
              <a:rPr kumimoji="1" lang="en-US" altLang="zh-CN" sz="1600" i="1" dirty="0" err="1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行的和</a:t>
            </a:r>
            <a:r>
              <a:rPr kumimoji="1" lang="en-US" altLang="zh-CN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sum</a:t>
            </a: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= 0 )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 </a:t>
            </a: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{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若过程 </a:t>
            </a:r>
            <a:r>
              <a:rPr kumimoji="1" lang="en-US" altLang="zh-CN" sz="1600" i="1" dirty="0" err="1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调用的所有过程已分配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kumimoji="1" lang="en-US" altLang="zh-CN" sz="1600" dirty="0">
              <a:latin typeface="华文楷体" panose="02010600040101010101" pitchFamily="2" charset="-122"/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	       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为</a:t>
            </a:r>
            <a:r>
              <a:rPr kumimoji="1" lang="en-US" altLang="zh-CN" sz="1600" i="1" dirty="0" err="1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分配内存，标记过程</a:t>
            </a:r>
            <a:r>
              <a:rPr kumimoji="1" lang="en-US" altLang="zh-CN" sz="1600" i="1" dirty="0" err="1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已分配</a:t>
            </a:r>
            <a:r>
              <a:rPr lang="en-US" altLang="zh-CN" sz="1600" dirty="0">
                <a:ea typeface="方正楷体_GB2312" charset="0"/>
                <a:cs typeface="Times New Roman" panose="02020603050405020304" pitchFamily="18" charset="0"/>
              </a:rPr>
              <a:t>; </a:t>
            </a:r>
            <a:endParaRPr lang="en-US" altLang="zh-CN" sz="1600" dirty="0">
              <a:ea typeface="方正楷体_GB2312" charset="0"/>
              <a:cs typeface="Times New Roman" panose="02020603050405020304" pitchFamily="18" charset="0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                	        </a:t>
            </a:r>
            <a:r>
              <a:rPr kumimoji="1" lang="en-US" altLang="zh-CN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for</a:t>
            </a: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(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每个调用</a:t>
            </a:r>
            <a:r>
              <a:rPr kumimoji="1" lang="en-US" altLang="zh-CN" sz="1600" i="1" dirty="0" err="1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的过程 </a:t>
            </a:r>
            <a:r>
              <a:rPr kumimoji="1" lang="en-US" altLang="zh-CN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k</a:t>
            </a: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)   {</a:t>
            </a:r>
            <a:endParaRPr kumimoji="1" lang="en-US" altLang="zh-CN" sz="1600" dirty="0"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                               </a:t>
            </a:r>
            <a:r>
              <a:rPr kumimoji="1" lang="en-US" altLang="zh-CN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if</a:t>
            </a:r>
            <a:r>
              <a:rPr kumimoji="1" lang="zh-CN" altLang="en-US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(</a:t>
            </a:r>
            <a:r>
              <a:rPr kumimoji="1" lang="zh-CN" altLang="en-US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k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的基地址在过程</a:t>
            </a:r>
            <a:r>
              <a:rPr kumimoji="1" lang="en-US" altLang="zh-CN" sz="1600" i="1" dirty="0" err="1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的数据区</a:t>
            </a:r>
            <a:r>
              <a:rPr kumimoji="1" lang="en-US" altLang="zh-CN" sz="1600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)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endParaRPr kumimoji="1" lang="en-US" altLang="zh-CN" sz="1600" dirty="0"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	                            </a:t>
            </a:r>
            <a:r>
              <a:rPr kumimoji="1" lang="zh-CN" altLang="en-US" sz="16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设置</a:t>
            </a:r>
            <a:r>
              <a:rPr lang="en-US" altLang="zh-CN" sz="1600" i="1" dirty="0">
                <a:ea typeface="方正楷体_GB2312" charset="0"/>
                <a:cs typeface="Times New Roman" panose="02020603050405020304" pitchFamily="18" charset="0"/>
              </a:rPr>
              <a:t>k</a:t>
            </a:r>
            <a:r>
              <a:rPr lang="zh-CN" altLang="en-US" sz="1600" dirty="0">
                <a:latin typeface="+mn-ea"/>
                <a:ea typeface="+mn-ea"/>
                <a:cs typeface="Times New Roman" panose="02020603050405020304" pitchFamily="18" charset="0"/>
              </a:rPr>
              <a:t>的基地址在</a:t>
            </a:r>
            <a:r>
              <a:rPr lang="en-US" altLang="zh-CN" sz="1600" i="1" dirty="0" err="1">
                <a:ea typeface="+mn-ea"/>
                <a:cs typeface="Times New Roman" panose="02020603050405020304" pitchFamily="18" charset="0"/>
              </a:rPr>
              <a:t>i</a:t>
            </a:r>
            <a:r>
              <a:rPr lang="zh-CN" altLang="en-US" sz="1600" dirty="0">
                <a:latin typeface="+mn-ea"/>
                <a:ea typeface="+mn-ea"/>
                <a:cs typeface="Times New Roman" panose="02020603050405020304" pitchFamily="18" charset="0"/>
              </a:rPr>
              <a:t>的数据区之上</a:t>
            </a:r>
            <a:r>
              <a:rPr lang="en-US" altLang="zh-CN" sz="1600" dirty="0">
                <a:latin typeface="+mn-ea"/>
                <a:ea typeface="+mn-ea"/>
                <a:cs typeface="Times New Roman" panose="02020603050405020304" pitchFamily="18" charset="0"/>
              </a:rPr>
              <a:t> </a:t>
            </a:r>
            <a:endParaRPr lang="en-US" altLang="zh-CN" sz="1600" dirty="0">
              <a:latin typeface="+mn-ea"/>
              <a:ea typeface="+mn-ea"/>
              <a:cs typeface="Times New Roman" panose="02020603050405020304" pitchFamily="18" charset="0"/>
            </a:endParaRPr>
          </a:p>
          <a:p>
            <a:pPr>
              <a:lnSpc>
                <a:spcPts val="2000"/>
              </a:lnSpc>
              <a:defRPr/>
            </a:pP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                               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k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][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0;  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 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标记 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k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调用的</a:t>
            </a:r>
            <a:r>
              <a:rPr kumimoji="1" lang="en-US" altLang="zh-CN" sz="1600" i="1" dirty="0" err="1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已分配内存 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lang="en-US" altLang="zh-CN" sz="1600" dirty="0">
              <a:solidFill>
                <a:schemeClr val="accent3">
                  <a:lumMod val="5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>
              <a:lnSpc>
                <a:spcPts val="2000"/>
              </a:lnSpc>
              <a:defRPr/>
            </a:pP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                          }</a:t>
            </a:r>
            <a:endParaRPr kumimoji="1" lang="en-US" altLang="zh-CN" sz="1600" dirty="0">
              <a:solidFill>
                <a:srgbClr val="00B050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                  </a:t>
            </a: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}</a:t>
            </a:r>
            <a:endParaRPr kumimoji="1" lang="en-US" altLang="zh-CN" sz="1600" dirty="0">
              <a:latin typeface="华文楷体" panose="02010600040101010101" pitchFamily="2" charset="-122"/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         }</a:t>
            </a:r>
            <a:endParaRPr kumimoji="1" lang="en-US" altLang="zh-CN" sz="1600" dirty="0">
              <a:ea typeface="华文楷体" panose="02010600040101010101" pitchFamily="2" charset="-122"/>
              <a:sym typeface="Symbol" panose="05050102010706020507" pitchFamily="18" charset="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层次分配算法</a:t>
            </a:r>
            <a:endParaRPr lang="zh-CN" altLang="en-US" sz="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>
          <a:xfrm>
            <a:off x="899592" y="123478"/>
            <a:ext cx="7787208" cy="662335"/>
          </a:xfrm>
        </p:spPr>
        <p:txBody>
          <a:bodyPr/>
          <a:lstStyle/>
          <a:p>
            <a:pPr>
              <a:defRPr/>
            </a:pPr>
            <a:br>
              <a:rPr lang="en-US" altLang="zh-CN" sz="2000" i="1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</a:br>
            <a:r>
              <a:rPr lang="en-US" altLang="zh-CN" sz="2000" i="1" dirty="0">
                <a:solidFill>
                  <a:srgbClr val="0070C0"/>
                </a:solidFill>
                <a:cs typeface="Times New Roman" panose="02020603050405020304" pitchFamily="18" charset="0"/>
              </a:rPr>
              <a:t>Units</a:t>
            </a:r>
            <a:r>
              <a:rPr lang="en-US" altLang="zh-CN" sz="2000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000" i="1" dirty="0">
                <a:solidFill>
                  <a:srgbClr val="0070C0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sz="2000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：</a:t>
            </a:r>
            <a:r>
              <a:rPr lang="zh-CN" altLang="en-US" sz="2000" dirty="0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过程所需内存数量</a:t>
            </a:r>
            <a:br>
              <a:rPr lang="en-US" altLang="zh-CN" sz="2000" dirty="0">
                <a:solidFill>
                  <a:schemeClr val="tx1"/>
                </a:solidFill>
                <a:cs typeface="Times New Roman" panose="02020603050405020304" pitchFamily="18" charset="0"/>
              </a:rPr>
            </a:br>
            <a:r>
              <a:rPr lang="en-US" altLang="zh-CN" sz="2000" i="1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base</a:t>
            </a:r>
            <a:r>
              <a:rPr lang="en-US" altLang="zh-CN" sz="2000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2000" i="1" dirty="0" err="1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2000" i="1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2000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]:</a:t>
            </a:r>
            <a:r>
              <a:rPr lang="zh-CN" altLang="en-US" sz="2000" dirty="0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第</a:t>
            </a:r>
            <a:r>
              <a:rPr lang="en-US" altLang="zh-CN" sz="2000" i="1" dirty="0" err="1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i</a:t>
            </a:r>
            <a:r>
              <a:rPr lang="zh-CN" altLang="en-US" sz="2000" dirty="0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个过程局部数据区的</a:t>
            </a:r>
            <a:r>
              <a:rPr lang="zh-CN" altLang="en-US" sz="20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基地址</a:t>
            </a:r>
            <a:br>
              <a:rPr lang="zh-CN" altLang="en-US" sz="2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</a:br>
            <a:r>
              <a:rPr lang="en-US" altLang="zh-CN" sz="2000" i="1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allocated</a:t>
            </a:r>
            <a:r>
              <a:rPr lang="en-US" altLang="zh-CN" sz="2000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2000" i="1" dirty="0" err="1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2000" i="1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2000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]:</a:t>
            </a:r>
            <a:r>
              <a:rPr lang="zh-CN" altLang="en-US" sz="2000" dirty="0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第</a:t>
            </a:r>
            <a:r>
              <a:rPr lang="en-US" altLang="zh-CN" sz="2000" i="1" dirty="0" err="1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i</a:t>
            </a:r>
            <a:r>
              <a:rPr lang="zh-CN" altLang="en-US" sz="2000" dirty="0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个过程局部数据区</a:t>
            </a:r>
            <a:r>
              <a:rPr lang="zh-CN" altLang="en-US" sz="20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是否分配</a:t>
            </a:r>
            <a:r>
              <a:rPr lang="zh-CN" altLang="en-US" sz="2000" dirty="0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的标志</a:t>
            </a:r>
            <a:br>
              <a:rPr lang="zh-CN" altLang="en-US" sz="2000" dirty="0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</a:br>
            <a:endParaRPr lang="zh-CN" altLang="en-US" sz="2000" dirty="0">
              <a:solidFill>
                <a:schemeClr val="tx1"/>
              </a:solidFill>
              <a:latin typeface="+mn-ea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50179" name="Picture 4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5988"/>
            <a:ext cx="1979613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1928813" y="987425"/>
            <a:ext cx="7164387" cy="38877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 anchor="ctr"/>
          <a:lstStyle/>
          <a:p>
            <a:pPr>
              <a:lnSpc>
                <a:spcPts val="2000"/>
              </a:lnSpc>
              <a:defRPr/>
            </a:pPr>
            <a:r>
              <a:rPr lang="en-US" altLang="zh-CN" sz="18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void  </a:t>
            </a:r>
            <a:r>
              <a:rPr lang="en-US" altLang="zh-CN" sz="18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MakeFortranBlockAllocated</a:t>
            </a:r>
            <a:r>
              <a:rPr lang="en-US" altLang="zh-CN" sz="18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int</a:t>
            </a:r>
            <a:r>
              <a:rPr kumimoji="1"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1"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*</a:t>
            </a:r>
            <a:r>
              <a:rPr kumimoji="1" lang="en-US" altLang="zh-CN" sz="18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Units, int </a:t>
            </a:r>
            <a:r>
              <a:rPr kumimoji="1"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*</a:t>
            </a:r>
            <a:r>
              <a:rPr kumimoji="1" lang="en-US" altLang="zh-CN" sz="18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base, int  </a:t>
            </a:r>
            <a:r>
              <a:rPr kumimoji="1" lang="en-US" altLang="zh-CN" sz="1800" i="1" dirty="0" err="1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NoOfBlocks</a:t>
            </a:r>
            <a:r>
              <a:rPr kumimoji="1" lang="en-US" altLang="zh-CN" sz="18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zh-CN" sz="18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)</a:t>
            </a:r>
            <a:endParaRPr lang="en-US" altLang="zh-CN" sz="1800" dirty="0">
              <a:solidFill>
                <a:srgbClr val="000000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8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{ </a:t>
            </a:r>
            <a:r>
              <a:rPr kumimoji="1" lang="en-US" altLang="zh-CN" sz="18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NoOfBlocks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: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过程总数 *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int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, j, k, Sum; 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int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*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allocated;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过程是否已分配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allocated 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int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 )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malloc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sizeof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int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 *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NoOfBlocks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＜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NoOfBlocks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++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初始化 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base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和 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allocated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     {    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base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= 0;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 allocated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= 0;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     }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j 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 j 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＜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NoOfBlocks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j++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  <a:endParaRPr kumimoji="1" lang="en-US" altLang="zh-CN" sz="1600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＜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NoOfBlocks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++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  <a:endParaRPr kumimoji="1" lang="en-US" altLang="zh-CN" sz="1600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{    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Sum 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0;</a:t>
            </a:r>
            <a:endParaRPr kumimoji="1" lang="en-US" altLang="zh-CN" sz="1600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     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(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k 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 k 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＜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NoOfBlocks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k++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          Sum += B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[ 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k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];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计算</a:t>
            </a:r>
            <a:r>
              <a:rPr kumimoji="1" lang="en-US" altLang="zh-CN" sz="1600" i="1" dirty="0" err="1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调用的还未分配内存的过程数量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/>
          <p:cNvSpPr txBox="1">
            <a:spLocks noChangeArrowheads="1"/>
          </p:cNvSpPr>
          <p:nvPr/>
        </p:nvSpPr>
        <p:spPr bwMode="auto">
          <a:xfrm>
            <a:off x="2071688" y="285750"/>
            <a:ext cx="6858000" cy="46609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 anchor="ctr"/>
          <a:lstStyle/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     if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( !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Sum 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&amp;&amp;  !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allocated</a:t>
            </a:r>
            <a:r>
              <a:rPr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[ </a:t>
            </a:r>
            <a:r>
              <a:rPr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]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) 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  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cs typeface="Times New Roman" panose="02020603050405020304" pitchFamily="18" charset="0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     {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/*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Sum=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0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表示过程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不调用未分配内存的过程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;</a:t>
            </a:r>
            <a:endParaRPr kumimoji="1" lang="en-US" altLang="zh-CN" sz="1600" dirty="0">
              <a:solidFill>
                <a:srgbClr val="00B050"/>
              </a:solidFill>
              <a:ea typeface="华文楷体" panose="02010600040101010101" pitchFamily="2" charset="-122"/>
              <a:cs typeface="Times New Roman" panose="02020603050405020304" pitchFamily="18" charset="0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            allocated 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]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=0;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表示过程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</a:t>
            </a:r>
            <a:r>
              <a:rPr kumimoji="1" lang="en-US" altLang="zh-CN" sz="1600" i="1" dirty="0" err="1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未分配内存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，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接下来为 </a:t>
            </a:r>
            <a:r>
              <a:rPr kumimoji="1" lang="en-US" altLang="zh-CN" sz="1600" i="1" dirty="0" err="1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分配内存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allocated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= 1;  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printf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 </a:t>
            </a:r>
            <a:r>
              <a:rPr lang="en-US" altLang="zh-CN" sz="1600" dirty="0">
                <a:solidFill>
                  <a:srgbClr val="000000"/>
                </a:solidFill>
                <a:ea typeface="楷体" panose="02010609060101010101" pitchFamily="49" charset="-122"/>
              </a:rPr>
              <a:t>′′ %</a:t>
            </a:r>
            <a:r>
              <a:rPr lang="en-US" altLang="zh-CN" sz="1600" i="1" dirty="0">
                <a:solidFill>
                  <a:srgbClr val="000000"/>
                </a:solidFill>
                <a:ea typeface="楷体" panose="02010609060101010101" pitchFamily="49" charset="-122"/>
              </a:rPr>
              <a:t>d:</a:t>
            </a:r>
            <a:r>
              <a:rPr lang="en-US" altLang="zh-CN" sz="1600" dirty="0">
                <a:solidFill>
                  <a:srgbClr val="000000"/>
                </a:solidFill>
                <a:ea typeface="楷体" panose="02010609060101010101" pitchFamily="49" charset="-122"/>
              </a:rPr>
              <a:t> %</a:t>
            </a:r>
            <a:r>
              <a:rPr lang="en-US" altLang="zh-CN" sz="1600" i="1" dirty="0">
                <a:solidFill>
                  <a:srgbClr val="000000"/>
                </a:solidFill>
                <a:ea typeface="楷体" panose="02010609060101010101" pitchFamily="49" charset="-122"/>
              </a:rPr>
              <a:t>d </a:t>
            </a:r>
            <a:r>
              <a:rPr lang="en-US" altLang="zh-CN" sz="1600" b="0" dirty="0">
                <a:solidFill>
                  <a:srgbClr val="000000"/>
                </a:solidFill>
                <a:ea typeface="楷体" panose="02010609060101010101" pitchFamily="49" charset="-122"/>
              </a:rPr>
              <a:t>-</a:t>
            </a:r>
            <a:r>
              <a:rPr lang="en-US" altLang="zh-CN" sz="1600" dirty="0">
                <a:solidFill>
                  <a:srgbClr val="000000"/>
                </a:solidFill>
                <a:ea typeface="楷体" panose="02010609060101010101" pitchFamily="49" charset="-122"/>
              </a:rPr>
              <a:t>%</a:t>
            </a:r>
            <a:r>
              <a:rPr lang="en-US" altLang="zh-CN" sz="1600" i="1" dirty="0">
                <a:solidFill>
                  <a:srgbClr val="000000"/>
                </a:solidFill>
                <a:ea typeface="楷体" panose="02010609060101010101" pitchFamily="49" charset="-122"/>
              </a:rPr>
              <a:t>d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</a:t>
            </a:r>
            <a:r>
              <a:rPr lang="en-US" altLang="zh-CN" sz="1600" i="1" dirty="0">
                <a:solidFill>
                  <a:srgbClr val="000000"/>
                </a:solidFill>
                <a:ea typeface="楷体" panose="02010609060101010101" pitchFamily="49" charset="-122"/>
              </a:rPr>
              <a:t>n</a:t>
            </a:r>
            <a:r>
              <a:rPr lang="en-US" altLang="zh-CN" sz="1600" dirty="0">
                <a:solidFill>
                  <a:srgbClr val="000000"/>
                </a:solidFill>
                <a:ea typeface="楷体" panose="02010609060101010101" pitchFamily="49" charset="-122"/>
              </a:rPr>
              <a:t>′′,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,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base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],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base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]+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Units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</a:t>
            </a:r>
            <a:r>
              <a:rPr kumimoji="1" lang="en-US" altLang="zh-CN" sz="1600" b="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-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1 ) ;</a:t>
            </a:r>
            <a:endParaRPr kumimoji="1" lang="en-US" altLang="zh-CN" sz="1600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k 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k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＜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NoOfBlocks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k++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if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B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k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][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  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 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b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k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][</a:t>
            </a:r>
            <a:r>
              <a:rPr lang="en-US" altLang="zh-CN" sz="1600" i="1" dirty="0" err="1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]!=0  </a:t>
            </a:r>
            <a:r>
              <a:rPr lang="zh-CN" altLang="en-US" sz="1600" dirty="0">
                <a:solidFill>
                  <a:srgbClr val="00B050"/>
                </a:solidFill>
                <a:latin typeface="+mn-ea"/>
                <a:ea typeface="+mn-ea"/>
                <a:cs typeface="Times New Roman" panose="02020603050405020304" pitchFamily="18" charset="0"/>
              </a:rPr>
              <a:t>表示 过程</a:t>
            </a:r>
            <a:r>
              <a:rPr lang="en-US" altLang="zh-CN" sz="1600" dirty="0">
                <a:solidFill>
                  <a:srgbClr val="00B050"/>
                </a:solidFill>
                <a:latin typeface="+mn-ea"/>
                <a:ea typeface="+mn-ea"/>
                <a:cs typeface="Times New Roman" panose="02020603050405020304" pitchFamily="18" charset="0"/>
              </a:rPr>
              <a:t> </a:t>
            </a:r>
            <a:r>
              <a:rPr lang="en-US" altLang="zh-CN" sz="1600" i="1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k</a:t>
            </a:r>
            <a:r>
              <a:rPr lang="zh-CN" altLang="en-US" sz="1600" dirty="0">
                <a:solidFill>
                  <a:srgbClr val="00B050"/>
                </a:solidFill>
                <a:latin typeface="+mn-ea"/>
                <a:ea typeface="+mn-ea"/>
                <a:cs typeface="Times New Roman" panose="02020603050405020304" pitchFamily="18" charset="0"/>
              </a:rPr>
              <a:t>调用过程</a:t>
            </a:r>
            <a:r>
              <a:rPr lang="en-US" altLang="zh-CN" sz="1600" dirty="0">
                <a:solidFill>
                  <a:srgbClr val="00B050"/>
                </a:solidFill>
                <a:latin typeface="+mn-ea"/>
                <a:ea typeface="+mn-ea"/>
                <a:cs typeface="Times New Roman" panose="02020603050405020304" pitchFamily="18" charset="0"/>
              </a:rPr>
              <a:t>  </a:t>
            </a:r>
            <a:r>
              <a:rPr lang="en-US" altLang="zh-CN" sz="1600" i="1" dirty="0" err="1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*/</a:t>
            </a:r>
            <a:endParaRPr kumimoji="1" lang="en-US" altLang="zh-CN" sz="1600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{ 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由于过程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k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调用过程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</a:t>
            </a:r>
            <a:r>
              <a:rPr kumimoji="1" lang="en-US" altLang="zh-CN" sz="1600" i="1" dirty="0" err="1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, 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过程</a:t>
            </a:r>
            <a:r>
              <a:rPr kumimoji="1" lang="zh-CN" altLang="en-US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k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必须在过程 </a:t>
            </a:r>
            <a:r>
              <a:rPr kumimoji="1" lang="en-US" altLang="zh-CN" sz="1600" i="1" dirty="0" err="1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之后分配内存且过程</a:t>
            </a:r>
            <a:r>
              <a:rPr lang="en-US" altLang="zh-CN" sz="1600" i="1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 k </a:t>
            </a:r>
            <a:r>
              <a:rPr lang="zh-CN" altLang="en-US" sz="1600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的起始地址必须大于过程</a:t>
            </a:r>
            <a:r>
              <a:rPr lang="en-US" altLang="zh-CN" sz="1600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  </a:t>
            </a:r>
            <a:r>
              <a:rPr lang="en-US" altLang="zh-CN" sz="1600" i="1" dirty="0" err="1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的起始地址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     if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base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k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＜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base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+ 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Units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  <a:endParaRPr kumimoji="1" lang="en-US" altLang="zh-CN" sz="1600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     base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k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=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base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</a:t>
            </a:r>
            <a:r>
              <a:rPr lang="en-US" altLang="zh-CN" sz="1600" b="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+ 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Units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];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     B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k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][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0;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标记所有的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B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k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][</a:t>
            </a:r>
            <a:r>
              <a:rPr lang="en-US" altLang="zh-CN" sz="1600" i="1" dirty="0" err="1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] </a:t>
            </a:r>
            <a:r>
              <a:rPr lang="zh-CN" altLang="en-US" sz="1600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为调用已分配内存过程 </a:t>
            </a:r>
            <a:r>
              <a:rPr lang="en-US" altLang="zh-CN" sz="1600" i="1" dirty="0" err="1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kumimoji="1" lang="en-US" altLang="zh-CN" sz="16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            }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        }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    }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free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allocated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);</a:t>
            </a:r>
            <a:endParaRPr kumimoji="1" lang="en-US" altLang="zh-CN" sz="1600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}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</p:txBody>
      </p:sp>
      <p:pic>
        <p:nvPicPr>
          <p:cNvPr id="52227" name="Picture 4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5988"/>
            <a:ext cx="1979613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8" name="矩形 7"/>
          <p:cNvSpPr/>
          <p:nvPr/>
        </p:nvSpPr>
        <p:spPr>
          <a:xfrm>
            <a:off x="4500563" y="1357313"/>
            <a:ext cx="4357687" cy="3147015"/>
          </a:xfrm>
          <a:prstGeom prst="rect">
            <a:avLst/>
          </a:prstGeom>
          <a:ln w="12700">
            <a:noFill/>
          </a:ln>
        </p:spPr>
        <p:txBody>
          <a:bodyPr lIns="68580" tIns="34290" rIns="68580" bIns="34290">
            <a:spAutoFit/>
          </a:bodyPr>
          <a:lstStyle/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7.1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存储组织</a:t>
            </a:r>
            <a:endParaRPr lang="zh-CN" altLang="en-US" sz="2500" b="0" dirty="0">
              <a:solidFill>
                <a:prstClr val="white">
                  <a:lumMod val="50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7.2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静态存储分配</a:t>
            </a:r>
            <a:endParaRPr lang="zh-CN" altLang="en-US" sz="2500" b="0" dirty="0">
              <a:solidFill>
                <a:prstClr val="white">
                  <a:lumMod val="50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7.3 </a:t>
            </a:r>
            <a:r>
              <a:rPr lang="zh-CN" altLang="en-US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栈式存储分配</a:t>
            </a:r>
            <a:endParaRPr lang="zh-CN" altLang="en-US" sz="2500" b="0" dirty="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7.4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非局部数据的访问</a:t>
            </a:r>
            <a:endParaRPr lang="zh-CN" altLang="en-US" sz="2500" b="0" dirty="0">
              <a:solidFill>
                <a:prstClr val="white">
                  <a:lumMod val="50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7.5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参数传递</a:t>
            </a:r>
            <a:endParaRPr lang="en-US" altLang="zh-CN" sz="2500" b="0" dirty="0">
              <a:solidFill>
                <a:prstClr val="white">
                  <a:lumMod val="50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7.6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符号表</a:t>
            </a:r>
            <a:endParaRPr lang="zh-CN" altLang="en-US" sz="2500" b="0" dirty="0">
              <a:solidFill>
                <a:prstClr val="white">
                  <a:lumMod val="50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</p:txBody>
      </p:sp>
      <p:pic>
        <p:nvPicPr>
          <p:cNvPr id="54276" name="Picture 7" descr="E:\工大编译\ppt\制作\0330e9c554c768200000158fc50d53d.jpg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矩形 15"/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提纲</a:t>
            </a: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>
          <a:xfrm>
            <a:off x="357188" y="714375"/>
            <a:ext cx="8358187" cy="4017615"/>
          </a:xfrm>
        </p:spPr>
        <p:txBody>
          <a:bodyPr/>
          <a:lstStyle/>
          <a:p>
            <a:pPr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使用过程、函数或方法作为代码单元的语言，它们的编译器几乎都把</a:t>
            </a:r>
            <a:r>
              <a:rPr kumimoji="1" lang="en-US" altLang="zh-CN" b="1" dirty="0">
                <a:solidFill>
                  <a:srgbClr val="000000"/>
                </a:solidFill>
                <a:cs typeface="Times New Roman" panose="02020603050405020304" pitchFamily="18" charset="0"/>
                <a:sym typeface="Symbol" panose="05050102010706020507" pitchFamily="18" charset="2"/>
              </a:rPr>
              <a:t>(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至少一部分的</a:t>
            </a:r>
            <a:r>
              <a:rPr kumimoji="1" lang="en-US" altLang="zh-CN" b="1" dirty="0">
                <a:solidFill>
                  <a:srgbClr val="000000"/>
                </a:solidFill>
                <a:cs typeface="Times New Roman" panose="02020603050405020304" pitchFamily="18" charset="0"/>
                <a:sym typeface="Symbol" panose="05050102010706020507" pitchFamily="18" charset="2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运行时刻存储以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栈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的形式进行管理，称为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栈式存储分配</a:t>
            </a:r>
            <a:endParaRPr lang="zh-CN" altLang="en-US" b="1" dirty="0">
              <a:solidFill>
                <a:srgbClr val="FF0000"/>
              </a:solidFill>
              <a:cs typeface="Times New Roman" panose="02020603050405020304" pitchFamily="18" charset="0"/>
            </a:endParaRPr>
          </a:p>
          <a:p>
            <a:pPr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分配策略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：当一个过程被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调用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时，该过程的活动记录被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压入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栈；当过程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结束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时，该活动记录被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弹出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栈，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活动记录也被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称为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栈帧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这种安排允许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活跃时段不交叠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的多个过程调用之间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共享空间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，而且非局部变量的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相对地址总是固定的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，和过程调用序列无关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5632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7.3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栈式存储分配</a:t>
            </a:r>
            <a:endParaRPr lang="en-US" altLang="zh-CN" sz="3000">
              <a:solidFill>
                <a:schemeClr val="tx1"/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267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14375"/>
            <a:ext cx="8320088" cy="4102100"/>
          </a:xfrm>
        </p:spPr>
        <p:txBody>
          <a:bodyPr/>
          <a:lstStyle/>
          <a:p>
            <a:pPr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用来描述程序运行期间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控制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进入和离开各个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的情况的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树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称为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活动树</a:t>
            </a:r>
            <a:endParaRPr lang="en-US" altLang="zh-CN" sz="2500" b="1" i="1" dirty="0">
              <a:solidFill>
                <a:srgbClr val="FF0000"/>
              </a:solidFill>
              <a:cs typeface="Times New Roman" panose="02020603050405020304" pitchFamily="18" charset="0"/>
            </a:endParaRPr>
          </a:p>
          <a:p>
            <a:pPr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树中的每个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结点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对应于一个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。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根结点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是启动程序执行的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main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过程的活动</a:t>
            </a:r>
            <a:endParaRPr lang="en-US" altLang="zh-CN" sz="25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在表示过程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的某个活动的结点上，其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子结点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对应于被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的这次活动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调用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的各个过程的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。按照这些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活动被调用的顺序，自左向右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地显示它们。一个子结点必须在其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右兄弟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结点的活动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开始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之前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结束</a:t>
            </a:r>
            <a:endParaRPr lang="en-US" altLang="zh-CN" sz="2500" b="1" dirty="0">
              <a:solidFill>
                <a:srgbClr val="0070C0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8371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活动树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5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5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5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5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5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5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0" name="Rectangle 2"/>
          <p:cNvSpPr txBox="1">
            <a:spLocks noChangeArrowheads="1"/>
          </p:cNvSpPr>
          <p:nvPr/>
        </p:nvSpPr>
        <p:spPr bwMode="auto">
          <a:xfrm>
            <a:off x="247650" y="792163"/>
            <a:ext cx="8572500" cy="444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int   a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[11]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;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    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全局数组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*/</a:t>
            </a:r>
            <a:endParaRPr kumimoji="1" lang="en-US" altLang="zh-CN" sz="1600" i="1" dirty="0">
              <a:solidFill>
                <a:schemeClr val="accent3">
                  <a:lumMod val="50000"/>
                </a:schemeClr>
              </a:solidFill>
              <a:ea typeface="方正楷体_GB2312" charset="0"/>
              <a:cs typeface="Times New Roman" panose="02020603050405020304" pitchFamily="18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void   </a:t>
            </a:r>
            <a:r>
              <a:rPr kumimoji="1" lang="en-US" altLang="zh-CN" sz="1600" i="1" dirty="0" err="1">
                <a:solidFill>
                  <a:srgbClr val="C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readArray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( ) 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/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*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将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9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个整数读入到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a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[1]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,…,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a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[9]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中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*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/</a:t>
            </a:r>
            <a:endParaRPr kumimoji="1" lang="en-US" altLang="zh-CN" sz="1600" i="1" dirty="0">
              <a:solidFill>
                <a:schemeClr val="accent3">
                  <a:lumMod val="50000"/>
                </a:schemeClr>
              </a:solidFill>
              <a:ea typeface="方正楷体_GB2312" charset="0"/>
              <a:cs typeface="Times New Roman" panose="02020603050405020304" pitchFamily="18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{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        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int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 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;</a:t>
            </a:r>
            <a:endParaRPr kumimoji="1" lang="en-US" altLang="zh-CN" sz="1600" i="1" dirty="0">
              <a:solidFill>
                <a:srgbClr val="000000"/>
              </a:solidFill>
              <a:ea typeface="方正楷体_GB2312" charset="0"/>
              <a:cs typeface="Times New Roman" panose="02020603050405020304" pitchFamily="18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          …</a:t>
            </a:r>
            <a:endParaRPr kumimoji="1" lang="en-US" altLang="zh-CN" sz="1600" i="1" dirty="0">
              <a:solidFill>
                <a:srgbClr val="000000"/>
              </a:solidFill>
              <a:ea typeface="方正楷体_GB2312" charset="0"/>
              <a:cs typeface="Times New Roman" panose="02020603050405020304" pitchFamily="18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}</a:t>
            </a:r>
            <a:endParaRPr kumimoji="1" lang="en-US" altLang="zh-CN" sz="1600" dirty="0">
              <a:solidFill>
                <a:srgbClr val="000000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int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</a:t>
            </a:r>
            <a:r>
              <a:rPr kumimoji="1" lang="en-US" altLang="zh-CN" sz="1600" i="1" dirty="0">
                <a:solidFill>
                  <a:srgbClr val="C00000"/>
                </a:solidFill>
                <a:ea typeface="方正楷体_GB2312" charset="0"/>
                <a:sym typeface="Symbol" panose="05050102010706020507" pitchFamily="18" charset="2"/>
              </a:rPr>
              <a:t>partition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int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m,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int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n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) </a:t>
            </a:r>
            <a:endParaRPr kumimoji="1" lang="en-US" altLang="zh-CN" sz="1600" i="1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{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         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sym typeface="Symbol" panose="05050102010706020507" pitchFamily="18" charset="2"/>
              </a:rPr>
              <a:t>/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sym typeface="Symbol" panose="05050102010706020507" pitchFamily="18" charset="2"/>
              </a:rPr>
              <a:t>*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选择一个分割值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v</a:t>
            </a:r>
            <a:r>
              <a:rPr kumimoji="1" lang="zh-CN" altLang="en-US" sz="1600" i="1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，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划分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sym typeface="Symbol" panose="05050102010706020507" pitchFamily="18" charset="2"/>
              </a:rPr>
              <a:t>a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[</a:t>
            </a:r>
            <a:r>
              <a:rPr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m…n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]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，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使得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sym typeface="Symbol" panose="05050102010706020507" pitchFamily="18" charset="2"/>
              </a:rPr>
              <a:t>a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[</a:t>
            </a:r>
            <a:r>
              <a:rPr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m…</a:t>
            </a:r>
            <a:r>
              <a:rPr lang="en-US" altLang="zh-CN" sz="1600" i="1" dirty="0">
                <a:solidFill>
                  <a:srgbClr val="C00000"/>
                </a:solidFill>
                <a:ea typeface="方正楷体_GB2312" charset="0"/>
              </a:rPr>
              <a:t>p-</a:t>
            </a:r>
            <a:r>
              <a:rPr lang="en-US" altLang="zh-CN" sz="1600" dirty="0">
                <a:solidFill>
                  <a:srgbClr val="C00000"/>
                </a:solidFill>
                <a:ea typeface="方正楷体_GB2312" charset="0"/>
              </a:rPr>
              <a:t>1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]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小于</a:t>
            </a:r>
            <a:r>
              <a:rPr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v,  a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[</a:t>
            </a:r>
            <a:r>
              <a:rPr lang="en-US" altLang="zh-CN" sz="1600" i="1" dirty="0">
                <a:solidFill>
                  <a:srgbClr val="C00000"/>
                </a:solidFill>
                <a:ea typeface="方正楷体_GB2312" charset="0"/>
              </a:rPr>
              <a:t>p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]=</a:t>
            </a:r>
            <a:r>
              <a:rPr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 </a:t>
            </a:r>
            <a:r>
              <a:rPr lang="en-US" altLang="zh-CN" sz="1600" i="1" dirty="0">
                <a:solidFill>
                  <a:srgbClr val="C00000"/>
                </a:solidFill>
                <a:ea typeface="方正楷体_GB2312" charset="0"/>
              </a:rPr>
              <a:t>v</a:t>
            </a:r>
            <a:r>
              <a:rPr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 , </a:t>
            </a:r>
            <a:endParaRPr lang="en-US" altLang="zh-CN" sz="1600" i="1" dirty="0">
              <a:solidFill>
                <a:schemeClr val="accent3">
                  <a:lumMod val="50000"/>
                </a:schemeClr>
              </a:solidFill>
              <a:ea typeface="方正楷体_GB2312" charset="0"/>
            </a:endParaRPr>
          </a:p>
          <a:p>
            <a:pPr>
              <a:lnSpc>
                <a:spcPts val="1400"/>
              </a:lnSpc>
            </a:pPr>
            <a:r>
              <a:rPr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               a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[</a:t>
            </a:r>
            <a:r>
              <a:rPr lang="en-US" altLang="zh-CN" sz="1600" i="1" dirty="0">
                <a:solidFill>
                  <a:srgbClr val="C00000"/>
                </a:solidFill>
                <a:ea typeface="方正楷体_GB2312" charset="0"/>
              </a:rPr>
              <a:t>p+</a:t>
            </a:r>
            <a:r>
              <a:rPr lang="en-US" altLang="zh-CN" sz="1600" dirty="0">
                <a:solidFill>
                  <a:srgbClr val="C00000"/>
                </a:solidFill>
                <a:ea typeface="方正楷体_GB2312" charset="0"/>
              </a:rPr>
              <a:t>1</a:t>
            </a:r>
            <a:r>
              <a:rPr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…n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]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大于等于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sym typeface="Symbol" panose="05050102010706020507" pitchFamily="18" charset="2"/>
              </a:rPr>
              <a:t>v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。返回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>
                <a:solidFill>
                  <a:srgbClr val="C00000"/>
                </a:solidFill>
                <a:ea typeface="方正楷体_GB2312" charset="0"/>
                <a:sym typeface="Symbol" panose="05050102010706020507" pitchFamily="18" charset="2"/>
              </a:rPr>
              <a:t>p 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sym typeface="Symbol" panose="05050102010706020507" pitchFamily="18" charset="2"/>
              </a:rPr>
              <a:t>*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sym typeface="Symbol" panose="05050102010706020507" pitchFamily="18" charset="2"/>
              </a:rPr>
              <a:t>/</a:t>
            </a:r>
            <a:endParaRPr kumimoji="1" lang="en-US" altLang="zh-CN" sz="1600" dirty="0">
              <a:solidFill>
                <a:schemeClr val="accent3">
                  <a:lumMod val="50000"/>
                </a:schemeClr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…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</a:t>
            </a:r>
            <a:endParaRPr kumimoji="1" lang="en-US" altLang="zh-CN" sz="1600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} </a:t>
            </a:r>
            <a:endParaRPr kumimoji="1" lang="en-US" altLang="zh-CN" sz="1600" dirty="0">
              <a:solidFill>
                <a:srgbClr val="000000"/>
              </a:solidFill>
              <a:ea typeface="方正楷体_GB2312" charset="0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void   </a:t>
            </a:r>
            <a:r>
              <a:rPr kumimoji="1" lang="en-US" altLang="zh-CN" sz="1600" i="1" dirty="0">
                <a:solidFill>
                  <a:srgbClr val="C00000"/>
                </a:solidFill>
                <a:ea typeface="方正楷体_GB2312" charset="0"/>
                <a:sym typeface="Symbol" panose="05050102010706020507" pitchFamily="18" charset="2"/>
              </a:rPr>
              <a:t>quicksort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int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m,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int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n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) </a:t>
            </a:r>
            <a:endParaRPr kumimoji="1" lang="en-US" altLang="zh-CN" sz="1600" i="1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{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</a:rPr>
              <a:t>         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</a:rPr>
              <a:t>int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</a:rPr>
              <a:t>  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</a:rPr>
              <a:t>;           </a:t>
            </a:r>
            <a:endParaRPr kumimoji="1" lang="en-US" altLang="zh-CN" sz="1600" i="1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if 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n</a:t>
            </a:r>
            <a:r>
              <a:rPr kumimoji="1" lang="zh-CN" altLang="en-US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＞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m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) { </a:t>
            </a:r>
            <a:endParaRPr kumimoji="1" lang="en-US" altLang="zh-CN" sz="1600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   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=</a:t>
            </a:r>
            <a:r>
              <a:rPr kumimoji="1" lang="en-US" altLang="zh-CN" sz="1600" i="1" dirty="0">
                <a:solidFill>
                  <a:srgbClr val="0070C0"/>
                </a:solidFill>
                <a:ea typeface="方正楷体_GB2312" charset="0"/>
                <a:sym typeface="Symbol" panose="05050102010706020507" pitchFamily="18" charset="2"/>
              </a:rPr>
              <a:t>partition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(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m,  n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);</a:t>
            </a:r>
            <a:endParaRPr kumimoji="1" lang="en-US" altLang="zh-CN" sz="1600" i="1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     </a:t>
            </a:r>
            <a:r>
              <a:rPr kumimoji="1" lang="en-US" altLang="zh-CN" sz="1600" i="1" dirty="0">
                <a:solidFill>
                  <a:srgbClr val="0070C0"/>
                </a:solidFill>
                <a:ea typeface="方正楷体_GB2312" charset="0"/>
                <a:sym typeface="Symbol" panose="05050102010706020507" pitchFamily="18" charset="2"/>
              </a:rPr>
              <a:t>quicksort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(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m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,  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-1);</a:t>
            </a:r>
            <a:endParaRPr kumimoji="1" lang="en-US" altLang="zh-CN" sz="1600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     </a:t>
            </a:r>
            <a:r>
              <a:rPr kumimoji="1" lang="en-US" altLang="zh-CN" sz="1600" i="1" dirty="0">
                <a:solidFill>
                  <a:srgbClr val="0070C0"/>
                </a:solidFill>
                <a:ea typeface="方正楷体_GB2312" charset="0"/>
                <a:sym typeface="Symbol" panose="05050102010706020507" pitchFamily="18" charset="2"/>
              </a:rPr>
              <a:t>quicksort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(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+1,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n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);</a:t>
            </a:r>
            <a:endParaRPr kumimoji="1" lang="en-US" altLang="zh-CN" sz="1600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          }</a:t>
            </a:r>
            <a:endParaRPr kumimoji="1" lang="en-US" altLang="zh-CN" sz="1600" dirty="0">
              <a:solidFill>
                <a:srgbClr val="000000"/>
              </a:solidFill>
              <a:ea typeface="方正楷体_GB2312" charset="0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}</a:t>
            </a:r>
            <a:endParaRPr kumimoji="1" lang="en-US" altLang="zh-CN" sz="1600" dirty="0">
              <a:solidFill>
                <a:srgbClr val="000000"/>
              </a:solidFill>
              <a:ea typeface="方正楷体_GB2312" charset="0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C00000"/>
                </a:solidFill>
                <a:ea typeface="方正楷体_GB2312" charset="0"/>
                <a:sym typeface="Symbol" panose="05050102010706020507" pitchFamily="18" charset="2"/>
              </a:rPr>
              <a:t>main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( )  </a:t>
            </a:r>
            <a:endParaRPr kumimoji="1" lang="en-US" altLang="zh-CN" sz="1600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{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</a:t>
            </a:r>
            <a:r>
              <a:rPr kumimoji="1" lang="en-US" altLang="zh-CN" sz="1600" i="1" dirty="0" err="1">
                <a:solidFill>
                  <a:srgbClr val="0070C0"/>
                </a:solidFill>
                <a:ea typeface="方正楷体_GB2312" charset="0"/>
                <a:sym typeface="Symbol" panose="05050102010706020507" pitchFamily="18" charset="2"/>
              </a:rPr>
              <a:t>readArray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( );</a:t>
            </a:r>
            <a:endParaRPr kumimoji="1" lang="en-US" altLang="zh-CN" sz="1600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a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</a:rPr>
              <a:t>[0] = -9999;</a:t>
            </a:r>
            <a:endParaRPr lang="en-US" altLang="zh-CN" sz="1600" dirty="0">
              <a:solidFill>
                <a:srgbClr val="000000"/>
              </a:solidFill>
              <a:ea typeface="方正楷体_GB2312" charset="0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a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</a:rPr>
              <a:t>[10] = 9999;</a:t>
            </a:r>
            <a:endParaRPr lang="en-US" altLang="zh-CN" sz="1600" dirty="0">
              <a:solidFill>
                <a:srgbClr val="000000"/>
              </a:solidFill>
              <a:ea typeface="方正楷体_GB2312" charset="0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</a:t>
            </a:r>
            <a:r>
              <a:rPr kumimoji="1" lang="en-US" altLang="zh-CN" sz="1600" i="1" dirty="0">
                <a:solidFill>
                  <a:srgbClr val="0070C0"/>
                </a:solidFill>
                <a:ea typeface="方正楷体_GB2312" charset="0"/>
                <a:sym typeface="Symbol" panose="05050102010706020507" pitchFamily="18" charset="2"/>
              </a:rPr>
              <a:t>quicksort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(1, 9);</a:t>
            </a:r>
            <a:endParaRPr kumimoji="1" lang="en-US" altLang="zh-CN" sz="1600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}</a:t>
            </a:r>
            <a:endParaRPr kumimoji="1" lang="en-US" altLang="zh-CN" sz="1600" dirty="0">
              <a:solidFill>
                <a:srgbClr val="000000"/>
              </a:solidFill>
              <a:ea typeface="方正楷体_GB2312" charset="0"/>
            </a:endParaRPr>
          </a:p>
        </p:txBody>
      </p:sp>
      <p:sp>
        <p:nvSpPr>
          <p:cNvPr id="60418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例：一个快速排序程序的概要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Text Box 5"/>
          <p:cNvSpPr txBox="1">
            <a:spLocks noChangeArrowheads="1"/>
          </p:cNvSpPr>
          <p:nvPr/>
        </p:nvSpPr>
        <p:spPr bwMode="auto">
          <a:xfrm>
            <a:off x="4919757" y="1985963"/>
            <a:ext cx="685795" cy="369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1800" i="1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m</a:t>
            </a:r>
            <a:endParaRPr kumimoji="1" lang="zh-CN" altLang="en-US" sz="1800" i="1" dirty="0">
              <a:solidFill>
                <a:srgbClr val="000000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30" name="组合 29"/>
          <p:cNvGrpSpPr/>
          <p:nvPr/>
        </p:nvGrpSpPr>
        <p:grpSpPr>
          <a:xfrm>
            <a:off x="5087168" y="2290843"/>
            <a:ext cx="893649" cy="525393"/>
            <a:chOff x="5087168" y="2290843"/>
            <a:chExt cx="893649" cy="525393"/>
          </a:xfrm>
        </p:grpSpPr>
        <p:sp>
          <p:nvSpPr>
            <p:cNvPr id="31" name="Text Box 7"/>
            <p:cNvSpPr txBox="1">
              <a:spLocks noChangeArrowheads="1"/>
            </p:cNvSpPr>
            <p:nvPr/>
          </p:nvSpPr>
          <p:spPr bwMode="auto">
            <a:xfrm>
              <a:off x="5176921" y="2446904"/>
              <a:ext cx="803896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(1,9)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2" name="Line 14"/>
            <p:cNvSpPr>
              <a:spLocks noChangeShapeType="1"/>
            </p:cNvSpPr>
            <p:nvPr/>
          </p:nvSpPr>
          <p:spPr bwMode="auto">
            <a:xfrm>
              <a:off x="5087168" y="2290843"/>
              <a:ext cx="446948" cy="22809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33" name="组合 32"/>
          <p:cNvGrpSpPr/>
          <p:nvPr/>
        </p:nvGrpSpPr>
        <p:grpSpPr>
          <a:xfrm>
            <a:off x="4276821" y="2290847"/>
            <a:ext cx="810347" cy="514010"/>
            <a:chOff x="4276821" y="2290847"/>
            <a:chExt cx="810347" cy="514010"/>
          </a:xfrm>
        </p:grpSpPr>
        <p:sp>
          <p:nvSpPr>
            <p:cNvPr id="34" name="Line 11"/>
            <p:cNvSpPr>
              <a:spLocks noChangeShapeType="1"/>
            </p:cNvSpPr>
            <p:nvPr/>
          </p:nvSpPr>
          <p:spPr bwMode="auto">
            <a:xfrm flipH="1">
              <a:off x="4533989" y="2290847"/>
              <a:ext cx="553179" cy="22809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5" name="Text Box 5"/>
            <p:cNvSpPr txBox="1">
              <a:spLocks noChangeArrowheads="1"/>
            </p:cNvSpPr>
            <p:nvPr/>
          </p:nvSpPr>
          <p:spPr bwMode="auto">
            <a:xfrm>
              <a:off x="4276821" y="2435414"/>
              <a:ext cx="295180" cy="369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r</a:t>
              </a:r>
              <a:endParaRPr kumimoji="1" lang="zh-CN" altLang="en-US" sz="1800" i="1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3290889" y="2828644"/>
            <a:ext cx="2180826" cy="725566"/>
            <a:chOff x="3290889" y="2828644"/>
            <a:chExt cx="2180826" cy="725566"/>
          </a:xfrm>
        </p:grpSpPr>
        <p:sp>
          <p:nvSpPr>
            <p:cNvPr id="37" name="Line 12"/>
            <p:cNvSpPr>
              <a:spLocks noChangeShapeType="1"/>
            </p:cNvSpPr>
            <p:nvPr/>
          </p:nvSpPr>
          <p:spPr bwMode="auto">
            <a:xfrm flipH="1">
              <a:off x="3755580" y="2828644"/>
              <a:ext cx="1716135" cy="39199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8" name="Text Box 7"/>
            <p:cNvSpPr txBox="1">
              <a:spLocks noChangeArrowheads="1"/>
            </p:cNvSpPr>
            <p:nvPr/>
          </p:nvSpPr>
          <p:spPr bwMode="auto">
            <a:xfrm>
              <a:off x="3290889" y="3185127"/>
              <a:ext cx="796153" cy="3690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p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(1,9)                 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5724127" y="3490587"/>
            <a:ext cx="2424509" cy="824955"/>
            <a:chOff x="5724127" y="3490587"/>
            <a:chExt cx="2424509" cy="824955"/>
          </a:xfrm>
        </p:grpSpPr>
        <p:sp>
          <p:nvSpPr>
            <p:cNvPr id="40" name="Text Box 7"/>
            <p:cNvSpPr txBox="1">
              <a:spLocks noChangeArrowheads="1"/>
            </p:cNvSpPr>
            <p:nvPr/>
          </p:nvSpPr>
          <p:spPr bwMode="auto">
            <a:xfrm>
              <a:off x="5724127" y="3946210"/>
              <a:ext cx="242450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p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(5,9)   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(5,5)    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(7,9)          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1" name="Line 16"/>
            <p:cNvSpPr>
              <a:spLocks noChangeShapeType="1"/>
            </p:cNvSpPr>
            <p:nvPr/>
          </p:nvSpPr>
          <p:spPr bwMode="auto">
            <a:xfrm>
              <a:off x="6851923" y="3490587"/>
              <a:ext cx="792089" cy="51631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2" name="Line 12"/>
            <p:cNvSpPr>
              <a:spLocks noChangeShapeType="1"/>
            </p:cNvSpPr>
            <p:nvPr/>
          </p:nvSpPr>
          <p:spPr bwMode="auto">
            <a:xfrm flipH="1">
              <a:off x="6093547" y="3506552"/>
              <a:ext cx="758376" cy="50035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3" name="Line 15"/>
            <p:cNvSpPr>
              <a:spLocks noChangeShapeType="1"/>
            </p:cNvSpPr>
            <p:nvPr/>
          </p:nvSpPr>
          <p:spPr bwMode="auto">
            <a:xfrm>
              <a:off x="6851923" y="3506555"/>
              <a:ext cx="0" cy="46826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4332288" y="4292815"/>
            <a:ext cx="2197302" cy="798232"/>
            <a:chOff x="4332288" y="4292815"/>
            <a:chExt cx="2197302" cy="798232"/>
          </a:xfrm>
        </p:grpSpPr>
        <p:sp>
          <p:nvSpPr>
            <p:cNvPr id="45" name="Line 16"/>
            <p:cNvSpPr>
              <a:spLocks noChangeShapeType="1"/>
            </p:cNvSpPr>
            <p:nvPr/>
          </p:nvSpPr>
          <p:spPr bwMode="auto">
            <a:xfrm>
              <a:off x="5471716" y="4310304"/>
              <a:ext cx="660130" cy="48286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6" name="Line 12"/>
            <p:cNvSpPr>
              <a:spLocks noChangeShapeType="1"/>
            </p:cNvSpPr>
            <p:nvPr/>
          </p:nvSpPr>
          <p:spPr bwMode="auto">
            <a:xfrm flipH="1">
              <a:off x="4797405" y="4292815"/>
              <a:ext cx="682374" cy="50035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7" name="Line 15"/>
            <p:cNvSpPr>
              <a:spLocks noChangeShapeType="1"/>
            </p:cNvSpPr>
            <p:nvPr/>
          </p:nvSpPr>
          <p:spPr bwMode="auto">
            <a:xfrm>
              <a:off x="5483773" y="4292818"/>
              <a:ext cx="0" cy="46826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8" name="Text Box 7"/>
            <p:cNvSpPr txBox="1">
              <a:spLocks noChangeArrowheads="1"/>
            </p:cNvSpPr>
            <p:nvPr/>
          </p:nvSpPr>
          <p:spPr bwMode="auto">
            <a:xfrm>
              <a:off x="4332288" y="4721715"/>
              <a:ext cx="219730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p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(2,3)   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(2,1)   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(3,3)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9" name="组合 48"/>
          <p:cNvGrpSpPr/>
          <p:nvPr/>
        </p:nvGrpSpPr>
        <p:grpSpPr>
          <a:xfrm>
            <a:off x="3640338" y="3577842"/>
            <a:ext cx="1079385" cy="738999"/>
            <a:chOff x="3640338" y="3577842"/>
            <a:chExt cx="1079385" cy="738999"/>
          </a:xfrm>
        </p:grpSpPr>
        <p:sp>
          <p:nvSpPr>
            <p:cNvPr id="50" name="Line 12"/>
            <p:cNvSpPr>
              <a:spLocks noChangeShapeType="1"/>
            </p:cNvSpPr>
            <p:nvPr/>
          </p:nvSpPr>
          <p:spPr bwMode="auto">
            <a:xfrm flipH="1">
              <a:off x="4087042" y="3577842"/>
              <a:ext cx="632681" cy="39412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51" name="Text Box 7"/>
            <p:cNvSpPr txBox="1">
              <a:spLocks noChangeArrowheads="1"/>
            </p:cNvSpPr>
            <p:nvPr/>
          </p:nvSpPr>
          <p:spPr bwMode="auto">
            <a:xfrm>
              <a:off x="3640338" y="3947509"/>
              <a:ext cx="77368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p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(1,3)   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  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          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2" name="组合 51"/>
          <p:cNvGrpSpPr/>
          <p:nvPr/>
        </p:nvGrpSpPr>
        <p:grpSpPr>
          <a:xfrm>
            <a:off x="4538174" y="2834343"/>
            <a:ext cx="933541" cy="719389"/>
            <a:chOff x="4538174" y="2834343"/>
            <a:chExt cx="933541" cy="719389"/>
          </a:xfrm>
        </p:grpSpPr>
        <p:sp>
          <p:nvSpPr>
            <p:cNvPr id="53" name="Line 15"/>
            <p:cNvSpPr>
              <a:spLocks noChangeShapeType="1"/>
            </p:cNvSpPr>
            <p:nvPr/>
          </p:nvSpPr>
          <p:spPr bwMode="auto">
            <a:xfrm flipH="1">
              <a:off x="4962613" y="2834343"/>
              <a:ext cx="509102" cy="36218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54" name="Text Box 7"/>
            <p:cNvSpPr txBox="1">
              <a:spLocks noChangeArrowheads="1"/>
            </p:cNvSpPr>
            <p:nvPr/>
          </p:nvSpPr>
          <p:spPr bwMode="auto">
            <a:xfrm>
              <a:off x="4538174" y="3175642"/>
              <a:ext cx="796150" cy="3780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(1,3)          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5471715" y="2840134"/>
            <a:ext cx="1731991" cy="684592"/>
            <a:chOff x="5471715" y="2840134"/>
            <a:chExt cx="1731991" cy="684592"/>
          </a:xfrm>
        </p:grpSpPr>
        <p:sp>
          <p:nvSpPr>
            <p:cNvPr id="56" name="Line 13"/>
            <p:cNvSpPr>
              <a:spLocks noChangeShapeType="1"/>
            </p:cNvSpPr>
            <p:nvPr/>
          </p:nvSpPr>
          <p:spPr bwMode="auto">
            <a:xfrm>
              <a:off x="5471715" y="2840134"/>
              <a:ext cx="972768" cy="38050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57" name="Text Box 7"/>
            <p:cNvSpPr txBox="1">
              <a:spLocks noChangeArrowheads="1"/>
            </p:cNvSpPr>
            <p:nvPr/>
          </p:nvSpPr>
          <p:spPr bwMode="auto">
            <a:xfrm>
              <a:off x="6408021" y="3155283"/>
              <a:ext cx="795685" cy="369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(5,9)      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8" name="组合 57"/>
          <p:cNvGrpSpPr/>
          <p:nvPr/>
        </p:nvGrpSpPr>
        <p:grpSpPr>
          <a:xfrm>
            <a:off x="4729982" y="3577842"/>
            <a:ext cx="1145959" cy="753665"/>
            <a:chOff x="4729982" y="3577842"/>
            <a:chExt cx="1145959" cy="753665"/>
          </a:xfrm>
        </p:grpSpPr>
        <p:sp>
          <p:nvSpPr>
            <p:cNvPr id="59" name="Line 15"/>
            <p:cNvSpPr>
              <a:spLocks noChangeShapeType="1"/>
            </p:cNvSpPr>
            <p:nvPr/>
          </p:nvSpPr>
          <p:spPr bwMode="auto">
            <a:xfrm>
              <a:off x="4729982" y="3577842"/>
              <a:ext cx="720598" cy="4290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0" name="Text Box 7"/>
            <p:cNvSpPr txBox="1">
              <a:spLocks noChangeArrowheads="1"/>
            </p:cNvSpPr>
            <p:nvPr/>
          </p:nvSpPr>
          <p:spPr bwMode="auto">
            <a:xfrm>
              <a:off x="5080256" y="3951002"/>
              <a:ext cx="795685" cy="3805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(2,3)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  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          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1" name="组合 60"/>
          <p:cNvGrpSpPr/>
          <p:nvPr/>
        </p:nvGrpSpPr>
        <p:grpSpPr>
          <a:xfrm>
            <a:off x="4339121" y="3577846"/>
            <a:ext cx="895585" cy="732458"/>
            <a:chOff x="4339121" y="3577846"/>
            <a:chExt cx="895585" cy="732458"/>
          </a:xfrm>
        </p:grpSpPr>
        <p:sp>
          <p:nvSpPr>
            <p:cNvPr id="62" name="Line 16"/>
            <p:cNvSpPr>
              <a:spLocks noChangeShapeType="1"/>
            </p:cNvSpPr>
            <p:nvPr/>
          </p:nvSpPr>
          <p:spPr bwMode="auto">
            <a:xfrm>
              <a:off x="4729982" y="3577846"/>
              <a:ext cx="1" cy="42905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3" name="Text Box 7"/>
            <p:cNvSpPr txBox="1">
              <a:spLocks noChangeArrowheads="1"/>
            </p:cNvSpPr>
            <p:nvPr/>
          </p:nvSpPr>
          <p:spPr bwMode="auto">
            <a:xfrm>
              <a:off x="4339121" y="3940972"/>
              <a:ext cx="895585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(1,0)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/>
          <p:cNvGrpSpPr/>
          <p:nvPr/>
        </p:nvGrpSpPr>
        <p:grpSpPr>
          <a:xfrm>
            <a:off x="6579932" y="4292817"/>
            <a:ext cx="2272183" cy="808987"/>
            <a:chOff x="6579932" y="4292817"/>
            <a:chExt cx="2272183" cy="808987"/>
          </a:xfrm>
        </p:grpSpPr>
        <p:sp>
          <p:nvSpPr>
            <p:cNvPr id="65" name="Line 16"/>
            <p:cNvSpPr>
              <a:spLocks noChangeShapeType="1"/>
            </p:cNvSpPr>
            <p:nvPr/>
          </p:nvSpPr>
          <p:spPr bwMode="auto">
            <a:xfrm>
              <a:off x="7644012" y="4292817"/>
              <a:ext cx="500062" cy="50034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6" name="Line 12"/>
            <p:cNvSpPr>
              <a:spLocks noChangeShapeType="1"/>
            </p:cNvSpPr>
            <p:nvPr/>
          </p:nvSpPr>
          <p:spPr bwMode="auto">
            <a:xfrm flipH="1">
              <a:off x="7029651" y="4292817"/>
              <a:ext cx="614360" cy="50034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7" name="Line 15"/>
            <p:cNvSpPr>
              <a:spLocks noChangeShapeType="1"/>
            </p:cNvSpPr>
            <p:nvPr/>
          </p:nvSpPr>
          <p:spPr bwMode="auto">
            <a:xfrm>
              <a:off x="7644012" y="4292818"/>
              <a:ext cx="0" cy="46826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8" name="Text Box 7"/>
            <p:cNvSpPr txBox="1">
              <a:spLocks noChangeArrowheads="1"/>
            </p:cNvSpPr>
            <p:nvPr/>
          </p:nvSpPr>
          <p:spPr bwMode="auto">
            <a:xfrm>
              <a:off x="6579932" y="4732472"/>
              <a:ext cx="227218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p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(7,9)   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(7,7)   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(9,9)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0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60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604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604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604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604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604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604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604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604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604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604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604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604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604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6042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6042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60420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60420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500"/>
                                        <p:tgtEl>
                                          <p:spTgt spid="60420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60420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6" dur="500"/>
                                        <p:tgtEl>
                                          <p:spTgt spid="60420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60420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0420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20" grpId="0" uiExpand="1" build="p"/>
      <p:bldP spid="2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4"/>
          <p:cNvSpPr>
            <a:spLocks noChangeArrowheads="1"/>
          </p:cNvSpPr>
          <p:nvPr/>
        </p:nvSpPr>
        <p:spPr bwMode="auto">
          <a:xfrm>
            <a:off x="2084388" y="322263"/>
            <a:ext cx="438150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759" name="Rectangle 6"/>
          <p:cNvSpPr>
            <a:spLocks noChangeArrowheads="1"/>
          </p:cNvSpPr>
          <p:nvPr/>
        </p:nvSpPr>
        <p:spPr bwMode="auto">
          <a:xfrm>
            <a:off x="896665" y="1040780"/>
            <a:ext cx="434975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138" name="Line 8"/>
          <p:cNvSpPr>
            <a:spLocks noChangeShapeType="1"/>
          </p:cNvSpPr>
          <p:nvPr/>
        </p:nvSpPr>
        <p:spPr bwMode="auto">
          <a:xfrm flipH="1">
            <a:off x="1120775" y="668338"/>
            <a:ext cx="1095375" cy="538162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graphicFrame>
        <p:nvGraphicFramePr>
          <p:cNvPr id="40" name="Group 18"/>
          <p:cNvGraphicFramePr>
            <a:graphicFrameLocks noGrp="1"/>
          </p:cNvGraphicFramePr>
          <p:nvPr/>
        </p:nvGraphicFramePr>
        <p:xfrm>
          <a:off x="6980238" y="441325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zh-CN" altLang="en-US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a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[11]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main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1" name="Group 26"/>
          <p:cNvGraphicFramePr>
            <a:graphicFrameLocks noGrp="1"/>
          </p:cNvGraphicFramePr>
          <p:nvPr/>
        </p:nvGraphicFramePr>
        <p:xfrm>
          <a:off x="6980238" y="1135879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r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44" name="Rectangle 31"/>
          <p:cNvSpPr>
            <a:spLocks noChangeArrowheads="1"/>
          </p:cNvSpPr>
          <p:nvPr/>
        </p:nvSpPr>
        <p:spPr bwMode="auto">
          <a:xfrm>
            <a:off x="1290638" y="44450"/>
            <a:ext cx="2105025" cy="43973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45" name="Rectangle 32"/>
          <p:cNvSpPr>
            <a:spLocks noChangeArrowheads="1"/>
          </p:cNvSpPr>
          <p:nvPr/>
        </p:nvSpPr>
        <p:spPr bwMode="auto">
          <a:xfrm>
            <a:off x="6444208" y="-20638"/>
            <a:ext cx="2448272" cy="43858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控制栈向下增长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8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8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8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47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47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47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7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4813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6" dur="indefinite"/>
                                        <p:tgtEl>
                                          <p:spTgt spid="4813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759" grpId="0"/>
      <p:bldP spid="4813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4"/>
          <p:cNvSpPr>
            <a:spLocks noChangeArrowheads="1"/>
          </p:cNvSpPr>
          <p:nvPr/>
        </p:nvSpPr>
        <p:spPr bwMode="auto">
          <a:xfrm>
            <a:off x="2084388" y="322263"/>
            <a:ext cx="438150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758" name="Rectangle 5"/>
          <p:cNvSpPr>
            <a:spLocks noChangeArrowheads="1"/>
          </p:cNvSpPr>
          <p:nvPr/>
        </p:nvSpPr>
        <p:spPr bwMode="auto">
          <a:xfrm>
            <a:off x="1916113" y="928688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516" name="Rectangle 6"/>
          <p:cNvSpPr>
            <a:spLocks noChangeArrowheads="1"/>
          </p:cNvSpPr>
          <p:nvPr/>
        </p:nvSpPr>
        <p:spPr bwMode="auto">
          <a:xfrm>
            <a:off x="896665" y="1040780"/>
            <a:ext cx="434975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 dirty="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760" name="Line 7"/>
          <p:cNvSpPr>
            <a:spLocks noChangeShapeType="1"/>
          </p:cNvSpPr>
          <p:nvPr/>
        </p:nvSpPr>
        <p:spPr bwMode="auto">
          <a:xfrm flipH="1">
            <a:off x="2284413" y="6651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8138" name="Line 8"/>
          <p:cNvSpPr>
            <a:spLocks noChangeShapeType="1"/>
          </p:cNvSpPr>
          <p:nvPr/>
        </p:nvSpPr>
        <p:spPr bwMode="auto">
          <a:xfrm flipH="1">
            <a:off x="1120775" y="668338"/>
            <a:ext cx="1095375" cy="538162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8139" name="Line 9"/>
          <p:cNvSpPr>
            <a:spLocks noChangeShapeType="1"/>
          </p:cNvSpPr>
          <p:nvPr/>
        </p:nvSpPr>
        <p:spPr bwMode="auto">
          <a:xfrm flipH="1">
            <a:off x="1246188" y="1274763"/>
            <a:ext cx="771525" cy="45085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74764" name="Rectangle 11"/>
          <p:cNvSpPr>
            <a:spLocks noChangeArrowheads="1"/>
          </p:cNvSpPr>
          <p:nvPr/>
        </p:nvSpPr>
        <p:spPr bwMode="auto">
          <a:xfrm>
            <a:off x="684213" y="1657350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40" name="Group 18"/>
          <p:cNvGraphicFramePr>
            <a:graphicFrameLocks noGrp="1"/>
          </p:cNvGraphicFramePr>
          <p:nvPr/>
        </p:nvGraphicFramePr>
        <p:xfrm>
          <a:off x="6980238" y="441325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a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[11]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main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1" name="Group 26"/>
          <p:cNvGraphicFramePr>
            <a:graphicFrameLocks noGrp="1"/>
          </p:cNvGraphicFramePr>
          <p:nvPr/>
        </p:nvGraphicFramePr>
        <p:xfrm>
          <a:off x="6980238" y="1135879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(1,9)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3" name="Group 42"/>
          <p:cNvGraphicFramePr>
            <a:graphicFrameLocks noGrp="1"/>
          </p:cNvGraphicFramePr>
          <p:nvPr/>
        </p:nvGraphicFramePr>
        <p:xfrm>
          <a:off x="6980238" y="1824898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p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(1,9)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64545" name="Rectangle 31"/>
          <p:cNvSpPr>
            <a:spLocks noChangeArrowheads="1"/>
          </p:cNvSpPr>
          <p:nvPr/>
        </p:nvSpPr>
        <p:spPr bwMode="auto">
          <a:xfrm>
            <a:off x="1290638" y="44450"/>
            <a:ext cx="2105025" cy="439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4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4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4" name="Rectangle 32"/>
          <p:cNvSpPr>
            <a:spLocks noChangeArrowheads="1"/>
          </p:cNvSpPr>
          <p:nvPr/>
        </p:nvSpPr>
        <p:spPr bwMode="auto">
          <a:xfrm>
            <a:off x="6444208" y="-20638"/>
            <a:ext cx="2448272" cy="43858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控制栈向下增长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47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47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47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47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47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47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47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47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47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81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81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8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7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4813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45" dur="indefinite"/>
                                        <p:tgtEl>
                                          <p:spTgt spid="4813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758" grpId="0"/>
      <p:bldP spid="74760" grpId="0" animBg="1"/>
      <p:bldP spid="48139" grpId="0" animBg="1"/>
      <p:bldP spid="7476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4"/>
          <p:cNvSpPr>
            <a:spLocks noChangeArrowheads="1"/>
          </p:cNvSpPr>
          <p:nvPr/>
        </p:nvSpPr>
        <p:spPr bwMode="auto">
          <a:xfrm>
            <a:off x="2084388" y="322263"/>
            <a:ext cx="438150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6563" name="Rectangle 5"/>
          <p:cNvSpPr>
            <a:spLocks noChangeArrowheads="1"/>
          </p:cNvSpPr>
          <p:nvPr/>
        </p:nvSpPr>
        <p:spPr bwMode="auto">
          <a:xfrm>
            <a:off x="1916113" y="928688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6564" name="Rectangle 6"/>
          <p:cNvSpPr>
            <a:spLocks noChangeArrowheads="1"/>
          </p:cNvSpPr>
          <p:nvPr/>
        </p:nvSpPr>
        <p:spPr bwMode="auto">
          <a:xfrm>
            <a:off x="896665" y="1040780"/>
            <a:ext cx="434975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 dirty="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6565" name="Line 7"/>
          <p:cNvSpPr>
            <a:spLocks noChangeShapeType="1"/>
          </p:cNvSpPr>
          <p:nvPr/>
        </p:nvSpPr>
        <p:spPr bwMode="auto">
          <a:xfrm flipH="1">
            <a:off x="2284413" y="6651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8138" name="Line 8"/>
          <p:cNvSpPr>
            <a:spLocks noChangeShapeType="1"/>
          </p:cNvSpPr>
          <p:nvPr/>
        </p:nvSpPr>
        <p:spPr bwMode="auto">
          <a:xfrm flipH="1">
            <a:off x="1120775" y="668338"/>
            <a:ext cx="1095375" cy="538162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8139" name="Line 9"/>
          <p:cNvSpPr>
            <a:spLocks noChangeShapeType="1"/>
          </p:cNvSpPr>
          <p:nvPr/>
        </p:nvSpPr>
        <p:spPr bwMode="auto">
          <a:xfrm flipH="1">
            <a:off x="1246188" y="1274763"/>
            <a:ext cx="771525" cy="45085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74763" name="Line 10"/>
          <p:cNvSpPr>
            <a:spLocks noChangeShapeType="1"/>
          </p:cNvSpPr>
          <p:nvPr/>
        </p:nvSpPr>
        <p:spPr bwMode="auto">
          <a:xfrm flipH="1">
            <a:off x="2284413" y="13509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66569" name="Rectangle 11"/>
          <p:cNvSpPr>
            <a:spLocks noChangeArrowheads="1"/>
          </p:cNvSpPr>
          <p:nvPr/>
        </p:nvSpPr>
        <p:spPr bwMode="auto">
          <a:xfrm>
            <a:off x="684213" y="1657350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766" name="Rectangle 13"/>
          <p:cNvSpPr>
            <a:spLocks noChangeArrowheads="1"/>
          </p:cNvSpPr>
          <p:nvPr/>
        </p:nvSpPr>
        <p:spPr bwMode="auto">
          <a:xfrm>
            <a:off x="1930400" y="1622425"/>
            <a:ext cx="8572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769" name="Rectangle 16"/>
          <p:cNvSpPr>
            <a:spLocks noChangeArrowheads="1"/>
          </p:cNvSpPr>
          <p:nvPr/>
        </p:nvSpPr>
        <p:spPr bwMode="auto">
          <a:xfrm>
            <a:off x="1076325" y="2314575"/>
            <a:ext cx="85725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147" name="Line 17"/>
          <p:cNvSpPr>
            <a:spLocks noChangeShapeType="1"/>
          </p:cNvSpPr>
          <p:nvPr/>
        </p:nvSpPr>
        <p:spPr bwMode="auto">
          <a:xfrm flipH="1">
            <a:off x="1484313" y="1979613"/>
            <a:ext cx="533400" cy="4318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graphicFrame>
        <p:nvGraphicFramePr>
          <p:cNvPr id="40" name="Group 18"/>
          <p:cNvGraphicFramePr>
            <a:graphicFrameLocks noGrp="1"/>
          </p:cNvGraphicFramePr>
          <p:nvPr/>
        </p:nvGraphicFramePr>
        <p:xfrm>
          <a:off x="6980238" y="441325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a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[11]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main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1" name="Group 26"/>
          <p:cNvGraphicFramePr>
            <a:graphicFrameLocks noGrp="1"/>
          </p:cNvGraphicFramePr>
          <p:nvPr/>
        </p:nvGraphicFramePr>
        <p:xfrm>
          <a:off x="6980238" y="1135879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(1,9)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3" name="Group 42"/>
          <p:cNvGraphicFramePr>
            <a:graphicFrameLocks noGrp="1"/>
          </p:cNvGraphicFramePr>
          <p:nvPr/>
        </p:nvGraphicFramePr>
        <p:xfrm>
          <a:off x="6980238" y="2513102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p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(1,3)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66597" name="Rectangle 31"/>
          <p:cNvSpPr>
            <a:spLocks noChangeArrowheads="1"/>
          </p:cNvSpPr>
          <p:nvPr/>
        </p:nvSpPr>
        <p:spPr bwMode="auto">
          <a:xfrm>
            <a:off x="1290638" y="44450"/>
            <a:ext cx="2105025" cy="439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4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4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46" name="Group 42"/>
          <p:cNvGraphicFramePr>
            <a:graphicFrameLocks noGrp="1"/>
          </p:cNvGraphicFramePr>
          <p:nvPr/>
        </p:nvGraphicFramePr>
        <p:xfrm>
          <a:off x="6980238" y="1824898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(1,3)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9" name="矩形 18"/>
          <p:cNvSpPr/>
          <p:nvPr/>
        </p:nvSpPr>
        <p:spPr>
          <a:xfrm>
            <a:off x="393700" y="3573463"/>
            <a:ext cx="8648700" cy="40005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2000" dirty="0">
                <a:solidFill>
                  <a:srgbClr val="000000"/>
                </a:solidFill>
                <a:latin typeface="+mn-ea"/>
                <a:ea typeface="+mn-ea"/>
              </a:rPr>
              <a:t>当一个过程是递归</a:t>
            </a:r>
            <a:r>
              <a:rPr lang="zh-CN" altLang="en-US" sz="2000">
                <a:solidFill>
                  <a:srgbClr val="000000"/>
                </a:solidFill>
                <a:latin typeface="+mn-ea"/>
                <a:ea typeface="+mn-ea"/>
              </a:rPr>
              <a:t>的时候，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ea typeface="+mn-ea"/>
              </a:rPr>
              <a:t>常常会有该过程的多个活动记录同时出现在栈中</a:t>
            </a:r>
            <a:endParaRPr lang="zh-CN" altLang="en-US" sz="2000" dirty="0">
              <a:latin typeface="+mn-ea"/>
              <a:ea typeface="+mn-ea"/>
              <a:cs typeface="方正楷体_GB2312" charset="0"/>
            </a:endParaRPr>
          </a:p>
        </p:txBody>
      </p:sp>
      <p:sp>
        <p:nvSpPr>
          <p:cNvPr id="20" name="Line 17"/>
          <p:cNvSpPr>
            <a:spLocks noChangeShapeType="1"/>
          </p:cNvSpPr>
          <p:nvPr/>
        </p:nvSpPr>
        <p:spPr bwMode="auto">
          <a:xfrm flipH="1">
            <a:off x="1487488" y="1979613"/>
            <a:ext cx="530225" cy="423862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zh-CN" altLang="en-US">
              <a:ea typeface="方正楷体_GB2312" charset="0"/>
            </a:endParaRPr>
          </a:p>
        </p:txBody>
      </p:sp>
      <p:sp>
        <p:nvSpPr>
          <p:cNvPr id="21" name="Rectangle 32"/>
          <p:cNvSpPr>
            <a:spLocks noChangeArrowheads="1"/>
          </p:cNvSpPr>
          <p:nvPr/>
        </p:nvSpPr>
        <p:spPr bwMode="auto">
          <a:xfrm>
            <a:off x="6444208" y="-20638"/>
            <a:ext cx="2448272" cy="43858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控制栈向下增长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47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47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47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47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47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47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48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48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8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47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47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47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8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763" grpId="0" animBg="1"/>
      <p:bldP spid="74766" grpId="0"/>
      <p:bldP spid="74769" grpId="0"/>
      <p:bldP spid="48147" grpId="0" animBg="1"/>
      <p:bldP spid="19" grpId="0" animBg="1"/>
      <p:bldP spid="19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4"/>
          <p:cNvSpPr>
            <a:spLocks noChangeArrowheads="1"/>
          </p:cNvSpPr>
          <p:nvPr/>
        </p:nvSpPr>
        <p:spPr bwMode="auto">
          <a:xfrm>
            <a:off x="2084388" y="322263"/>
            <a:ext cx="438150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8611" name="Rectangle 5"/>
          <p:cNvSpPr>
            <a:spLocks noChangeArrowheads="1"/>
          </p:cNvSpPr>
          <p:nvPr/>
        </p:nvSpPr>
        <p:spPr bwMode="auto">
          <a:xfrm>
            <a:off x="1916113" y="928688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8612" name="Rectangle 6"/>
          <p:cNvSpPr>
            <a:spLocks noChangeArrowheads="1"/>
          </p:cNvSpPr>
          <p:nvPr/>
        </p:nvSpPr>
        <p:spPr bwMode="auto">
          <a:xfrm>
            <a:off x="896665" y="1040780"/>
            <a:ext cx="434975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 dirty="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8613" name="Line 7"/>
          <p:cNvSpPr>
            <a:spLocks noChangeShapeType="1"/>
          </p:cNvSpPr>
          <p:nvPr/>
        </p:nvSpPr>
        <p:spPr bwMode="auto">
          <a:xfrm flipH="1">
            <a:off x="2284413" y="6651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8138" name="Line 8"/>
          <p:cNvSpPr>
            <a:spLocks noChangeShapeType="1"/>
          </p:cNvSpPr>
          <p:nvPr/>
        </p:nvSpPr>
        <p:spPr bwMode="auto">
          <a:xfrm flipH="1">
            <a:off x="1120775" y="668338"/>
            <a:ext cx="1095375" cy="538162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8139" name="Line 9"/>
          <p:cNvSpPr>
            <a:spLocks noChangeShapeType="1"/>
          </p:cNvSpPr>
          <p:nvPr/>
        </p:nvSpPr>
        <p:spPr bwMode="auto">
          <a:xfrm flipH="1">
            <a:off x="1246188" y="1274763"/>
            <a:ext cx="771525" cy="45085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8616" name="Line 10"/>
          <p:cNvSpPr>
            <a:spLocks noChangeShapeType="1"/>
          </p:cNvSpPr>
          <p:nvPr/>
        </p:nvSpPr>
        <p:spPr bwMode="auto">
          <a:xfrm flipH="1">
            <a:off x="2284413" y="13509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68617" name="Rectangle 11"/>
          <p:cNvSpPr>
            <a:spLocks noChangeArrowheads="1"/>
          </p:cNvSpPr>
          <p:nvPr/>
        </p:nvSpPr>
        <p:spPr bwMode="auto">
          <a:xfrm>
            <a:off x="684213" y="1657350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8618" name="Rectangle 13"/>
          <p:cNvSpPr>
            <a:spLocks noChangeArrowheads="1"/>
          </p:cNvSpPr>
          <p:nvPr/>
        </p:nvSpPr>
        <p:spPr bwMode="auto">
          <a:xfrm>
            <a:off x="1930400" y="1622425"/>
            <a:ext cx="8572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8619" name="Rectangle 16"/>
          <p:cNvSpPr>
            <a:spLocks noChangeArrowheads="1"/>
          </p:cNvSpPr>
          <p:nvPr/>
        </p:nvSpPr>
        <p:spPr bwMode="auto">
          <a:xfrm>
            <a:off x="1076325" y="2314575"/>
            <a:ext cx="85725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147" name="Line 17"/>
          <p:cNvSpPr>
            <a:spLocks noChangeShapeType="1"/>
          </p:cNvSpPr>
          <p:nvPr/>
        </p:nvSpPr>
        <p:spPr bwMode="auto">
          <a:xfrm flipH="1">
            <a:off x="1484313" y="1979613"/>
            <a:ext cx="533400" cy="43180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aphicFrame>
        <p:nvGraphicFramePr>
          <p:cNvPr id="40" name="Group 18"/>
          <p:cNvGraphicFramePr>
            <a:graphicFrameLocks noGrp="1"/>
          </p:cNvGraphicFramePr>
          <p:nvPr/>
        </p:nvGraphicFramePr>
        <p:xfrm>
          <a:off x="6980238" y="441325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a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[11]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main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1" name="Group 26"/>
          <p:cNvGraphicFramePr>
            <a:graphicFrameLocks noGrp="1"/>
          </p:cNvGraphicFramePr>
          <p:nvPr/>
        </p:nvGraphicFramePr>
        <p:xfrm>
          <a:off x="6980238" y="1135879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(1,9)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68637" name="Rectangle 31"/>
          <p:cNvSpPr>
            <a:spLocks noChangeArrowheads="1"/>
          </p:cNvSpPr>
          <p:nvPr/>
        </p:nvSpPr>
        <p:spPr bwMode="auto">
          <a:xfrm>
            <a:off x="1290638" y="44450"/>
            <a:ext cx="2105025" cy="439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4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4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46" name="Group 42"/>
          <p:cNvGraphicFramePr>
            <a:graphicFrameLocks noGrp="1"/>
          </p:cNvGraphicFramePr>
          <p:nvPr/>
        </p:nvGraphicFramePr>
        <p:xfrm>
          <a:off x="6980238" y="1824898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(1,3)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9" name="Line 14"/>
          <p:cNvSpPr>
            <a:spLocks noChangeShapeType="1"/>
          </p:cNvSpPr>
          <p:nvPr/>
        </p:nvSpPr>
        <p:spPr bwMode="auto">
          <a:xfrm flipH="1">
            <a:off x="2284413" y="20367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0" name="Rectangle 15"/>
          <p:cNvSpPr>
            <a:spLocks noChangeArrowheads="1"/>
          </p:cNvSpPr>
          <p:nvPr/>
        </p:nvSpPr>
        <p:spPr bwMode="auto">
          <a:xfrm>
            <a:off x="1944688" y="2279650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(1,0)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21" name="Group 42"/>
          <p:cNvGraphicFramePr>
            <a:graphicFrameLocks noGrp="1"/>
          </p:cNvGraphicFramePr>
          <p:nvPr/>
        </p:nvGraphicFramePr>
        <p:xfrm>
          <a:off x="6980238" y="2507523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(1,0)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22" name="Rectangle 32"/>
          <p:cNvSpPr>
            <a:spLocks noChangeArrowheads="1"/>
          </p:cNvSpPr>
          <p:nvPr/>
        </p:nvSpPr>
        <p:spPr bwMode="auto">
          <a:xfrm>
            <a:off x="6444208" y="-20638"/>
            <a:ext cx="2448272" cy="43858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控制栈向下增长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7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6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4"/>
          <p:cNvSpPr>
            <a:spLocks noChangeArrowheads="1"/>
          </p:cNvSpPr>
          <p:nvPr/>
        </p:nvSpPr>
        <p:spPr bwMode="auto">
          <a:xfrm>
            <a:off x="2084388" y="322263"/>
            <a:ext cx="438150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59" name="Rectangle 5"/>
          <p:cNvSpPr>
            <a:spLocks noChangeArrowheads="1"/>
          </p:cNvSpPr>
          <p:nvPr/>
        </p:nvSpPr>
        <p:spPr bwMode="auto">
          <a:xfrm>
            <a:off x="1916113" y="928688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60" name="Rectangle 6"/>
          <p:cNvSpPr>
            <a:spLocks noChangeArrowheads="1"/>
          </p:cNvSpPr>
          <p:nvPr/>
        </p:nvSpPr>
        <p:spPr bwMode="auto">
          <a:xfrm>
            <a:off x="896665" y="1040780"/>
            <a:ext cx="434975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 dirty="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61" name="Line 7"/>
          <p:cNvSpPr>
            <a:spLocks noChangeShapeType="1"/>
          </p:cNvSpPr>
          <p:nvPr/>
        </p:nvSpPr>
        <p:spPr bwMode="auto">
          <a:xfrm flipH="1">
            <a:off x="2284413" y="6651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8138" name="Line 8"/>
          <p:cNvSpPr>
            <a:spLocks noChangeShapeType="1"/>
          </p:cNvSpPr>
          <p:nvPr/>
        </p:nvSpPr>
        <p:spPr bwMode="auto">
          <a:xfrm flipH="1">
            <a:off x="1120775" y="668338"/>
            <a:ext cx="1095375" cy="538162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8139" name="Line 9"/>
          <p:cNvSpPr>
            <a:spLocks noChangeShapeType="1"/>
          </p:cNvSpPr>
          <p:nvPr/>
        </p:nvSpPr>
        <p:spPr bwMode="auto">
          <a:xfrm flipH="1">
            <a:off x="1246188" y="1274763"/>
            <a:ext cx="771525" cy="45085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70664" name="Line 10"/>
          <p:cNvSpPr>
            <a:spLocks noChangeShapeType="1"/>
          </p:cNvSpPr>
          <p:nvPr/>
        </p:nvSpPr>
        <p:spPr bwMode="auto">
          <a:xfrm flipH="1">
            <a:off x="2284413" y="13509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70665" name="Rectangle 11"/>
          <p:cNvSpPr>
            <a:spLocks noChangeArrowheads="1"/>
          </p:cNvSpPr>
          <p:nvPr/>
        </p:nvSpPr>
        <p:spPr bwMode="auto">
          <a:xfrm>
            <a:off x="684213" y="1657350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66" name="Rectangle 13"/>
          <p:cNvSpPr>
            <a:spLocks noChangeArrowheads="1"/>
          </p:cNvSpPr>
          <p:nvPr/>
        </p:nvSpPr>
        <p:spPr bwMode="auto">
          <a:xfrm>
            <a:off x="1930400" y="1622425"/>
            <a:ext cx="8572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67" name="Rectangle 16"/>
          <p:cNvSpPr>
            <a:spLocks noChangeArrowheads="1"/>
          </p:cNvSpPr>
          <p:nvPr/>
        </p:nvSpPr>
        <p:spPr bwMode="auto">
          <a:xfrm>
            <a:off x="1076325" y="2314575"/>
            <a:ext cx="85725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147" name="Line 17"/>
          <p:cNvSpPr>
            <a:spLocks noChangeShapeType="1"/>
          </p:cNvSpPr>
          <p:nvPr/>
        </p:nvSpPr>
        <p:spPr bwMode="auto">
          <a:xfrm flipH="1">
            <a:off x="1484313" y="1979613"/>
            <a:ext cx="533400" cy="43180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aphicFrame>
        <p:nvGraphicFramePr>
          <p:cNvPr id="40" name="Group 18"/>
          <p:cNvGraphicFramePr>
            <a:graphicFrameLocks noGrp="1"/>
          </p:cNvGraphicFramePr>
          <p:nvPr/>
        </p:nvGraphicFramePr>
        <p:xfrm>
          <a:off x="6980238" y="441325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a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[11]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main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1" name="Group 26"/>
          <p:cNvGraphicFramePr>
            <a:graphicFrameLocks noGrp="1"/>
          </p:cNvGraphicFramePr>
          <p:nvPr/>
        </p:nvGraphicFramePr>
        <p:xfrm>
          <a:off x="6980238" y="1135879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(1,9)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70685" name="Rectangle 31"/>
          <p:cNvSpPr>
            <a:spLocks noChangeArrowheads="1"/>
          </p:cNvSpPr>
          <p:nvPr/>
        </p:nvSpPr>
        <p:spPr bwMode="auto">
          <a:xfrm>
            <a:off x="1290638" y="44450"/>
            <a:ext cx="2105025" cy="439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4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4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46" name="Group 42"/>
          <p:cNvGraphicFramePr>
            <a:graphicFrameLocks noGrp="1"/>
          </p:cNvGraphicFramePr>
          <p:nvPr/>
        </p:nvGraphicFramePr>
        <p:xfrm>
          <a:off x="6980238" y="1824898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(1,3)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9" name="Line 14"/>
          <p:cNvSpPr>
            <a:spLocks noChangeShapeType="1"/>
          </p:cNvSpPr>
          <p:nvPr/>
        </p:nvSpPr>
        <p:spPr bwMode="auto">
          <a:xfrm flipH="1">
            <a:off x="2284413" y="20367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70696" name="Rectangle 15"/>
          <p:cNvSpPr>
            <a:spLocks noChangeArrowheads="1"/>
          </p:cNvSpPr>
          <p:nvPr/>
        </p:nvSpPr>
        <p:spPr bwMode="auto">
          <a:xfrm>
            <a:off x="1944688" y="2279650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(1,0)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21" name="Group 42"/>
          <p:cNvGraphicFramePr>
            <a:graphicFrameLocks noGrp="1"/>
          </p:cNvGraphicFramePr>
          <p:nvPr/>
        </p:nvGraphicFramePr>
        <p:xfrm>
          <a:off x="6980238" y="2507523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/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(2,3)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  <a:endParaRPr kumimoji="0" lang="en-US" altLang="zh-CN" sz="1800" b="1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23" name="Rectangle 18"/>
          <p:cNvSpPr>
            <a:spLocks noChangeArrowheads="1"/>
          </p:cNvSpPr>
          <p:nvPr/>
        </p:nvSpPr>
        <p:spPr bwMode="auto">
          <a:xfrm>
            <a:off x="2855913" y="2297113"/>
            <a:ext cx="85725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(2,3)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>
            <a:off x="2578100" y="2001838"/>
            <a:ext cx="533400" cy="4333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2" name="组合 24"/>
          <p:cNvGrpSpPr/>
          <p:nvPr/>
        </p:nvGrpSpPr>
        <p:grpSpPr bwMode="auto">
          <a:xfrm>
            <a:off x="2017713" y="1258888"/>
            <a:ext cx="5121275" cy="2193925"/>
            <a:chOff x="2017068" y="1258143"/>
            <a:chExt cx="5121919" cy="2193950"/>
          </a:xfrm>
        </p:grpSpPr>
        <p:sp>
          <p:nvSpPr>
            <p:cNvPr id="70709" name="Line 12"/>
            <p:cNvSpPr>
              <a:spLocks noChangeShapeType="1"/>
            </p:cNvSpPr>
            <p:nvPr/>
          </p:nvSpPr>
          <p:spPr bwMode="auto">
            <a:xfrm flipH="1">
              <a:off x="3199359" y="2643758"/>
              <a:ext cx="0" cy="29408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10" name="Line 20"/>
            <p:cNvSpPr>
              <a:spLocks noChangeShapeType="1"/>
            </p:cNvSpPr>
            <p:nvPr/>
          </p:nvSpPr>
          <p:spPr bwMode="auto">
            <a:xfrm flipH="1">
              <a:off x="2464742" y="2665462"/>
              <a:ext cx="523875" cy="2952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11" name="Line 21"/>
            <p:cNvSpPr>
              <a:spLocks noChangeShapeType="1"/>
            </p:cNvSpPr>
            <p:nvPr/>
          </p:nvSpPr>
          <p:spPr bwMode="auto">
            <a:xfrm>
              <a:off x="3483918" y="2665462"/>
              <a:ext cx="606028" cy="2952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12" name="Rectangle 22"/>
            <p:cNvSpPr>
              <a:spLocks noChangeArrowheads="1"/>
            </p:cNvSpPr>
            <p:nvPr/>
          </p:nvSpPr>
          <p:spPr bwMode="auto">
            <a:xfrm>
              <a:off x="2827884" y="2931790"/>
              <a:ext cx="857250" cy="355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(2,1)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0713" name="Rectangle 23"/>
            <p:cNvSpPr>
              <a:spLocks noChangeArrowheads="1"/>
            </p:cNvSpPr>
            <p:nvPr/>
          </p:nvSpPr>
          <p:spPr bwMode="auto">
            <a:xfrm>
              <a:off x="3726806" y="2931790"/>
              <a:ext cx="856059" cy="5203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(3,3)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0714" name="Rectangle 24"/>
            <p:cNvSpPr>
              <a:spLocks noChangeArrowheads="1"/>
            </p:cNvSpPr>
            <p:nvPr/>
          </p:nvSpPr>
          <p:spPr bwMode="auto">
            <a:xfrm>
              <a:off x="2017068" y="2931790"/>
              <a:ext cx="856059" cy="5191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(2,3)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0715" name="Line 25"/>
            <p:cNvSpPr>
              <a:spLocks noChangeShapeType="1"/>
            </p:cNvSpPr>
            <p:nvPr/>
          </p:nvSpPr>
          <p:spPr bwMode="auto">
            <a:xfrm flipH="1">
              <a:off x="5767387" y="2571750"/>
              <a:ext cx="0" cy="2952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16" name="Rectangle 26"/>
            <p:cNvSpPr>
              <a:spLocks noChangeArrowheads="1"/>
            </p:cNvSpPr>
            <p:nvPr/>
          </p:nvSpPr>
          <p:spPr bwMode="auto">
            <a:xfrm>
              <a:off x="4644008" y="1628428"/>
              <a:ext cx="856059" cy="5214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(5,9)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0717" name="Line 27"/>
            <p:cNvSpPr>
              <a:spLocks noChangeShapeType="1"/>
            </p:cNvSpPr>
            <p:nvPr/>
          </p:nvSpPr>
          <p:spPr bwMode="auto">
            <a:xfrm flipH="1">
              <a:off x="5087491" y="2002284"/>
              <a:ext cx="0" cy="2952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18" name="Rectangle 28"/>
            <p:cNvSpPr>
              <a:spLocks noChangeArrowheads="1"/>
            </p:cNvSpPr>
            <p:nvPr/>
          </p:nvSpPr>
          <p:spPr bwMode="auto">
            <a:xfrm>
              <a:off x="4716016" y="2228503"/>
              <a:ext cx="856059" cy="5191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(5,5)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0719" name="Rectangle 29"/>
            <p:cNvSpPr>
              <a:spLocks noChangeArrowheads="1"/>
            </p:cNvSpPr>
            <p:nvPr/>
          </p:nvSpPr>
          <p:spPr bwMode="auto">
            <a:xfrm>
              <a:off x="4035177" y="2263031"/>
              <a:ext cx="856059" cy="5203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(5,9)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0720" name="Line 30"/>
            <p:cNvSpPr>
              <a:spLocks noChangeShapeType="1"/>
            </p:cNvSpPr>
            <p:nvPr/>
          </p:nvSpPr>
          <p:spPr bwMode="auto">
            <a:xfrm flipH="1">
              <a:off x="4455467" y="2002284"/>
              <a:ext cx="499443" cy="35361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21" name="Rectangle 31"/>
            <p:cNvSpPr>
              <a:spLocks noChangeArrowheads="1"/>
            </p:cNvSpPr>
            <p:nvPr/>
          </p:nvSpPr>
          <p:spPr bwMode="auto">
            <a:xfrm>
              <a:off x="5412581" y="2199928"/>
              <a:ext cx="857250" cy="5214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(7,9)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0722" name="Line 32"/>
            <p:cNvSpPr>
              <a:spLocks noChangeShapeType="1"/>
            </p:cNvSpPr>
            <p:nvPr/>
          </p:nvSpPr>
          <p:spPr bwMode="auto">
            <a:xfrm>
              <a:off x="5151785" y="1979662"/>
              <a:ext cx="544537" cy="31313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23" name="Line 33"/>
            <p:cNvSpPr>
              <a:spLocks noChangeShapeType="1"/>
            </p:cNvSpPr>
            <p:nvPr/>
          </p:nvSpPr>
          <p:spPr bwMode="auto">
            <a:xfrm flipH="1">
              <a:off x="4936330" y="2608312"/>
              <a:ext cx="564357" cy="27766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24" name="Line 34"/>
            <p:cNvSpPr>
              <a:spLocks noChangeShapeType="1"/>
            </p:cNvSpPr>
            <p:nvPr/>
          </p:nvSpPr>
          <p:spPr bwMode="auto">
            <a:xfrm>
              <a:off x="6053136" y="2608312"/>
              <a:ext cx="542925" cy="258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25" name="Rectangle 35"/>
            <p:cNvSpPr>
              <a:spLocks noChangeArrowheads="1"/>
            </p:cNvSpPr>
            <p:nvPr/>
          </p:nvSpPr>
          <p:spPr bwMode="auto">
            <a:xfrm>
              <a:off x="5384006" y="2859782"/>
              <a:ext cx="857250" cy="3643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(7,7)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0726" name="Rectangle 36"/>
            <p:cNvSpPr>
              <a:spLocks noChangeArrowheads="1"/>
            </p:cNvSpPr>
            <p:nvPr/>
          </p:nvSpPr>
          <p:spPr bwMode="auto">
            <a:xfrm>
              <a:off x="6282928" y="2859782"/>
              <a:ext cx="856059" cy="5191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(9,9)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0727" name="Rectangle 37"/>
            <p:cNvSpPr>
              <a:spLocks noChangeArrowheads="1"/>
            </p:cNvSpPr>
            <p:nvPr/>
          </p:nvSpPr>
          <p:spPr bwMode="auto">
            <a:xfrm>
              <a:off x="4572000" y="2859782"/>
              <a:ext cx="857250" cy="5203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(7,9)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0728" name="Line 38"/>
            <p:cNvSpPr>
              <a:spLocks noChangeShapeType="1"/>
            </p:cNvSpPr>
            <p:nvPr/>
          </p:nvSpPr>
          <p:spPr bwMode="auto">
            <a:xfrm>
              <a:off x="2593331" y="1258143"/>
              <a:ext cx="2297905" cy="40223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51" name="矩形 41"/>
          <p:cNvSpPr>
            <a:spLocks noChangeArrowheads="1"/>
          </p:cNvSpPr>
          <p:nvPr/>
        </p:nvSpPr>
        <p:spPr bwMode="auto">
          <a:xfrm>
            <a:off x="0" y="3435350"/>
            <a:ext cx="9036050" cy="160813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68580" tIns="34290" rIns="68580" bIns="34290">
            <a:spAutoFit/>
          </a:bodyPr>
          <a:lstStyle/>
          <a:p>
            <a:pPr algn="just" eaLnBrk="1" hangingPunct="1">
              <a:lnSpc>
                <a:spcPts val="3000"/>
              </a:lnSpc>
              <a:buFont typeface="Wingdings" panose="05000000000000000000" pitchFamily="2" charset="2"/>
              <a:buChar char="Ø"/>
              <a:defRPr/>
            </a:pP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每个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活跃的活动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都有一个位于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中的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活动记录</a:t>
            </a:r>
            <a:endParaRPr lang="en-US" altLang="zh-CN" sz="19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3000"/>
              </a:lnSpc>
              <a:buFont typeface="Wingdings" panose="05000000000000000000" pitchFamily="2" charset="2"/>
              <a:buChar char="Ø"/>
              <a:defRPr/>
            </a:pPr>
            <a:r>
              <a:rPr lang="en-US" altLang="zh-CN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活动树的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根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的活动记录位于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栈底</a:t>
            </a:r>
            <a:endParaRPr lang="en-US" altLang="zh-CN" sz="19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3000"/>
              </a:lnSpc>
              <a:buFont typeface="Wingdings" panose="05000000000000000000" pitchFamily="2" charset="2"/>
              <a:buChar char="Ø"/>
              <a:defRPr/>
            </a:pPr>
            <a:r>
              <a:rPr lang="en-US" altLang="zh-CN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程序控制所在的活动的记录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位于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栈顶</a:t>
            </a:r>
            <a:endParaRPr lang="en-US" altLang="zh-CN" sz="19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3000"/>
              </a:lnSpc>
              <a:buFont typeface="Wingdings" panose="05000000000000000000" pitchFamily="2" charset="2"/>
              <a:buChar char="Ø"/>
              <a:defRPr/>
            </a:pPr>
            <a:r>
              <a:rPr lang="en-US" altLang="zh-CN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栈中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全部活动记录的序列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对应于在活动树中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到达当前控制所在的活动结点的路径</a:t>
            </a:r>
            <a:endParaRPr lang="zh-CN" altLang="en-US" sz="19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45" name="Rectangle 32"/>
          <p:cNvSpPr>
            <a:spLocks noChangeArrowheads="1"/>
          </p:cNvSpPr>
          <p:nvPr/>
        </p:nvSpPr>
        <p:spPr bwMode="auto">
          <a:xfrm>
            <a:off x="6444208" y="-20638"/>
            <a:ext cx="2448272" cy="43858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控制栈向下增长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5536883" y="2924175"/>
            <a:ext cx="2238692" cy="15446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5536883" y="1298575"/>
            <a:ext cx="2238692" cy="16256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6547" name="Rectangle 3"/>
          <p:cNvSpPr>
            <a:spLocks noGrp="1" noChangeArrowheads="1"/>
          </p:cNvSpPr>
          <p:nvPr>
            <p:ph idx="1"/>
          </p:nvPr>
        </p:nvSpPr>
        <p:spPr>
          <a:xfrm>
            <a:off x="430213" y="846138"/>
            <a:ext cx="4070350" cy="4102100"/>
          </a:xfrm>
        </p:spPr>
        <p:txBody>
          <a:bodyPr/>
          <a:lstStyle/>
          <a:p>
            <a:pPr marL="272415" indent="-272415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在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调用者和被调用者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之间传递的值一般被放在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被调用者的活动记录的开始位置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，这样它们可以尽可能地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靠近调用者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的活动记录</a:t>
            </a:r>
            <a:endParaRPr lang="en-US" altLang="zh-CN" sz="20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2415" indent="-272415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固定长度的项被放置在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中间位置</a:t>
            </a:r>
            <a:endParaRPr lang="en-US" altLang="zh-CN" sz="2000" b="1" dirty="0">
              <a:solidFill>
                <a:srgbClr val="0070C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575310" lvl="1" indent="-272415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控制链、访问链、机器状态字</a:t>
            </a:r>
            <a:endParaRPr lang="en-US" altLang="zh-CN" sz="20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2415" indent="-272415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在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早期不知道大小的项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被放置在活动记录的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尾部，如变长数组</a:t>
            </a:r>
            <a:endParaRPr lang="en-US" altLang="zh-CN" sz="2000" b="1" dirty="0">
              <a:solidFill>
                <a:srgbClr val="0070C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2415" indent="-272415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栈顶指针寄存器</a:t>
            </a:r>
            <a:r>
              <a:rPr lang="en-US" altLang="zh-CN" sz="2000" b="1" i="1" dirty="0" err="1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指向活动记录中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机器状态字段的末端即局部数据开始的位置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，以该位置作为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基地址访问活动记录中的数据</a:t>
            </a:r>
            <a:endParaRPr lang="en-US" altLang="zh-CN" sz="2000" b="1" dirty="0">
              <a:solidFill>
                <a:srgbClr val="0070C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72707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设计活动记录的一些原则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72708" name="组合 60"/>
          <p:cNvGrpSpPr/>
          <p:nvPr/>
        </p:nvGrpSpPr>
        <p:grpSpPr bwMode="auto">
          <a:xfrm>
            <a:off x="4495800" y="846138"/>
            <a:ext cx="4643437" cy="3644900"/>
            <a:chOff x="4429124" y="928676"/>
            <a:chExt cx="4643469" cy="3644926"/>
          </a:xfrm>
        </p:grpSpPr>
        <p:cxnSp>
          <p:nvCxnSpPr>
            <p:cNvPr id="53" name="直接连接符 52"/>
            <p:cNvCxnSpPr/>
            <p:nvPr/>
          </p:nvCxnSpPr>
          <p:spPr bwMode="auto">
            <a:xfrm rot="16200000" flipV="1">
              <a:off x="7637483" y="3776671"/>
              <a:ext cx="1584336" cy="0"/>
            </a:xfrm>
            <a:prstGeom prst="line">
              <a:avLst/>
            </a:prstGeom>
            <a:ln w="38100">
              <a:solidFill>
                <a:srgbClr val="C00000"/>
              </a:solidFill>
              <a:prstDash val="solid"/>
              <a:headEnd type="stealt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710" name="Rectangle 5"/>
            <p:cNvSpPr>
              <a:spLocks noChangeArrowheads="1"/>
            </p:cNvSpPr>
            <p:nvPr/>
          </p:nvSpPr>
          <p:spPr bwMode="auto">
            <a:xfrm>
              <a:off x="7725113" y="3449644"/>
              <a:ext cx="1347480" cy="64294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8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被调用者</a:t>
              </a:r>
              <a:r>
                <a:rPr lang="zh-CN" altLang="en-US" sz="1800" dirty="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的活动记录</a:t>
              </a:r>
              <a:endParaRPr lang="zh-CN" altLang="en-US" sz="18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72711" name="Rectangle 11"/>
            <p:cNvSpPr>
              <a:spLocks noChangeArrowheads="1"/>
            </p:cNvSpPr>
            <p:nvPr/>
          </p:nvSpPr>
          <p:spPr bwMode="auto">
            <a:xfrm>
              <a:off x="5481102" y="1776871"/>
              <a:ext cx="3234302" cy="4888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zh-CN" altLang="en-US" sz="2000" dirty="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控制链</a:t>
              </a:r>
              <a:endParaRPr lang="en-US" altLang="zh-CN" sz="20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zh-CN" altLang="en-US" sz="2000" dirty="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访问链和机器状态</a:t>
              </a:r>
              <a:endParaRPr lang="zh-CN" altLang="en-US" sz="20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20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72712" name="组合 25"/>
            <p:cNvGrpSpPr/>
            <p:nvPr/>
          </p:nvGrpSpPr>
          <p:grpSpPr bwMode="auto">
            <a:xfrm>
              <a:off x="5449576" y="1337951"/>
              <a:ext cx="2622886" cy="3234063"/>
              <a:chOff x="6000760" y="1500180"/>
              <a:chExt cx="2622886" cy="3234063"/>
            </a:xfrm>
          </p:grpSpPr>
          <p:sp>
            <p:nvSpPr>
              <p:cNvPr id="72727" name="Rectangle 5"/>
              <p:cNvSpPr>
                <a:spLocks noChangeArrowheads="1"/>
              </p:cNvSpPr>
              <p:nvPr/>
            </p:nvSpPr>
            <p:spPr bwMode="auto">
              <a:xfrm>
                <a:off x="6107276" y="1500180"/>
                <a:ext cx="2159180" cy="4888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tIns="82800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pPr algn="ctr"/>
                <a:r>
                  <a:rPr lang="zh-CN" altLang="en-US" sz="2000">
                    <a:solidFill>
                      <a:srgbClr val="000000"/>
                    </a:solidFill>
                    <a:latin typeface="楷体" panose="02010609060101010101" pitchFamily="49" charset="-122"/>
                    <a:ea typeface="楷体" panose="02010609060101010101" pitchFamily="49" charset="-122"/>
                    <a:cs typeface="Times New Roman" panose="02020603050405020304" pitchFamily="18" charset="0"/>
                  </a:rPr>
                  <a:t>参数和返回值</a:t>
                </a:r>
                <a:endParaRPr lang="zh-CN" altLang="en-US" sz="20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504" name="Line 6"/>
              <p:cNvSpPr>
                <a:spLocks noChangeShapeType="1"/>
              </p:cNvSpPr>
              <p:nvPr/>
            </p:nvSpPr>
            <p:spPr bwMode="auto">
              <a:xfrm>
                <a:off x="6082041" y="1970386"/>
                <a:ext cx="2197115" cy="0"/>
              </a:xfrm>
              <a:prstGeom prst="lin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lang="zh-CN" altLang="en-US">
                  <a:solidFill>
                    <a:prstClr val="black"/>
                  </a:solidFill>
                  <a:ea typeface="方正楷体_GB2312" charset="0"/>
                  <a:cs typeface="方正楷体_GB2312" charset="0"/>
                </a:endParaRPr>
              </a:p>
            </p:txBody>
          </p:sp>
          <p:sp>
            <p:nvSpPr>
              <p:cNvPr id="20505" name="Line 10"/>
              <p:cNvSpPr>
                <a:spLocks noChangeShapeType="1"/>
              </p:cNvSpPr>
              <p:nvPr/>
            </p:nvSpPr>
            <p:spPr bwMode="auto">
              <a:xfrm>
                <a:off x="6061403" y="4284978"/>
                <a:ext cx="2195527" cy="0"/>
              </a:xfrm>
              <a:prstGeom prst="lin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lang="zh-CN" altLang="en-US">
                  <a:solidFill>
                    <a:prstClr val="black"/>
                  </a:solidFill>
                  <a:ea typeface="方正楷体_GB2312" charset="0"/>
                  <a:cs typeface="方正楷体_GB2312" charset="0"/>
                </a:endParaRPr>
              </a:p>
            </p:txBody>
          </p:sp>
          <p:sp>
            <p:nvSpPr>
              <p:cNvPr id="20506" name="Line 12"/>
              <p:cNvSpPr>
                <a:spLocks noChangeShapeType="1"/>
              </p:cNvSpPr>
              <p:nvPr/>
            </p:nvSpPr>
            <p:spPr bwMode="auto">
              <a:xfrm>
                <a:off x="6058228" y="3578535"/>
                <a:ext cx="2195527" cy="0"/>
              </a:xfrm>
              <a:prstGeom prst="lin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lang="zh-CN" altLang="en-US">
                  <a:solidFill>
                    <a:prstClr val="black"/>
                  </a:solidFill>
                  <a:ea typeface="方正楷体_GB2312" charset="0"/>
                  <a:cs typeface="方正楷体_GB2312" charset="0"/>
                </a:endParaRPr>
              </a:p>
            </p:txBody>
          </p:sp>
          <p:sp>
            <p:nvSpPr>
              <p:cNvPr id="20" name="Line 13"/>
              <p:cNvSpPr>
                <a:spLocks noChangeShapeType="1"/>
              </p:cNvSpPr>
              <p:nvPr/>
            </p:nvSpPr>
            <p:spPr bwMode="auto">
              <a:xfrm>
                <a:off x="6064578" y="3168957"/>
                <a:ext cx="2195527" cy="0"/>
              </a:xfrm>
              <a:prstGeom prst="line">
                <a:avLst/>
              </a:prstGeom>
              <a:noFill/>
              <a:ln w="25400">
                <a:solidFill>
                  <a:schemeClr val="tx2">
                    <a:lumMod val="60000"/>
                    <a:lumOff val="40000"/>
                  </a:schemeClr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lang="zh-CN" altLang="en-US">
                  <a:solidFill>
                    <a:prstClr val="black"/>
                  </a:solidFill>
                  <a:ea typeface="方正楷体_GB2312" charset="0"/>
                </a:endParaRPr>
              </a:p>
            </p:txBody>
          </p:sp>
          <p:sp>
            <p:nvSpPr>
              <p:cNvPr id="20508" name="Line 14"/>
              <p:cNvSpPr>
                <a:spLocks noChangeShapeType="1"/>
              </p:cNvSpPr>
              <p:nvPr/>
            </p:nvSpPr>
            <p:spPr bwMode="auto">
              <a:xfrm>
                <a:off x="6061403" y="2743504"/>
                <a:ext cx="2195527" cy="0"/>
              </a:xfrm>
              <a:prstGeom prst="lin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lang="zh-CN" altLang="en-US">
                  <a:solidFill>
                    <a:prstClr val="black"/>
                  </a:solidFill>
                  <a:ea typeface="方正楷体_GB2312" charset="0"/>
                  <a:cs typeface="方正楷体_GB2312" charset="0"/>
                </a:endParaRPr>
              </a:p>
            </p:txBody>
          </p:sp>
          <p:sp>
            <p:nvSpPr>
              <p:cNvPr id="72733" name="Rectangle 15"/>
              <p:cNvSpPr>
                <a:spLocks noChangeArrowheads="1"/>
              </p:cNvSpPr>
              <p:nvPr/>
            </p:nvSpPr>
            <p:spPr bwMode="auto">
              <a:xfrm>
                <a:off x="6000760" y="2713659"/>
                <a:ext cx="2428892" cy="4888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tIns="82800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r>
                  <a:rPr lang="zh-CN" altLang="en-US" sz="2000" dirty="0">
                    <a:solidFill>
                      <a:srgbClr val="000000"/>
                    </a:solidFill>
                    <a:latin typeface="楷体" panose="02010609060101010101" pitchFamily="49" charset="-122"/>
                    <a:ea typeface="楷体" panose="02010609060101010101" pitchFamily="49" charset="-122"/>
                    <a:cs typeface="Times New Roman" panose="02020603050405020304" pitchFamily="18" charset="0"/>
                  </a:rPr>
                  <a:t>局部数据临时数据</a:t>
                </a:r>
                <a:endParaRPr lang="zh-CN" altLang="en-US" sz="2000" dirty="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2734" name="Rectangle 16"/>
              <p:cNvSpPr>
                <a:spLocks noChangeArrowheads="1"/>
              </p:cNvSpPr>
              <p:nvPr/>
            </p:nvSpPr>
            <p:spPr bwMode="auto">
              <a:xfrm>
                <a:off x="6130497" y="3132772"/>
                <a:ext cx="2064521" cy="4888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tIns="82800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pPr algn="ctr"/>
                <a:r>
                  <a:rPr lang="zh-CN" altLang="en-US" sz="2000">
                    <a:solidFill>
                      <a:srgbClr val="000000"/>
                    </a:solidFill>
                    <a:latin typeface="楷体" panose="02010609060101010101" pitchFamily="49" charset="-122"/>
                    <a:ea typeface="楷体" panose="02010609060101010101" pitchFamily="49" charset="-122"/>
                    <a:cs typeface="Times New Roman" panose="02020603050405020304" pitchFamily="18" charset="0"/>
                  </a:rPr>
                  <a:t>参数和返回值</a:t>
                </a:r>
                <a:endParaRPr lang="zh-CN" altLang="en-US" sz="20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2735" name="Rectangle 17"/>
              <p:cNvSpPr>
                <a:spLocks noChangeArrowheads="1"/>
              </p:cNvSpPr>
              <p:nvPr/>
            </p:nvSpPr>
            <p:spPr bwMode="auto">
              <a:xfrm>
                <a:off x="6021398" y="3530610"/>
                <a:ext cx="2602248" cy="4888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tIns="82800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r>
                  <a:rPr lang="zh-CN" altLang="en-US" sz="2000">
                    <a:solidFill>
                      <a:srgbClr val="000000"/>
                    </a:solidFill>
                    <a:latin typeface="楷体" panose="02010609060101010101" pitchFamily="49" charset="-122"/>
                    <a:ea typeface="楷体" panose="02010609060101010101" pitchFamily="49" charset="-122"/>
                    <a:cs typeface="Times New Roman" panose="02020603050405020304" pitchFamily="18" charset="0"/>
                  </a:rPr>
                  <a:t>控制链</a:t>
                </a:r>
                <a:endParaRPr lang="en-US" altLang="zh-CN" sz="20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sz="2000">
                    <a:solidFill>
                      <a:srgbClr val="000000"/>
                    </a:solidFill>
                    <a:latin typeface="楷体" panose="02010609060101010101" pitchFamily="49" charset="-122"/>
                    <a:ea typeface="楷体" panose="02010609060101010101" pitchFamily="49" charset="-122"/>
                    <a:cs typeface="Times New Roman" panose="02020603050405020304" pitchFamily="18" charset="0"/>
                  </a:rPr>
                  <a:t>访问链和机器状态</a:t>
                </a:r>
                <a:endParaRPr lang="zh-CN" altLang="en-US" sz="20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2736" name="Rectangle 15"/>
              <p:cNvSpPr>
                <a:spLocks noChangeArrowheads="1"/>
              </p:cNvSpPr>
              <p:nvPr/>
            </p:nvSpPr>
            <p:spPr bwMode="auto">
              <a:xfrm>
                <a:off x="6021398" y="4245436"/>
                <a:ext cx="2428892" cy="4888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tIns="82800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r>
                  <a:rPr lang="zh-CN" altLang="en-US" sz="2000">
                    <a:solidFill>
                      <a:srgbClr val="000000"/>
                    </a:solidFill>
                    <a:latin typeface="楷体" panose="02010609060101010101" pitchFamily="49" charset="-122"/>
                    <a:ea typeface="楷体" panose="02010609060101010101" pitchFamily="49" charset="-122"/>
                    <a:cs typeface="Times New Roman" panose="02020603050405020304" pitchFamily="18" charset="0"/>
                  </a:rPr>
                  <a:t>局部数据临时数据</a:t>
                </a:r>
                <a:endParaRPr lang="zh-CN" altLang="en-US" sz="20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" name="Rectangle 4"/>
              <p:cNvSpPr>
                <a:spLocks noChangeArrowheads="1"/>
              </p:cNvSpPr>
              <p:nvPr/>
            </p:nvSpPr>
            <p:spPr bwMode="auto">
              <a:xfrm>
                <a:off x="6021397" y="1559220"/>
                <a:ext cx="2245058" cy="3154385"/>
              </a:xfrm>
              <a:prstGeom prst="rect">
                <a:avLst/>
              </a:prstGeom>
              <a:noFill/>
              <a:ln w="25400">
                <a:solidFill>
                  <a:schemeClr val="tx2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/>
              <a:lstStyle/>
              <a:p>
                <a:pPr eaLnBrk="1" hangingPunct="1">
                  <a:defRPr/>
                </a:pPr>
                <a:endParaRPr lang="zh-CN" altLang="en-US" sz="1800" b="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38" name="弧形 37"/>
            <p:cNvSpPr/>
            <p:nvPr/>
          </p:nvSpPr>
          <p:spPr bwMode="auto">
            <a:xfrm rot="9398377" flipV="1">
              <a:off x="5255057" y="2507126"/>
              <a:ext cx="936694" cy="1366188"/>
            </a:xfrm>
            <a:prstGeom prst="arc">
              <a:avLst>
                <a:gd name="adj1" fmla="val 16193764"/>
                <a:gd name="adj2" fmla="val 2057466"/>
              </a:avLst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>
                <a:solidFill>
                  <a:prstClr val="black"/>
                </a:solidFill>
              </a:endParaRPr>
            </a:p>
          </p:txBody>
        </p:sp>
        <p:sp>
          <p:nvSpPr>
            <p:cNvPr id="40" name="弧形 39"/>
            <p:cNvSpPr/>
            <p:nvPr/>
          </p:nvSpPr>
          <p:spPr bwMode="auto">
            <a:xfrm rot="10056762" flipV="1">
              <a:off x="5240343" y="1377941"/>
              <a:ext cx="261939" cy="674693"/>
            </a:xfrm>
            <a:prstGeom prst="arc">
              <a:avLst>
                <a:gd name="adj1" fmla="val 16831102"/>
                <a:gd name="adj2" fmla="val 5229498"/>
              </a:avLst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>
                <a:solidFill>
                  <a:prstClr val="black"/>
                </a:solidFill>
              </a:endParaRPr>
            </a:p>
          </p:txBody>
        </p:sp>
        <p:cxnSp>
          <p:nvCxnSpPr>
            <p:cNvPr id="41" name="直接连接符 40"/>
            <p:cNvCxnSpPr/>
            <p:nvPr/>
          </p:nvCxnSpPr>
          <p:spPr bwMode="auto">
            <a:xfrm rot="16200000" flipV="1">
              <a:off x="5302451" y="1266815"/>
              <a:ext cx="323852" cy="0"/>
            </a:xfrm>
            <a:prstGeom prst="line">
              <a:avLst/>
            </a:prstGeom>
            <a:ln w="25400">
              <a:solidFill>
                <a:schemeClr val="tx2">
                  <a:lumMod val="60000"/>
                  <a:lumOff val="40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/>
            <p:cNvCxnSpPr/>
            <p:nvPr/>
          </p:nvCxnSpPr>
          <p:spPr bwMode="auto">
            <a:xfrm rot="16200000" flipV="1">
              <a:off x="7553345" y="1233478"/>
              <a:ext cx="323852" cy="0"/>
            </a:xfrm>
            <a:prstGeom prst="line">
              <a:avLst/>
            </a:prstGeom>
            <a:ln w="25400">
              <a:solidFill>
                <a:schemeClr val="tx2">
                  <a:lumMod val="60000"/>
                  <a:lumOff val="40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717" name="Rectangle 5"/>
            <p:cNvSpPr>
              <a:spLocks noChangeArrowheads="1"/>
            </p:cNvSpPr>
            <p:nvPr/>
          </p:nvSpPr>
          <p:spPr bwMode="auto">
            <a:xfrm>
              <a:off x="5556092" y="928676"/>
              <a:ext cx="2087742" cy="4888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0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.  .  .</a:t>
              </a:r>
              <a:endParaRPr lang="zh-CN" altLang="en-US" sz="20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44" name="直接连接符 43"/>
            <p:cNvCxnSpPr/>
            <p:nvPr/>
          </p:nvCxnSpPr>
          <p:spPr bwMode="auto">
            <a:xfrm rot="16200000" flipV="1">
              <a:off x="4408487" y="2908302"/>
              <a:ext cx="755655" cy="0"/>
            </a:xfrm>
            <a:prstGeom prst="line">
              <a:avLst/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stealth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719" name="Rectangle 5"/>
            <p:cNvSpPr>
              <a:spLocks noChangeArrowheads="1"/>
            </p:cNvSpPr>
            <p:nvPr/>
          </p:nvSpPr>
          <p:spPr bwMode="auto">
            <a:xfrm>
              <a:off x="4500562" y="2082796"/>
              <a:ext cx="571504" cy="4889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2000" dirty="0">
                  <a:solidFill>
                    <a:srgbClr val="2D83F4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栈</a:t>
              </a:r>
              <a:endParaRPr lang="zh-CN" altLang="en-US" sz="2000" dirty="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46" name="直接连接符 45"/>
            <p:cNvCxnSpPr/>
            <p:nvPr/>
          </p:nvCxnSpPr>
          <p:spPr bwMode="auto">
            <a:xfrm rot="10800000">
              <a:off x="5105404" y="4121161"/>
              <a:ext cx="323852" cy="1588"/>
            </a:xfrm>
            <a:prstGeom prst="line">
              <a:avLst/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stealth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721" name="Rectangle 5"/>
            <p:cNvSpPr>
              <a:spLocks noChangeArrowheads="1"/>
            </p:cNvSpPr>
            <p:nvPr/>
          </p:nvSpPr>
          <p:spPr bwMode="auto">
            <a:xfrm>
              <a:off x="4429124" y="3714758"/>
              <a:ext cx="1000132" cy="4889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800" i="1">
                  <a:solidFill>
                    <a:srgbClr val="2D83F4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top_sp</a:t>
              </a:r>
              <a:endParaRPr lang="zh-CN" altLang="en-US" sz="18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51" name="直接连接符 50"/>
            <p:cNvCxnSpPr/>
            <p:nvPr/>
          </p:nvCxnSpPr>
          <p:spPr bwMode="auto">
            <a:xfrm rot="16200000" flipV="1">
              <a:off x="7620021" y="2190747"/>
              <a:ext cx="1619262" cy="0"/>
            </a:xfrm>
            <a:prstGeom prst="line">
              <a:avLst/>
            </a:prstGeom>
            <a:ln w="38100">
              <a:solidFill>
                <a:srgbClr val="0000FF"/>
              </a:solidFill>
              <a:prstDash val="solid"/>
              <a:headEnd type="stealt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/>
            <p:nvPr/>
          </p:nvCxnSpPr>
          <p:spPr bwMode="auto">
            <a:xfrm rot="10800000">
              <a:off x="8269313" y="1406516"/>
              <a:ext cx="323852" cy="1588"/>
            </a:xfrm>
            <a:prstGeom prst="line">
              <a:avLst/>
            </a:prstGeom>
            <a:ln w="254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724" name="Rectangle 5"/>
            <p:cNvSpPr>
              <a:spLocks noChangeArrowheads="1"/>
            </p:cNvSpPr>
            <p:nvPr/>
          </p:nvSpPr>
          <p:spPr bwMode="auto">
            <a:xfrm>
              <a:off x="7842273" y="1928808"/>
              <a:ext cx="1158883" cy="64294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调用者</a:t>
              </a:r>
              <a:r>
                <a:rPr lang="zh-CN" altLang="en-US" sz="1800" dirty="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的活动记录</a:t>
              </a:r>
              <a:endParaRPr lang="zh-CN" altLang="en-US" sz="18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54" name="直接连接符 53"/>
            <p:cNvCxnSpPr/>
            <p:nvPr/>
          </p:nvCxnSpPr>
          <p:spPr bwMode="auto">
            <a:xfrm rot="10800000">
              <a:off x="8266138" y="3000378"/>
              <a:ext cx="323852" cy="1588"/>
            </a:xfrm>
            <a:prstGeom prst="line">
              <a:avLst/>
            </a:prstGeom>
            <a:ln w="254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/>
            <p:cNvCxnSpPr/>
            <p:nvPr/>
          </p:nvCxnSpPr>
          <p:spPr bwMode="auto">
            <a:xfrm rot="10800000">
              <a:off x="8266138" y="4572014"/>
              <a:ext cx="323852" cy="1588"/>
            </a:xfrm>
            <a:prstGeom prst="line">
              <a:avLst/>
            </a:prstGeom>
            <a:ln w="254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76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76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76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76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76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76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76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76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76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76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76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76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5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765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765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765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2"/>
            <a:ext cx="8428038" cy="4089399"/>
          </a:xfrm>
        </p:spPr>
        <p:txBody>
          <a:bodyPr/>
          <a:lstStyle/>
          <a:p>
            <a:pPr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过程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调用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和过程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返回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都需要执行一些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代码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来管理活动记录栈，保存或恢复机器状态等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0070C0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调用序列</a:t>
            </a:r>
            <a:endParaRPr lang="en-US" altLang="zh-CN" b="1" dirty="0">
              <a:solidFill>
                <a:srgbClr val="0070C0"/>
              </a:solidFill>
              <a:latin typeface="楷体" panose="02010609060101010101" pitchFamily="49" charset="-122"/>
              <a:cs typeface="Times New Roman" panose="02020603050405020304" pitchFamily="18" charset="0"/>
            </a:endParaRPr>
          </a:p>
          <a:p>
            <a:pPr lvl="2">
              <a:lnSpc>
                <a:spcPts val="3000"/>
              </a:lnSpc>
              <a:spcBef>
                <a:spcPts val="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实现过程调用的代码段。为一个活动记录在栈中分配空间，并在此记录的字段中填写信息并保存机器状态</a:t>
            </a:r>
            <a:endParaRPr lang="zh-CN" altLang="en-US" sz="22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algn="just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0070C0"/>
                </a:solidFill>
                <a:latin typeface="楷体" panose="02010609060101010101" pitchFamily="49" charset="-122"/>
              </a:rPr>
              <a:t>返回序列</a:t>
            </a:r>
            <a:endParaRPr lang="en-US" altLang="zh-CN" b="1" dirty="0">
              <a:solidFill>
                <a:srgbClr val="0070C0"/>
              </a:solidFill>
              <a:latin typeface="楷体" panose="02010609060101010101" pitchFamily="49" charset="-122"/>
            </a:endParaRPr>
          </a:p>
          <a:p>
            <a:pPr lvl="2" algn="just" eaLnBrk="1" hangingPunct="1">
              <a:lnSpc>
                <a:spcPts val="3000"/>
              </a:lnSpc>
              <a:spcBef>
                <a:spcPts val="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latin typeface="楷体" panose="02010609060101010101" pitchFamily="49" charset="-122"/>
              </a:rPr>
              <a:t>恢复机器状态，使得调用过程能够在调用结束之后继续执行</a:t>
            </a:r>
            <a:endParaRPr lang="zh-CN" altLang="en-US" sz="22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>
              <a:lnSpc>
                <a:spcPts val="3000"/>
              </a:lnSpc>
              <a:spcBef>
                <a:spcPts val="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0070C0"/>
                </a:solidFill>
              </a:rPr>
              <a:t>调用序列和返回序列</a:t>
            </a:r>
            <a:r>
              <a:rPr lang="zh-CN" altLang="en-US" b="1" dirty="0">
                <a:solidFill>
                  <a:schemeClr val="tx1"/>
                </a:solidFill>
              </a:rPr>
              <a:t>中的</a:t>
            </a:r>
            <a:r>
              <a:rPr lang="zh-CN" altLang="en-US" b="1" dirty="0">
                <a:solidFill>
                  <a:srgbClr val="0070C0"/>
                </a:solidFill>
              </a:rPr>
              <a:t>代码</a:t>
            </a:r>
            <a:r>
              <a:rPr lang="zh-CN" altLang="en-US" b="1" dirty="0">
                <a:solidFill>
                  <a:schemeClr val="tx1"/>
                </a:solidFill>
              </a:rPr>
              <a:t>通常被</a:t>
            </a:r>
            <a:r>
              <a:rPr lang="zh-CN" altLang="en-US" b="1" dirty="0">
                <a:solidFill>
                  <a:srgbClr val="0070C0"/>
                </a:solidFill>
              </a:rPr>
              <a:t>分割</a:t>
            </a:r>
            <a:r>
              <a:rPr lang="zh-CN" altLang="en-US" b="1" dirty="0">
                <a:solidFill>
                  <a:schemeClr val="tx1"/>
                </a:solidFill>
              </a:rPr>
              <a:t>到</a:t>
            </a:r>
            <a:r>
              <a:rPr lang="zh-CN" altLang="en-US" b="1" dirty="0">
                <a:solidFill>
                  <a:srgbClr val="0070C0"/>
                </a:solidFill>
              </a:rPr>
              <a:t>调用过程</a:t>
            </a:r>
            <a:r>
              <a:rPr lang="zh-CN" altLang="en-US" b="1" dirty="0">
                <a:solidFill>
                  <a:schemeClr val="tx1"/>
                </a:solidFill>
              </a:rPr>
              <a:t>（调用者）和</a:t>
            </a:r>
            <a:r>
              <a:rPr lang="zh-CN" altLang="en-US" b="1" dirty="0">
                <a:solidFill>
                  <a:srgbClr val="0070C0"/>
                </a:solidFill>
              </a:rPr>
              <a:t>被调用过程</a:t>
            </a:r>
            <a:r>
              <a:rPr lang="zh-CN" altLang="en-US" b="1" dirty="0">
                <a:solidFill>
                  <a:schemeClr val="tx1"/>
                </a:solidFill>
              </a:rPr>
              <a:t>（被调用者）中</a:t>
            </a:r>
            <a:endParaRPr lang="en-US" altLang="zh-CN" b="1" dirty="0">
              <a:solidFill>
                <a:schemeClr val="tx1"/>
              </a:solidFill>
            </a:endParaRPr>
          </a:p>
          <a:p>
            <a:pPr lvl="2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分割原则</a:t>
            </a:r>
            <a:r>
              <a:rPr lang="zh-CN" altLang="en-US" sz="22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：尽量分割给被调用者，因只被生成一次</a:t>
            </a:r>
            <a:endParaRPr lang="zh-CN" altLang="en-US" sz="22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475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调用序列和返回序列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5449783" y="2644655"/>
            <a:ext cx="2324210" cy="171550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5451363" y="926090"/>
            <a:ext cx="2324211" cy="17155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9" name="内容占位符 3"/>
          <p:cNvGraphicFramePr/>
          <p:nvPr/>
        </p:nvGraphicFramePr>
        <p:xfrm>
          <a:off x="5457825" y="590550"/>
          <a:ext cx="2325688" cy="411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25688"/>
              </a:tblGrid>
              <a:tr h="269016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00"/>
                          </a:solidFill>
                          <a:effectLst/>
                          <a:latin typeface="宋体" panose="02010600030101010101" pitchFamily="2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参数和返回值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控制链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访问链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保存的</a:t>
                      </a: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机器状态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局部数据和临时数</a:t>
                      </a: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据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参数</a:t>
                      </a: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和返回值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控制链</a:t>
                      </a:r>
                      <a:endParaRPr lang="zh-CN" altLang="en-US" sz="1800" dirty="0">
                        <a:solidFill>
                          <a:srgbClr val="0000FF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访问链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机器状态</a:t>
                      </a:r>
                      <a:r>
                        <a:rPr lang="en-US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zh-CN" altLang="en-US" sz="18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返回地址</a:t>
                      </a: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algn="ctr" eaLnBrk="0" fontAlgn="base" hangingPunct="0"/>
                      <a:r>
                        <a:rPr lang="zh-CN" altLang="zh-CN" sz="1800" b="1" kern="1200" dirty="0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局部数据</a:t>
                      </a: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和临时数据</a:t>
                      </a:r>
                      <a:endParaRPr lang="zh-CN" altLang="zh-CN" sz="18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09987" name="Rectangle 3"/>
          <p:cNvSpPr>
            <a:spLocks noGrp="1" noChangeArrowheads="1"/>
          </p:cNvSpPr>
          <p:nvPr>
            <p:ph idx="1"/>
          </p:nvPr>
        </p:nvSpPr>
        <p:spPr>
          <a:xfrm>
            <a:off x="323850" y="1001713"/>
            <a:ext cx="3937000" cy="3586261"/>
          </a:xfrm>
        </p:spPr>
        <p:txBody>
          <a:bodyPr/>
          <a:lstStyle/>
          <a:p>
            <a:pPr marL="271145" indent="-271145" algn="just" eaLnBrk="1" hangingPunct="1">
              <a:lnSpc>
                <a:spcPct val="80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计算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实际参数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的值</a:t>
            </a:r>
            <a:endParaRPr lang="en-US" altLang="zh-CN" sz="20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1145" indent="-271145" algn="just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将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返回地址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放到被调用者的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机器状态字段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中。将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自己的</a:t>
            </a:r>
            <a:r>
              <a:rPr lang="en-US" altLang="zh-CN" sz="20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放到被调用者的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控制链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中。然后，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增加</a:t>
            </a:r>
            <a:r>
              <a:rPr lang="en-US" altLang="zh-CN" sz="20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，使其指向被调用者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局部数据开始的位置</a:t>
            </a:r>
            <a:endParaRPr lang="en-US" altLang="zh-CN" sz="2000" b="1" dirty="0">
              <a:solidFill>
                <a:srgbClr val="0070C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1145" indent="-271145" algn="just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被调用者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保存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寄存器值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和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其它状态信息</a:t>
            </a:r>
            <a:endParaRPr lang="en-US" altLang="zh-CN" sz="2000" b="1" dirty="0">
              <a:solidFill>
                <a:srgbClr val="0070C0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1145" indent="-271145" algn="just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被调用者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初始化其局部数据并开始执行</a:t>
            </a:r>
            <a:endParaRPr lang="en-US" altLang="zh-CN" sz="20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7680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调用序列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6" name="直接连接符 35"/>
          <p:cNvCxnSpPr/>
          <p:nvPr/>
        </p:nvCxnSpPr>
        <p:spPr bwMode="auto">
          <a:xfrm flipH="1" flipV="1">
            <a:off x="4937128" y="2284414"/>
            <a:ext cx="503235" cy="1799504"/>
          </a:xfrm>
          <a:prstGeom prst="line">
            <a:avLst/>
          </a:prstGeom>
          <a:ln w="38100">
            <a:solidFill>
              <a:srgbClr val="0000FF"/>
            </a:solidFill>
            <a:prstDash val="solid"/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任意多边形 50"/>
          <p:cNvSpPr/>
          <p:nvPr/>
        </p:nvSpPr>
        <p:spPr>
          <a:xfrm>
            <a:off x="5207000" y="2355850"/>
            <a:ext cx="249238" cy="792163"/>
          </a:xfrm>
          <a:custGeom>
            <a:avLst/>
            <a:gdLst>
              <a:gd name="connsiteX0" fmla="*/ 180473 w 180473"/>
              <a:gd name="connsiteY0" fmla="*/ 1780674 h 1780674"/>
              <a:gd name="connsiteX1" fmla="*/ 0 w 180473"/>
              <a:gd name="connsiteY1" fmla="*/ 565484 h 1780674"/>
              <a:gd name="connsiteX2" fmla="*/ 180473 w 180473"/>
              <a:gd name="connsiteY2" fmla="*/ 0 h 1780674"/>
              <a:gd name="connsiteX0-1" fmla="*/ 201644 w 201644"/>
              <a:gd name="connsiteY0-2" fmla="*/ 1780674 h 1780674"/>
              <a:gd name="connsiteX1-3" fmla="*/ 0 w 201644"/>
              <a:gd name="connsiteY1-4" fmla="*/ 871797 h 1780674"/>
              <a:gd name="connsiteX2-5" fmla="*/ 201644 w 201644"/>
              <a:gd name="connsiteY2-6" fmla="*/ 0 h 1780674"/>
              <a:gd name="connsiteX0-7" fmla="*/ 201644 w 201644"/>
              <a:gd name="connsiteY0-8" fmla="*/ 1780674 h 1780674"/>
              <a:gd name="connsiteX1-9" fmla="*/ 0 w 201644"/>
              <a:gd name="connsiteY1-10" fmla="*/ 871797 h 1780674"/>
              <a:gd name="connsiteX2-11" fmla="*/ 201644 w 201644"/>
              <a:gd name="connsiteY2-12" fmla="*/ 0 h 1780674"/>
              <a:gd name="connsiteX0-13" fmla="*/ 201644 w 201644"/>
              <a:gd name="connsiteY0-14" fmla="*/ 1780674 h 1780674"/>
              <a:gd name="connsiteX1-15" fmla="*/ 0 w 201644"/>
              <a:gd name="connsiteY1-16" fmla="*/ 871797 h 1780674"/>
              <a:gd name="connsiteX2-17" fmla="*/ 201644 w 201644"/>
              <a:gd name="connsiteY2-18" fmla="*/ 0 h 1780674"/>
              <a:gd name="connsiteX0-19" fmla="*/ 254570 w 254570"/>
              <a:gd name="connsiteY0-20" fmla="*/ 1780674 h 1780674"/>
              <a:gd name="connsiteX1-21" fmla="*/ 0 w 254570"/>
              <a:gd name="connsiteY1-22" fmla="*/ 871797 h 1780674"/>
              <a:gd name="connsiteX2-23" fmla="*/ 201644 w 254570"/>
              <a:gd name="connsiteY2-24" fmla="*/ 0 h 1780674"/>
              <a:gd name="connsiteX0-25" fmla="*/ 191058 w 191058"/>
              <a:gd name="connsiteY0-26" fmla="*/ 1780674 h 1780674"/>
              <a:gd name="connsiteX1-27" fmla="*/ 0 w 191058"/>
              <a:gd name="connsiteY1-28" fmla="*/ 871797 h 1780674"/>
              <a:gd name="connsiteX2-29" fmla="*/ 138132 w 191058"/>
              <a:gd name="connsiteY2-30" fmla="*/ 0 h 1780674"/>
              <a:gd name="connsiteX0-31" fmla="*/ 205111 w 205111"/>
              <a:gd name="connsiteY0-32" fmla="*/ 1780674 h 1780674"/>
              <a:gd name="connsiteX1-33" fmla="*/ 14053 w 205111"/>
              <a:gd name="connsiteY1-34" fmla="*/ 871797 h 1780674"/>
              <a:gd name="connsiteX2-35" fmla="*/ 152185 w 205111"/>
              <a:gd name="connsiteY2-36" fmla="*/ 0 h 1780674"/>
              <a:gd name="connsiteX0-37" fmla="*/ 235753 w 235753"/>
              <a:gd name="connsiteY0-38" fmla="*/ 1780674 h 1780674"/>
              <a:gd name="connsiteX1-39" fmla="*/ 2354 w 235753"/>
              <a:gd name="connsiteY1-40" fmla="*/ 925852 h 1780674"/>
              <a:gd name="connsiteX2-41" fmla="*/ 182827 w 235753"/>
              <a:gd name="connsiteY2-42" fmla="*/ 0 h 1780674"/>
              <a:gd name="connsiteX0-43" fmla="*/ 233399 w 233399"/>
              <a:gd name="connsiteY0-44" fmla="*/ 1780674 h 1780674"/>
              <a:gd name="connsiteX1-45" fmla="*/ 0 w 233399"/>
              <a:gd name="connsiteY1-46" fmla="*/ 925852 h 1780674"/>
              <a:gd name="connsiteX2-47" fmla="*/ 180473 w 233399"/>
              <a:gd name="connsiteY2-48" fmla="*/ 0 h 1780674"/>
              <a:gd name="connsiteX0-49" fmla="*/ 180472 w 180472"/>
              <a:gd name="connsiteY0-50" fmla="*/ 1780674 h 1780674"/>
              <a:gd name="connsiteX1-51" fmla="*/ 0 w 180472"/>
              <a:gd name="connsiteY1-52" fmla="*/ 925852 h 1780674"/>
              <a:gd name="connsiteX2-53" fmla="*/ 127546 w 180472"/>
              <a:gd name="connsiteY2-54" fmla="*/ 0 h 1780674"/>
              <a:gd name="connsiteX0-55" fmla="*/ 183990 w 183990"/>
              <a:gd name="connsiteY0-56" fmla="*/ 1780674 h 1780674"/>
              <a:gd name="connsiteX1-57" fmla="*/ 3518 w 183990"/>
              <a:gd name="connsiteY1-58" fmla="*/ 925852 h 1780674"/>
              <a:gd name="connsiteX2-59" fmla="*/ 131064 w 183990"/>
              <a:gd name="connsiteY2-60" fmla="*/ 0 h 1780674"/>
              <a:gd name="connsiteX0-61" fmla="*/ 180472 w 180472"/>
              <a:gd name="connsiteY0-62" fmla="*/ 1780674 h 1780674"/>
              <a:gd name="connsiteX1-63" fmla="*/ 0 w 180472"/>
              <a:gd name="connsiteY1-64" fmla="*/ 925852 h 1780674"/>
              <a:gd name="connsiteX2-65" fmla="*/ 127546 w 180472"/>
              <a:gd name="connsiteY2-66" fmla="*/ 0 h 17806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180472" h="1780674">
                <a:moveTo>
                  <a:pt x="180472" y="1780674"/>
                </a:moveTo>
                <a:cubicBezTo>
                  <a:pt x="47893" y="1411559"/>
                  <a:pt x="21170" y="1267676"/>
                  <a:pt x="0" y="925852"/>
                </a:cubicBezTo>
                <a:cubicBezTo>
                  <a:pt x="0" y="629073"/>
                  <a:pt x="26724" y="179400"/>
                  <a:pt x="127546" y="0"/>
                </a:cubicBezTo>
              </a:path>
            </a:pathLst>
          </a:custGeom>
          <a:noFill/>
          <a:ln w="38100">
            <a:solidFill>
              <a:srgbClr val="0000FF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cxnSp>
        <p:nvCxnSpPr>
          <p:cNvPr id="52" name="直接连接符 51"/>
          <p:cNvCxnSpPr/>
          <p:nvPr/>
        </p:nvCxnSpPr>
        <p:spPr bwMode="auto">
          <a:xfrm flipH="1" flipV="1">
            <a:off x="8359775" y="2641600"/>
            <a:ext cx="1588" cy="1730375"/>
          </a:xfrm>
          <a:prstGeom prst="line">
            <a:avLst/>
          </a:prstGeom>
          <a:ln w="38100">
            <a:solidFill>
              <a:srgbClr val="C00000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 bwMode="auto">
          <a:xfrm flipH="1" flipV="1">
            <a:off x="8353425" y="915988"/>
            <a:ext cx="6350" cy="1727200"/>
          </a:xfrm>
          <a:prstGeom prst="line">
            <a:avLst/>
          </a:prstGeom>
          <a:ln w="38100">
            <a:solidFill>
              <a:srgbClr val="0000FF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/>
          <p:cNvCxnSpPr/>
          <p:nvPr/>
        </p:nvCxnSpPr>
        <p:spPr bwMode="auto">
          <a:xfrm flipH="1" flipV="1">
            <a:off x="8208963" y="915988"/>
            <a:ext cx="303212" cy="1587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/>
          <p:cNvCxnSpPr/>
          <p:nvPr/>
        </p:nvCxnSpPr>
        <p:spPr bwMode="auto">
          <a:xfrm flipH="1" flipV="1">
            <a:off x="8205788" y="2641600"/>
            <a:ext cx="303212" cy="1588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/>
          <p:cNvCxnSpPr/>
          <p:nvPr/>
        </p:nvCxnSpPr>
        <p:spPr bwMode="auto">
          <a:xfrm flipH="1">
            <a:off x="8251825" y="4371975"/>
            <a:ext cx="257175" cy="0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/>
          <p:cNvCxnSpPr/>
          <p:nvPr/>
        </p:nvCxnSpPr>
        <p:spPr bwMode="auto">
          <a:xfrm flipH="1" flipV="1">
            <a:off x="4924425" y="2284413"/>
            <a:ext cx="515938" cy="0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ys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5"/>
          <p:cNvSpPr>
            <a:spLocks noChangeArrowheads="1"/>
          </p:cNvSpPr>
          <p:nvPr/>
        </p:nvSpPr>
        <p:spPr bwMode="auto">
          <a:xfrm>
            <a:off x="4140200" y="2012950"/>
            <a:ext cx="925513" cy="541338"/>
          </a:xfrm>
          <a:prstGeom prst="rect">
            <a:avLst/>
          </a:prstGeom>
          <a:noFill/>
          <a:ln>
            <a:noFill/>
          </a:ln>
        </p:spPr>
        <p:txBody>
          <a:bodyPr tIns="82800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800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endParaRPr lang="zh-CN" altLang="en-US" sz="18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76841" name="Rectangle 5"/>
          <p:cNvSpPr>
            <a:spLocks noChangeArrowheads="1"/>
          </p:cNvSpPr>
          <p:nvPr/>
        </p:nvSpPr>
        <p:spPr bwMode="auto">
          <a:xfrm>
            <a:off x="7812088" y="3148013"/>
            <a:ext cx="1106487" cy="7127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82800" rIns="0" anchor="ctr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/>
            <a:r>
              <a:rPr lang="zh-CN" altLang="en-US" sz="16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被调用者的活动记录</a:t>
            </a:r>
            <a:endParaRPr lang="zh-CN" altLang="en-US" sz="1600" dirty="0">
              <a:solidFill>
                <a:srgbClr val="C0000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76842" name="Rectangle 5"/>
          <p:cNvSpPr>
            <a:spLocks noChangeArrowheads="1"/>
          </p:cNvSpPr>
          <p:nvPr/>
        </p:nvSpPr>
        <p:spPr bwMode="auto">
          <a:xfrm>
            <a:off x="7812088" y="1355725"/>
            <a:ext cx="1058862" cy="7112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82800" anchor="ctr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/>
            <a:r>
              <a:rPr lang="zh-CN" altLang="en-US" sz="16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调用者的活动记录</a:t>
            </a:r>
            <a:endParaRPr lang="zh-CN" altLang="en-US" sz="16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5449783" y="2644655"/>
            <a:ext cx="2324210" cy="171550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5451363" y="926090"/>
            <a:ext cx="2324211" cy="17155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9" name="内容占位符 3"/>
          <p:cNvGraphicFramePr/>
          <p:nvPr/>
        </p:nvGraphicFramePr>
        <p:xfrm>
          <a:off x="5457825" y="590550"/>
          <a:ext cx="2325688" cy="411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25688"/>
              </a:tblGrid>
              <a:tr h="269016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00"/>
                          </a:solidFill>
                          <a:effectLst/>
                          <a:latin typeface="宋体" panose="02010600030101010101" pitchFamily="2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参数和返回值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控制链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访问链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保存的</a:t>
                      </a: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机器状态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局部数据和临时数</a:t>
                      </a: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据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800" dirty="0">
                        <a:solidFill>
                          <a:srgbClr val="0000FF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algn="ctr" eaLnBrk="0" fontAlgn="base" hangingPunct="0"/>
                      <a:endParaRPr lang="zh-CN" altLang="zh-CN" sz="18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09987" name="Rectangle 3"/>
          <p:cNvSpPr>
            <a:spLocks noGrp="1" noChangeArrowheads="1"/>
          </p:cNvSpPr>
          <p:nvPr>
            <p:ph idx="1"/>
          </p:nvPr>
        </p:nvSpPr>
        <p:spPr>
          <a:xfrm>
            <a:off x="323850" y="1001713"/>
            <a:ext cx="3937000" cy="3586261"/>
          </a:xfrm>
        </p:spPr>
        <p:txBody>
          <a:bodyPr/>
          <a:lstStyle/>
          <a:p>
            <a:pPr marL="271145" indent="-271145" algn="just" eaLnBrk="1" hangingPunct="1">
              <a:lnSpc>
                <a:spcPct val="80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计算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实际参数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的值</a:t>
            </a:r>
            <a:endParaRPr lang="en-US" altLang="zh-CN" sz="20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1145" indent="-271145" algn="just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将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返回地址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放到被调用者的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机器状态字段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中。将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自己的</a:t>
            </a:r>
            <a:r>
              <a:rPr lang="en-US" altLang="zh-CN" sz="20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放到被调用者的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控制链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中。然后，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增加</a:t>
            </a:r>
            <a:r>
              <a:rPr lang="en-US" altLang="zh-CN" sz="20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，使其指向被调用者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局部数据开始的位置</a:t>
            </a:r>
            <a:endParaRPr lang="en-US" altLang="zh-CN" sz="2000" b="1" dirty="0">
              <a:solidFill>
                <a:srgbClr val="0070C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1145" indent="-271145" algn="just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被调用者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保存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寄存器值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和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其它状态信息</a:t>
            </a:r>
            <a:endParaRPr lang="en-US" altLang="zh-CN" sz="2000" b="1" dirty="0">
              <a:solidFill>
                <a:srgbClr val="0070C0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1145" indent="-271145" algn="just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被调用者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初始化其局部数据并开始执行</a:t>
            </a:r>
            <a:endParaRPr lang="en-US" altLang="zh-CN" sz="20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7680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调用序列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6" name="直接连接符 35"/>
          <p:cNvCxnSpPr/>
          <p:nvPr/>
        </p:nvCxnSpPr>
        <p:spPr bwMode="auto">
          <a:xfrm flipH="1" flipV="1">
            <a:off x="4937128" y="2284414"/>
            <a:ext cx="503235" cy="1799504"/>
          </a:xfrm>
          <a:prstGeom prst="line">
            <a:avLst/>
          </a:prstGeom>
          <a:ln w="38100">
            <a:solidFill>
              <a:srgbClr val="0000FF"/>
            </a:solidFill>
            <a:prstDash val="solid"/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任意多边形 50"/>
          <p:cNvSpPr/>
          <p:nvPr/>
        </p:nvSpPr>
        <p:spPr>
          <a:xfrm>
            <a:off x="5207000" y="2355850"/>
            <a:ext cx="249238" cy="792163"/>
          </a:xfrm>
          <a:custGeom>
            <a:avLst/>
            <a:gdLst>
              <a:gd name="connsiteX0" fmla="*/ 180473 w 180473"/>
              <a:gd name="connsiteY0" fmla="*/ 1780674 h 1780674"/>
              <a:gd name="connsiteX1" fmla="*/ 0 w 180473"/>
              <a:gd name="connsiteY1" fmla="*/ 565484 h 1780674"/>
              <a:gd name="connsiteX2" fmla="*/ 180473 w 180473"/>
              <a:gd name="connsiteY2" fmla="*/ 0 h 1780674"/>
              <a:gd name="connsiteX0-1" fmla="*/ 201644 w 201644"/>
              <a:gd name="connsiteY0-2" fmla="*/ 1780674 h 1780674"/>
              <a:gd name="connsiteX1-3" fmla="*/ 0 w 201644"/>
              <a:gd name="connsiteY1-4" fmla="*/ 871797 h 1780674"/>
              <a:gd name="connsiteX2-5" fmla="*/ 201644 w 201644"/>
              <a:gd name="connsiteY2-6" fmla="*/ 0 h 1780674"/>
              <a:gd name="connsiteX0-7" fmla="*/ 201644 w 201644"/>
              <a:gd name="connsiteY0-8" fmla="*/ 1780674 h 1780674"/>
              <a:gd name="connsiteX1-9" fmla="*/ 0 w 201644"/>
              <a:gd name="connsiteY1-10" fmla="*/ 871797 h 1780674"/>
              <a:gd name="connsiteX2-11" fmla="*/ 201644 w 201644"/>
              <a:gd name="connsiteY2-12" fmla="*/ 0 h 1780674"/>
              <a:gd name="connsiteX0-13" fmla="*/ 201644 w 201644"/>
              <a:gd name="connsiteY0-14" fmla="*/ 1780674 h 1780674"/>
              <a:gd name="connsiteX1-15" fmla="*/ 0 w 201644"/>
              <a:gd name="connsiteY1-16" fmla="*/ 871797 h 1780674"/>
              <a:gd name="connsiteX2-17" fmla="*/ 201644 w 201644"/>
              <a:gd name="connsiteY2-18" fmla="*/ 0 h 1780674"/>
              <a:gd name="connsiteX0-19" fmla="*/ 254570 w 254570"/>
              <a:gd name="connsiteY0-20" fmla="*/ 1780674 h 1780674"/>
              <a:gd name="connsiteX1-21" fmla="*/ 0 w 254570"/>
              <a:gd name="connsiteY1-22" fmla="*/ 871797 h 1780674"/>
              <a:gd name="connsiteX2-23" fmla="*/ 201644 w 254570"/>
              <a:gd name="connsiteY2-24" fmla="*/ 0 h 1780674"/>
              <a:gd name="connsiteX0-25" fmla="*/ 191058 w 191058"/>
              <a:gd name="connsiteY0-26" fmla="*/ 1780674 h 1780674"/>
              <a:gd name="connsiteX1-27" fmla="*/ 0 w 191058"/>
              <a:gd name="connsiteY1-28" fmla="*/ 871797 h 1780674"/>
              <a:gd name="connsiteX2-29" fmla="*/ 138132 w 191058"/>
              <a:gd name="connsiteY2-30" fmla="*/ 0 h 1780674"/>
              <a:gd name="connsiteX0-31" fmla="*/ 205111 w 205111"/>
              <a:gd name="connsiteY0-32" fmla="*/ 1780674 h 1780674"/>
              <a:gd name="connsiteX1-33" fmla="*/ 14053 w 205111"/>
              <a:gd name="connsiteY1-34" fmla="*/ 871797 h 1780674"/>
              <a:gd name="connsiteX2-35" fmla="*/ 152185 w 205111"/>
              <a:gd name="connsiteY2-36" fmla="*/ 0 h 1780674"/>
              <a:gd name="connsiteX0-37" fmla="*/ 235753 w 235753"/>
              <a:gd name="connsiteY0-38" fmla="*/ 1780674 h 1780674"/>
              <a:gd name="connsiteX1-39" fmla="*/ 2354 w 235753"/>
              <a:gd name="connsiteY1-40" fmla="*/ 925852 h 1780674"/>
              <a:gd name="connsiteX2-41" fmla="*/ 182827 w 235753"/>
              <a:gd name="connsiteY2-42" fmla="*/ 0 h 1780674"/>
              <a:gd name="connsiteX0-43" fmla="*/ 233399 w 233399"/>
              <a:gd name="connsiteY0-44" fmla="*/ 1780674 h 1780674"/>
              <a:gd name="connsiteX1-45" fmla="*/ 0 w 233399"/>
              <a:gd name="connsiteY1-46" fmla="*/ 925852 h 1780674"/>
              <a:gd name="connsiteX2-47" fmla="*/ 180473 w 233399"/>
              <a:gd name="connsiteY2-48" fmla="*/ 0 h 1780674"/>
              <a:gd name="connsiteX0-49" fmla="*/ 180472 w 180472"/>
              <a:gd name="connsiteY0-50" fmla="*/ 1780674 h 1780674"/>
              <a:gd name="connsiteX1-51" fmla="*/ 0 w 180472"/>
              <a:gd name="connsiteY1-52" fmla="*/ 925852 h 1780674"/>
              <a:gd name="connsiteX2-53" fmla="*/ 127546 w 180472"/>
              <a:gd name="connsiteY2-54" fmla="*/ 0 h 1780674"/>
              <a:gd name="connsiteX0-55" fmla="*/ 183990 w 183990"/>
              <a:gd name="connsiteY0-56" fmla="*/ 1780674 h 1780674"/>
              <a:gd name="connsiteX1-57" fmla="*/ 3518 w 183990"/>
              <a:gd name="connsiteY1-58" fmla="*/ 925852 h 1780674"/>
              <a:gd name="connsiteX2-59" fmla="*/ 131064 w 183990"/>
              <a:gd name="connsiteY2-60" fmla="*/ 0 h 1780674"/>
              <a:gd name="connsiteX0-61" fmla="*/ 180472 w 180472"/>
              <a:gd name="connsiteY0-62" fmla="*/ 1780674 h 1780674"/>
              <a:gd name="connsiteX1-63" fmla="*/ 0 w 180472"/>
              <a:gd name="connsiteY1-64" fmla="*/ 925852 h 1780674"/>
              <a:gd name="connsiteX2-65" fmla="*/ 127546 w 180472"/>
              <a:gd name="connsiteY2-66" fmla="*/ 0 h 17806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180472" h="1780674">
                <a:moveTo>
                  <a:pt x="180472" y="1780674"/>
                </a:moveTo>
                <a:cubicBezTo>
                  <a:pt x="47893" y="1411559"/>
                  <a:pt x="21170" y="1267676"/>
                  <a:pt x="0" y="925852"/>
                </a:cubicBezTo>
                <a:cubicBezTo>
                  <a:pt x="0" y="629073"/>
                  <a:pt x="26724" y="179400"/>
                  <a:pt x="127546" y="0"/>
                </a:cubicBezTo>
              </a:path>
            </a:pathLst>
          </a:custGeom>
          <a:noFill/>
          <a:ln w="38100">
            <a:solidFill>
              <a:srgbClr val="0000FF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cxnSp>
        <p:nvCxnSpPr>
          <p:cNvPr id="62" name="直接连接符 61"/>
          <p:cNvCxnSpPr/>
          <p:nvPr/>
        </p:nvCxnSpPr>
        <p:spPr bwMode="auto">
          <a:xfrm flipH="1" flipV="1">
            <a:off x="4924425" y="2284413"/>
            <a:ext cx="515938" cy="0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ys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5"/>
          <p:cNvSpPr>
            <a:spLocks noChangeArrowheads="1"/>
          </p:cNvSpPr>
          <p:nvPr/>
        </p:nvSpPr>
        <p:spPr bwMode="auto">
          <a:xfrm>
            <a:off x="4140200" y="2012950"/>
            <a:ext cx="925513" cy="541338"/>
          </a:xfrm>
          <a:prstGeom prst="rect">
            <a:avLst/>
          </a:prstGeom>
          <a:noFill/>
          <a:ln>
            <a:noFill/>
          </a:ln>
        </p:spPr>
        <p:txBody>
          <a:bodyPr tIns="82800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800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endParaRPr lang="zh-CN" altLang="en-US" sz="18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8" name="组合 7"/>
          <p:cNvGrpSpPr/>
          <p:nvPr/>
        </p:nvGrpSpPr>
        <p:grpSpPr>
          <a:xfrm>
            <a:off x="7812405" y="2641600"/>
            <a:ext cx="1106170" cy="1730375"/>
            <a:chOff x="12303" y="4160"/>
            <a:chExt cx="1742" cy="2725"/>
          </a:xfrm>
        </p:grpSpPr>
        <p:cxnSp>
          <p:nvCxnSpPr>
            <p:cNvPr id="52" name="直接连接符 51"/>
            <p:cNvCxnSpPr/>
            <p:nvPr/>
          </p:nvCxnSpPr>
          <p:spPr bwMode="auto">
            <a:xfrm flipH="1" flipV="1">
              <a:off x="13165" y="4160"/>
              <a:ext cx="3" cy="2725"/>
            </a:xfrm>
            <a:prstGeom prst="line">
              <a:avLst/>
            </a:prstGeom>
            <a:ln w="38100">
              <a:solidFill>
                <a:srgbClr val="C00000"/>
              </a:solidFill>
              <a:prstDash val="solid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/>
            <p:cNvCxnSpPr/>
            <p:nvPr/>
          </p:nvCxnSpPr>
          <p:spPr bwMode="auto">
            <a:xfrm flipH="1">
              <a:off x="12995" y="6885"/>
              <a:ext cx="405" cy="0"/>
            </a:xfrm>
            <a:prstGeom prst="line">
              <a:avLst/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841" name="Rectangle 5"/>
            <p:cNvSpPr>
              <a:spLocks noChangeArrowheads="1"/>
            </p:cNvSpPr>
            <p:nvPr/>
          </p:nvSpPr>
          <p:spPr bwMode="auto">
            <a:xfrm>
              <a:off x="12303" y="4958"/>
              <a:ext cx="1742" cy="112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82800" rIns="0"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6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被调用者的活动记录</a:t>
              </a:r>
              <a:endParaRPr lang="zh-CN" altLang="en-US" sz="16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组合 6"/>
          <p:cNvGrpSpPr/>
          <p:nvPr/>
        </p:nvGrpSpPr>
        <p:grpSpPr>
          <a:xfrm>
            <a:off x="7812405" y="916305"/>
            <a:ext cx="1057910" cy="1727200"/>
            <a:chOff x="12303" y="1443"/>
            <a:chExt cx="1666" cy="2720"/>
          </a:xfrm>
        </p:grpSpPr>
        <p:cxnSp>
          <p:nvCxnSpPr>
            <p:cNvPr id="54" name="直接连接符 53"/>
            <p:cNvCxnSpPr/>
            <p:nvPr/>
          </p:nvCxnSpPr>
          <p:spPr bwMode="auto">
            <a:xfrm flipH="1" flipV="1">
              <a:off x="13155" y="1443"/>
              <a:ext cx="10" cy="2720"/>
            </a:xfrm>
            <a:prstGeom prst="line">
              <a:avLst/>
            </a:prstGeom>
            <a:ln w="38100">
              <a:solidFill>
                <a:srgbClr val="0000FF"/>
              </a:solidFill>
              <a:prstDash val="solid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/>
            <p:cNvCxnSpPr/>
            <p:nvPr/>
          </p:nvCxnSpPr>
          <p:spPr bwMode="auto">
            <a:xfrm flipH="1" flipV="1">
              <a:off x="12928" y="1443"/>
              <a:ext cx="477" cy="2"/>
            </a:xfrm>
            <a:prstGeom prst="line">
              <a:avLst/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/>
            <p:cNvCxnSpPr/>
            <p:nvPr/>
          </p:nvCxnSpPr>
          <p:spPr bwMode="auto">
            <a:xfrm flipH="1" flipV="1">
              <a:off x="12923" y="4160"/>
              <a:ext cx="477" cy="3"/>
            </a:xfrm>
            <a:prstGeom prst="line">
              <a:avLst/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842" name="Rectangle 5"/>
            <p:cNvSpPr>
              <a:spLocks noChangeArrowheads="1"/>
            </p:cNvSpPr>
            <p:nvPr/>
          </p:nvSpPr>
          <p:spPr bwMode="auto">
            <a:xfrm>
              <a:off x="12303" y="2135"/>
              <a:ext cx="1667" cy="11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6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调用者的活动记录</a:t>
              </a:r>
              <a:endParaRPr lang="zh-CN" altLang="en-US" sz="16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5838190" y="2637790"/>
            <a:ext cx="8001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zh-CN" sz="1800" dirty="0">
                <a:solidFill>
                  <a:srgbClr val="0000FF"/>
                </a:solidFill>
                <a:effectLst/>
                <a:latin typeface="+mn-lt"/>
                <a:ea typeface="+mn-ea"/>
                <a:sym typeface="+mn-ea"/>
              </a:rPr>
              <a:t>参数</a:t>
            </a:r>
            <a:endParaRPr lang="zh-CN" altLang="zh-CN" sz="1800" dirty="0">
              <a:solidFill>
                <a:srgbClr val="0000FF"/>
              </a:solidFill>
              <a:effectLst/>
              <a:latin typeface="+mn-lt"/>
              <a:ea typeface="+mn-ea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370320" y="3665855"/>
            <a:ext cx="1517015" cy="4006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1800" dirty="0">
                <a:effectLst/>
                <a:latin typeface="+mn-lt"/>
                <a:ea typeface="+mn-ea"/>
                <a:sym typeface="+mn-ea"/>
              </a:rPr>
              <a:t>(</a:t>
            </a:r>
            <a:r>
              <a:rPr lang="zh-CN" altLang="en-US" sz="1800" dirty="0">
                <a:solidFill>
                  <a:srgbClr val="0000FF"/>
                </a:solidFill>
                <a:effectLst/>
                <a:latin typeface="+mn-lt"/>
                <a:ea typeface="+mn-ea"/>
                <a:sym typeface="+mn-ea"/>
              </a:rPr>
              <a:t>返回地址</a:t>
            </a:r>
            <a:r>
              <a:rPr lang="zh-CN" altLang="en-US" sz="1800" dirty="0">
                <a:effectLst/>
                <a:latin typeface="+mn-lt"/>
                <a:ea typeface="+mn-ea"/>
                <a:sym typeface="+mn-ea"/>
              </a:rPr>
              <a:t>）</a:t>
            </a:r>
            <a:endParaRPr lang="zh-CN" altLang="en-US" sz="1800" dirty="0">
              <a:effectLst/>
              <a:latin typeface="+mn-lt"/>
              <a:ea typeface="+mn-ea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44490" y="3679825"/>
            <a:ext cx="111442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zh-CN" sz="1800" dirty="0">
                <a:solidFill>
                  <a:srgbClr val="C00000"/>
                </a:solidFill>
                <a:effectLst/>
                <a:latin typeface="+mn-lt"/>
                <a:ea typeface="+mn-ea"/>
                <a:sym typeface="+mn-ea"/>
              </a:rPr>
              <a:t>机器状态</a:t>
            </a:r>
            <a:endParaRPr lang="zh-CN" altLang="zh-CN" sz="1800" dirty="0">
              <a:solidFill>
                <a:srgbClr val="C00000"/>
              </a:solidFill>
              <a:effectLst/>
              <a:latin typeface="+mn-lt"/>
              <a:ea typeface="+mn-ea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431155" y="4010660"/>
            <a:ext cx="239903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zh-CN" sz="1800" dirty="0">
                <a:solidFill>
                  <a:srgbClr val="C00000"/>
                </a:solidFill>
                <a:effectLst/>
                <a:latin typeface="+mn-lt"/>
                <a:ea typeface="+mn-ea"/>
                <a:sym typeface="+mn-ea"/>
              </a:rPr>
              <a:t>局部数据</a:t>
            </a:r>
            <a:r>
              <a:rPr lang="zh-CN" altLang="zh-CN" sz="1800" dirty="0">
                <a:effectLst/>
                <a:latin typeface="+mn-lt"/>
                <a:ea typeface="+mn-ea"/>
                <a:sym typeface="+mn-ea"/>
              </a:rPr>
              <a:t>和临时数据</a:t>
            </a:r>
            <a:endParaRPr lang="zh-CN" altLang="zh-CN" sz="1800" dirty="0">
              <a:effectLst/>
              <a:latin typeface="+mn-lt"/>
              <a:ea typeface="+mn-ea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228080" y="2976880"/>
            <a:ext cx="88646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zh-CN" sz="1800" dirty="0">
                <a:solidFill>
                  <a:srgbClr val="0000FF"/>
                </a:solidFill>
                <a:effectLst/>
                <a:latin typeface="+mn-lt"/>
                <a:ea typeface="+mn-ea"/>
                <a:sym typeface="+mn-ea"/>
              </a:rPr>
              <a:t>控制链</a:t>
            </a:r>
            <a:endParaRPr lang="zh-CN" altLang="zh-CN" sz="1800" dirty="0">
              <a:solidFill>
                <a:srgbClr val="0000FF"/>
              </a:solidFill>
              <a:effectLst/>
              <a:latin typeface="+mn-lt"/>
              <a:ea typeface="+mn-ea"/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182995" y="3324225"/>
            <a:ext cx="88646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zh-CN" sz="1800" dirty="0">
                <a:effectLst/>
                <a:latin typeface="+mn-lt"/>
                <a:ea typeface="+mn-ea"/>
                <a:sym typeface="+mn-ea"/>
              </a:rPr>
              <a:t>访问链</a:t>
            </a:r>
            <a:endParaRPr lang="zh-CN" altLang="zh-CN" sz="1800" dirty="0">
              <a:effectLst/>
              <a:latin typeface="+mn-lt"/>
              <a:ea typeface="+mn-ea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/>
      <p:bldP spid="3" grpId="1"/>
      <p:bldP spid="4" grpId="0"/>
      <p:bldP spid="4" grpId="1"/>
      <p:bldP spid="5" grpId="0"/>
      <p:bldP spid="5" grpId="1"/>
      <p:bldP spid="51" grpId="0" animBg="1"/>
      <p:bldP spid="51" grpId="1" animBg="1"/>
      <p:bldP spid="6" grpId="0"/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/>
          <p:cNvSpPr/>
          <p:nvPr/>
        </p:nvSpPr>
        <p:spPr>
          <a:xfrm>
            <a:off x="5449783" y="2644655"/>
            <a:ext cx="2324210" cy="171550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5451363" y="926090"/>
            <a:ext cx="2324211" cy="17155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9987" name="Rectangle 3"/>
          <p:cNvSpPr>
            <a:spLocks noGrp="1" noChangeArrowheads="1"/>
          </p:cNvSpPr>
          <p:nvPr>
            <p:ph idx="1"/>
          </p:nvPr>
        </p:nvSpPr>
        <p:spPr>
          <a:xfrm>
            <a:off x="250825" y="930274"/>
            <a:ext cx="3956051" cy="3775075"/>
          </a:xfrm>
        </p:spPr>
        <p:txBody>
          <a:bodyPr/>
          <a:lstStyle/>
          <a:p>
            <a:pPr algn="just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被调用者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将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返回值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放到与参数相邻的位置</a:t>
            </a:r>
            <a:endParaRPr lang="en-US" altLang="zh-CN" sz="20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被调用者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根据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控制链恢复调用者的</a:t>
            </a:r>
            <a:r>
              <a:rPr lang="en-US" altLang="zh-CN" sz="20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，恢复寄存器信息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，然后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跳转到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机器状态字段中的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返回地址</a:t>
            </a:r>
            <a:endParaRPr lang="en-US" altLang="zh-CN" sz="2000" b="1" dirty="0">
              <a:solidFill>
                <a:srgbClr val="0070C0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知道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返回值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相对于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自己的</a:t>
            </a:r>
            <a:r>
              <a:rPr lang="en-US" altLang="zh-CN" sz="20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的位置。因此，调用者可以使用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返回值</a:t>
            </a:r>
            <a:endParaRPr lang="en-US" altLang="zh-CN" sz="2000" b="1" dirty="0">
              <a:solidFill>
                <a:srgbClr val="0070C0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78851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返回序列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7" name="直接连接符 16"/>
          <p:cNvCxnSpPr/>
          <p:nvPr/>
        </p:nvCxnSpPr>
        <p:spPr bwMode="auto">
          <a:xfrm flipH="1" flipV="1">
            <a:off x="4937125" y="2284413"/>
            <a:ext cx="492125" cy="1727200"/>
          </a:xfrm>
          <a:prstGeom prst="line">
            <a:avLst/>
          </a:prstGeom>
          <a:ln w="38100">
            <a:solidFill>
              <a:srgbClr val="0000FF"/>
            </a:solidFill>
            <a:prstDash val="solid"/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内容占位符 3"/>
          <p:cNvGraphicFramePr/>
          <p:nvPr/>
        </p:nvGraphicFramePr>
        <p:xfrm>
          <a:off x="5457825" y="590550"/>
          <a:ext cx="2325688" cy="411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25688"/>
              </a:tblGrid>
              <a:tr h="269016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00"/>
                          </a:solidFill>
                          <a:effectLst/>
                          <a:latin typeface="宋体" panose="02010600030101010101" pitchFamily="2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参数和返回值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控制链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访问链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保存的</a:t>
                      </a: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机器状态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局部数据和临时数</a:t>
                      </a: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据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参数</a:t>
                      </a:r>
                      <a:r>
                        <a:rPr lang="zh-CN" altLang="zh-CN" sz="1800" b="1" kern="1200" dirty="0">
                          <a:solidFill>
                            <a:srgbClr val="FBE6B3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和返回值</a:t>
                      </a:r>
                      <a:endParaRPr lang="zh-CN" altLang="zh-CN" sz="1800" b="1" kern="1200" dirty="0">
                        <a:solidFill>
                          <a:srgbClr val="FBE6B3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控制链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访问链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dirty="0">
                          <a:solidFill>
                            <a:srgbClr val="C00000"/>
                          </a:solidFill>
                          <a:effectLst/>
                          <a:sym typeface="+mn-ea"/>
                        </a:rPr>
                        <a:t>机器状态</a:t>
                      </a:r>
                      <a:r>
                        <a:rPr lang="en-US" altLang="zh-CN" sz="1800" b="1" dirty="0">
                          <a:solidFill>
                            <a:srgbClr val="C00000"/>
                          </a:solidFill>
                          <a:effectLst/>
                          <a:sym typeface="+mn-ea"/>
                        </a:rPr>
                        <a:t>(</a:t>
                      </a:r>
                      <a:r>
                        <a:rPr lang="zh-CN" altLang="en-US" sz="1800" b="1" dirty="0">
                          <a:solidFill>
                            <a:srgbClr val="C00000"/>
                          </a:solidFill>
                          <a:effectLst/>
                          <a:sym typeface="+mn-ea"/>
                        </a:rPr>
                        <a:t>返回地址）</a:t>
                      </a:r>
                      <a:endParaRPr lang="zh-CN" altLang="en-US" sz="1800" b="1" dirty="0">
                        <a:solidFill>
                          <a:srgbClr val="C00000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algn="ctr" eaLnBrk="0" fontAlgn="base" hangingPunct="0"/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局部数据和临时数据</a:t>
                      </a:r>
                      <a:endParaRPr lang="zh-CN" altLang="zh-CN" sz="18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弧形 18"/>
          <p:cNvSpPr/>
          <p:nvPr/>
        </p:nvSpPr>
        <p:spPr bwMode="auto">
          <a:xfrm rot="10056762" flipV="1">
            <a:off x="5268913" y="731838"/>
            <a:ext cx="193675" cy="747712"/>
          </a:xfrm>
          <a:prstGeom prst="arc">
            <a:avLst>
              <a:gd name="adj1" fmla="val 16831102"/>
              <a:gd name="adj2" fmla="val 5229498"/>
            </a:avLst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20" name="任意多边形 19"/>
          <p:cNvSpPr/>
          <p:nvPr/>
        </p:nvSpPr>
        <p:spPr>
          <a:xfrm>
            <a:off x="5207000" y="2355850"/>
            <a:ext cx="249238" cy="792163"/>
          </a:xfrm>
          <a:custGeom>
            <a:avLst/>
            <a:gdLst>
              <a:gd name="connsiteX0" fmla="*/ 180473 w 180473"/>
              <a:gd name="connsiteY0" fmla="*/ 1780674 h 1780674"/>
              <a:gd name="connsiteX1" fmla="*/ 0 w 180473"/>
              <a:gd name="connsiteY1" fmla="*/ 565484 h 1780674"/>
              <a:gd name="connsiteX2" fmla="*/ 180473 w 180473"/>
              <a:gd name="connsiteY2" fmla="*/ 0 h 1780674"/>
              <a:gd name="connsiteX0-1" fmla="*/ 201644 w 201644"/>
              <a:gd name="connsiteY0-2" fmla="*/ 1780674 h 1780674"/>
              <a:gd name="connsiteX1-3" fmla="*/ 0 w 201644"/>
              <a:gd name="connsiteY1-4" fmla="*/ 871797 h 1780674"/>
              <a:gd name="connsiteX2-5" fmla="*/ 201644 w 201644"/>
              <a:gd name="connsiteY2-6" fmla="*/ 0 h 1780674"/>
              <a:gd name="connsiteX0-7" fmla="*/ 201644 w 201644"/>
              <a:gd name="connsiteY0-8" fmla="*/ 1780674 h 1780674"/>
              <a:gd name="connsiteX1-9" fmla="*/ 0 w 201644"/>
              <a:gd name="connsiteY1-10" fmla="*/ 871797 h 1780674"/>
              <a:gd name="connsiteX2-11" fmla="*/ 201644 w 201644"/>
              <a:gd name="connsiteY2-12" fmla="*/ 0 h 1780674"/>
              <a:gd name="connsiteX0-13" fmla="*/ 201644 w 201644"/>
              <a:gd name="connsiteY0-14" fmla="*/ 1780674 h 1780674"/>
              <a:gd name="connsiteX1-15" fmla="*/ 0 w 201644"/>
              <a:gd name="connsiteY1-16" fmla="*/ 871797 h 1780674"/>
              <a:gd name="connsiteX2-17" fmla="*/ 201644 w 201644"/>
              <a:gd name="connsiteY2-18" fmla="*/ 0 h 1780674"/>
              <a:gd name="connsiteX0-19" fmla="*/ 254570 w 254570"/>
              <a:gd name="connsiteY0-20" fmla="*/ 1780674 h 1780674"/>
              <a:gd name="connsiteX1-21" fmla="*/ 0 w 254570"/>
              <a:gd name="connsiteY1-22" fmla="*/ 871797 h 1780674"/>
              <a:gd name="connsiteX2-23" fmla="*/ 201644 w 254570"/>
              <a:gd name="connsiteY2-24" fmla="*/ 0 h 1780674"/>
              <a:gd name="connsiteX0-25" fmla="*/ 191058 w 191058"/>
              <a:gd name="connsiteY0-26" fmla="*/ 1780674 h 1780674"/>
              <a:gd name="connsiteX1-27" fmla="*/ 0 w 191058"/>
              <a:gd name="connsiteY1-28" fmla="*/ 871797 h 1780674"/>
              <a:gd name="connsiteX2-29" fmla="*/ 138132 w 191058"/>
              <a:gd name="connsiteY2-30" fmla="*/ 0 h 1780674"/>
              <a:gd name="connsiteX0-31" fmla="*/ 205111 w 205111"/>
              <a:gd name="connsiteY0-32" fmla="*/ 1780674 h 1780674"/>
              <a:gd name="connsiteX1-33" fmla="*/ 14053 w 205111"/>
              <a:gd name="connsiteY1-34" fmla="*/ 871797 h 1780674"/>
              <a:gd name="connsiteX2-35" fmla="*/ 152185 w 205111"/>
              <a:gd name="connsiteY2-36" fmla="*/ 0 h 1780674"/>
              <a:gd name="connsiteX0-37" fmla="*/ 235753 w 235753"/>
              <a:gd name="connsiteY0-38" fmla="*/ 1780674 h 1780674"/>
              <a:gd name="connsiteX1-39" fmla="*/ 2354 w 235753"/>
              <a:gd name="connsiteY1-40" fmla="*/ 925852 h 1780674"/>
              <a:gd name="connsiteX2-41" fmla="*/ 182827 w 235753"/>
              <a:gd name="connsiteY2-42" fmla="*/ 0 h 1780674"/>
              <a:gd name="connsiteX0-43" fmla="*/ 233399 w 233399"/>
              <a:gd name="connsiteY0-44" fmla="*/ 1780674 h 1780674"/>
              <a:gd name="connsiteX1-45" fmla="*/ 0 w 233399"/>
              <a:gd name="connsiteY1-46" fmla="*/ 925852 h 1780674"/>
              <a:gd name="connsiteX2-47" fmla="*/ 180473 w 233399"/>
              <a:gd name="connsiteY2-48" fmla="*/ 0 h 1780674"/>
              <a:gd name="connsiteX0-49" fmla="*/ 180472 w 180472"/>
              <a:gd name="connsiteY0-50" fmla="*/ 1780674 h 1780674"/>
              <a:gd name="connsiteX1-51" fmla="*/ 0 w 180472"/>
              <a:gd name="connsiteY1-52" fmla="*/ 925852 h 1780674"/>
              <a:gd name="connsiteX2-53" fmla="*/ 127546 w 180472"/>
              <a:gd name="connsiteY2-54" fmla="*/ 0 h 1780674"/>
              <a:gd name="connsiteX0-55" fmla="*/ 183990 w 183990"/>
              <a:gd name="connsiteY0-56" fmla="*/ 1780674 h 1780674"/>
              <a:gd name="connsiteX1-57" fmla="*/ 3518 w 183990"/>
              <a:gd name="connsiteY1-58" fmla="*/ 925852 h 1780674"/>
              <a:gd name="connsiteX2-59" fmla="*/ 131064 w 183990"/>
              <a:gd name="connsiteY2-60" fmla="*/ 0 h 1780674"/>
              <a:gd name="connsiteX0-61" fmla="*/ 180472 w 180472"/>
              <a:gd name="connsiteY0-62" fmla="*/ 1780674 h 1780674"/>
              <a:gd name="connsiteX1-63" fmla="*/ 0 w 180472"/>
              <a:gd name="connsiteY1-64" fmla="*/ 925852 h 1780674"/>
              <a:gd name="connsiteX2-65" fmla="*/ 127546 w 180472"/>
              <a:gd name="connsiteY2-66" fmla="*/ 0 h 17806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180472" h="1780674">
                <a:moveTo>
                  <a:pt x="180472" y="1780674"/>
                </a:moveTo>
                <a:cubicBezTo>
                  <a:pt x="47893" y="1411559"/>
                  <a:pt x="21170" y="1267676"/>
                  <a:pt x="0" y="925852"/>
                </a:cubicBezTo>
                <a:cubicBezTo>
                  <a:pt x="0" y="629073"/>
                  <a:pt x="26724" y="179400"/>
                  <a:pt x="127546" y="0"/>
                </a:cubicBezTo>
              </a:path>
            </a:pathLst>
          </a:custGeom>
          <a:noFill/>
          <a:ln w="38100">
            <a:solidFill>
              <a:srgbClr val="0000FF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cxnSp>
        <p:nvCxnSpPr>
          <p:cNvPr id="26" name="直接连接符 25"/>
          <p:cNvCxnSpPr/>
          <p:nvPr/>
        </p:nvCxnSpPr>
        <p:spPr bwMode="auto">
          <a:xfrm flipH="1" flipV="1">
            <a:off x="4924425" y="2284413"/>
            <a:ext cx="515938" cy="0"/>
          </a:xfrm>
          <a:prstGeom prst="line">
            <a:avLst/>
          </a:prstGeom>
          <a:ln w="38100">
            <a:solidFill>
              <a:srgbClr val="C00000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5"/>
          <p:cNvSpPr>
            <a:spLocks noChangeArrowheads="1"/>
          </p:cNvSpPr>
          <p:nvPr/>
        </p:nvSpPr>
        <p:spPr bwMode="auto">
          <a:xfrm>
            <a:off x="4140200" y="2012950"/>
            <a:ext cx="925513" cy="541338"/>
          </a:xfrm>
          <a:prstGeom prst="rect">
            <a:avLst/>
          </a:prstGeom>
          <a:noFill/>
          <a:ln>
            <a:noFill/>
          </a:ln>
        </p:spPr>
        <p:txBody>
          <a:bodyPr tIns="82800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800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endParaRPr lang="zh-CN" altLang="en-US" sz="18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7812405" y="2641600"/>
            <a:ext cx="1106170" cy="1729740"/>
            <a:chOff x="12303" y="4160"/>
            <a:chExt cx="1742" cy="2724"/>
          </a:xfrm>
        </p:grpSpPr>
        <p:cxnSp>
          <p:nvCxnSpPr>
            <p:cNvPr id="21" name="直接连接符 20"/>
            <p:cNvCxnSpPr/>
            <p:nvPr/>
          </p:nvCxnSpPr>
          <p:spPr bwMode="auto">
            <a:xfrm flipH="1" flipV="1">
              <a:off x="13165" y="4160"/>
              <a:ext cx="3" cy="2725"/>
            </a:xfrm>
            <a:prstGeom prst="line">
              <a:avLst/>
            </a:prstGeom>
            <a:ln w="38100">
              <a:solidFill>
                <a:srgbClr val="C00000"/>
              </a:solidFill>
              <a:prstDash val="solid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" name="组合 2"/>
            <p:cNvGrpSpPr/>
            <p:nvPr/>
          </p:nvGrpSpPr>
          <p:grpSpPr>
            <a:xfrm>
              <a:off x="12303" y="4958"/>
              <a:ext cx="1742" cy="1927"/>
              <a:chOff x="12303" y="4958"/>
              <a:chExt cx="1742" cy="1927"/>
            </a:xfrm>
          </p:grpSpPr>
          <p:cxnSp>
            <p:nvCxnSpPr>
              <p:cNvPr id="25" name="直接连接符 24"/>
              <p:cNvCxnSpPr/>
              <p:nvPr/>
            </p:nvCxnSpPr>
            <p:spPr bwMode="auto">
              <a:xfrm flipH="1">
                <a:off x="12995" y="6885"/>
                <a:ext cx="405" cy="0"/>
              </a:xfrm>
              <a:prstGeom prst="line">
                <a:avLst/>
              </a:prstGeom>
              <a:ln w="38100">
                <a:solidFill>
                  <a:schemeClr val="tx2">
                    <a:lumMod val="60000"/>
                    <a:lumOff val="40000"/>
                  </a:schemeClr>
                </a:solidFill>
                <a:prstDash val="solid"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8889" name="Rectangle 5"/>
              <p:cNvSpPr>
                <a:spLocks noChangeArrowheads="1"/>
              </p:cNvSpPr>
              <p:nvPr/>
            </p:nvSpPr>
            <p:spPr bwMode="auto">
              <a:xfrm>
                <a:off x="12303" y="4958"/>
                <a:ext cx="1742" cy="112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/>
                </a:solidFill>
                <a:miter lim="800000"/>
              </a:ln>
            </p:spPr>
            <p:txBody>
              <a:bodyPr lIns="0" tIns="82800" rIns="0" anchor="ctr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pPr algn="ctr"/>
                <a:r>
                  <a:rPr lang="zh-CN" altLang="en-US" sz="1600" dirty="0">
                    <a:solidFill>
                      <a:srgbClr val="C00000"/>
                    </a:solidFill>
                    <a:latin typeface="楷体" panose="02010609060101010101" pitchFamily="49" charset="-122"/>
                    <a:ea typeface="楷体" panose="02010609060101010101" pitchFamily="49" charset="-122"/>
                    <a:cs typeface="Times New Roman" panose="02020603050405020304" pitchFamily="18" charset="0"/>
                  </a:rPr>
                  <a:t>被调用者的活动记录</a:t>
                </a:r>
                <a:endParaRPr lang="zh-CN" altLang="en-US" sz="16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" name="组合 1"/>
          <p:cNvGrpSpPr/>
          <p:nvPr/>
        </p:nvGrpSpPr>
        <p:grpSpPr>
          <a:xfrm>
            <a:off x="7812405" y="916305"/>
            <a:ext cx="1057910" cy="1727200"/>
            <a:chOff x="12303" y="1443"/>
            <a:chExt cx="1666" cy="2720"/>
          </a:xfrm>
        </p:grpSpPr>
        <p:cxnSp>
          <p:nvCxnSpPr>
            <p:cNvPr id="22" name="直接连接符 21"/>
            <p:cNvCxnSpPr/>
            <p:nvPr/>
          </p:nvCxnSpPr>
          <p:spPr bwMode="auto">
            <a:xfrm flipH="1" flipV="1">
              <a:off x="13155" y="1443"/>
              <a:ext cx="10" cy="2720"/>
            </a:xfrm>
            <a:prstGeom prst="line">
              <a:avLst/>
            </a:prstGeom>
            <a:ln w="38100">
              <a:solidFill>
                <a:srgbClr val="0000FF"/>
              </a:solidFill>
              <a:prstDash val="solid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 bwMode="auto">
            <a:xfrm flipH="1" flipV="1">
              <a:off x="12928" y="1443"/>
              <a:ext cx="477" cy="2"/>
            </a:xfrm>
            <a:prstGeom prst="line">
              <a:avLst/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 bwMode="auto">
            <a:xfrm flipH="1" flipV="1">
              <a:off x="12923" y="4160"/>
              <a:ext cx="477" cy="3"/>
            </a:xfrm>
            <a:prstGeom prst="line">
              <a:avLst/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890" name="Rectangle 5"/>
            <p:cNvSpPr>
              <a:spLocks noChangeArrowheads="1"/>
            </p:cNvSpPr>
            <p:nvPr/>
          </p:nvSpPr>
          <p:spPr bwMode="auto">
            <a:xfrm>
              <a:off x="12303" y="2135"/>
              <a:ext cx="1667" cy="11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  <a:miter lim="800000"/>
            </a:ln>
          </p:spPr>
          <p:txBody>
            <a:bodyPr tIns="82800"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60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调用者的活动记录</a:t>
              </a:r>
              <a:endParaRPr lang="zh-CN" altLang="en-US" sz="160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6360795" y="2644775"/>
            <a:ext cx="117094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zh-CN" sz="1800" dirty="0">
                <a:effectLst/>
                <a:latin typeface="+mn-lt"/>
                <a:ea typeface="+mn-ea"/>
                <a:sym typeface="+mn-ea"/>
              </a:rPr>
              <a:t>和</a:t>
            </a:r>
            <a:r>
              <a:rPr lang="zh-CN" altLang="zh-CN" sz="1800" dirty="0">
                <a:solidFill>
                  <a:srgbClr val="C00000"/>
                </a:solidFill>
                <a:effectLst/>
                <a:latin typeface="+mn-lt"/>
                <a:ea typeface="+mn-ea"/>
                <a:sym typeface="+mn-ea"/>
              </a:rPr>
              <a:t>返回值</a:t>
            </a:r>
            <a:endParaRPr lang="zh-CN" altLang="zh-CN" sz="1800" dirty="0">
              <a:solidFill>
                <a:srgbClr val="C00000"/>
              </a:solidFill>
              <a:effectLst/>
              <a:latin typeface="+mn-lt"/>
              <a:ea typeface="+mn-ea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434965" y="3665855"/>
            <a:ext cx="237172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zh-CN" sz="1800" dirty="0">
                <a:solidFill>
                  <a:schemeClr val="tx1"/>
                </a:solidFill>
                <a:effectLst/>
                <a:latin typeface="+mn-lt"/>
                <a:ea typeface="+mn-ea"/>
                <a:sym typeface="+mn-ea"/>
              </a:rPr>
              <a:t>机器状态</a:t>
            </a:r>
            <a:r>
              <a:rPr lang="en-US" altLang="zh-CN" sz="1800" dirty="0">
                <a:solidFill>
                  <a:schemeClr val="tx1"/>
                </a:solidFill>
                <a:effectLst/>
                <a:latin typeface="+mn-lt"/>
                <a:ea typeface="+mn-ea"/>
                <a:sym typeface="+mn-ea"/>
              </a:rPr>
              <a:t>(</a:t>
            </a:r>
            <a:r>
              <a:rPr lang="zh-CN" altLang="en-US" sz="1800" dirty="0">
                <a:solidFill>
                  <a:schemeClr val="tx1"/>
                </a:solidFill>
                <a:effectLst/>
                <a:latin typeface="+mn-lt"/>
                <a:ea typeface="+mn-ea"/>
                <a:sym typeface="+mn-ea"/>
              </a:rPr>
              <a:t>返回地址）</a:t>
            </a:r>
            <a:endParaRPr lang="zh-CN" altLang="en-US" sz="1800" dirty="0">
              <a:solidFill>
                <a:schemeClr val="tx1"/>
              </a:solidFill>
              <a:effectLst/>
              <a:latin typeface="+mn-lt"/>
              <a:ea typeface="+mn-ea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/>
        </p:nvSpPr>
        <p:spPr>
          <a:xfrm>
            <a:off x="3072600" y="2887546"/>
            <a:ext cx="2324210" cy="171550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/>
          <p:cNvSpPr/>
          <p:nvPr/>
        </p:nvSpPr>
        <p:spPr>
          <a:xfrm>
            <a:off x="3074180" y="1168981"/>
            <a:ext cx="2324211" cy="17155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调用者和被调用者之间的任务划分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899" name="Rectangle 11"/>
          <p:cNvSpPr>
            <a:spLocks noChangeArrowheads="1"/>
          </p:cNvSpPr>
          <p:nvPr/>
        </p:nvSpPr>
        <p:spPr bwMode="auto">
          <a:xfrm>
            <a:off x="974725" y="3071813"/>
            <a:ext cx="102552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00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调用者填写</a:t>
            </a:r>
            <a:endParaRPr lang="zh-CN" altLang="en-US" sz="200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0900" name="Line 12"/>
          <p:cNvSpPr>
            <a:spLocks noChangeShapeType="1"/>
          </p:cNvSpPr>
          <p:nvPr/>
        </p:nvSpPr>
        <p:spPr bwMode="auto">
          <a:xfrm flipV="1">
            <a:off x="2189163" y="3071813"/>
            <a:ext cx="1239837" cy="142875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80901" name="Line 14"/>
          <p:cNvSpPr>
            <a:spLocks noChangeShapeType="1"/>
          </p:cNvSpPr>
          <p:nvPr/>
        </p:nvSpPr>
        <p:spPr bwMode="auto">
          <a:xfrm>
            <a:off x="2143125" y="3211513"/>
            <a:ext cx="1285875" cy="217487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80902" name="Rectangle 16"/>
          <p:cNvSpPr>
            <a:spLocks noChangeArrowheads="1"/>
          </p:cNvSpPr>
          <p:nvPr/>
        </p:nvSpPr>
        <p:spPr bwMode="auto">
          <a:xfrm>
            <a:off x="6848476" y="3143250"/>
            <a:ext cx="1611955" cy="53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000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被调用者填写</a:t>
            </a:r>
            <a:endParaRPr lang="zh-CN" altLang="en-US" sz="20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0903" name="Rectangle 19"/>
          <p:cNvSpPr>
            <a:spLocks noChangeArrowheads="1"/>
          </p:cNvSpPr>
          <p:nvPr/>
        </p:nvSpPr>
        <p:spPr bwMode="auto">
          <a:xfrm>
            <a:off x="487363" y="1531938"/>
            <a:ext cx="1512887" cy="53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lang="zh-CN" altLang="en-US" sz="20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调用者更新</a:t>
            </a:r>
            <a:endParaRPr lang="zh-CN" altLang="en-US" sz="20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/>
            <a:r>
              <a:rPr lang="zh-CN" altLang="en-US" sz="2000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被调用者恢复</a:t>
            </a:r>
            <a:endParaRPr lang="en-US" altLang="zh-CN" sz="20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0904" name="Line 20"/>
          <p:cNvSpPr>
            <a:spLocks noChangeShapeType="1"/>
          </p:cNvSpPr>
          <p:nvPr/>
        </p:nvSpPr>
        <p:spPr bwMode="auto">
          <a:xfrm>
            <a:off x="2000250" y="2143125"/>
            <a:ext cx="377825" cy="217488"/>
          </a:xfrm>
          <a:prstGeom prst="line">
            <a:avLst/>
          </a:prstGeom>
          <a:noFill/>
          <a:ln w="25400">
            <a:solidFill>
              <a:schemeClr val="accent3">
                <a:lumMod val="50000"/>
              </a:schemeClr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80905" name="Line 14"/>
          <p:cNvSpPr>
            <a:spLocks noChangeShapeType="1"/>
          </p:cNvSpPr>
          <p:nvPr/>
        </p:nvSpPr>
        <p:spPr bwMode="auto">
          <a:xfrm>
            <a:off x="2143125" y="3208338"/>
            <a:ext cx="1132731" cy="779462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cxnSp>
        <p:nvCxnSpPr>
          <p:cNvPr id="62" name="直接连接符 61"/>
          <p:cNvCxnSpPr/>
          <p:nvPr/>
        </p:nvCxnSpPr>
        <p:spPr bwMode="auto">
          <a:xfrm flipH="1" flipV="1">
            <a:off x="2560638" y="2525713"/>
            <a:ext cx="490537" cy="1728787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内容占位符 3"/>
          <p:cNvGraphicFramePr/>
          <p:nvPr/>
        </p:nvGraphicFramePr>
        <p:xfrm>
          <a:off x="3081338" y="833438"/>
          <a:ext cx="2325687" cy="411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25687"/>
              </a:tblGrid>
              <a:tr h="269016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00"/>
                          </a:solidFill>
                          <a:effectLst/>
                          <a:latin typeface="宋体" panose="02010600030101010101" pitchFamily="2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参数和返回值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控制链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访问链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保存的</a:t>
                      </a: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机器状态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局部数据和临时数</a:t>
                      </a: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据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参数</a:t>
                      </a: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</a:t>
                      </a:r>
                      <a:r>
                        <a:rPr lang="zh-CN" altLang="zh-CN" sz="1800" b="1" kern="1200" dirty="0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返回值</a:t>
                      </a:r>
                      <a:endParaRPr lang="zh-CN" altLang="en-US" sz="1800" dirty="0">
                        <a:solidFill>
                          <a:srgbClr val="C00000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控制链</a:t>
                      </a:r>
                      <a:endParaRPr lang="zh-CN" altLang="en-US" sz="1800" dirty="0">
                        <a:solidFill>
                          <a:srgbClr val="0000FF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访问链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1" kern="1200" dirty="0">
                          <a:solidFill>
                            <a:srgbClr val="0070C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zh-CN" altLang="en-US" sz="18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返回地址</a:t>
                      </a:r>
                      <a:r>
                        <a:rPr lang="en-US" altLang="zh-CN" sz="1800" b="1" kern="1200" dirty="0">
                          <a:solidFill>
                            <a:srgbClr val="0070C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zh-CN" altLang="zh-CN" sz="1800" b="1" kern="1200" dirty="0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机器状态</a:t>
                      </a:r>
                      <a:endParaRPr lang="zh-CN" altLang="en-US" sz="1800" dirty="0">
                        <a:solidFill>
                          <a:srgbClr val="C00000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algn="ctr" eaLnBrk="0" fontAlgn="base" hangingPunct="0"/>
                      <a:r>
                        <a:rPr lang="zh-CN" altLang="zh-CN" sz="1800" b="1" kern="1200" dirty="0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局部数据和临时数据</a:t>
                      </a:r>
                      <a:endParaRPr lang="zh-CN" altLang="zh-CN" sz="1800" b="1" kern="1200" dirty="0">
                        <a:solidFill>
                          <a:srgbClr val="C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8" name="弧形 67"/>
          <p:cNvSpPr/>
          <p:nvPr/>
        </p:nvSpPr>
        <p:spPr bwMode="auto">
          <a:xfrm rot="10056762" flipV="1">
            <a:off x="2892425" y="973138"/>
            <a:ext cx="193675" cy="747712"/>
          </a:xfrm>
          <a:prstGeom prst="arc">
            <a:avLst>
              <a:gd name="adj1" fmla="val 16831102"/>
              <a:gd name="adj2" fmla="val 5229498"/>
            </a:avLst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71" name="任意多边形 70"/>
          <p:cNvSpPr/>
          <p:nvPr/>
        </p:nvSpPr>
        <p:spPr>
          <a:xfrm>
            <a:off x="2830513" y="2597150"/>
            <a:ext cx="249237" cy="792163"/>
          </a:xfrm>
          <a:custGeom>
            <a:avLst/>
            <a:gdLst>
              <a:gd name="connsiteX0" fmla="*/ 180473 w 180473"/>
              <a:gd name="connsiteY0" fmla="*/ 1780674 h 1780674"/>
              <a:gd name="connsiteX1" fmla="*/ 0 w 180473"/>
              <a:gd name="connsiteY1" fmla="*/ 565484 h 1780674"/>
              <a:gd name="connsiteX2" fmla="*/ 180473 w 180473"/>
              <a:gd name="connsiteY2" fmla="*/ 0 h 1780674"/>
              <a:gd name="connsiteX0-1" fmla="*/ 201644 w 201644"/>
              <a:gd name="connsiteY0-2" fmla="*/ 1780674 h 1780674"/>
              <a:gd name="connsiteX1-3" fmla="*/ 0 w 201644"/>
              <a:gd name="connsiteY1-4" fmla="*/ 871797 h 1780674"/>
              <a:gd name="connsiteX2-5" fmla="*/ 201644 w 201644"/>
              <a:gd name="connsiteY2-6" fmla="*/ 0 h 1780674"/>
              <a:gd name="connsiteX0-7" fmla="*/ 201644 w 201644"/>
              <a:gd name="connsiteY0-8" fmla="*/ 1780674 h 1780674"/>
              <a:gd name="connsiteX1-9" fmla="*/ 0 w 201644"/>
              <a:gd name="connsiteY1-10" fmla="*/ 871797 h 1780674"/>
              <a:gd name="connsiteX2-11" fmla="*/ 201644 w 201644"/>
              <a:gd name="connsiteY2-12" fmla="*/ 0 h 1780674"/>
              <a:gd name="connsiteX0-13" fmla="*/ 201644 w 201644"/>
              <a:gd name="connsiteY0-14" fmla="*/ 1780674 h 1780674"/>
              <a:gd name="connsiteX1-15" fmla="*/ 0 w 201644"/>
              <a:gd name="connsiteY1-16" fmla="*/ 871797 h 1780674"/>
              <a:gd name="connsiteX2-17" fmla="*/ 201644 w 201644"/>
              <a:gd name="connsiteY2-18" fmla="*/ 0 h 1780674"/>
              <a:gd name="connsiteX0-19" fmla="*/ 254570 w 254570"/>
              <a:gd name="connsiteY0-20" fmla="*/ 1780674 h 1780674"/>
              <a:gd name="connsiteX1-21" fmla="*/ 0 w 254570"/>
              <a:gd name="connsiteY1-22" fmla="*/ 871797 h 1780674"/>
              <a:gd name="connsiteX2-23" fmla="*/ 201644 w 254570"/>
              <a:gd name="connsiteY2-24" fmla="*/ 0 h 1780674"/>
              <a:gd name="connsiteX0-25" fmla="*/ 191058 w 191058"/>
              <a:gd name="connsiteY0-26" fmla="*/ 1780674 h 1780674"/>
              <a:gd name="connsiteX1-27" fmla="*/ 0 w 191058"/>
              <a:gd name="connsiteY1-28" fmla="*/ 871797 h 1780674"/>
              <a:gd name="connsiteX2-29" fmla="*/ 138132 w 191058"/>
              <a:gd name="connsiteY2-30" fmla="*/ 0 h 1780674"/>
              <a:gd name="connsiteX0-31" fmla="*/ 205111 w 205111"/>
              <a:gd name="connsiteY0-32" fmla="*/ 1780674 h 1780674"/>
              <a:gd name="connsiteX1-33" fmla="*/ 14053 w 205111"/>
              <a:gd name="connsiteY1-34" fmla="*/ 871797 h 1780674"/>
              <a:gd name="connsiteX2-35" fmla="*/ 152185 w 205111"/>
              <a:gd name="connsiteY2-36" fmla="*/ 0 h 1780674"/>
              <a:gd name="connsiteX0-37" fmla="*/ 235753 w 235753"/>
              <a:gd name="connsiteY0-38" fmla="*/ 1780674 h 1780674"/>
              <a:gd name="connsiteX1-39" fmla="*/ 2354 w 235753"/>
              <a:gd name="connsiteY1-40" fmla="*/ 925852 h 1780674"/>
              <a:gd name="connsiteX2-41" fmla="*/ 182827 w 235753"/>
              <a:gd name="connsiteY2-42" fmla="*/ 0 h 1780674"/>
              <a:gd name="connsiteX0-43" fmla="*/ 233399 w 233399"/>
              <a:gd name="connsiteY0-44" fmla="*/ 1780674 h 1780674"/>
              <a:gd name="connsiteX1-45" fmla="*/ 0 w 233399"/>
              <a:gd name="connsiteY1-46" fmla="*/ 925852 h 1780674"/>
              <a:gd name="connsiteX2-47" fmla="*/ 180473 w 233399"/>
              <a:gd name="connsiteY2-48" fmla="*/ 0 h 1780674"/>
              <a:gd name="connsiteX0-49" fmla="*/ 180472 w 180472"/>
              <a:gd name="connsiteY0-50" fmla="*/ 1780674 h 1780674"/>
              <a:gd name="connsiteX1-51" fmla="*/ 0 w 180472"/>
              <a:gd name="connsiteY1-52" fmla="*/ 925852 h 1780674"/>
              <a:gd name="connsiteX2-53" fmla="*/ 127546 w 180472"/>
              <a:gd name="connsiteY2-54" fmla="*/ 0 h 1780674"/>
              <a:gd name="connsiteX0-55" fmla="*/ 183990 w 183990"/>
              <a:gd name="connsiteY0-56" fmla="*/ 1780674 h 1780674"/>
              <a:gd name="connsiteX1-57" fmla="*/ 3518 w 183990"/>
              <a:gd name="connsiteY1-58" fmla="*/ 925852 h 1780674"/>
              <a:gd name="connsiteX2-59" fmla="*/ 131064 w 183990"/>
              <a:gd name="connsiteY2-60" fmla="*/ 0 h 1780674"/>
              <a:gd name="connsiteX0-61" fmla="*/ 180472 w 180472"/>
              <a:gd name="connsiteY0-62" fmla="*/ 1780674 h 1780674"/>
              <a:gd name="connsiteX1-63" fmla="*/ 0 w 180472"/>
              <a:gd name="connsiteY1-64" fmla="*/ 925852 h 1780674"/>
              <a:gd name="connsiteX2-65" fmla="*/ 127546 w 180472"/>
              <a:gd name="connsiteY2-66" fmla="*/ 0 h 17806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180472" h="1780674">
                <a:moveTo>
                  <a:pt x="180472" y="1780674"/>
                </a:moveTo>
                <a:cubicBezTo>
                  <a:pt x="47893" y="1411559"/>
                  <a:pt x="21170" y="1267676"/>
                  <a:pt x="0" y="925852"/>
                </a:cubicBezTo>
                <a:cubicBezTo>
                  <a:pt x="0" y="629073"/>
                  <a:pt x="26724" y="179400"/>
                  <a:pt x="127546" y="0"/>
                </a:cubicBezTo>
              </a:path>
            </a:pathLst>
          </a:custGeom>
          <a:noFill/>
          <a:ln w="38100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cxnSp>
        <p:nvCxnSpPr>
          <p:cNvPr id="72" name="直接连接符 71"/>
          <p:cNvCxnSpPr/>
          <p:nvPr/>
        </p:nvCxnSpPr>
        <p:spPr bwMode="auto">
          <a:xfrm flipH="1" flipV="1">
            <a:off x="6127750" y="2884488"/>
            <a:ext cx="0" cy="1728787"/>
          </a:xfrm>
          <a:prstGeom prst="line">
            <a:avLst/>
          </a:prstGeom>
          <a:ln w="38100">
            <a:solidFill>
              <a:srgbClr val="C00000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/>
          <p:cNvCxnSpPr/>
          <p:nvPr/>
        </p:nvCxnSpPr>
        <p:spPr bwMode="auto">
          <a:xfrm flipH="1" flipV="1">
            <a:off x="6121400" y="1157288"/>
            <a:ext cx="6350" cy="1728787"/>
          </a:xfrm>
          <a:prstGeom prst="line">
            <a:avLst/>
          </a:prstGeom>
          <a:ln w="38100">
            <a:solidFill>
              <a:srgbClr val="0000FF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/>
          <p:cNvCxnSpPr/>
          <p:nvPr/>
        </p:nvCxnSpPr>
        <p:spPr bwMode="auto">
          <a:xfrm flipH="1" flipV="1">
            <a:off x="5976938" y="1157288"/>
            <a:ext cx="303212" cy="1587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 bwMode="auto">
          <a:xfrm flipH="1" flipV="1">
            <a:off x="5973763" y="2884488"/>
            <a:ext cx="303212" cy="1587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 bwMode="auto">
          <a:xfrm flipH="1">
            <a:off x="6019800" y="4613275"/>
            <a:ext cx="257175" cy="0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 bwMode="auto">
          <a:xfrm flipH="1" flipV="1">
            <a:off x="2547938" y="2525713"/>
            <a:ext cx="515937" cy="0"/>
          </a:xfrm>
          <a:prstGeom prst="line">
            <a:avLst/>
          </a:prstGeom>
          <a:ln w="38100">
            <a:solidFill>
              <a:srgbClr val="C00000"/>
            </a:solidFill>
            <a:prstDash val="sys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5"/>
          <p:cNvSpPr>
            <a:spLocks noChangeArrowheads="1"/>
          </p:cNvSpPr>
          <p:nvPr/>
        </p:nvSpPr>
        <p:spPr bwMode="auto">
          <a:xfrm>
            <a:off x="1763713" y="2254250"/>
            <a:ext cx="925512" cy="542925"/>
          </a:xfrm>
          <a:prstGeom prst="rect">
            <a:avLst/>
          </a:prstGeom>
          <a:noFill/>
          <a:ln>
            <a:noFill/>
          </a:ln>
        </p:spPr>
        <p:txBody>
          <a:bodyPr tIns="82800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800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endParaRPr lang="zh-CN" altLang="en-US" sz="18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80943" name="Rectangle 5"/>
          <p:cNvSpPr>
            <a:spLocks noChangeArrowheads="1"/>
          </p:cNvSpPr>
          <p:nvPr/>
        </p:nvSpPr>
        <p:spPr bwMode="auto">
          <a:xfrm>
            <a:off x="5572125" y="3363913"/>
            <a:ext cx="1160463" cy="7127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82800" rIns="0" anchor="ctr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/>
            <a:r>
              <a:rPr lang="zh-CN" altLang="en-US" sz="18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被调用者的活动记录</a:t>
            </a:r>
            <a:endParaRPr lang="zh-CN" altLang="en-US" sz="1800" dirty="0">
              <a:solidFill>
                <a:srgbClr val="C0000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80944" name="Rectangle 5"/>
          <p:cNvSpPr>
            <a:spLocks noChangeArrowheads="1"/>
          </p:cNvSpPr>
          <p:nvPr/>
        </p:nvSpPr>
        <p:spPr bwMode="auto">
          <a:xfrm>
            <a:off x="5537200" y="1597025"/>
            <a:ext cx="1222375" cy="71278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82800" anchor="ctr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/>
            <a:r>
              <a:rPr lang="zh-CN" altLang="en-US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调用者的活动记录</a:t>
            </a:r>
            <a:endParaRPr lang="zh-CN" altLang="en-US" sz="18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80945" name="Line 18"/>
          <p:cNvSpPr>
            <a:spLocks noChangeShapeType="1"/>
          </p:cNvSpPr>
          <p:nvPr/>
        </p:nvSpPr>
        <p:spPr bwMode="auto">
          <a:xfrm flipH="1">
            <a:off x="5292081" y="3429000"/>
            <a:ext cx="1494482" cy="647699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80946" name="Line 15"/>
          <p:cNvSpPr>
            <a:spLocks noChangeShapeType="1"/>
          </p:cNvSpPr>
          <p:nvPr/>
        </p:nvSpPr>
        <p:spPr bwMode="auto">
          <a:xfrm flipH="1" flipV="1">
            <a:off x="4929188" y="3071813"/>
            <a:ext cx="1857375" cy="3444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942506" y="3750468"/>
            <a:ext cx="2332680" cy="539750"/>
            <a:chOff x="942506" y="3750468"/>
            <a:chExt cx="2332680" cy="539750"/>
          </a:xfrm>
        </p:grpSpPr>
        <p:sp>
          <p:nvSpPr>
            <p:cNvPr id="30" name="Rectangle 16"/>
            <p:cNvSpPr>
              <a:spLocks noChangeArrowheads="1"/>
            </p:cNvSpPr>
            <p:nvPr/>
          </p:nvSpPr>
          <p:spPr bwMode="auto">
            <a:xfrm>
              <a:off x="942506" y="3750468"/>
              <a:ext cx="1611955" cy="539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 eaLnBrk="1" hangingPunct="1"/>
              <a:r>
                <a:rPr lang="zh-CN" altLang="en-US" sz="2000" dirty="0">
                  <a:solidFill>
                    <a:srgbClr val="FF0000"/>
                  </a:solidFill>
                  <a:latin typeface="楷体" panose="02010609060101010101" pitchFamily="49" charset="-122"/>
                  <a:ea typeface="楷体" panose="02010609060101010101" pitchFamily="49" charset="-122"/>
                </a:rPr>
                <a:t>被调用者恢复</a:t>
              </a:r>
              <a:endParaRPr lang="zh-CN" altLang="en-US" sz="2000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endParaRPr>
            </a:p>
          </p:txBody>
        </p:sp>
        <p:sp>
          <p:nvSpPr>
            <p:cNvPr id="31" name="Line 18"/>
            <p:cNvSpPr>
              <a:spLocks noChangeShapeType="1"/>
            </p:cNvSpPr>
            <p:nvPr/>
          </p:nvSpPr>
          <p:spPr bwMode="auto">
            <a:xfrm>
              <a:off x="2497232" y="4019489"/>
              <a:ext cx="777954" cy="5721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Line 18"/>
          <p:cNvSpPr>
            <a:spLocks noChangeShapeType="1"/>
          </p:cNvSpPr>
          <p:nvPr/>
        </p:nvSpPr>
        <p:spPr bwMode="auto">
          <a:xfrm flipH="1">
            <a:off x="5292725" y="3460750"/>
            <a:ext cx="1467485" cy="91567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9" name="Rectangle 3"/>
          <p:cNvSpPr>
            <a:spLocks noGrp="1" noChangeArrowheads="1"/>
          </p:cNvSpPr>
          <p:nvPr>
            <p:ph idx="1"/>
          </p:nvPr>
        </p:nvSpPr>
        <p:spPr>
          <a:xfrm>
            <a:off x="430213" y="785813"/>
            <a:ext cx="8256587" cy="3586138"/>
          </a:xfrm>
        </p:spPr>
        <p:txBody>
          <a:bodyPr/>
          <a:lstStyle/>
          <a:p>
            <a:pPr algn="just"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在现代程序设计语言中，在编译时刻不能确定大小的对象通常被分配在堆区。但是，如果它们是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过程的局部对象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，也可以将它们分配在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运行时刻栈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中。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尽量将对象放置在栈区的原因：可以避免对它们的空间进行垃圾回收，也就减少了相应的开销</a:t>
            </a:r>
            <a:endParaRPr lang="en-US" altLang="zh-CN" sz="23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algn="just"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只有一个数据对象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局部于某个过程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，且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当此过程结束时它变得不可访问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，才可以使用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栈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为这个对象分配空间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82947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变长数据的存储分配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/>
          <p:cNvSpPr/>
          <p:nvPr/>
        </p:nvSpPr>
        <p:spPr>
          <a:xfrm>
            <a:off x="4645817" y="3516313"/>
            <a:ext cx="2520951" cy="151288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632325" y="401638"/>
            <a:ext cx="2520951" cy="31051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5" name="内容占位符 3"/>
          <p:cNvGraphicFramePr/>
          <p:nvPr/>
        </p:nvGraphicFramePr>
        <p:xfrm>
          <a:off x="4632325" y="411163"/>
          <a:ext cx="2546350" cy="461803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46350"/>
              </a:tblGrid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zh-CN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…</a:t>
                      </a:r>
                      <a:endParaRPr kumimoji="0" lang="zh-CN" altLang="en-US" sz="1600" b="1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441">
                <a:tc>
                  <a:txBody>
                    <a:bodyPr/>
                    <a:lstStyle/>
                    <a:p>
                      <a:pPr algn="ctr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altLang="en-US" sz="1600" b="1" dirty="0">
                          <a:solidFill>
                            <a:prstClr val="black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控制链和保存的机器状态</a:t>
                      </a:r>
                      <a:endParaRPr lang="zh-CN" altLang="en-US" sz="1600" b="1" dirty="0">
                        <a:solidFill>
                          <a:prstClr val="black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…</a:t>
                      </a:r>
                      <a:endParaRPr kumimoji="0" lang="zh-CN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指向</a:t>
                      </a:r>
                      <a:r>
                        <a:rPr kumimoji="0" lang="en-US" altLang="zh-CN" sz="16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a</a:t>
                      </a:r>
                      <a:r>
                        <a:rPr kumimoji="0" lang="zh-CN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的指针</a:t>
                      </a:r>
                      <a:endParaRPr kumimoji="0" lang="zh-CN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600" b="1" dirty="0">
                          <a:solidFill>
                            <a:srgbClr val="C00000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指向</a:t>
                      </a:r>
                      <a:r>
                        <a:rPr lang="en-US" altLang="zh-CN" sz="1600" b="1" i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zh-CN" altLang="en-US" sz="1600" b="1" dirty="0">
                          <a:solidFill>
                            <a:srgbClr val="C00000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的指针</a:t>
                      </a:r>
                      <a:endParaRPr kumimoji="0" lang="zh-CN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441">
                <a:tc>
                  <a:txBody>
                    <a:bodyPr/>
                    <a:lstStyle/>
                    <a:p>
                      <a:pPr algn="ctr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altLang="en-US" sz="1600" b="1" dirty="0">
                          <a:solidFill>
                            <a:srgbClr val="C00000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指向</a:t>
                      </a:r>
                      <a:r>
                        <a:rPr lang="en-US" altLang="zh-CN" sz="1600" b="1" i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zh-CN" altLang="en-US" sz="1600" b="1" dirty="0">
                          <a:solidFill>
                            <a:srgbClr val="C00000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的指针</a:t>
                      </a:r>
                      <a:endParaRPr lang="zh-CN" altLang="en-US" sz="1600" b="1" dirty="0">
                        <a:solidFill>
                          <a:srgbClr val="C00000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6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…</a:t>
                      </a:r>
                      <a:endParaRPr kumimoji="0" lang="zh-CN" altLang="en-US" sz="16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数组</a:t>
                      </a:r>
                      <a:r>
                        <a:rPr kumimoji="0" lang="en-US" altLang="zh-CN" sz="16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a</a:t>
                      </a:r>
                      <a:endParaRPr kumimoji="0" lang="zh-CN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数组</a:t>
                      </a:r>
                      <a:r>
                        <a:rPr kumimoji="0" lang="en-US" altLang="zh-CN" sz="16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b</a:t>
                      </a:r>
                      <a:endParaRPr kumimoji="0" lang="zh-CN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数组</a:t>
                      </a:r>
                      <a:r>
                        <a:rPr kumimoji="0" lang="en-US" altLang="zh-CN" sz="16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c</a:t>
                      </a:r>
                      <a:endParaRPr kumimoji="0" lang="zh-CN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12441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600" dirty="0"/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控制链和保存的机器状态</a:t>
                      </a:r>
                      <a:endParaRPr kumimoji="0" lang="zh-CN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441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600" dirty="0"/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6300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600" dirty="0"/>
                    </a:p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600" dirty="0"/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任意多边形 5"/>
          <p:cNvSpPr/>
          <p:nvPr/>
        </p:nvSpPr>
        <p:spPr>
          <a:xfrm>
            <a:off x="4327525" y="1039813"/>
            <a:ext cx="269875" cy="2895600"/>
          </a:xfrm>
          <a:custGeom>
            <a:avLst/>
            <a:gdLst>
              <a:gd name="connsiteX0" fmla="*/ 180473 w 180473"/>
              <a:gd name="connsiteY0" fmla="*/ 1780674 h 1780674"/>
              <a:gd name="connsiteX1" fmla="*/ 0 w 180473"/>
              <a:gd name="connsiteY1" fmla="*/ 565484 h 1780674"/>
              <a:gd name="connsiteX2" fmla="*/ 180473 w 180473"/>
              <a:gd name="connsiteY2" fmla="*/ 0 h 1780674"/>
              <a:gd name="connsiteX0-1" fmla="*/ 201644 w 201644"/>
              <a:gd name="connsiteY0-2" fmla="*/ 1780674 h 1780674"/>
              <a:gd name="connsiteX1-3" fmla="*/ 0 w 201644"/>
              <a:gd name="connsiteY1-4" fmla="*/ 871797 h 1780674"/>
              <a:gd name="connsiteX2-5" fmla="*/ 201644 w 201644"/>
              <a:gd name="connsiteY2-6" fmla="*/ 0 h 1780674"/>
              <a:gd name="connsiteX0-7" fmla="*/ 201644 w 201644"/>
              <a:gd name="connsiteY0-8" fmla="*/ 1780674 h 1780674"/>
              <a:gd name="connsiteX1-9" fmla="*/ 0 w 201644"/>
              <a:gd name="connsiteY1-10" fmla="*/ 871797 h 1780674"/>
              <a:gd name="connsiteX2-11" fmla="*/ 201644 w 201644"/>
              <a:gd name="connsiteY2-12" fmla="*/ 0 h 1780674"/>
              <a:gd name="connsiteX0-13" fmla="*/ 201644 w 201644"/>
              <a:gd name="connsiteY0-14" fmla="*/ 1780674 h 1780674"/>
              <a:gd name="connsiteX1-15" fmla="*/ 0 w 201644"/>
              <a:gd name="connsiteY1-16" fmla="*/ 871797 h 1780674"/>
              <a:gd name="connsiteX2-17" fmla="*/ 201644 w 201644"/>
              <a:gd name="connsiteY2-18" fmla="*/ 0 h 1780674"/>
              <a:gd name="connsiteX0-19" fmla="*/ 254570 w 254570"/>
              <a:gd name="connsiteY0-20" fmla="*/ 1780674 h 1780674"/>
              <a:gd name="connsiteX1-21" fmla="*/ 0 w 254570"/>
              <a:gd name="connsiteY1-22" fmla="*/ 871797 h 1780674"/>
              <a:gd name="connsiteX2-23" fmla="*/ 201644 w 254570"/>
              <a:gd name="connsiteY2-24" fmla="*/ 0 h 1780674"/>
              <a:gd name="connsiteX0-25" fmla="*/ 191058 w 191058"/>
              <a:gd name="connsiteY0-26" fmla="*/ 1780674 h 1780674"/>
              <a:gd name="connsiteX1-27" fmla="*/ 0 w 191058"/>
              <a:gd name="connsiteY1-28" fmla="*/ 871797 h 1780674"/>
              <a:gd name="connsiteX2-29" fmla="*/ 138132 w 191058"/>
              <a:gd name="connsiteY2-30" fmla="*/ 0 h 1780674"/>
              <a:gd name="connsiteX0-31" fmla="*/ 205111 w 205111"/>
              <a:gd name="connsiteY0-32" fmla="*/ 1780674 h 1780674"/>
              <a:gd name="connsiteX1-33" fmla="*/ 14053 w 205111"/>
              <a:gd name="connsiteY1-34" fmla="*/ 871797 h 1780674"/>
              <a:gd name="connsiteX2-35" fmla="*/ 152185 w 205111"/>
              <a:gd name="connsiteY2-36" fmla="*/ 0 h 1780674"/>
              <a:gd name="connsiteX0-37" fmla="*/ 235753 w 235753"/>
              <a:gd name="connsiteY0-38" fmla="*/ 1780674 h 1780674"/>
              <a:gd name="connsiteX1-39" fmla="*/ 2354 w 235753"/>
              <a:gd name="connsiteY1-40" fmla="*/ 925852 h 1780674"/>
              <a:gd name="connsiteX2-41" fmla="*/ 182827 w 235753"/>
              <a:gd name="connsiteY2-42" fmla="*/ 0 h 1780674"/>
              <a:gd name="connsiteX0-43" fmla="*/ 233399 w 233399"/>
              <a:gd name="connsiteY0-44" fmla="*/ 1780674 h 1780674"/>
              <a:gd name="connsiteX1-45" fmla="*/ 0 w 233399"/>
              <a:gd name="connsiteY1-46" fmla="*/ 925852 h 1780674"/>
              <a:gd name="connsiteX2-47" fmla="*/ 180473 w 233399"/>
              <a:gd name="connsiteY2-48" fmla="*/ 0 h 1780674"/>
              <a:gd name="connsiteX0-49" fmla="*/ 180472 w 180472"/>
              <a:gd name="connsiteY0-50" fmla="*/ 1780674 h 1780674"/>
              <a:gd name="connsiteX1-51" fmla="*/ 0 w 180472"/>
              <a:gd name="connsiteY1-52" fmla="*/ 925852 h 1780674"/>
              <a:gd name="connsiteX2-53" fmla="*/ 127546 w 180472"/>
              <a:gd name="connsiteY2-54" fmla="*/ 0 h 1780674"/>
              <a:gd name="connsiteX0-55" fmla="*/ 183990 w 183990"/>
              <a:gd name="connsiteY0-56" fmla="*/ 1780674 h 1780674"/>
              <a:gd name="connsiteX1-57" fmla="*/ 3518 w 183990"/>
              <a:gd name="connsiteY1-58" fmla="*/ 925852 h 1780674"/>
              <a:gd name="connsiteX2-59" fmla="*/ 131064 w 183990"/>
              <a:gd name="connsiteY2-60" fmla="*/ 0 h 1780674"/>
              <a:gd name="connsiteX0-61" fmla="*/ 180472 w 180472"/>
              <a:gd name="connsiteY0-62" fmla="*/ 1780674 h 1780674"/>
              <a:gd name="connsiteX1-63" fmla="*/ 0 w 180472"/>
              <a:gd name="connsiteY1-64" fmla="*/ 925852 h 1780674"/>
              <a:gd name="connsiteX2-65" fmla="*/ 127546 w 180472"/>
              <a:gd name="connsiteY2-66" fmla="*/ 0 h 1780674"/>
              <a:gd name="connsiteX0-67" fmla="*/ 363068 w 363068"/>
              <a:gd name="connsiteY0-68" fmla="*/ 2132033 h 2132033"/>
              <a:gd name="connsiteX1-69" fmla="*/ 0 w 363068"/>
              <a:gd name="connsiteY1-70" fmla="*/ 925852 h 2132033"/>
              <a:gd name="connsiteX2-71" fmla="*/ 127546 w 363068"/>
              <a:gd name="connsiteY2-72" fmla="*/ 0 h 2132033"/>
              <a:gd name="connsiteX0-73" fmla="*/ 363068 w 363068"/>
              <a:gd name="connsiteY0-74" fmla="*/ 2469878 h 2469878"/>
              <a:gd name="connsiteX1-75" fmla="*/ 0 w 363068"/>
              <a:gd name="connsiteY1-76" fmla="*/ 1263697 h 2469878"/>
              <a:gd name="connsiteX2-77" fmla="*/ 357775 w 363068"/>
              <a:gd name="connsiteY2-78" fmla="*/ 0 h 2469878"/>
              <a:gd name="connsiteX0-79" fmla="*/ 236045 w 236045"/>
              <a:gd name="connsiteY0-80" fmla="*/ 2469878 h 2469878"/>
              <a:gd name="connsiteX1-81" fmla="*/ 0 w 236045"/>
              <a:gd name="connsiteY1-82" fmla="*/ 1256940 h 2469878"/>
              <a:gd name="connsiteX2-83" fmla="*/ 230752 w 236045"/>
              <a:gd name="connsiteY2-84" fmla="*/ 0 h 2469878"/>
              <a:gd name="connsiteX0-85" fmla="*/ 236045 w 236045"/>
              <a:gd name="connsiteY0-86" fmla="*/ 2469878 h 2469878"/>
              <a:gd name="connsiteX1-87" fmla="*/ 0 w 236045"/>
              <a:gd name="connsiteY1-88" fmla="*/ 1256940 h 2469878"/>
              <a:gd name="connsiteX2-89" fmla="*/ 230752 w 236045"/>
              <a:gd name="connsiteY2-90" fmla="*/ 0 h 2469878"/>
              <a:gd name="connsiteX0-91" fmla="*/ 172533 w 172533"/>
              <a:gd name="connsiteY0-92" fmla="*/ 2469878 h 2469878"/>
              <a:gd name="connsiteX1-93" fmla="*/ 0 w 172533"/>
              <a:gd name="connsiteY1-94" fmla="*/ 1243427 h 2469878"/>
              <a:gd name="connsiteX2-95" fmla="*/ 167240 w 172533"/>
              <a:gd name="connsiteY2-96" fmla="*/ 0 h 2469878"/>
              <a:gd name="connsiteX0-97" fmla="*/ 177717 w 177717"/>
              <a:gd name="connsiteY0-98" fmla="*/ 2469878 h 2469878"/>
              <a:gd name="connsiteX1-99" fmla="*/ 5184 w 177717"/>
              <a:gd name="connsiteY1-100" fmla="*/ 1243427 h 2469878"/>
              <a:gd name="connsiteX2-101" fmla="*/ 56387 w 177717"/>
              <a:gd name="connsiteY2-102" fmla="*/ 482265 h 2469878"/>
              <a:gd name="connsiteX3" fmla="*/ 172424 w 177717"/>
              <a:gd name="connsiteY3" fmla="*/ 0 h 2469878"/>
              <a:gd name="connsiteX0-103" fmla="*/ 177717 w 177717"/>
              <a:gd name="connsiteY0-104" fmla="*/ 2469878 h 2469878"/>
              <a:gd name="connsiteX1-105" fmla="*/ 5184 w 177717"/>
              <a:gd name="connsiteY1-106" fmla="*/ 1243427 h 2469878"/>
              <a:gd name="connsiteX2-107" fmla="*/ 56387 w 177717"/>
              <a:gd name="connsiteY2-108" fmla="*/ 482265 h 2469878"/>
              <a:gd name="connsiteX3-109" fmla="*/ 172424 w 177717"/>
              <a:gd name="connsiteY3-110" fmla="*/ 0 h 2469878"/>
              <a:gd name="connsiteX0-111" fmla="*/ 180807 w 180807"/>
              <a:gd name="connsiteY0-112" fmla="*/ 2469878 h 2469878"/>
              <a:gd name="connsiteX1-113" fmla="*/ 8274 w 180807"/>
              <a:gd name="connsiteY1-114" fmla="*/ 1243427 h 2469878"/>
              <a:gd name="connsiteX2-115" fmla="*/ 42599 w 180807"/>
              <a:gd name="connsiteY2-116" fmla="*/ 311342 h 2469878"/>
              <a:gd name="connsiteX3-117" fmla="*/ 175514 w 180807"/>
              <a:gd name="connsiteY3-118" fmla="*/ 0 h 2469878"/>
              <a:gd name="connsiteX0-119" fmla="*/ 180807 w 180807"/>
              <a:gd name="connsiteY0-120" fmla="*/ 2469878 h 2469878"/>
              <a:gd name="connsiteX1-121" fmla="*/ 8274 w 180807"/>
              <a:gd name="connsiteY1-122" fmla="*/ 1243427 h 2469878"/>
              <a:gd name="connsiteX2-123" fmla="*/ 42599 w 180807"/>
              <a:gd name="connsiteY2-124" fmla="*/ 311342 h 2469878"/>
              <a:gd name="connsiteX3-125" fmla="*/ 175514 w 180807"/>
              <a:gd name="connsiteY3-126" fmla="*/ 0 h 2469878"/>
              <a:gd name="connsiteX0-127" fmla="*/ 180807 w 180807"/>
              <a:gd name="connsiteY0-128" fmla="*/ 2469878 h 2469878"/>
              <a:gd name="connsiteX1-129" fmla="*/ 8274 w 180807"/>
              <a:gd name="connsiteY1-130" fmla="*/ 1243427 h 2469878"/>
              <a:gd name="connsiteX2-131" fmla="*/ 42599 w 180807"/>
              <a:gd name="connsiteY2-132" fmla="*/ 311342 h 2469878"/>
              <a:gd name="connsiteX3-133" fmla="*/ 175514 w 180807"/>
              <a:gd name="connsiteY3-134" fmla="*/ 0 h 2469878"/>
              <a:gd name="connsiteX0-135" fmla="*/ 182203 w 182203"/>
              <a:gd name="connsiteY0-136" fmla="*/ 2469878 h 2469878"/>
              <a:gd name="connsiteX1-137" fmla="*/ 9670 w 182203"/>
              <a:gd name="connsiteY1-138" fmla="*/ 1243427 h 2469878"/>
              <a:gd name="connsiteX2-139" fmla="*/ 38369 w 182203"/>
              <a:gd name="connsiteY2-140" fmla="*/ 407951 h 2469878"/>
              <a:gd name="connsiteX3-141" fmla="*/ 176910 w 182203"/>
              <a:gd name="connsiteY3-142" fmla="*/ 0 h 2469878"/>
              <a:gd name="connsiteX0-143" fmla="*/ 172538 w 172538"/>
              <a:gd name="connsiteY0-144" fmla="*/ 2469878 h 2469878"/>
              <a:gd name="connsiteX1-145" fmla="*/ 5 w 172538"/>
              <a:gd name="connsiteY1-146" fmla="*/ 1243427 h 2469878"/>
              <a:gd name="connsiteX2-147" fmla="*/ 167245 w 172538"/>
              <a:gd name="connsiteY2-148" fmla="*/ 0 h 2469878"/>
              <a:gd name="connsiteX0-149" fmla="*/ 172538 w 172538"/>
              <a:gd name="connsiteY0-150" fmla="*/ 2469878 h 2469878"/>
              <a:gd name="connsiteX1-151" fmla="*/ 5 w 172538"/>
              <a:gd name="connsiteY1-152" fmla="*/ 1243427 h 2469878"/>
              <a:gd name="connsiteX2-153" fmla="*/ 167245 w 172538"/>
              <a:gd name="connsiteY2-154" fmla="*/ 0 h 2469878"/>
              <a:gd name="connsiteX0-155" fmla="*/ 166911 w 166911"/>
              <a:gd name="connsiteY0-156" fmla="*/ 2469878 h 2469878"/>
              <a:gd name="connsiteX1-157" fmla="*/ 5 w 166911"/>
              <a:gd name="connsiteY1-158" fmla="*/ 1094799 h 2469878"/>
              <a:gd name="connsiteX2-159" fmla="*/ 161618 w 166911"/>
              <a:gd name="connsiteY2-160" fmla="*/ 0 h 2469878"/>
              <a:gd name="connsiteX0-161" fmla="*/ 168068 w 168068"/>
              <a:gd name="connsiteY0-162" fmla="*/ 2469878 h 2469878"/>
              <a:gd name="connsiteX1-163" fmla="*/ 1162 w 168068"/>
              <a:gd name="connsiteY1-164" fmla="*/ 1094799 h 2469878"/>
              <a:gd name="connsiteX2-165" fmla="*/ 97374 w 168068"/>
              <a:gd name="connsiteY2-166" fmla="*/ 363362 h 2469878"/>
              <a:gd name="connsiteX3-167" fmla="*/ 162775 w 168068"/>
              <a:gd name="connsiteY3-168" fmla="*/ 0 h 2469878"/>
              <a:gd name="connsiteX0-169" fmla="*/ 170965 w 170965"/>
              <a:gd name="connsiteY0-170" fmla="*/ 2469878 h 2469878"/>
              <a:gd name="connsiteX1-171" fmla="*/ 4059 w 170965"/>
              <a:gd name="connsiteY1-172" fmla="*/ 1094799 h 2469878"/>
              <a:gd name="connsiteX2-173" fmla="*/ 60888 w 170965"/>
              <a:gd name="connsiteY2-174" fmla="*/ 341068 h 2469878"/>
              <a:gd name="connsiteX3-175" fmla="*/ 165672 w 170965"/>
              <a:gd name="connsiteY3-176" fmla="*/ 0 h 2469878"/>
              <a:gd name="connsiteX0-177" fmla="*/ 170965 w 170965"/>
              <a:gd name="connsiteY0-178" fmla="*/ 2469878 h 2469878"/>
              <a:gd name="connsiteX1-179" fmla="*/ 4059 w 170965"/>
              <a:gd name="connsiteY1-180" fmla="*/ 1094799 h 2469878"/>
              <a:gd name="connsiteX2-181" fmla="*/ 60888 w 170965"/>
              <a:gd name="connsiteY2-182" fmla="*/ 341068 h 2469878"/>
              <a:gd name="connsiteX3-183" fmla="*/ 165672 w 170965"/>
              <a:gd name="connsiteY3-184" fmla="*/ 0 h 2469878"/>
              <a:gd name="connsiteX0-185" fmla="*/ 173518 w 173518"/>
              <a:gd name="connsiteY0-186" fmla="*/ 2469878 h 2469878"/>
              <a:gd name="connsiteX1-187" fmla="*/ 6612 w 173518"/>
              <a:gd name="connsiteY1-188" fmla="*/ 1094799 h 2469878"/>
              <a:gd name="connsiteX2-189" fmla="*/ 63441 w 173518"/>
              <a:gd name="connsiteY2-190" fmla="*/ 341068 h 2469878"/>
              <a:gd name="connsiteX3-191" fmla="*/ 168225 w 173518"/>
              <a:gd name="connsiteY3-192" fmla="*/ 0 h 2469878"/>
              <a:gd name="connsiteX0-193" fmla="*/ 168963 w 168963"/>
              <a:gd name="connsiteY0-194" fmla="*/ 2469878 h 2469878"/>
              <a:gd name="connsiteX1-195" fmla="*/ 2057 w 168963"/>
              <a:gd name="connsiteY1-196" fmla="*/ 1094799 h 2469878"/>
              <a:gd name="connsiteX2-197" fmla="*/ 92644 w 168963"/>
              <a:gd name="connsiteY2-198" fmla="*/ 177577 h 2469878"/>
              <a:gd name="connsiteX3-199" fmla="*/ 163670 w 168963"/>
              <a:gd name="connsiteY3-200" fmla="*/ 0 h 246987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09" y="connsiteY3-110"/>
              </a:cxn>
            </a:cxnLst>
            <a:rect l="l" t="t" r="r" b="b"/>
            <a:pathLst>
              <a:path w="168963" h="2469878">
                <a:moveTo>
                  <a:pt x="168963" y="2469878"/>
                </a:moveTo>
                <a:cubicBezTo>
                  <a:pt x="36384" y="2100763"/>
                  <a:pt x="14777" y="1476849"/>
                  <a:pt x="2057" y="1094799"/>
                </a:cubicBezTo>
                <a:cubicBezTo>
                  <a:pt x="-10663" y="712749"/>
                  <a:pt x="37578" y="337749"/>
                  <a:pt x="92644" y="177577"/>
                </a:cubicBezTo>
                <a:cubicBezTo>
                  <a:pt x="147710" y="17405"/>
                  <a:pt x="152770" y="60560"/>
                  <a:pt x="163670" y="0"/>
                </a:cubicBezTo>
              </a:path>
            </a:pathLst>
          </a:custGeom>
          <a:noFill/>
          <a:ln w="31750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弧形 6"/>
          <p:cNvSpPr/>
          <p:nvPr/>
        </p:nvSpPr>
        <p:spPr bwMode="auto">
          <a:xfrm rot="10056762" flipV="1">
            <a:off x="4454525" y="134938"/>
            <a:ext cx="193675" cy="747712"/>
          </a:xfrm>
          <a:prstGeom prst="arc">
            <a:avLst>
              <a:gd name="adj1" fmla="val 16831102"/>
              <a:gd name="adj2" fmla="val 5229498"/>
            </a:avLst>
          </a:prstGeom>
          <a:ln w="31750">
            <a:solidFill>
              <a:schemeClr val="tx2">
                <a:lumMod val="60000"/>
                <a:lumOff val="40000"/>
              </a:schemeClr>
            </a:solidFill>
            <a:head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black"/>
              </a:solidFill>
            </a:endParaRPr>
          </a:p>
        </p:txBody>
      </p:sp>
      <p:cxnSp>
        <p:nvCxnSpPr>
          <p:cNvPr id="9" name="直接连接符 8"/>
          <p:cNvCxnSpPr/>
          <p:nvPr/>
        </p:nvCxnSpPr>
        <p:spPr bwMode="auto">
          <a:xfrm rot="10800000">
            <a:off x="4240213" y="5018088"/>
            <a:ext cx="323850" cy="1587"/>
          </a:xfrm>
          <a:prstGeom prst="line">
            <a:avLst/>
          </a:prstGeom>
          <a:ln w="25400">
            <a:solidFill>
              <a:schemeClr val="tx2">
                <a:lumMod val="60000"/>
                <a:lumOff val="40000"/>
              </a:schemeClr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5"/>
          <p:cNvSpPr>
            <a:spLocks noChangeArrowheads="1"/>
          </p:cNvSpPr>
          <p:nvPr/>
        </p:nvSpPr>
        <p:spPr bwMode="auto">
          <a:xfrm>
            <a:off x="3500438" y="4746625"/>
            <a:ext cx="1000125" cy="488950"/>
          </a:xfrm>
          <a:prstGeom prst="rect">
            <a:avLst/>
          </a:prstGeom>
          <a:noFill/>
          <a:ln>
            <a:noFill/>
          </a:ln>
        </p:spPr>
        <p:txBody>
          <a:bodyPr tIns="82800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8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top</a:t>
            </a:r>
            <a:endParaRPr lang="zh-CN" altLang="en-US" sz="18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/>
          <p:cNvCxnSpPr/>
          <p:nvPr/>
        </p:nvCxnSpPr>
        <p:spPr bwMode="auto">
          <a:xfrm rot="16200000" flipV="1">
            <a:off x="7304087" y="3975101"/>
            <a:ext cx="936625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5"/>
          <p:cNvSpPr>
            <a:spLocks noChangeArrowheads="1"/>
          </p:cNvSpPr>
          <p:nvPr/>
        </p:nvSpPr>
        <p:spPr bwMode="auto">
          <a:xfrm>
            <a:off x="7237413" y="3727450"/>
            <a:ext cx="1222375" cy="5000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tIns="82800" anchor="ctr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lnSpc>
                <a:spcPts val="1800"/>
              </a:lnSpc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  <a:defRPr/>
            </a:pPr>
            <a:r>
              <a:rPr lang="zh-CN" altLang="en-US" sz="15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被调用者</a:t>
            </a:r>
            <a:r>
              <a:rPr lang="en-US" altLang="zh-CN" sz="1500" i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q</a:t>
            </a:r>
            <a:r>
              <a:rPr lang="zh-CN" altLang="en-US" sz="15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的活动记录</a:t>
            </a:r>
            <a:endParaRPr lang="zh-CN" altLang="en-US" sz="1500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cxnSp>
        <p:nvCxnSpPr>
          <p:cNvPr id="14" name="直接连接符 13"/>
          <p:cNvCxnSpPr/>
          <p:nvPr/>
        </p:nvCxnSpPr>
        <p:spPr bwMode="auto">
          <a:xfrm flipV="1">
            <a:off x="7772400" y="401638"/>
            <a:ext cx="0" cy="2136775"/>
          </a:xfrm>
          <a:prstGeom prst="line">
            <a:avLst/>
          </a:prstGeom>
          <a:ln w="38100">
            <a:solidFill>
              <a:srgbClr val="0000FF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5"/>
          <p:cNvSpPr>
            <a:spLocks noChangeArrowheads="1"/>
          </p:cNvSpPr>
          <p:nvPr/>
        </p:nvSpPr>
        <p:spPr bwMode="auto">
          <a:xfrm>
            <a:off x="7275513" y="1131888"/>
            <a:ext cx="1057275" cy="7350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tIns="82800" anchor="ctr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zh-CN" altLang="en-US" sz="1500" dirty="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调用者</a:t>
            </a:r>
            <a:r>
              <a:rPr lang="en-US" altLang="zh-CN" sz="1500" i="1" dirty="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p</a:t>
            </a:r>
            <a:r>
              <a:rPr lang="zh-CN" altLang="en-US" sz="15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的活动记录</a:t>
            </a:r>
            <a:endParaRPr lang="zh-CN" altLang="en-US" sz="15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cxnSp>
        <p:nvCxnSpPr>
          <p:cNvPr id="16" name="直接连接符 15"/>
          <p:cNvCxnSpPr/>
          <p:nvPr/>
        </p:nvCxnSpPr>
        <p:spPr bwMode="auto">
          <a:xfrm flipV="1">
            <a:off x="7772400" y="4443414"/>
            <a:ext cx="0" cy="576262"/>
          </a:xfrm>
          <a:prstGeom prst="line">
            <a:avLst/>
          </a:prstGeom>
          <a:ln w="38100">
            <a:solidFill>
              <a:srgbClr val="FF0000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5"/>
          <p:cNvSpPr>
            <a:spLocks noChangeArrowheads="1"/>
          </p:cNvSpPr>
          <p:nvPr/>
        </p:nvSpPr>
        <p:spPr bwMode="auto">
          <a:xfrm>
            <a:off x="7275231" y="4639830"/>
            <a:ext cx="1431669" cy="158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tIns="82800" anchor="ctr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500" i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q</a:t>
            </a:r>
            <a:r>
              <a:rPr lang="zh-CN" altLang="en-US" sz="1500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的变长数组</a:t>
            </a:r>
            <a:endParaRPr lang="zh-CN" altLang="en-US" sz="15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cxnSp>
        <p:nvCxnSpPr>
          <p:cNvPr id="18" name="直接连接符 17"/>
          <p:cNvCxnSpPr/>
          <p:nvPr/>
        </p:nvCxnSpPr>
        <p:spPr bwMode="auto">
          <a:xfrm rot="10800000">
            <a:off x="7612063" y="401638"/>
            <a:ext cx="323850" cy="1587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 bwMode="auto">
          <a:xfrm rot="10800000">
            <a:off x="7608888" y="2582141"/>
            <a:ext cx="323850" cy="1588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 bwMode="auto">
          <a:xfrm rot="10800000">
            <a:off x="7608888" y="5018088"/>
            <a:ext cx="323850" cy="1587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 bwMode="auto">
          <a:xfrm rot="10800000">
            <a:off x="7620000" y="4472998"/>
            <a:ext cx="323850" cy="1588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 bwMode="auto">
          <a:xfrm rot="10800000">
            <a:off x="7629525" y="3506788"/>
            <a:ext cx="323850" cy="1587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 bwMode="auto">
          <a:xfrm flipV="1">
            <a:off x="7772400" y="2597150"/>
            <a:ext cx="0" cy="909638"/>
          </a:xfrm>
          <a:prstGeom prst="line">
            <a:avLst/>
          </a:prstGeom>
          <a:ln w="38100">
            <a:solidFill>
              <a:srgbClr val="FF0000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5"/>
          <p:cNvSpPr>
            <a:spLocks noChangeArrowheads="1"/>
          </p:cNvSpPr>
          <p:nvPr/>
        </p:nvSpPr>
        <p:spPr bwMode="auto">
          <a:xfrm>
            <a:off x="7236296" y="2933700"/>
            <a:ext cx="1431669" cy="2111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tIns="82800" anchor="ctr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500" i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p</a:t>
            </a:r>
            <a:r>
              <a:rPr lang="zh-CN" altLang="en-US" sz="1500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的变长数组</a:t>
            </a:r>
            <a:endParaRPr lang="zh-CN" altLang="en-US" sz="15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5" name="弧形 24"/>
          <p:cNvSpPr/>
          <p:nvPr/>
        </p:nvSpPr>
        <p:spPr bwMode="auto">
          <a:xfrm rot="20520607" flipV="1">
            <a:off x="6673850" y="1087438"/>
            <a:ext cx="633413" cy="1520825"/>
          </a:xfrm>
          <a:prstGeom prst="arc">
            <a:avLst>
              <a:gd name="adj1" fmla="val 15968576"/>
              <a:gd name="adj2" fmla="val 2057466"/>
            </a:avLst>
          </a:prstGeom>
          <a:ln w="31750">
            <a:solidFill>
              <a:schemeClr val="tx2">
                <a:lumMod val="60000"/>
                <a:lumOff val="4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26" name="弧形 25"/>
          <p:cNvSpPr/>
          <p:nvPr/>
        </p:nvSpPr>
        <p:spPr bwMode="auto">
          <a:xfrm rot="20520607" flipV="1">
            <a:off x="6673850" y="1458913"/>
            <a:ext cx="633413" cy="1520825"/>
          </a:xfrm>
          <a:prstGeom prst="arc">
            <a:avLst>
              <a:gd name="adj1" fmla="val 16018017"/>
              <a:gd name="adj2" fmla="val 2866918"/>
            </a:avLst>
          </a:prstGeom>
          <a:ln w="31750">
            <a:solidFill>
              <a:schemeClr val="tx2">
                <a:lumMod val="60000"/>
                <a:lumOff val="4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85045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访问动态分配的数组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7" name="直接连接符 26"/>
          <p:cNvCxnSpPr/>
          <p:nvPr/>
        </p:nvCxnSpPr>
        <p:spPr bwMode="auto">
          <a:xfrm flipH="1" flipV="1">
            <a:off x="3767138" y="1039813"/>
            <a:ext cx="792162" cy="3108325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 bwMode="auto">
          <a:xfrm flipH="1" flipV="1">
            <a:off x="3767138" y="1003300"/>
            <a:ext cx="815975" cy="0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ys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5"/>
          <p:cNvSpPr>
            <a:spLocks noChangeArrowheads="1"/>
          </p:cNvSpPr>
          <p:nvPr/>
        </p:nvSpPr>
        <p:spPr bwMode="auto">
          <a:xfrm>
            <a:off x="2970213" y="755650"/>
            <a:ext cx="925512" cy="542925"/>
          </a:xfrm>
          <a:prstGeom prst="rect">
            <a:avLst/>
          </a:prstGeom>
          <a:noFill/>
          <a:ln>
            <a:noFill/>
          </a:ln>
        </p:spPr>
        <p:txBody>
          <a:bodyPr tIns="82800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800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endParaRPr lang="zh-CN" altLang="en-US" sz="18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1" name="弧形 10"/>
          <p:cNvSpPr/>
          <p:nvPr/>
        </p:nvSpPr>
        <p:spPr bwMode="auto">
          <a:xfrm rot="20520607" flipV="1">
            <a:off x="6672263" y="1782763"/>
            <a:ext cx="633412" cy="1520825"/>
          </a:xfrm>
          <a:prstGeom prst="arc">
            <a:avLst>
              <a:gd name="adj1" fmla="val 16193764"/>
              <a:gd name="adj2" fmla="val 2559890"/>
            </a:avLst>
          </a:prstGeom>
          <a:ln w="31750">
            <a:solidFill>
              <a:schemeClr val="tx2">
                <a:lumMod val="60000"/>
                <a:lumOff val="4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179512" y="1344912"/>
            <a:ext cx="3549352" cy="36031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ts val="2500"/>
              </a:lnSpc>
              <a:spcBef>
                <a:spcPts val="0"/>
              </a:spcBef>
              <a:buFont typeface="Wingdings" panose="05000000000000000000" pitchFamily="2" charset="2"/>
              <a:buChar char="Ø"/>
              <a:defRPr/>
            </a:pP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在活动记录中为变长数组分别</a:t>
            </a:r>
            <a:r>
              <a:rPr lang="zh-CN" altLang="en-US" sz="18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分配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一个存放</a:t>
            </a:r>
            <a:r>
              <a:rPr lang="zh-CN" altLang="en-US" sz="18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数组指针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的单元</a:t>
            </a:r>
            <a:endParaRPr lang="en-US" altLang="zh-CN" sz="1800" dirty="0">
              <a:latin typeface="+mn-ea"/>
              <a:ea typeface="+mn-ea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500"/>
              </a:lnSpc>
              <a:spcBef>
                <a:spcPts val="0"/>
              </a:spcBef>
              <a:buFont typeface="Wingdings" panose="05000000000000000000" pitchFamily="2" charset="2"/>
              <a:buChar char="Ø"/>
              <a:defRPr/>
            </a:pPr>
            <a:r>
              <a:rPr lang="zh-CN" altLang="en-US" sz="18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运行时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，数组的大小能确定后，在栈顶挨着过程活动记录为数组</a:t>
            </a:r>
            <a:r>
              <a:rPr lang="zh-CN" altLang="en-US" sz="18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分配存储空间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，并将</a:t>
            </a:r>
            <a:r>
              <a:rPr lang="zh-CN" altLang="en-US" sz="18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起始地址存放于数组指针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的单元。</a:t>
            </a:r>
            <a:endParaRPr lang="en-US" altLang="zh-CN" sz="1800" dirty="0">
              <a:latin typeface="+mn-ea"/>
              <a:ea typeface="+mn-ea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500"/>
              </a:lnSpc>
              <a:spcBef>
                <a:spcPts val="0"/>
              </a:spcBef>
              <a:buFont typeface="Wingdings" panose="05000000000000000000" pitchFamily="2" charset="2"/>
              <a:buChar char="Ø"/>
              <a:defRPr/>
            </a:pP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对这些</a:t>
            </a:r>
            <a:r>
              <a:rPr lang="zh-CN" altLang="en-US" sz="18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数组元素的引用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是通过活动记录中的</a:t>
            </a:r>
            <a:r>
              <a:rPr lang="zh-CN" altLang="en-US" sz="18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数组指针间接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进行的。</a:t>
            </a:r>
            <a:endParaRPr lang="en-US" altLang="zh-CN" sz="1800" dirty="0">
              <a:latin typeface="+mn-ea"/>
              <a:ea typeface="+mn-ea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500"/>
              </a:lnSpc>
              <a:spcBef>
                <a:spcPts val="0"/>
              </a:spcBef>
              <a:buFont typeface="Wingdings" panose="05000000000000000000" pitchFamily="2" charset="2"/>
              <a:buChar char="Ø"/>
              <a:defRPr/>
            </a:pP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当过程</a:t>
            </a:r>
            <a:r>
              <a:rPr lang="en-US" altLang="zh-CN" sz="1800" i="1" dirty="0">
                <a:ea typeface="+mn-ea"/>
                <a:cs typeface="Times New Roman" panose="02020603050405020304" pitchFamily="18" charset="0"/>
              </a:rPr>
              <a:t>p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结束后，其活动记录连同数组空间一同出栈。</a:t>
            </a:r>
            <a:endParaRPr lang="en-US" altLang="zh-CN" sz="1800" dirty="0">
              <a:latin typeface="+mn-ea"/>
              <a:ea typeface="+mn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8" name="矩形 7"/>
          <p:cNvSpPr/>
          <p:nvPr/>
        </p:nvSpPr>
        <p:spPr>
          <a:xfrm>
            <a:off x="4500563" y="1357313"/>
            <a:ext cx="4357687" cy="3147015"/>
          </a:xfrm>
          <a:prstGeom prst="rect">
            <a:avLst/>
          </a:prstGeom>
          <a:ln w="12700">
            <a:noFill/>
          </a:ln>
        </p:spPr>
        <p:txBody>
          <a:bodyPr lIns="68580" tIns="34290" rIns="68580" bIns="34290">
            <a:spAutoFit/>
          </a:bodyPr>
          <a:lstStyle/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7.1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存储组织</a:t>
            </a:r>
            <a:endParaRPr lang="zh-CN" altLang="en-US" sz="2500" b="0" dirty="0">
              <a:solidFill>
                <a:prstClr val="white">
                  <a:lumMod val="50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7.2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静态存储分配</a:t>
            </a:r>
            <a:endParaRPr lang="zh-CN" altLang="en-US" sz="2500" b="0" dirty="0">
              <a:solidFill>
                <a:prstClr val="white">
                  <a:lumMod val="50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7.3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栈式存储分配</a:t>
            </a:r>
            <a:endParaRPr lang="zh-CN" altLang="en-US" sz="2500" b="0" dirty="0">
              <a:solidFill>
                <a:prstClr val="white">
                  <a:lumMod val="50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7.4 </a:t>
            </a:r>
            <a:r>
              <a:rPr lang="zh-CN" altLang="en-US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非局部数据的访问</a:t>
            </a:r>
            <a:endParaRPr lang="zh-CN" altLang="en-US" sz="2500" b="0" dirty="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7.5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参数传递</a:t>
            </a:r>
            <a:endParaRPr lang="en-US" altLang="zh-CN" sz="2500" b="0" dirty="0">
              <a:solidFill>
                <a:prstClr val="white">
                  <a:lumMod val="50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7.6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符号表</a:t>
            </a:r>
            <a:endParaRPr lang="zh-CN" altLang="en-US" sz="2500" b="0" dirty="0">
              <a:solidFill>
                <a:prstClr val="white">
                  <a:lumMod val="50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</p:txBody>
      </p:sp>
      <p:pic>
        <p:nvPicPr>
          <p:cNvPr id="87044" name="Picture 7" descr="E:\工大编译\ppt\制作\0330e9c554c768200000158fc50d53d.jpg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矩形 15"/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提纲</a:t>
            </a: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9" name="内容占位符 2"/>
          <p:cNvSpPr>
            <a:spLocks noGrp="1"/>
          </p:cNvSpPr>
          <p:nvPr>
            <p:ph idx="1"/>
          </p:nvPr>
        </p:nvSpPr>
        <p:spPr>
          <a:xfrm>
            <a:off x="428625" y="839789"/>
            <a:ext cx="8286750" cy="4089400"/>
          </a:xfrm>
        </p:spPr>
        <p:txBody>
          <a:bodyPr/>
          <a:lstStyle/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一个过程除了可以使用</a:t>
            </a:r>
            <a:r>
              <a:rPr lang="zh-CN" altLang="en-US" b="1" dirty="0">
                <a:solidFill>
                  <a:srgbClr val="0070C0"/>
                </a:solidFill>
                <a:latin typeface="楷体" panose="02010609060101010101" pitchFamily="49" charset="-122"/>
              </a:rPr>
              <a:t>过程自身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声明的</a:t>
            </a:r>
            <a:r>
              <a:rPr lang="zh-CN" altLang="en-US" b="1" dirty="0">
                <a:solidFill>
                  <a:srgbClr val="0070C0"/>
                </a:solidFill>
                <a:latin typeface="楷体" panose="02010609060101010101" pitchFamily="49" charset="-122"/>
              </a:rPr>
              <a:t>局部数据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以外，还可以使用</a:t>
            </a:r>
            <a:r>
              <a:rPr lang="zh-CN" altLang="en-US" b="1" dirty="0">
                <a:solidFill>
                  <a:srgbClr val="0070C0"/>
                </a:solidFill>
                <a:latin typeface="楷体" panose="02010609060101010101" pitchFamily="49" charset="-122"/>
              </a:rPr>
              <a:t>过程外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声明的</a:t>
            </a:r>
            <a:r>
              <a:rPr lang="zh-CN" altLang="en-US" b="1" dirty="0">
                <a:solidFill>
                  <a:srgbClr val="0070C0"/>
                </a:solidFill>
                <a:latin typeface="楷体" panose="02010609060101010101" pitchFamily="49" charset="-122"/>
              </a:rPr>
              <a:t>非局部数据</a:t>
            </a:r>
            <a:endParaRPr lang="en-US" altLang="zh-CN" b="1" dirty="0">
              <a:solidFill>
                <a:srgbClr val="0070C0"/>
              </a:solidFill>
              <a:latin typeface="楷体" panose="02010609060101010101" pitchFamily="49" charset="-122"/>
            </a:endParaRPr>
          </a:p>
          <a:p>
            <a:pPr lvl="1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全局数据</a:t>
            </a:r>
            <a:endParaRPr lang="zh-CN" altLang="en-US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4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rgbClr val="0000FF"/>
                </a:solidFill>
                <a:cs typeface="Times New Roman" panose="02020603050405020304" pitchFamily="18" charset="0"/>
              </a:rPr>
              <a:t>外围过程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定义的数据（支持过程嵌套声明的语言）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例：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Pascal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语言、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Python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语言、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ML(Meta Language)</a:t>
            </a:r>
            <a:endParaRPr lang="zh-CN" altLang="en-US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89091" name="标题 1"/>
          <p:cNvSpPr>
            <a:spLocks noGrp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7.4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非局部数据的访问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687789" y="1942985"/>
            <a:ext cx="2435282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zh-CN" altLang="en-US" sz="1350" dirty="0">
                <a:solidFill>
                  <a:srgbClr val="FF0000"/>
                </a:solidFill>
                <a:latin typeface="Candara" panose="020E0502030303020204"/>
                <a:ea typeface="华文楷体" panose="02010600040101010101" pitchFamily="2" charset="-122"/>
              </a:rPr>
              <a:t>块结构语言的静态作用域规则</a:t>
            </a:r>
            <a:endParaRPr lang="zh-CN" altLang="en-US" sz="1350" dirty="0">
              <a:solidFill>
                <a:srgbClr val="FF0000"/>
              </a:solidFill>
              <a:latin typeface="Candara" panose="020E0502030303020204"/>
              <a:ea typeface="华文楷体" panose="02010600040101010101" pitchFamily="2" charset="-122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 flipH="1">
            <a:off x="6546272" y="2093026"/>
            <a:ext cx="226425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内容占位符 2"/>
          <p:cNvSpPr>
            <a:spLocks noGrp="1"/>
          </p:cNvSpPr>
          <p:nvPr>
            <p:ph idx="1"/>
          </p:nvPr>
        </p:nvSpPr>
        <p:spPr>
          <a:xfrm>
            <a:off x="428626" y="703264"/>
            <a:ext cx="5927725" cy="3225800"/>
          </a:xfrm>
        </p:spPr>
        <p:txBody>
          <a:bodyPr/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（</a:t>
            </a:r>
            <a:r>
              <a:rPr lang="en-US" altLang="zh-CN" sz="25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Pascal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语言）</a:t>
            </a:r>
            <a:endParaRPr lang="zh-CN" altLang="en-US" sz="2500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91139" name="标题 1"/>
          <p:cNvSpPr>
            <a:spLocks noGrp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例：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785814" y="1143001"/>
            <a:ext cx="7751762" cy="385823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lIns="68580" tIns="34290" rIns="68580" bIns="34290">
            <a:spAutoFit/>
          </a:bodyPr>
          <a:lstStyle/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program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FF0000"/>
                </a:solidFill>
                <a:ea typeface="方正楷体_GB2312" charset="0"/>
              </a:rPr>
              <a:t>sort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(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input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output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);</a:t>
            </a:r>
            <a:endParaRPr lang="en-US" altLang="zh-CN" sz="18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18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array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[0..10]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of 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endParaRPr lang="en-US" altLang="zh-CN" sz="18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          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x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18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  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 err="1">
                <a:solidFill>
                  <a:srgbClr val="FF0000"/>
                </a:solidFill>
                <a:ea typeface="方正楷体_GB2312" charset="0"/>
              </a:rPr>
              <a:t>readarray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18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18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endParaRPr lang="en-US" altLang="zh-CN" sz="18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end.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</a:t>
            </a:r>
            <a:r>
              <a:rPr lang="en-US" altLang="zh-CN" sz="1800" i="1" kern="0" dirty="0" err="1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readarray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 </a:t>
            </a:r>
            <a:r>
              <a:rPr lang="zh-CN" altLang="en-US" sz="18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zh-CN" altLang="en-US" sz="18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FF0000"/>
                </a:solidFill>
                <a:ea typeface="方正楷体_GB2312" charset="0"/>
              </a:rPr>
              <a:t>exchang</a:t>
            </a:r>
            <a:r>
              <a:rPr lang="en-US" altLang="zh-CN" sz="1800" kern="0" dirty="0">
                <a:solidFill>
                  <a:srgbClr val="FF0000"/>
                </a:solidFill>
                <a:ea typeface="方正楷体_GB2312" charset="0"/>
              </a:rPr>
              <a:t>e</a:t>
            </a:r>
            <a:r>
              <a:rPr lang="en-US" altLang="zh-CN" sz="1800" kern="0" dirty="0">
                <a:solidFill>
                  <a:prstClr val="black"/>
                </a:solidFill>
                <a:ea typeface="方正楷体_GB2312" charset="0"/>
              </a:rPr>
              <a:t>( </a:t>
            </a:r>
            <a:r>
              <a:rPr lang="en-US" altLang="zh-CN" sz="1800" i="1" kern="0" dirty="0" err="1">
                <a:solidFill>
                  <a:prstClr val="black"/>
                </a:solidFill>
                <a:ea typeface="方正楷体_GB2312" charset="0"/>
              </a:rPr>
              <a:t>i</a:t>
            </a:r>
            <a:r>
              <a:rPr lang="en-US" altLang="zh-CN" sz="1800" kern="0" dirty="0">
                <a:solidFill>
                  <a:prstClr val="black"/>
                </a:solidFill>
                <a:ea typeface="方正楷体_GB2312" charset="0"/>
              </a:rPr>
              <a:t>, 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j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);</a:t>
            </a:r>
            <a:endParaRPr lang="en-US" altLang="zh-CN" sz="18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x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=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x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end.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</a:t>
            </a:r>
            <a:r>
              <a:rPr lang="en-US" altLang="zh-CN" sz="18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exchang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e} </a:t>
            </a:r>
            <a:r>
              <a:rPr lang="zh-CN" altLang="en-US" sz="18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zh-CN" altLang="en-US" sz="18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FF0000"/>
                </a:solidFill>
                <a:ea typeface="方正楷体_GB2312" charset="0"/>
              </a:rPr>
              <a:t>quicksort</a:t>
            </a:r>
            <a:r>
              <a:rPr lang="en-US" altLang="zh-CN" sz="1800" kern="0" dirty="0">
                <a:solidFill>
                  <a:prstClr val="black"/>
                </a:solidFill>
                <a:ea typeface="方正楷体_GB2312" charset="0"/>
              </a:rPr>
              <a:t>(</a:t>
            </a:r>
            <a:r>
              <a:rPr lang="en-US" altLang="zh-CN" sz="1800" i="1" kern="0" dirty="0">
                <a:solidFill>
                  <a:prstClr val="black"/>
                </a:solidFill>
                <a:ea typeface="方正楷体_GB2312" charset="0"/>
              </a:rPr>
              <a:t>m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n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);</a:t>
            </a:r>
            <a:endParaRPr lang="en-US" altLang="zh-CN" sz="18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18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k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18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function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FF0000"/>
                </a:solidFill>
                <a:ea typeface="方正楷体_GB2312" charset="0"/>
              </a:rPr>
              <a:t>partition</a:t>
            </a:r>
            <a:r>
              <a:rPr lang="en-US" altLang="zh-CN" sz="1800" kern="0" dirty="0">
                <a:solidFill>
                  <a:prstClr val="black"/>
                </a:solidFill>
                <a:ea typeface="方正楷体_GB2312" charset="0"/>
              </a:rPr>
              <a:t>( </a:t>
            </a:r>
            <a:r>
              <a:rPr lang="en-US" altLang="zh-CN" sz="1800" i="1" kern="0" dirty="0">
                <a:solidFill>
                  <a:prstClr val="black"/>
                </a:solidFill>
                <a:ea typeface="方正楷体_GB2312" charset="0"/>
              </a:rPr>
              <a:t>y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z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):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r;</a:t>
            </a:r>
            <a:endParaRPr lang="en-US" altLang="zh-CN" sz="18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18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 err="1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j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18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18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exchange</a:t>
            </a:r>
            <a:r>
              <a:rPr lang="en-US" altLang="zh-CN" sz="1800" kern="0" dirty="0">
                <a:solidFill>
                  <a:srgbClr val="0000FF"/>
                </a:solidFill>
                <a:ea typeface="方正楷体_GB2312" charset="0"/>
              </a:rPr>
              <a:t>(</a:t>
            </a:r>
            <a:r>
              <a:rPr lang="en-US" altLang="zh-CN" sz="1800" i="1" kern="0" dirty="0" err="1">
                <a:solidFill>
                  <a:srgbClr val="0000FF"/>
                </a:solidFill>
                <a:ea typeface="方正楷体_GB2312" charset="0"/>
              </a:rPr>
              <a:t>i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) …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end. 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</a:t>
            </a:r>
            <a:r>
              <a:rPr lang="en-US" altLang="zh-CN" sz="18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partition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18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18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18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end.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</a:t>
            </a:r>
            <a:r>
              <a:rPr lang="en-US" altLang="zh-CN" sz="18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quicksort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 </a:t>
            </a:r>
            <a:r>
              <a:rPr lang="zh-CN" altLang="en-US" sz="18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zh-CN" altLang="en-US" sz="18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18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18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end.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</a:t>
            </a:r>
            <a:r>
              <a:rPr lang="en-US" altLang="zh-CN" sz="18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sort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</a:t>
            </a:r>
            <a:r>
              <a:rPr lang="zh-CN" altLang="en-US" sz="18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en-US" altLang="zh-CN" sz="1800" kern="0" dirty="0">
              <a:solidFill>
                <a:srgbClr val="000000"/>
              </a:solidFill>
              <a:ea typeface="方正楷体_GB2312" charset="0"/>
            </a:endParaRPr>
          </a:p>
        </p:txBody>
      </p:sp>
      <p:grpSp>
        <p:nvGrpSpPr>
          <p:cNvPr id="5" name="组合 113"/>
          <p:cNvGrpSpPr/>
          <p:nvPr/>
        </p:nvGrpSpPr>
        <p:grpSpPr bwMode="auto">
          <a:xfrm>
            <a:off x="5397501" y="1138922"/>
            <a:ext cx="3140075" cy="1728788"/>
            <a:chOff x="5003799" y="500048"/>
            <a:chExt cx="3282977" cy="1803794"/>
          </a:xfrm>
        </p:grpSpPr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  <a:alpha val="99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7" name="直接连接符 6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文本框 9"/>
          <p:cNvSpPr txBox="1"/>
          <p:nvPr/>
        </p:nvSpPr>
        <p:spPr>
          <a:xfrm>
            <a:off x="5796143" y="3204145"/>
            <a:ext cx="2744510" cy="6463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名字的嵌套深度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等于声明名字的过程的嵌套深度</a:t>
            </a:r>
            <a:endParaRPr lang="zh-CN" altLang="en-US" sz="18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3942385" y="1138922"/>
            <a:ext cx="1438619" cy="6463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静态作用域</a:t>
            </a:r>
            <a:endParaRPr lang="en-US" altLang="zh-CN" sz="18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algn="ctr"/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规则</a:t>
            </a:r>
            <a:endParaRPr lang="zh-CN" altLang="en-US" sz="18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grpSp>
        <p:nvGrpSpPr>
          <p:cNvPr id="19" name="组合 18"/>
          <p:cNvGrpSpPr/>
          <p:nvPr/>
        </p:nvGrpSpPr>
        <p:grpSpPr>
          <a:xfrm>
            <a:off x="848366" y="1424672"/>
            <a:ext cx="208043" cy="3459379"/>
            <a:chOff x="848366" y="1424672"/>
            <a:chExt cx="208043" cy="3459379"/>
          </a:xfrm>
        </p:grpSpPr>
        <p:cxnSp>
          <p:nvCxnSpPr>
            <p:cNvPr id="4" name="直接连接符 3"/>
            <p:cNvCxnSpPr/>
            <p:nvPr/>
          </p:nvCxnSpPr>
          <p:spPr>
            <a:xfrm>
              <a:off x="848366" y="1424672"/>
              <a:ext cx="0" cy="345133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>
            <a:xfrm>
              <a:off x="848366" y="1424672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848366" y="4884051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组合 21"/>
          <p:cNvGrpSpPr/>
          <p:nvPr/>
        </p:nvGrpSpPr>
        <p:grpSpPr>
          <a:xfrm>
            <a:off x="1135266" y="2139702"/>
            <a:ext cx="208043" cy="576064"/>
            <a:chOff x="1187221" y="2139702"/>
            <a:chExt cx="208043" cy="576064"/>
          </a:xfrm>
        </p:grpSpPr>
        <p:cxnSp>
          <p:nvCxnSpPr>
            <p:cNvPr id="13" name="直接连接符 12"/>
            <p:cNvCxnSpPr/>
            <p:nvPr/>
          </p:nvCxnSpPr>
          <p:spPr>
            <a:xfrm>
              <a:off x="1187624" y="2139702"/>
              <a:ext cx="0" cy="57606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连接符 24"/>
            <p:cNvCxnSpPr/>
            <p:nvPr/>
          </p:nvCxnSpPr>
          <p:spPr>
            <a:xfrm>
              <a:off x="1187221" y="2147747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1187221" y="2713420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组合 27"/>
          <p:cNvGrpSpPr/>
          <p:nvPr/>
        </p:nvGrpSpPr>
        <p:grpSpPr>
          <a:xfrm>
            <a:off x="1126007" y="3456633"/>
            <a:ext cx="293686" cy="1203337"/>
            <a:chOff x="1187221" y="2139702"/>
            <a:chExt cx="208043" cy="576064"/>
          </a:xfrm>
        </p:grpSpPr>
        <p:cxnSp>
          <p:nvCxnSpPr>
            <p:cNvPr id="29" name="直接连接符 28"/>
            <p:cNvCxnSpPr/>
            <p:nvPr/>
          </p:nvCxnSpPr>
          <p:spPr>
            <a:xfrm>
              <a:off x="1187624" y="2139702"/>
              <a:ext cx="0" cy="57606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/>
            <p:cNvCxnSpPr/>
            <p:nvPr/>
          </p:nvCxnSpPr>
          <p:spPr>
            <a:xfrm>
              <a:off x="1187221" y="2147747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/>
            <p:nvPr/>
          </p:nvCxnSpPr>
          <p:spPr>
            <a:xfrm>
              <a:off x="1187221" y="2713420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组合 31"/>
          <p:cNvGrpSpPr/>
          <p:nvPr/>
        </p:nvGrpSpPr>
        <p:grpSpPr>
          <a:xfrm>
            <a:off x="1114887" y="2905420"/>
            <a:ext cx="208017" cy="314402"/>
            <a:chOff x="1187221" y="2139702"/>
            <a:chExt cx="208043" cy="576064"/>
          </a:xfrm>
        </p:grpSpPr>
        <p:cxnSp>
          <p:nvCxnSpPr>
            <p:cNvPr id="33" name="直接连接符 32"/>
            <p:cNvCxnSpPr/>
            <p:nvPr/>
          </p:nvCxnSpPr>
          <p:spPr>
            <a:xfrm>
              <a:off x="1187624" y="2139702"/>
              <a:ext cx="0" cy="57606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/>
            <p:nvPr/>
          </p:nvCxnSpPr>
          <p:spPr>
            <a:xfrm>
              <a:off x="1187221" y="2147747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/>
            <p:cNvCxnSpPr/>
            <p:nvPr/>
          </p:nvCxnSpPr>
          <p:spPr>
            <a:xfrm>
              <a:off x="1187221" y="2713420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组合 35"/>
          <p:cNvGrpSpPr/>
          <p:nvPr/>
        </p:nvGrpSpPr>
        <p:grpSpPr>
          <a:xfrm>
            <a:off x="1834958" y="3889086"/>
            <a:ext cx="208043" cy="576064"/>
            <a:chOff x="1187221" y="2139702"/>
            <a:chExt cx="208043" cy="576064"/>
          </a:xfrm>
        </p:grpSpPr>
        <p:cxnSp>
          <p:nvCxnSpPr>
            <p:cNvPr id="37" name="直接连接符 36"/>
            <p:cNvCxnSpPr/>
            <p:nvPr/>
          </p:nvCxnSpPr>
          <p:spPr>
            <a:xfrm>
              <a:off x="1187624" y="2139702"/>
              <a:ext cx="0" cy="57606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/>
            <p:cNvCxnSpPr/>
            <p:nvPr/>
          </p:nvCxnSpPr>
          <p:spPr>
            <a:xfrm>
              <a:off x="1187221" y="2147747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/>
            <p:cNvCxnSpPr/>
            <p:nvPr/>
          </p:nvCxnSpPr>
          <p:spPr>
            <a:xfrm>
              <a:off x="1187221" y="2713420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文本框 39"/>
          <p:cNvSpPr txBox="1"/>
          <p:nvPr/>
        </p:nvSpPr>
        <p:spPr>
          <a:xfrm>
            <a:off x="6156176" y="423396"/>
            <a:ext cx="2375050" cy="6463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dirty="0">
                <a:solidFill>
                  <a:srgbClr val="C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红框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表示此过程</a:t>
            </a:r>
            <a:r>
              <a:rPr lang="zh-CN" altLang="en-US" sz="1800" dirty="0">
                <a:solidFill>
                  <a:srgbClr val="C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直接定义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的名字的</a:t>
            </a:r>
            <a:r>
              <a:rPr lang="zh-CN" altLang="en-US" sz="1800" dirty="0">
                <a:solidFill>
                  <a:srgbClr val="C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作用域</a:t>
            </a:r>
            <a:endParaRPr lang="zh-CN" altLang="en-US" sz="1800" dirty="0">
              <a:solidFill>
                <a:srgbClr val="C0000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4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9" name="内容占位符 2"/>
          <p:cNvSpPr>
            <a:spLocks noGrp="1"/>
          </p:cNvSpPr>
          <p:nvPr>
            <p:ph idx="1"/>
          </p:nvPr>
        </p:nvSpPr>
        <p:spPr>
          <a:xfrm>
            <a:off x="428625" y="839788"/>
            <a:ext cx="8286750" cy="4089400"/>
          </a:xfrm>
        </p:spPr>
        <p:txBody>
          <a:bodyPr/>
          <a:lstStyle/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一个过程除了可以使用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过程自身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声明的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局部数据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以外，还可以使用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过程外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声明的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非局部数据</a:t>
            </a:r>
            <a:endParaRPr lang="en-US" altLang="zh-CN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全局数据</a:t>
            </a:r>
            <a:endParaRPr lang="zh-CN" altLang="en-US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外围过程定义的数据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（支持过程嵌套声明的语言）</a:t>
            </a:r>
            <a:endParaRPr lang="en-US" altLang="zh-CN" sz="2000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1800" b="1" dirty="0">
                <a:solidFill>
                  <a:prstClr val="black"/>
                </a:solidFill>
                <a:cs typeface="Times New Roman" panose="02020603050405020304" pitchFamily="18" charset="0"/>
              </a:rPr>
              <a:t>例：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Pascal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语言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271780" lvl="2" indent="-271780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如何访问非局部数据？</a:t>
            </a:r>
            <a:endParaRPr lang="en-US" altLang="zh-CN" sz="2400" b="1" dirty="0">
              <a:solidFill>
                <a:prstClr val="black"/>
              </a:solidFill>
              <a:latin typeface="楷体" panose="02010609060101010101" pitchFamily="49" charset="-122"/>
            </a:endParaRPr>
          </a:p>
          <a:p>
            <a:pPr lvl="1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rgbClr val="FF0000"/>
                </a:solidFill>
                <a:cs typeface="Times New Roman" panose="02020603050405020304" pitchFamily="18" charset="0"/>
              </a:rPr>
              <a:t>核心问题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：如何找到被访问的</a:t>
            </a:r>
            <a:r>
              <a:rPr lang="zh-CN" altLang="en-US" sz="2000" b="1" dirty="0">
                <a:solidFill>
                  <a:schemeClr val="accent2"/>
                </a:solidFill>
                <a:cs typeface="Times New Roman" panose="02020603050405020304" pitchFamily="18" charset="0"/>
              </a:rPr>
              <a:t>非局部数据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所在的</a:t>
            </a:r>
            <a:r>
              <a:rPr lang="zh-CN" altLang="en-US" sz="2000" b="1" dirty="0">
                <a:solidFill>
                  <a:schemeClr val="accent2"/>
                </a:solidFill>
                <a:cs typeface="Times New Roman" panose="02020603050405020304" pitchFamily="18" charset="0"/>
              </a:rPr>
              <a:t>活动记录</a:t>
            </a:r>
            <a:endParaRPr lang="en-US" altLang="zh-CN" sz="2000" b="1" dirty="0">
              <a:solidFill>
                <a:schemeClr val="accent2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方法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访问链（静态链）</a:t>
            </a:r>
            <a:endParaRPr lang="zh-CN" altLang="en-US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display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表（嵌套层次显示表）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89091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非局部数据的访问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4206075" y="2283718"/>
            <a:ext cx="1955985" cy="382003"/>
            <a:chOff x="4206075" y="2283718"/>
            <a:chExt cx="1955985" cy="382003"/>
          </a:xfrm>
        </p:grpSpPr>
        <p:cxnSp>
          <p:nvCxnSpPr>
            <p:cNvPr id="3" name="直接连接符 2"/>
            <p:cNvCxnSpPr/>
            <p:nvPr/>
          </p:nvCxnSpPr>
          <p:spPr>
            <a:xfrm>
              <a:off x="4644008" y="2283718"/>
              <a:ext cx="1080120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矩形 4"/>
            <p:cNvSpPr/>
            <p:nvPr/>
          </p:nvSpPr>
          <p:spPr>
            <a:xfrm>
              <a:off x="4206075" y="2327167"/>
              <a:ext cx="19559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i="1" dirty="0">
                  <a:solidFill>
                    <a:srgbClr val="FF0000"/>
                  </a:solidFill>
                  <a:ea typeface="+mn-ea"/>
                  <a:cs typeface="Times New Roman" panose="02020603050405020304" pitchFamily="18" charset="0"/>
                </a:rPr>
                <a:t>C</a:t>
              </a:r>
              <a:r>
                <a:rPr lang="zh-CN" altLang="en-US" sz="1600" dirty="0">
                  <a:solidFill>
                    <a:srgbClr val="FF0000"/>
                  </a:solidFill>
                  <a:latin typeface="+mn-ea"/>
                  <a:ea typeface="+mn-ea"/>
                </a:rPr>
                <a:t>语言的程序块机制</a:t>
              </a:r>
              <a:endParaRPr lang="zh-CN" altLang="en-US" sz="16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089399"/>
          </a:xfrm>
        </p:spPr>
        <p:txBody>
          <a:bodyPr/>
          <a:lstStyle/>
          <a:p>
            <a:pPr algn="just">
              <a:lnSpc>
                <a:spcPts val="3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静态作用域规则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：只要过程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的声明嵌套在过程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的声明中，过程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就可以访问过程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中声明的对象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algn="just">
              <a:lnSpc>
                <a:spcPts val="3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访问链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：可以在相互嵌套的过程的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活动记录之间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建立一种称为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访问链</a:t>
            </a:r>
            <a:r>
              <a:rPr lang="en-US" altLang="zh-CN" b="1" dirty="0">
                <a:solidFill>
                  <a:prstClr val="black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Access link</a:t>
            </a:r>
            <a:r>
              <a:rPr lang="en-US" altLang="zh-CN" b="1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的指针，使得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内嵌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的过程可以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通过访问链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访问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外层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过程中声明的对象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algn="just">
              <a:lnSpc>
                <a:spcPts val="3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访问链的指向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：如果过程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在源代码中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直接嵌套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在过程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中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即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的嵌套深度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=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的嵌套深度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+1)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，那么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的任何活动中的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访问链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都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指向最近的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u="sng" dirty="0">
                <a:solidFill>
                  <a:srgbClr val="0070C0"/>
                </a:solidFill>
                <a:cs typeface="Times New Roman" panose="02020603050405020304" pitchFamily="18" charset="0"/>
              </a:rPr>
              <a:t>活动记录</a:t>
            </a:r>
            <a:endParaRPr lang="en-US" altLang="zh-CN" b="1" u="sng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</a:t>
            </a:r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250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(</a:t>
            </a:r>
            <a:r>
              <a:rPr lang="en-US" altLang="zh-CN" sz="25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Access Links</a:t>
            </a:r>
            <a:r>
              <a:rPr lang="en-US" altLang="zh-CN" sz="250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)</a:t>
            </a:r>
            <a:endParaRPr lang="zh-CN" altLang="en-US" sz="250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/>
          <p:cNvSpPr/>
          <p:nvPr/>
        </p:nvSpPr>
        <p:spPr>
          <a:xfrm>
            <a:off x="155575" y="828675"/>
            <a:ext cx="8177213" cy="4279900"/>
          </a:xfrm>
          <a:prstGeom prst="rect">
            <a:avLst/>
          </a:prstGeom>
          <a:noFill/>
          <a:ln>
            <a:noFill/>
          </a:ln>
        </p:spPr>
        <p:txBody>
          <a:bodyPr lIns="68580" tIns="34290" rIns="68580" bIns="34290">
            <a:spAutoFit/>
          </a:bodyPr>
          <a:lstStyle/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program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sort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(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output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);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9900CC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[0..10]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of 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           </a:t>
            </a:r>
            <a:r>
              <a:rPr lang="en-US" altLang="zh-CN" sz="2000" i="1" kern="0" dirty="0">
                <a:solidFill>
                  <a:srgbClr val="9900CC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  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FF0000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 </a:t>
            </a:r>
            <a:r>
              <a:rPr lang="en-US" altLang="zh-CN" sz="2000" i="1" kern="0" dirty="0" err="1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readarray</a:t>
            </a:r>
            <a:r>
              <a:rPr lang="en-US" altLang="zh-CN" sz="20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zh-CN" altLang="en-US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exchang</a:t>
            </a:r>
            <a:r>
              <a:rPr lang="en-US" altLang="zh-CN" sz="2000" kern="0" dirty="0">
                <a:solidFill>
                  <a:srgbClr val="FF0000"/>
                </a:solidFill>
                <a:ea typeface="方正楷体_GB2312" charset="0"/>
              </a:rPr>
              <a:t>e</a:t>
            </a:r>
            <a:r>
              <a:rPr lang="en-US" altLang="zh-CN" sz="2000" kern="0" dirty="0">
                <a:ea typeface="方正楷体_GB2312" charset="0"/>
              </a:rPr>
              <a:t>( </a:t>
            </a:r>
            <a:r>
              <a:rPr lang="en-US" altLang="zh-CN" sz="2000" i="1" kern="0" dirty="0" err="1">
                <a:ea typeface="方正楷体_GB2312" charset="0"/>
              </a:rPr>
              <a:t>i</a:t>
            </a:r>
            <a:r>
              <a:rPr lang="en-US" altLang="zh-CN" sz="2000" kern="0" dirty="0">
                <a:ea typeface="方正楷体_GB2312" charset="0"/>
              </a:rPr>
              <a:t>, 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 </a:t>
            </a:r>
            <a:r>
              <a:rPr lang="en-US" altLang="zh-CN" sz="20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exchang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e 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zh-CN" altLang="en-US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ea typeface="方正楷体_GB2312" charset="0"/>
              </a:rPr>
              <a:t>( </a:t>
            </a:r>
            <a:r>
              <a:rPr lang="en-US" altLang="zh-CN" sz="2000" i="1" kern="0" dirty="0">
                <a:ea typeface="方正楷体_GB2312" charset="0"/>
              </a:rPr>
              <a:t>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k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9900CC"/>
                </a:solidFill>
                <a:ea typeface="方正楷体_GB2312" charset="0"/>
              </a:rPr>
              <a:t>v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function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ea typeface="方正楷体_GB2312" charset="0"/>
              </a:rPr>
              <a:t>( </a:t>
            </a:r>
            <a:r>
              <a:rPr lang="en-US" altLang="zh-CN" sz="2000" i="1" kern="0" dirty="0">
                <a:ea typeface="方正楷体_GB2312" charset="0"/>
              </a:rPr>
              <a:t>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z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r;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exchange</a:t>
            </a:r>
            <a:r>
              <a:rPr lang="en-US" altLang="zh-CN" sz="2000" kern="0" dirty="0">
                <a:ea typeface="方正楷体_GB2312" charset="0"/>
              </a:rPr>
              <a:t>(</a:t>
            </a:r>
            <a:r>
              <a:rPr lang="en-US" altLang="zh-CN" sz="2000" i="1" kern="0" dirty="0" err="1">
                <a:ea typeface="方正楷体_GB2312" charset="0"/>
              </a:rPr>
              <a:t>i</a:t>
            </a:r>
            <a:r>
              <a:rPr lang="en-US" altLang="zh-CN" sz="2000" kern="0" dirty="0"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 </a:t>
            </a:r>
            <a:r>
              <a:rPr lang="en-US" altLang="zh-CN" sz="20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partition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 </a:t>
            </a:r>
            <a:r>
              <a:rPr lang="en-US" altLang="zh-CN" sz="20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quicksort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zh-CN" altLang="en-US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 </a:t>
            </a:r>
            <a:r>
              <a:rPr lang="en-US" altLang="zh-CN" sz="20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sort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</p:txBody>
      </p:sp>
      <p:sp>
        <p:nvSpPr>
          <p:cNvPr id="10342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例：基于访问链的非局部数据访问</a:t>
            </a:r>
            <a:endParaRPr lang="en-US" altLang="zh-CN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2" name="组合 1"/>
          <p:cNvGrpSpPr/>
          <p:nvPr/>
        </p:nvGrpSpPr>
        <p:grpSpPr bwMode="auto">
          <a:xfrm>
            <a:off x="5219700" y="197991"/>
            <a:ext cx="3582988" cy="2517775"/>
            <a:chOff x="4667922" y="165101"/>
            <a:chExt cx="4777897" cy="3357562"/>
          </a:xfrm>
        </p:grpSpPr>
        <p:sp>
          <p:nvSpPr>
            <p:cNvPr id="103429" name="Rectangle 4"/>
            <p:cNvSpPr>
              <a:spLocks noChangeArrowheads="1"/>
            </p:cNvSpPr>
            <p:nvPr/>
          </p:nvSpPr>
          <p:spPr bwMode="auto">
            <a:xfrm>
              <a:off x="6712870" y="165101"/>
              <a:ext cx="378930" cy="3323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2000" i="1">
                  <a:solidFill>
                    <a:srgbClr val="2D83F4"/>
                  </a:solidFill>
                  <a:ea typeface="宋体" panose="02010600030101010101" pitchFamily="2" charset="-122"/>
                </a:rPr>
                <a:t>s</a:t>
              </a:r>
              <a:endParaRPr lang="en-US" altLang="zh-CN" sz="2000" i="1">
                <a:solidFill>
                  <a:srgbClr val="2D83F4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75783" name="Rectangle 5"/>
            <p:cNvSpPr>
              <a:spLocks noChangeArrowheads="1"/>
            </p:cNvSpPr>
            <p:nvPr/>
          </p:nvSpPr>
          <p:spPr bwMode="auto">
            <a:xfrm>
              <a:off x="6285252" y="823489"/>
              <a:ext cx="1062696" cy="414932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/>
            <a:lstStyle/>
            <a:p>
              <a:pPr algn="just">
                <a:defRPr/>
              </a:pPr>
              <a:r>
                <a:rPr lang="en-US" altLang="zh-CN" sz="2000" i="1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q</a:t>
              </a:r>
              <a:r>
                <a:rPr lang="en-US" altLang="zh-CN" sz="20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(1,9)</a:t>
              </a:r>
              <a:endParaRPr lang="en-US" altLang="zh-CN" sz="2000" dirty="0">
                <a:solidFill>
                  <a:schemeClr val="tx2">
                    <a:lumMod val="60000"/>
                    <a:lumOff val="40000"/>
                  </a:schemeClr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103431" name="Rectangle 6"/>
            <p:cNvSpPr>
              <a:spLocks noChangeArrowheads="1"/>
            </p:cNvSpPr>
            <p:nvPr/>
          </p:nvSpPr>
          <p:spPr bwMode="auto">
            <a:xfrm>
              <a:off x="5662355" y="850301"/>
              <a:ext cx="421266" cy="4445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2000" i="1" dirty="0">
                  <a:solidFill>
                    <a:srgbClr val="2D83F4"/>
                  </a:solidFill>
                  <a:ea typeface="宋体" panose="02010600030101010101" pitchFamily="2" charset="-122"/>
                </a:rPr>
                <a:t>r</a:t>
              </a:r>
              <a:endParaRPr lang="en-US" altLang="zh-CN" sz="2000" i="1" dirty="0">
                <a:solidFill>
                  <a:srgbClr val="2D83F4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103432" name="Line 7"/>
            <p:cNvSpPr>
              <a:spLocks noChangeShapeType="1"/>
            </p:cNvSpPr>
            <p:nvPr/>
          </p:nvSpPr>
          <p:spPr bwMode="auto">
            <a:xfrm flipH="1">
              <a:off x="6894114" y="631826"/>
              <a:ext cx="1" cy="3302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433" name="Line 8"/>
            <p:cNvSpPr>
              <a:spLocks noChangeShapeType="1"/>
            </p:cNvSpPr>
            <p:nvPr/>
          </p:nvSpPr>
          <p:spPr bwMode="auto">
            <a:xfrm flipH="1">
              <a:off x="5895578" y="640589"/>
              <a:ext cx="1009128" cy="37524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434" name="Line 9"/>
            <p:cNvSpPr>
              <a:spLocks noChangeShapeType="1"/>
            </p:cNvSpPr>
            <p:nvPr/>
          </p:nvSpPr>
          <p:spPr bwMode="auto">
            <a:xfrm flipH="1">
              <a:off x="5219303" y="1292226"/>
              <a:ext cx="1728788" cy="50323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435" name="Line 10"/>
            <p:cNvSpPr>
              <a:spLocks noChangeShapeType="1"/>
            </p:cNvSpPr>
            <p:nvPr/>
          </p:nvSpPr>
          <p:spPr bwMode="auto">
            <a:xfrm flipH="1">
              <a:off x="6894116" y="1322388"/>
              <a:ext cx="0" cy="3603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5789" name="Rectangle 11"/>
            <p:cNvSpPr>
              <a:spLocks noChangeArrowheads="1"/>
            </p:cNvSpPr>
            <p:nvPr/>
          </p:nvSpPr>
          <p:spPr bwMode="auto">
            <a:xfrm>
              <a:off x="4667922" y="1714745"/>
              <a:ext cx="1141022" cy="694376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/>
            <a:lstStyle/>
            <a:p>
              <a:pPr algn="just">
                <a:defRPr/>
              </a:pPr>
              <a:r>
                <a:rPr lang="en-US" altLang="zh-CN" sz="2000" i="1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p</a:t>
              </a:r>
              <a:r>
                <a:rPr lang="en-US" altLang="zh-CN" sz="20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(1,9)</a:t>
              </a:r>
              <a:endParaRPr lang="en-US" altLang="zh-CN" sz="2000" dirty="0">
                <a:solidFill>
                  <a:schemeClr val="tx2">
                    <a:lumMod val="60000"/>
                    <a:lumOff val="40000"/>
                  </a:schemeClr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75790" name="Rectangle 13"/>
            <p:cNvSpPr>
              <a:spLocks noChangeArrowheads="1"/>
            </p:cNvSpPr>
            <p:nvPr/>
          </p:nvSpPr>
          <p:spPr bwMode="auto">
            <a:xfrm>
              <a:off x="6285252" y="1619481"/>
              <a:ext cx="1253219" cy="35989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/>
            <a:lstStyle/>
            <a:p>
              <a:pPr algn="just">
                <a:defRPr/>
              </a:pPr>
              <a:r>
                <a:rPr lang="en-US" altLang="zh-CN" sz="2000" i="1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q</a:t>
              </a:r>
              <a:r>
                <a:rPr lang="en-US" altLang="zh-CN" sz="20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(1,3)</a:t>
              </a:r>
              <a:endParaRPr lang="en-US" altLang="zh-CN" sz="2000" dirty="0">
                <a:solidFill>
                  <a:schemeClr val="tx2">
                    <a:lumMod val="60000"/>
                    <a:lumOff val="40000"/>
                  </a:schemeClr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103438" name="Line 14"/>
            <p:cNvSpPr>
              <a:spLocks noChangeShapeType="1"/>
            </p:cNvSpPr>
            <p:nvPr/>
          </p:nvSpPr>
          <p:spPr bwMode="auto">
            <a:xfrm flipH="1">
              <a:off x="6894116" y="2114551"/>
              <a:ext cx="0" cy="28733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5792" name="Rectangle 15"/>
            <p:cNvSpPr>
              <a:spLocks noChangeArrowheads="1"/>
            </p:cNvSpPr>
            <p:nvPr/>
          </p:nvSpPr>
          <p:spPr bwMode="auto">
            <a:xfrm>
              <a:off x="6367812" y="2330793"/>
              <a:ext cx="1170658" cy="414932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/>
            <a:lstStyle/>
            <a:p>
              <a:pPr algn="just">
                <a:defRPr/>
              </a:pPr>
              <a:r>
                <a:rPr lang="en-US" altLang="zh-CN" sz="2000" i="1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q</a:t>
              </a:r>
              <a:r>
                <a:rPr lang="en-US" altLang="zh-CN" sz="20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(1,0)</a:t>
              </a:r>
              <a:endParaRPr lang="en-US" altLang="zh-CN" sz="2000" dirty="0">
                <a:solidFill>
                  <a:schemeClr val="tx2">
                    <a:lumMod val="60000"/>
                    <a:lumOff val="40000"/>
                  </a:schemeClr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75793" name="Rectangle 16"/>
            <p:cNvSpPr>
              <a:spLocks noChangeArrowheads="1"/>
            </p:cNvSpPr>
            <p:nvPr/>
          </p:nvSpPr>
          <p:spPr bwMode="auto">
            <a:xfrm>
              <a:off x="5434248" y="2351963"/>
              <a:ext cx="1136789" cy="410698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/>
            <a:lstStyle/>
            <a:p>
              <a:pPr algn="just">
                <a:defRPr/>
              </a:pPr>
              <a:r>
                <a:rPr lang="en-US" altLang="zh-CN" sz="2000" i="1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p</a:t>
              </a:r>
              <a:r>
                <a:rPr lang="en-US" altLang="zh-CN" sz="20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(1,3)</a:t>
              </a:r>
              <a:endParaRPr lang="en-US" altLang="zh-CN" sz="2000" dirty="0">
                <a:solidFill>
                  <a:schemeClr val="tx2">
                    <a:lumMod val="60000"/>
                    <a:lumOff val="40000"/>
                  </a:schemeClr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103441" name="Line 17"/>
            <p:cNvSpPr>
              <a:spLocks noChangeShapeType="1"/>
            </p:cNvSpPr>
            <p:nvPr/>
          </p:nvSpPr>
          <p:spPr bwMode="auto">
            <a:xfrm flipH="1">
              <a:off x="6190335" y="2095796"/>
              <a:ext cx="712787" cy="3603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5795" name="Rectangle 18"/>
            <p:cNvSpPr>
              <a:spLocks noChangeArrowheads="1"/>
            </p:cNvSpPr>
            <p:nvPr/>
          </p:nvSpPr>
          <p:spPr bwMode="auto">
            <a:xfrm>
              <a:off x="7428390" y="2286335"/>
              <a:ext cx="1143139" cy="357774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/>
            <a:lstStyle/>
            <a:p>
              <a:pPr algn="just">
                <a:defRPr/>
              </a:pPr>
              <a:r>
                <a:rPr lang="en-US" altLang="zh-CN" sz="2000" i="1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q</a:t>
              </a:r>
              <a:r>
                <a:rPr lang="en-US" altLang="zh-CN" sz="20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(2,3)</a:t>
              </a:r>
              <a:endParaRPr lang="en-US" altLang="zh-CN" sz="2000" dirty="0">
                <a:solidFill>
                  <a:schemeClr val="tx2">
                    <a:lumMod val="60000"/>
                    <a:lumOff val="40000"/>
                  </a:schemeClr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103443" name="Line 19"/>
            <p:cNvSpPr>
              <a:spLocks noChangeShapeType="1"/>
            </p:cNvSpPr>
            <p:nvPr/>
          </p:nvSpPr>
          <p:spPr bwMode="auto">
            <a:xfrm>
              <a:off x="6899903" y="2095796"/>
              <a:ext cx="731839" cy="32067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5797" name="Rectangle 26"/>
            <p:cNvSpPr>
              <a:spLocks noChangeArrowheads="1"/>
            </p:cNvSpPr>
            <p:nvPr/>
          </p:nvSpPr>
          <p:spPr bwMode="auto">
            <a:xfrm>
              <a:off x="8285745" y="1714745"/>
              <a:ext cx="1160074" cy="39588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/>
            <a:lstStyle/>
            <a:p>
              <a:pPr algn="just">
                <a:defRPr/>
              </a:pPr>
              <a:r>
                <a:rPr lang="en-US" altLang="zh-CN" sz="2000" i="1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q</a:t>
              </a:r>
              <a:r>
                <a:rPr lang="en-US" altLang="zh-CN" sz="20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(5,9)</a:t>
              </a:r>
              <a:endParaRPr lang="en-US" altLang="zh-CN" sz="2000" dirty="0">
                <a:solidFill>
                  <a:schemeClr val="tx2">
                    <a:lumMod val="60000"/>
                    <a:lumOff val="40000"/>
                  </a:schemeClr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103445" name="Line 38"/>
            <p:cNvSpPr>
              <a:spLocks noChangeShapeType="1"/>
            </p:cNvSpPr>
            <p:nvPr/>
          </p:nvSpPr>
          <p:spPr bwMode="auto">
            <a:xfrm>
              <a:off x="6875066" y="1292226"/>
              <a:ext cx="1944687" cy="50323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446" name="Line 12"/>
            <p:cNvSpPr>
              <a:spLocks noChangeShapeType="1"/>
            </p:cNvSpPr>
            <p:nvPr/>
          </p:nvSpPr>
          <p:spPr bwMode="auto">
            <a:xfrm flipH="1">
              <a:off x="5265341" y="2204864"/>
              <a:ext cx="0" cy="3921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447" name="Rectangle 22"/>
            <p:cNvSpPr>
              <a:spLocks noChangeArrowheads="1"/>
            </p:cNvSpPr>
            <p:nvPr/>
          </p:nvSpPr>
          <p:spPr bwMode="auto">
            <a:xfrm>
              <a:off x="5046852" y="2404887"/>
              <a:ext cx="359877" cy="3577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2000" i="1">
                  <a:solidFill>
                    <a:srgbClr val="2D83F4"/>
                  </a:solidFill>
                  <a:ea typeface="宋体" panose="02010600030101010101" pitchFamily="2" charset="-122"/>
                </a:rPr>
                <a:t>e</a:t>
              </a:r>
              <a:endParaRPr lang="en-US" altLang="zh-CN" sz="2000" i="1">
                <a:solidFill>
                  <a:srgbClr val="2D83F4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103448" name="Line 12"/>
            <p:cNvSpPr>
              <a:spLocks noChangeShapeType="1"/>
            </p:cNvSpPr>
            <p:nvPr/>
          </p:nvSpPr>
          <p:spPr bwMode="auto">
            <a:xfrm flipH="1">
              <a:off x="5895578" y="2841626"/>
              <a:ext cx="0" cy="3921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449" name="Rectangle 22"/>
            <p:cNvSpPr>
              <a:spLocks noChangeArrowheads="1"/>
            </p:cNvSpPr>
            <p:nvPr/>
          </p:nvSpPr>
          <p:spPr bwMode="auto">
            <a:xfrm>
              <a:off x="5724267" y="3164891"/>
              <a:ext cx="359877" cy="3577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2000" i="1">
                  <a:solidFill>
                    <a:srgbClr val="2D83F4"/>
                  </a:solidFill>
                  <a:ea typeface="宋体" panose="02010600030101010101" pitchFamily="2" charset="-122"/>
                </a:rPr>
                <a:t>e</a:t>
              </a:r>
              <a:endParaRPr lang="en-US" altLang="zh-CN" sz="2000" i="1">
                <a:solidFill>
                  <a:srgbClr val="2D83F4"/>
                </a:solidFill>
                <a:ea typeface="宋体" panose="02010600030101010101" pitchFamily="2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105475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5476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18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548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548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548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23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05477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5478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6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  <a:alpha val="99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连接符 26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755577" y="267495"/>
            <a:ext cx="2950442" cy="360040"/>
          </a:xfrm>
        </p:spPr>
        <p:txBody>
          <a:bodyPr/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基于访问链的</a:t>
            </a:r>
            <a:b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</a:b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非局部数据访问</a:t>
            </a:r>
            <a:endParaRPr lang="zh-CN" alt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450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450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07525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07526" name="Rectangle 32"/>
          <p:cNvSpPr>
            <a:spLocks noChangeArrowheads="1"/>
          </p:cNvSpPr>
          <p:nvPr/>
        </p:nvSpPr>
        <p:spPr bwMode="auto">
          <a:xfrm>
            <a:off x="3708400" y="3810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7527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12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接连接符 12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752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9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40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41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4" name="Group 99"/>
          <p:cNvGrpSpPr/>
          <p:nvPr/>
        </p:nvGrpSpPr>
        <p:grpSpPr bwMode="auto">
          <a:xfrm>
            <a:off x="3898900" y="1079645"/>
            <a:ext cx="923925" cy="647700"/>
            <a:chOff x="975" y="2750"/>
            <a:chExt cx="776" cy="544"/>
          </a:xfrm>
        </p:grpSpPr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r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i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41" name="Freeform 56"/>
          <p:cNvSpPr/>
          <p:nvPr/>
        </p:nvSpPr>
        <p:spPr bwMode="auto">
          <a:xfrm rot="-511685">
            <a:off x="4804454" y="869173"/>
            <a:ext cx="237456" cy="496888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8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ea typeface="方正楷体_GB2312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179388" y="1026537"/>
            <a:ext cx="3497949" cy="15542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r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中非局部数据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的地址表示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：</a:t>
            </a:r>
            <a:endParaRPr lang="en-US" altLang="zh-CN" sz="1800" dirty="0">
              <a:solidFill>
                <a:srgbClr val="0000FF"/>
              </a:solidFill>
              <a:ea typeface="华文楷体" panose="02010600040101010101" pitchFamily="2" charset="-122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pPr algn="ctr">
              <a:spcBef>
                <a:spcPts val="0"/>
              </a:spcBef>
            </a:pP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(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800" i="1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, 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a</a:t>
            </a:r>
            <a:r>
              <a:rPr lang="zh-CN" altLang="en-US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在活动记录中的偏移量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)</a:t>
            </a:r>
            <a:endParaRPr lang="en-US" altLang="zh-CN" sz="1800" i="1" dirty="0">
              <a:solidFill>
                <a:srgbClr val="0070C0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r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访问非局部数据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：</a:t>
            </a:r>
            <a:endParaRPr lang="en-US" altLang="zh-CN" sz="1800" dirty="0">
              <a:solidFill>
                <a:srgbClr val="0000FF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</a:pP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沿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r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访问链经过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800" i="1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步就能到达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的活动记录</a:t>
            </a:r>
            <a:endParaRPr lang="en-US" altLang="zh-CN" sz="1800" dirty="0"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" name="标题 3"/>
          <p:cNvSpPr txBox="1"/>
          <p:nvPr/>
        </p:nvSpPr>
        <p:spPr bwMode="auto">
          <a:xfrm>
            <a:off x="755577" y="267495"/>
            <a:ext cx="2950442" cy="3600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 baseline="0">
                <a:solidFill>
                  <a:srgbClr val="FFFFFF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基于访问链的</a:t>
            </a:r>
            <a:b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</a:br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非局部数据访问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4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4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9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5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4500" grpId="0"/>
      <p:bldP spid="234502" grpId="0" animBg="1"/>
      <p:bldP spid="41" grpId="0" animBg="1"/>
      <p:bldP spid="41" grpId="1" animBg="1"/>
      <p:bldP spid="29" grpId="0" animBg="1"/>
      <p:bldP spid="29" grpId="1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8595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572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8597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506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599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38601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577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957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1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2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09579" name="Rectangle 32"/>
          <p:cNvSpPr>
            <a:spLocks noChangeArrowheads="1"/>
          </p:cNvSpPr>
          <p:nvPr/>
        </p:nvSpPr>
        <p:spPr bwMode="auto">
          <a:xfrm>
            <a:off x="3708400" y="-10160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958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4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2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3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5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3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i, j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4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43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4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ea typeface="宋体" panose="02010600030101010101" pitchFamily="2" charset="-122"/>
              </a:rPr>
              <a:t>e</a:t>
            </a:r>
            <a:endParaRPr lang="en-US" altLang="zh-CN" sz="2000" i="1">
              <a:ea typeface="宋体" panose="02010600030101010101" pitchFamily="2" charset="-122"/>
            </a:endParaRPr>
          </a:p>
        </p:txBody>
      </p:sp>
      <p:grpSp>
        <p:nvGrpSpPr>
          <p:cNvPr id="6" name="Group 99"/>
          <p:cNvGrpSpPr/>
          <p:nvPr/>
        </p:nvGrpSpPr>
        <p:grpSpPr bwMode="auto">
          <a:xfrm>
            <a:off x="3905250" y="2366800"/>
            <a:ext cx="954088" cy="635000"/>
            <a:chOff x="948" y="2750"/>
            <a:chExt cx="802" cy="534"/>
          </a:xfrm>
        </p:grpSpPr>
        <p:sp>
          <p:nvSpPr>
            <p:cNvPr id="4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5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5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52" name="任意多边形 51"/>
          <p:cNvSpPr/>
          <p:nvPr/>
        </p:nvSpPr>
        <p:spPr>
          <a:xfrm>
            <a:off x="4824413" y="854075"/>
            <a:ext cx="460375" cy="1838325"/>
          </a:xfrm>
          <a:custGeom>
            <a:avLst/>
            <a:gdLst>
              <a:gd name="connsiteX0" fmla="*/ 0 w 460464"/>
              <a:gd name="connsiteY0" fmla="*/ 1768642 h 1768642"/>
              <a:gd name="connsiteX1" fmla="*/ 433137 w 460464"/>
              <a:gd name="connsiteY1" fmla="*/ 902369 h 1768642"/>
              <a:gd name="connsiteX2" fmla="*/ 372979 w 460464"/>
              <a:gd name="connsiteY2" fmla="*/ 156411 h 1768642"/>
              <a:gd name="connsiteX3" fmla="*/ 24063 w 460464"/>
              <a:gd name="connsiteY3" fmla="*/ 0 h 1768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0464" h="1768642">
                <a:moveTo>
                  <a:pt x="0" y="1768642"/>
                </a:moveTo>
                <a:cubicBezTo>
                  <a:pt x="185487" y="1469858"/>
                  <a:pt x="370974" y="1171074"/>
                  <a:pt x="433137" y="902369"/>
                </a:cubicBezTo>
                <a:cubicBezTo>
                  <a:pt x="495300" y="633664"/>
                  <a:pt x="441158" y="306806"/>
                  <a:pt x="372979" y="156411"/>
                </a:cubicBezTo>
                <a:cubicBezTo>
                  <a:pt x="304800" y="6016"/>
                  <a:pt x="164431" y="3008"/>
                  <a:pt x="24063" y="0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53" name="Freeform 56"/>
          <p:cNvSpPr/>
          <p:nvPr/>
        </p:nvSpPr>
        <p:spPr bwMode="auto">
          <a:xfrm rot="-511685">
            <a:off x="4778101" y="1510612"/>
            <a:ext cx="294115" cy="531409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56" name="Freeform 56"/>
          <p:cNvSpPr/>
          <p:nvPr/>
        </p:nvSpPr>
        <p:spPr bwMode="auto">
          <a:xfrm rot="-511685">
            <a:off x="4809247" y="901628"/>
            <a:ext cx="235686" cy="496887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8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zh-CN" altLang="en-US">
              <a:ea typeface="方正楷体_GB2312" charset="0"/>
            </a:endParaRPr>
          </a:p>
        </p:txBody>
      </p:sp>
      <p:sp>
        <p:nvSpPr>
          <p:cNvPr id="49" name="Line 22"/>
          <p:cNvSpPr>
            <a:spLocks noChangeShapeType="1"/>
          </p:cNvSpPr>
          <p:nvPr/>
        </p:nvSpPr>
        <p:spPr bwMode="auto">
          <a:xfrm flipH="1">
            <a:off x="5688013" y="2359025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ea typeface="方正楷体_GB2312" charset="0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179388" y="1026537"/>
            <a:ext cx="3488117" cy="15542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中非局部数据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的地址表示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：</a:t>
            </a:r>
            <a:endParaRPr lang="en-US" altLang="zh-CN" sz="1800" dirty="0">
              <a:solidFill>
                <a:srgbClr val="0000FF"/>
              </a:solidFill>
              <a:ea typeface="华文楷体" panose="02010600040101010101" pitchFamily="2" charset="-122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pPr algn="ctr">
              <a:spcBef>
                <a:spcPts val="0"/>
              </a:spcBef>
            </a:pP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(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800" i="1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, 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a</a:t>
            </a:r>
            <a:r>
              <a:rPr lang="zh-CN" altLang="en-US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在活动记录中的偏移量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)</a:t>
            </a:r>
            <a:endParaRPr lang="en-US" altLang="zh-CN" sz="1800" i="1" dirty="0">
              <a:solidFill>
                <a:srgbClr val="0070C0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访问非局部数据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：</a:t>
            </a:r>
            <a:endParaRPr lang="en-US" altLang="zh-CN" sz="1800" dirty="0">
              <a:solidFill>
                <a:srgbClr val="0000FF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</a:pP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沿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访问链经过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800" i="1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步就能到达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的活动记录</a:t>
            </a:r>
            <a:endParaRPr lang="en-US" altLang="zh-CN" sz="1800" dirty="0"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标题 3"/>
          <p:cNvSpPr txBox="1"/>
          <p:nvPr/>
        </p:nvSpPr>
        <p:spPr bwMode="auto">
          <a:xfrm>
            <a:off x="755577" y="267495"/>
            <a:ext cx="2950442" cy="3600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 baseline="0">
                <a:solidFill>
                  <a:srgbClr val="FFFFFF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基于访问链的</a:t>
            </a:r>
            <a:b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</a:br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非局部数据访问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3563887" y="4063280"/>
            <a:ext cx="5256583" cy="7045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dirty="0">
                <a:solidFill>
                  <a:schemeClr val="tx1"/>
                </a:solidFill>
              </a:rPr>
              <a:t>沿着栈顶活动记录的访问链就可以找到它要访问的外围活动的数据。</a:t>
            </a:r>
            <a:endParaRPr lang="zh-CN" altLang="en-US" sz="1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8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8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85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86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4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9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8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3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8597" grpId="0" animBg="1"/>
      <p:bldP spid="238599" grpId="0" animBg="1"/>
      <p:bldP spid="238601" grpId="0"/>
      <p:bldP spid="43" grpId="0" animBg="1"/>
      <p:bldP spid="44" grpId="0"/>
      <p:bldP spid="53" grpId="0" animBg="1"/>
      <p:bldP spid="53" grpId="1" animBg="1"/>
      <p:bldP spid="56" grpId="0" animBg="1"/>
      <p:bldP spid="55" grpId="0" animBg="1"/>
      <p:bldP spid="55" grpId="1" animBg="1"/>
      <p:bldP spid="2" grpId="0" animBg="1"/>
      <p:bldP spid="2" grpId="1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19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2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21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6086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6087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44744" name="Line 23"/>
          <p:cNvSpPr>
            <a:spLocks noChangeShapeType="1"/>
          </p:cNvSpPr>
          <p:nvPr/>
        </p:nvSpPr>
        <p:spPr bwMode="auto">
          <a:xfrm flipH="1">
            <a:off x="6735763" y="2357438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1625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46" name="Rectangle 25"/>
          <p:cNvSpPr>
            <a:spLocks noChangeArrowheads="1"/>
          </p:cNvSpPr>
          <p:nvPr/>
        </p:nvSpPr>
        <p:spPr bwMode="auto">
          <a:xfrm>
            <a:off x="6300788" y="2709863"/>
            <a:ext cx="965200" cy="53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49" name="Rectangle 28"/>
          <p:cNvSpPr>
            <a:spLocks noChangeArrowheads="1"/>
          </p:cNvSpPr>
          <p:nvPr/>
        </p:nvSpPr>
        <p:spPr bwMode="auto">
          <a:xfrm>
            <a:off x="5621338" y="3419475"/>
            <a:ext cx="96678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50" name="Line 29"/>
          <p:cNvSpPr>
            <a:spLocks noChangeShapeType="1"/>
          </p:cNvSpPr>
          <p:nvPr/>
        </p:nvSpPr>
        <p:spPr bwMode="auto">
          <a:xfrm flipH="1">
            <a:off x="5899150" y="3055938"/>
            <a:ext cx="601663" cy="4445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1629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1163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1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2" name="直接连接符 21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631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5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0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1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2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0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11632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11633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7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49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53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54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8" name="Group 99"/>
          <p:cNvGrpSpPr/>
          <p:nvPr/>
        </p:nvGrpSpPr>
        <p:grpSpPr bwMode="auto">
          <a:xfrm>
            <a:off x="3905250" y="2361884"/>
            <a:ext cx="954088" cy="635000"/>
            <a:chOff x="948" y="2750"/>
            <a:chExt cx="802" cy="534"/>
          </a:xfrm>
        </p:grpSpPr>
        <p:sp>
          <p:nvSpPr>
            <p:cNvPr id="5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i, j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6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62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 eaLnBrk="1" hangingPunct="1">
              <a:defRPr/>
            </a:pPr>
            <a:endParaRPr lang="zh-CN" altLang="en-US">
              <a:ea typeface="宋体" panose="02010600030101010101" pitchFamily="2" charset="-122"/>
            </a:endParaRPr>
          </a:p>
        </p:txBody>
      </p:sp>
      <p:sp>
        <p:nvSpPr>
          <p:cNvPr id="111637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ea typeface="宋体" panose="02010600030101010101" pitchFamily="2" charset="-122"/>
              </a:rPr>
              <a:t>e</a:t>
            </a:r>
            <a:endParaRPr lang="en-US" altLang="zh-CN" sz="2000" i="1">
              <a:ea typeface="宋体" panose="02010600030101010101" pitchFamily="2" charset="-122"/>
            </a:endParaRPr>
          </a:p>
        </p:txBody>
      </p:sp>
      <p:sp>
        <p:nvSpPr>
          <p:cNvPr id="64" name="Freeform 56"/>
          <p:cNvSpPr/>
          <p:nvPr/>
        </p:nvSpPr>
        <p:spPr bwMode="auto">
          <a:xfrm rot="-511685">
            <a:off x="4826000" y="2155825"/>
            <a:ext cx="247650" cy="520700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1639" name="Freeform 56"/>
          <p:cNvSpPr/>
          <p:nvPr/>
        </p:nvSpPr>
        <p:spPr bwMode="auto">
          <a:xfrm rot="-511685">
            <a:off x="4807901" y="872297"/>
            <a:ext cx="240535" cy="555302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67" name="Line 12"/>
          <p:cNvSpPr>
            <a:spLocks noChangeShapeType="1"/>
          </p:cNvSpPr>
          <p:nvPr/>
        </p:nvSpPr>
        <p:spPr bwMode="auto">
          <a:xfrm flipH="1">
            <a:off x="5834063" y="3741738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68" name="Rectangle 22"/>
          <p:cNvSpPr>
            <a:spLocks noChangeArrowheads="1"/>
          </p:cNvSpPr>
          <p:nvPr/>
        </p:nvSpPr>
        <p:spPr bwMode="auto">
          <a:xfrm>
            <a:off x="5670550" y="3957638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ea typeface="宋体" panose="02010600030101010101" pitchFamily="2" charset="-122"/>
              </a:rPr>
              <a:t>e</a:t>
            </a:r>
            <a:endParaRPr lang="en-US" altLang="zh-CN" sz="2000" i="1">
              <a:ea typeface="宋体" panose="02010600030101010101" pitchFamily="2" charset="-122"/>
            </a:endParaRPr>
          </a:p>
        </p:txBody>
      </p:sp>
      <p:grpSp>
        <p:nvGrpSpPr>
          <p:cNvPr id="9" name="Group 99"/>
          <p:cNvGrpSpPr/>
          <p:nvPr/>
        </p:nvGrpSpPr>
        <p:grpSpPr bwMode="auto">
          <a:xfrm>
            <a:off x="3905250" y="2999193"/>
            <a:ext cx="954088" cy="636588"/>
            <a:chOff x="948" y="2750"/>
            <a:chExt cx="802" cy="534"/>
          </a:xfrm>
        </p:grpSpPr>
        <p:sp>
          <p:nvSpPr>
            <p:cNvPr id="70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6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7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8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74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75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3" name="任意多边形 2"/>
          <p:cNvSpPr/>
          <p:nvPr/>
        </p:nvSpPr>
        <p:spPr>
          <a:xfrm>
            <a:off x="4824413" y="854075"/>
            <a:ext cx="576708" cy="2443163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4" name="任意多边形 3"/>
          <p:cNvSpPr/>
          <p:nvPr/>
        </p:nvSpPr>
        <p:spPr>
          <a:xfrm>
            <a:off x="4824838" y="866774"/>
            <a:ext cx="328187" cy="1193672"/>
          </a:xfrm>
          <a:custGeom>
            <a:avLst/>
            <a:gdLst>
              <a:gd name="connsiteX0" fmla="*/ 0 w 252896"/>
              <a:gd name="connsiteY0" fmla="*/ 1106905 h 1106905"/>
              <a:gd name="connsiteX1" fmla="*/ 252663 w 252896"/>
              <a:gd name="connsiteY1" fmla="*/ 204537 h 1106905"/>
              <a:gd name="connsiteX2" fmla="*/ 36095 w 252896"/>
              <a:gd name="connsiteY2" fmla="*/ 0 h 1106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2896" h="1106905">
                <a:moveTo>
                  <a:pt x="0" y="1106905"/>
                </a:moveTo>
                <a:cubicBezTo>
                  <a:pt x="123323" y="747963"/>
                  <a:pt x="246647" y="389021"/>
                  <a:pt x="252663" y="204537"/>
                </a:cubicBezTo>
                <a:cubicBezTo>
                  <a:pt x="258679" y="20053"/>
                  <a:pt x="147387" y="10026"/>
                  <a:pt x="36095" y="0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65" name="文本框 64"/>
          <p:cNvSpPr txBox="1"/>
          <p:nvPr/>
        </p:nvSpPr>
        <p:spPr>
          <a:xfrm>
            <a:off x="179387" y="1026537"/>
            <a:ext cx="3494088" cy="15542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中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表示：</a:t>
            </a:r>
            <a:endParaRPr lang="en-US" altLang="zh-CN" sz="1800" dirty="0">
              <a:solidFill>
                <a:srgbClr val="0000FF"/>
              </a:solidFill>
              <a:ea typeface="华文楷体" panose="02010600040101010101" pitchFamily="2" charset="-122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pPr algn="ctr">
              <a:spcBef>
                <a:spcPts val="0"/>
              </a:spcBef>
            </a:pP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(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800" i="1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, 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a</a:t>
            </a:r>
            <a:r>
              <a:rPr lang="zh-CN" altLang="en-US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在活动记录中的偏移量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)</a:t>
            </a:r>
            <a:endParaRPr lang="en-US" altLang="zh-CN" sz="1800" i="1" dirty="0">
              <a:solidFill>
                <a:srgbClr val="0070C0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访问非局部数据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：</a:t>
            </a:r>
            <a:endParaRPr lang="en-US" altLang="zh-CN" sz="1800" dirty="0">
              <a:solidFill>
                <a:srgbClr val="0000FF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</a:pP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沿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访问链经过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800" i="1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步就能到达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的活动记录</a:t>
            </a:r>
            <a:endParaRPr lang="en-US" altLang="zh-CN" sz="1800" dirty="0"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9" name="标题 3"/>
          <p:cNvSpPr txBox="1"/>
          <p:nvPr/>
        </p:nvSpPr>
        <p:spPr bwMode="auto">
          <a:xfrm>
            <a:off x="755577" y="144015"/>
            <a:ext cx="2950442" cy="6275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 baseline="0">
                <a:solidFill>
                  <a:srgbClr val="FFFFFF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基于访问链的</a:t>
            </a:r>
            <a:b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</a:br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非局部数据访问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47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4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47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4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744" grpId="0" animBg="1"/>
      <p:bldP spid="244746" grpId="0"/>
      <p:bldP spid="244749" grpId="0"/>
      <p:bldP spid="244750" grpId="0" animBg="1"/>
      <p:bldP spid="64" grpId="0" animBg="1"/>
      <p:bldP spid="67" grpId="0" animBg="1"/>
      <p:bldP spid="68" grpId="0"/>
      <p:bldP spid="6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105475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5476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18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548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548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548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23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05477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5478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6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  <a:alpha val="99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连接符 26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标题 3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访问链的建立</a:t>
            </a:r>
            <a:endParaRPr lang="zh-CN" altLang="en-US" sz="3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450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450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07525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07526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7527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12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接连接符 12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752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9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40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41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4" name="Group 99"/>
          <p:cNvGrpSpPr/>
          <p:nvPr/>
        </p:nvGrpSpPr>
        <p:grpSpPr bwMode="auto">
          <a:xfrm>
            <a:off x="3898900" y="1079645"/>
            <a:ext cx="923925" cy="647700"/>
            <a:chOff x="975" y="2750"/>
            <a:chExt cx="776" cy="544"/>
          </a:xfrm>
        </p:grpSpPr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r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i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41" name="Freeform 56"/>
          <p:cNvSpPr/>
          <p:nvPr/>
        </p:nvSpPr>
        <p:spPr bwMode="auto">
          <a:xfrm rot="-511685">
            <a:off x="4789128" y="872653"/>
            <a:ext cx="261004" cy="496888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8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ea typeface="方正楷体_GB2312" charset="0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79388" y="1026537"/>
            <a:ext cx="3140075" cy="135421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情况</a:t>
            </a:r>
            <a:r>
              <a:rPr lang="en-US" altLang="zh-CN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1</a:t>
            </a: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：嵌套深度 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en-US" altLang="zh-CN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&lt;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 baseline="-25000" dirty="0">
              <a:solidFill>
                <a:srgbClr val="0000FF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en-US" altLang="zh-CN" sz="1800" i="1" dirty="0"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一定是直接定义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r </a:t>
            </a:r>
            <a:endParaRPr lang="en-US" altLang="zh-CN" sz="1800" i="1" dirty="0"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因此，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sz="1800" i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zh-CN" altLang="en-US" sz="1800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的访问链直接指向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的活动记录</a:t>
            </a:r>
            <a:endParaRPr lang="zh-CN" altLang="en-US" sz="1800" baseline="-250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29" name="标题 3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访问链的建立</a:t>
            </a:r>
            <a:endParaRPr lang="zh-CN" altLang="en-US" sz="3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4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4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9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4500" grpId="0"/>
      <p:bldP spid="234502" grpId="0" animBg="1"/>
      <p:bldP spid="41" grpId="0" animBg="1"/>
      <p:bldP spid="41" grpId="1" animBg="1"/>
      <p:bldP spid="27" grpId="0" animBg="1"/>
      <p:bldP spid="27" grpId="1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8595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572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8597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506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599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38601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577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957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1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2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09579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958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4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99"/>
          <p:cNvGrpSpPr/>
          <p:nvPr/>
        </p:nvGrpSpPr>
        <p:grpSpPr bwMode="auto">
          <a:xfrm>
            <a:off x="3905250" y="1089574"/>
            <a:ext cx="954088" cy="636587"/>
            <a:chOff x="948" y="2750"/>
            <a:chExt cx="802" cy="534"/>
          </a:xfrm>
        </p:grpSpPr>
        <p:sp>
          <p:nvSpPr>
            <p:cNvPr id="2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3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5" name="Group 99"/>
          <p:cNvGrpSpPr/>
          <p:nvPr/>
        </p:nvGrpSpPr>
        <p:grpSpPr bwMode="auto">
          <a:xfrm>
            <a:off x="3905250" y="1718541"/>
            <a:ext cx="954088" cy="635000"/>
            <a:chOff x="948" y="2750"/>
            <a:chExt cx="802" cy="534"/>
          </a:xfrm>
        </p:grpSpPr>
        <p:sp>
          <p:nvSpPr>
            <p:cNvPr id="3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i, j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4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43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4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ea typeface="宋体" panose="02010600030101010101" pitchFamily="2" charset="-122"/>
              </a:rPr>
              <a:t>e</a:t>
            </a:r>
            <a:endParaRPr lang="en-US" altLang="zh-CN" sz="2000" i="1">
              <a:ea typeface="宋体" panose="02010600030101010101" pitchFamily="2" charset="-122"/>
            </a:endParaRPr>
          </a:p>
        </p:txBody>
      </p:sp>
      <p:grpSp>
        <p:nvGrpSpPr>
          <p:cNvPr id="6" name="Group 99"/>
          <p:cNvGrpSpPr/>
          <p:nvPr/>
        </p:nvGrpSpPr>
        <p:grpSpPr bwMode="auto">
          <a:xfrm>
            <a:off x="3905250" y="2355850"/>
            <a:ext cx="954088" cy="635000"/>
            <a:chOff x="948" y="2750"/>
            <a:chExt cx="802" cy="534"/>
          </a:xfrm>
        </p:grpSpPr>
        <p:sp>
          <p:nvSpPr>
            <p:cNvPr id="4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5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5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52" name="任意多边形 51"/>
          <p:cNvSpPr/>
          <p:nvPr/>
        </p:nvSpPr>
        <p:spPr>
          <a:xfrm>
            <a:off x="4824413" y="854075"/>
            <a:ext cx="460375" cy="1838325"/>
          </a:xfrm>
          <a:custGeom>
            <a:avLst/>
            <a:gdLst>
              <a:gd name="connsiteX0" fmla="*/ 0 w 460464"/>
              <a:gd name="connsiteY0" fmla="*/ 1768642 h 1768642"/>
              <a:gd name="connsiteX1" fmla="*/ 433137 w 460464"/>
              <a:gd name="connsiteY1" fmla="*/ 902369 h 1768642"/>
              <a:gd name="connsiteX2" fmla="*/ 372979 w 460464"/>
              <a:gd name="connsiteY2" fmla="*/ 156411 h 1768642"/>
              <a:gd name="connsiteX3" fmla="*/ 24063 w 460464"/>
              <a:gd name="connsiteY3" fmla="*/ 0 h 1768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0464" h="1768642">
                <a:moveTo>
                  <a:pt x="0" y="1768642"/>
                </a:moveTo>
                <a:cubicBezTo>
                  <a:pt x="185487" y="1469858"/>
                  <a:pt x="370974" y="1171074"/>
                  <a:pt x="433137" y="902369"/>
                </a:cubicBezTo>
                <a:cubicBezTo>
                  <a:pt x="495300" y="633664"/>
                  <a:pt x="441158" y="306806"/>
                  <a:pt x="372979" y="156411"/>
                </a:cubicBezTo>
                <a:cubicBezTo>
                  <a:pt x="304800" y="6016"/>
                  <a:pt x="164431" y="3008"/>
                  <a:pt x="24063" y="0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53" name="Freeform 56"/>
          <p:cNvSpPr/>
          <p:nvPr/>
        </p:nvSpPr>
        <p:spPr bwMode="auto">
          <a:xfrm rot="20613187">
            <a:off x="4771674" y="1491323"/>
            <a:ext cx="327317" cy="532815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56" name="Freeform 56"/>
          <p:cNvSpPr/>
          <p:nvPr/>
        </p:nvSpPr>
        <p:spPr bwMode="auto">
          <a:xfrm rot="-511685">
            <a:off x="4795061" y="871492"/>
            <a:ext cx="272596" cy="496887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8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zh-CN" altLang="en-US">
              <a:ea typeface="方正楷体_GB2312" charset="0"/>
            </a:endParaRPr>
          </a:p>
        </p:txBody>
      </p:sp>
      <p:sp>
        <p:nvSpPr>
          <p:cNvPr id="49" name="Line 22"/>
          <p:cNvSpPr>
            <a:spLocks noChangeShapeType="1"/>
          </p:cNvSpPr>
          <p:nvPr/>
        </p:nvSpPr>
        <p:spPr bwMode="auto">
          <a:xfrm flipH="1">
            <a:off x="5688013" y="2359025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ea typeface="方正楷体_GB2312" charset="0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179388" y="1026537"/>
            <a:ext cx="3140075" cy="15542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情况</a:t>
            </a:r>
            <a:r>
              <a:rPr lang="en-US" altLang="zh-CN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2</a:t>
            </a: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：嵌套深度 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&gt;</a:t>
            </a:r>
            <a:r>
              <a:rPr lang="en-US" altLang="zh-CN" sz="1800" i="1" dirty="0">
                <a:solidFill>
                  <a:srgbClr val="0000FF"/>
                </a:solidFill>
                <a:ea typeface="+mn-ea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00FF"/>
                </a:solidFill>
                <a:ea typeface="+mn-ea"/>
                <a:cs typeface="Times New Roman" panose="02020603050405020304" pitchFamily="18" charset="0"/>
              </a:rPr>
              <a:t>e</a:t>
            </a:r>
            <a:endParaRPr lang="en-US" altLang="zh-CN" sz="1800" i="1" baseline="-25000" dirty="0">
              <a:solidFill>
                <a:srgbClr val="0000FF"/>
              </a:solidFill>
              <a:ea typeface="+mn-ea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的访问链要指向最近的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的活动记录，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也是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的外围过程，</a:t>
            </a: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从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沿访问链经过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-n</a:t>
            </a:r>
            <a:r>
              <a:rPr lang="en-US" altLang="zh-CN" sz="1800" i="1" baseline="-250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CN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+1</a:t>
            </a: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步即到达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的活动记录。</a:t>
            </a:r>
            <a:endParaRPr lang="zh-CN" altLang="en-US" sz="1800" baseline="-25000" dirty="0">
              <a:solidFill>
                <a:srgbClr val="0000FF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55" name="标题 3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访问链的建立</a:t>
            </a:r>
            <a:endParaRPr lang="zh-CN" altLang="en-US" sz="3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8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8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85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86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6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8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3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8597" grpId="0" animBg="1"/>
      <p:bldP spid="238599" grpId="0" animBg="1"/>
      <p:bldP spid="238601" grpId="0"/>
      <p:bldP spid="43" grpId="0" animBg="1"/>
      <p:bldP spid="44" grpId="0"/>
      <p:bldP spid="53" grpId="0" animBg="1"/>
      <p:bldP spid="53" grpId="1" animBg="1"/>
      <p:bldP spid="56" grpId="0" animBg="1"/>
      <p:bldP spid="54" grpId="0" animBg="1"/>
      <p:bldP spid="54" grpId="1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19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2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21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6086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6087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44744" name="Line 23"/>
          <p:cNvSpPr>
            <a:spLocks noChangeShapeType="1"/>
          </p:cNvSpPr>
          <p:nvPr/>
        </p:nvSpPr>
        <p:spPr bwMode="auto">
          <a:xfrm flipH="1">
            <a:off x="6735763" y="2357438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1625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46" name="Rectangle 25"/>
          <p:cNvSpPr>
            <a:spLocks noChangeArrowheads="1"/>
          </p:cNvSpPr>
          <p:nvPr/>
        </p:nvSpPr>
        <p:spPr bwMode="auto">
          <a:xfrm>
            <a:off x="6300788" y="2709863"/>
            <a:ext cx="965200" cy="53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49" name="Rectangle 28"/>
          <p:cNvSpPr>
            <a:spLocks noChangeArrowheads="1"/>
          </p:cNvSpPr>
          <p:nvPr/>
        </p:nvSpPr>
        <p:spPr bwMode="auto">
          <a:xfrm>
            <a:off x="5621338" y="3419475"/>
            <a:ext cx="96678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50" name="Line 29"/>
          <p:cNvSpPr>
            <a:spLocks noChangeShapeType="1"/>
          </p:cNvSpPr>
          <p:nvPr/>
        </p:nvSpPr>
        <p:spPr bwMode="auto">
          <a:xfrm flipH="1">
            <a:off x="5899150" y="3055938"/>
            <a:ext cx="601663" cy="4445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1629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1163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1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2" name="直接连接符 21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631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5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0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1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2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0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11632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11633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7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49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53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54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8" name="Group 99"/>
          <p:cNvGrpSpPr/>
          <p:nvPr/>
        </p:nvGrpSpPr>
        <p:grpSpPr bwMode="auto">
          <a:xfrm>
            <a:off x="3905250" y="2356968"/>
            <a:ext cx="954088" cy="635000"/>
            <a:chOff x="948" y="2750"/>
            <a:chExt cx="802" cy="534"/>
          </a:xfrm>
        </p:grpSpPr>
        <p:sp>
          <p:nvSpPr>
            <p:cNvPr id="5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i, j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6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62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 eaLnBrk="1" hangingPunct="1">
              <a:defRPr/>
            </a:pPr>
            <a:endParaRPr lang="zh-CN" altLang="en-US">
              <a:ea typeface="宋体" panose="02010600030101010101" pitchFamily="2" charset="-122"/>
            </a:endParaRPr>
          </a:p>
        </p:txBody>
      </p:sp>
      <p:sp>
        <p:nvSpPr>
          <p:cNvPr id="111637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ea typeface="宋体" panose="02010600030101010101" pitchFamily="2" charset="-122"/>
              </a:rPr>
              <a:t>e</a:t>
            </a:r>
            <a:endParaRPr lang="en-US" altLang="zh-CN" sz="2000" i="1">
              <a:ea typeface="宋体" panose="02010600030101010101" pitchFamily="2" charset="-122"/>
            </a:endParaRPr>
          </a:p>
        </p:txBody>
      </p:sp>
      <p:sp>
        <p:nvSpPr>
          <p:cNvPr id="64" name="Freeform 56"/>
          <p:cNvSpPr/>
          <p:nvPr/>
        </p:nvSpPr>
        <p:spPr bwMode="auto">
          <a:xfrm rot="-511685">
            <a:off x="4807032" y="2147407"/>
            <a:ext cx="266723" cy="520700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1639" name="Freeform 56"/>
          <p:cNvSpPr/>
          <p:nvPr/>
        </p:nvSpPr>
        <p:spPr bwMode="auto">
          <a:xfrm rot="-511685">
            <a:off x="4824413" y="877888"/>
            <a:ext cx="128587" cy="496887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67" name="Line 12"/>
          <p:cNvSpPr>
            <a:spLocks noChangeShapeType="1"/>
          </p:cNvSpPr>
          <p:nvPr/>
        </p:nvSpPr>
        <p:spPr bwMode="auto">
          <a:xfrm flipH="1">
            <a:off x="5834063" y="3741738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68" name="Rectangle 22"/>
          <p:cNvSpPr>
            <a:spLocks noChangeArrowheads="1"/>
          </p:cNvSpPr>
          <p:nvPr/>
        </p:nvSpPr>
        <p:spPr bwMode="auto">
          <a:xfrm>
            <a:off x="5670550" y="3957638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ea typeface="宋体" panose="02010600030101010101" pitchFamily="2" charset="-122"/>
              </a:rPr>
              <a:t>e</a:t>
            </a:r>
            <a:endParaRPr lang="en-US" altLang="zh-CN" sz="2000" i="1">
              <a:ea typeface="宋体" panose="02010600030101010101" pitchFamily="2" charset="-122"/>
            </a:endParaRPr>
          </a:p>
        </p:txBody>
      </p:sp>
      <p:grpSp>
        <p:nvGrpSpPr>
          <p:cNvPr id="9" name="Group 99"/>
          <p:cNvGrpSpPr/>
          <p:nvPr/>
        </p:nvGrpSpPr>
        <p:grpSpPr bwMode="auto">
          <a:xfrm>
            <a:off x="3905250" y="2994277"/>
            <a:ext cx="954088" cy="636588"/>
            <a:chOff x="948" y="2750"/>
            <a:chExt cx="802" cy="534"/>
          </a:xfrm>
        </p:grpSpPr>
        <p:sp>
          <p:nvSpPr>
            <p:cNvPr id="70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6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7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8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74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75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3" name="任意多边形 2"/>
          <p:cNvSpPr/>
          <p:nvPr/>
        </p:nvSpPr>
        <p:spPr>
          <a:xfrm>
            <a:off x="4824413" y="854075"/>
            <a:ext cx="565150" cy="2465783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4" name="任意多边形 3"/>
          <p:cNvSpPr/>
          <p:nvPr/>
        </p:nvSpPr>
        <p:spPr>
          <a:xfrm>
            <a:off x="4823222" y="866775"/>
            <a:ext cx="287667" cy="1106488"/>
          </a:xfrm>
          <a:custGeom>
            <a:avLst/>
            <a:gdLst>
              <a:gd name="connsiteX0" fmla="*/ 0 w 252896"/>
              <a:gd name="connsiteY0" fmla="*/ 1106905 h 1106905"/>
              <a:gd name="connsiteX1" fmla="*/ 252663 w 252896"/>
              <a:gd name="connsiteY1" fmla="*/ 204537 h 1106905"/>
              <a:gd name="connsiteX2" fmla="*/ 36095 w 252896"/>
              <a:gd name="connsiteY2" fmla="*/ 0 h 1106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2896" h="1106905">
                <a:moveTo>
                  <a:pt x="0" y="1106905"/>
                </a:moveTo>
                <a:cubicBezTo>
                  <a:pt x="123323" y="747963"/>
                  <a:pt x="246647" y="389021"/>
                  <a:pt x="252663" y="204537"/>
                </a:cubicBezTo>
                <a:cubicBezTo>
                  <a:pt x="258679" y="20053"/>
                  <a:pt x="147387" y="10026"/>
                  <a:pt x="36095" y="0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179388" y="1026537"/>
            <a:ext cx="3140075" cy="100027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情况</a:t>
            </a:r>
            <a:r>
              <a:rPr lang="en-US" altLang="zh-CN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3</a:t>
            </a: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：嵌套深度 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=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q</a:t>
            </a:r>
            <a:endParaRPr lang="en-US" altLang="zh-CN" sz="1800" i="1" baseline="-25000" dirty="0">
              <a:solidFill>
                <a:srgbClr val="0000FF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(1,3)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的访问链与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(1,9)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的访问链指向相同的活动记录。</a:t>
            </a:r>
            <a:endParaRPr lang="zh-CN" altLang="en-US" sz="1800" baseline="-250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65" name="标题 3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访问链的建立</a:t>
            </a:r>
            <a:endParaRPr lang="zh-CN" altLang="en-US" sz="3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47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4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47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44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4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744" grpId="0" animBg="1"/>
      <p:bldP spid="244746" grpId="0"/>
      <p:bldP spid="244749" grpId="0"/>
      <p:bldP spid="244750" grpId="0" animBg="1"/>
      <p:bldP spid="64" grpId="0" animBg="1"/>
      <p:bldP spid="67" grpId="0" animBg="1"/>
      <p:bldP spid="68" grpId="0"/>
      <p:bldP spid="63" grpId="0" animBg="1"/>
      <p:bldP spid="63" grpId="1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778" name="Rectangle 2"/>
          <p:cNvSpPr>
            <a:spLocks noGrp="1" noChangeArrowheads="1"/>
          </p:cNvSpPr>
          <p:nvPr>
            <p:ph idx="1"/>
          </p:nvPr>
        </p:nvSpPr>
        <p:spPr>
          <a:xfrm>
            <a:off x="357188" y="714374"/>
            <a:ext cx="5693957" cy="3945607"/>
          </a:xfrm>
        </p:spPr>
        <p:txBody>
          <a:bodyPr/>
          <a:lstStyle/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建立访问链的代码属于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调用序列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的一部分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假设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嵌套深度为</a:t>
            </a:r>
            <a:r>
              <a:rPr lang="en-US" altLang="zh-CN" sz="2000" b="1" i="1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2000" b="1" i="1" baseline="-30000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的过程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调用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嵌套深度为</a:t>
            </a:r>
            <a:r>
              <a:rPr lang="en-US" altLang="zh-CN" sz="2000" b="1" i="1" dirty="0" err="1">
                <a:solidFill>
                  <a:srgbClr val="0070C0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 err="1">
                <a:solidFill>
                  <a:srgbClr val="0070C0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</a:rPr>
              <a:t>的过程</a:t>
            </a:r>
            <a:r>
              <a:rPr lang="en-US" altLang="zh-CN" sz="2000" b="1" i="1" dirty="0">
                <a:solidFill>
                  <a:schemeClr val="tx1"/>
                </a:solidFill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x</a:t>
            </a:r>
            <a:r>
              <a:rPr lang="en-US" altLang="zh-CN" sz="2000" b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→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)</a:t>
            </a:r>
            <a:endParaRPr lang="en-US" altLang="zh-CN" sz="2000" b="1" dirty="0">
              <a:solidFill>
                <a:schemeClr val="tx1"/>
              </a:solidFill>
              <a:ea typeface="方正楷体_GB2312" charset="0"/>
              <a:cs typeface="方正楷体_GB2312" charset="0"/>
            </a:endParaRP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000" b="1" i="1" dirty="0">
                <a:solidFill>
                  <a:srgbClr val="C00000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>
                <a:solidFill>
                  <a:srgbClr val="C00000"/>
                </a:solidFill>
                <a:ea typeface="方正楷体_GB2312" charset="0"/>
                <a:cs typeface="方正楷体_GB2312" charset="0"/>
              </a:rPr>
              <a:t>x </a:t>
            </a:r>
            <a:r>
              <a:rPr lang="en-US" altLang="zh-CN" sz="2000" b="1" dirty="0">
                <a:solidFill>
                  <a:srgbClr val="C00000"/>
                </a:solidFill>
                <a:ea typeface="方正楷体_GB2312" charset="0"/>
                <a:cs typeface="方正楷体_GB2312" charset="0"/>
              </a:rPr>
              <a:t>&lt; </a:t>
            </a:r>
            <a:r>
              <a:rPr lang="en-US" altLang="zh-CN" sz="2000" b="1" i="1" dirty="0" err="1">
                <a:solidFill>
                  <a:srgbClr val="C00000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 err="1">
                <a:solidFill>
                  <a:srgbClr val="C00000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zh-CN" altLang="en-US" sz="2000" b="1" dirty="0">
                <a:solidFill>
                  <a:srgbClr val="C00000"/>
                </a:solidFill>
                <a:latin typeface="楷体" panose="02010609060101010101" pitchFamily="49" charset="-122"/>
              </a:rPr>
              <a:t>的情况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外层调用内层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)</a:t>
            </a:r>
            <a:endParaRPr lang="zh-CN" altLang="en-US" sz="2000" b="1" dirty="0">
              <a:solidFill>
                <a:schemeClr val="tx1"/>
              </a:solidFill>
              <a:ea typeface="方正楷体_GB2312" charset="0"/>
              <a:cs typeface="方正楷体_GB2312" charset="0"/>
            </a:endParaRPr>
          </a:p>
          <a:p>
            <a:pPr lvl="2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b="1" i="1" dirty="0">
                <a:solidFill>
                  <a:srgbClr val="0070C0"/>
                </a:solidFill>
              </a:rPr>
              <a:t>y</a:t>
            </a:r>
            <a:r>
              <a:rPr lang="zh-CN" altLang="en-US" b="1" dirty="0">
                <a:solidFill>
                  <a:srgbClr val="0070C0"/>
                </a:solidFill>
              </a:rPr>
              <a:t>一定是直接在</a:t>
            </a:r>
            <a:r>
              <a:rPr lang="en-US" altLang="zh-CN" b="1" i="1" dirty="0">
                <a:solidFill>
                  <a:srgbClr val="0070C0"/>
                </a:solidFill>
              </a:rPr>
              <a:t>x</a:t>
            </a:r>
            <a:r>
              <a:rPr lang="zh-CN" altLang="en-US" b="1" dirty="0">
                <a:solidFill>
                  <a:srgbClr val="0070C0"/>
                </a:solidFill>
              </a:rPr>
              <a:t>中定义的 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例如</a:t>
            </a:r>
            <a:r>
              <a:rPr lang="zh-CN" altLang="en-US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：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s</a:t>
            </a:r>
            <a:r>
              <a:rPr lang="zh-CN" altLang="en-US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→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q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, </a:t>
            </a:r>
            <a:r>
              <a:rPr lang="zh-CN" altLang="en-US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 </a:t>
            </a:r>
            <a:r>
              <a:rPr lang="en-US" altLang="zh-CN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q</a:t>
            </a:r>
            <a:r>
              <a:rPr lang="en-US" altLang="zh-CN" b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→</a:t>
            </a:r>
            <a:r>
              <a:rPr lang="en-US" altLang="zh-CN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p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) </a:t>
            </a:r>
            <a:r>
              <a:rPr lang="zh-CN" altLang="en-US" b="1" dirty="0">
                <a:solidFill>
                  <a:schemeClr val="tx1"/>
                </a:solidFill>
              </a:rPr>
              <a:t>，因此，</a:t>
            </a:r>
            <a:r>
              <a:rPr lang="en-US" altLang="zh-CN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b="1" i="1" baseline="-30000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=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b="1" i="1" baseline="-30000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x 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+1</a:t>
            </a:r>
            <a:endParaRPr lang="en-US" altLang="zh-CN" b="1" dirty="0">
              <a:solidFill>
                <a:schemeClr val="tx1"/>
              </a:solidFill>
              <a:ea typeface="方正楷体_GB2312" charset="0"/>
              <a:cs typeface="方正楷体_GB2312" charset="0"/>
            </a:endParaRPr>
          </a:p>
          <a:p>
            <a:pPr lvl="2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b="1" i="1" dirty="0">
                <a:solidFill>
                  <a:srgbClr val="0070C0"/>
                </a:solidFill>
              </a:rPr>
              <a:t>y</a:t>
            </a:r>
            <a:r>
              <a:rPr lang="zh-CN" altLang="en-US" b="1" dirty="0">
                <a:solidFill>
                  <a:srgbClr val="0070C0"/>
                </a:solidFill>
              </a:rPr>
              <a:t>的访问链</a:t>
            </a:r>
            <a:r>
              <a:rPr lang="zh-CN" altLang="en-US" b="1" dirty="0">
                <a:solidFill>
                  <a:schemeClr val="tx1"/>
                </a:solidFill>
              </a:rPr>
              <a:t>设置为</a:t>
            </a:r>
            <a:r>
              <a:rPr lang="zh-CN" altLang="en-US" b="1" dirty="0">
                <a:solidFill>
                  <a:srgbClr val="0070C0"/>
                </a:solidFill>
              </a:rPr>
              <a:t>指向</a:t>
            </a:r>
            <a:r>
              <a:rPr lang="en-US" altLang="zh-CN" b="1" i="1" dirty="0">
                <a:solidFill>
                  <a:srgbClr val="0070C0"/>
                </a:solidFill>
              </a:rPr>
              <a:t>x</a:t>
            </a:r>
            <a:r>
              <a:rPr lang="zh-CN" altLang="en-US" b="1" dirty="0">
                <a:solidFill>
                  <a:srgbClr val="0070C0"/>
                </a:solidFill>
              </a:rPr>
              <a:t>的活动记录</a:t>
            </a:r>
            <a:r>
              <a:rPr lang="zh-CN" altLang="en-US" b="1" dirty="0">
                <a:solidFill>
                  <a:schemeClr val="tx1"/>
                </a:solidFill>
              </a:rPr>
              <a:t>的指针</a:t>
            </a:r>
            <a:endParaRPr lang="en-US" altLang="zh-CN" b="1" dirty="0">
              <a:solidFill>
                <a:schemeClr val="tx1"/>
              </a:solidFill>
              <a:ea typeface="方正楷体_GB2312" charset="0"/>
              <a:cs typeface="方正楷体_GB2312" charset="0"/>
            </a:endParaRPr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访问链的建立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113668" name="Group 99"/>
          <p:cNvGrpSpPr/>
          <p:nvPr/>
        </p:nvGrpSpPr>
        <p:grpSpPr bwMode="auto">
          <a:xfrm>
            <a:off x="6227763" y="96838"/>
            <a:ext cx="923925" cy="647700"/>
            <a:chOff x="975" y="2750"/>
            <a:chExt cx="776" cy="544"/>
          </a:xfrm>
        </p:grpSpPr>
        <p:sp>
          <p:nvSpPr>
            <p:cNvPr id="45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706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707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708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0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grpSp>
        <p:nvGrpSpPr>
          <p:cNvPr id="113669" name="Group 99"/>
          <p:cNvGrpSpPr/>
          <p:nvPr/>
        </p:nvGrpSpPr>
        <p:grpSpPr bwMode="auto">
          <a:xfrm>
            <a:off x="6234113" y="723900"/>
            <a:ext cx="954087" cy="636588"/>
            <a:chOff x="948" y="2750"/>
            <a:chExt cx="802" cy="534"/>
          </a:xfrm>
        </p:grpSpPr>
        <p:sp>
          <p:nvSpPr>
            <p:cNvPr id="52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700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701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702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56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7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grpSp>
        <p:nvGrpSpPr>
          <p:cNvPr id="113670" name="Group 99"/>
          <p:cNvGrpSpPr/>
          <p:nvPr/>
        </p:nvGrpSpPr>
        <p:grpSpPr bwMode="auto">
          <a:xfrm>
            <a:off x="6234113" y="1360488"/>
            <a:ext cx="954087" cy="635000"/>
            <a:chOff x="948" y="2750"/>
            <a:chExt cx="802" cy="534"/>
          </a:xfrm>
        </p:grpSpPr>
        <p:sp>
          <p:nvSpPr>
            <p:cNvPr id="59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69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69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69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3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64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grpSp>
        <p:nvGrpSpPr>
          <p:cNvPr id="113671" name="Group 99"/>
          <p:cNvGrpSpPr/>
          <p:nvPr/>
        </p:nvGrpSpPr>
        <p:grpSpPr bwMode="auto">
          <a:xfrm>
            <a:off x="6234113" y="1997797"/>
            <a:ext cx="954087" cy="635000"/>
            <a:chOff x="948" y="2750"/>
            <a:chExt cx="802" cy="534"/>
          </a:xfrm>
        </p:grpSpPr>
        <p:sp>
          <p:nvSpPr>
            <p:cNvPr id="6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68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68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  <a:endParaRPr lang="en-US" altLang="zh-CN" sz="1200" i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69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7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72" name="Freeform 56"/>
          <p:cNvSpPr/>
          <p:nvPr/>
        </p:nvSpPr>
        <p:spPr bwMode="auto">
          <a:xfrm rot="-511685">
            <a:off x="7139481" y="1809310"/>
            <a:ext cx="263118" cy="520700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73" name="Freeform 56"/>
          <p:cNvSpPr/>
          <p:nvPr/>
        </p:nvSpPr>
        <p:spPr bwMode="auto">
          <a:xfrm rot="-511685">
            <a:off x="7124352" y="526041"/>
            <a:ext cx="242238" cy="496888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13674" name="Group 99"/>
          <p:cNvGrpSpPr/>
          <p:nvPr/>
        </p:nvGrpSpPr>
        <p:grpSpPr bwMode="auto">
          <a:xfrm>
            <a:off x="6234113" y="2635106"/>
            <a:ext cx="954087" cy="636587"/>
            <a:chOff x="948" y="2750"/>
            <a:chExt cx="802" cy="534"/>
          </a:xfrm>
        </p:grpSpPr>
        <p:sp>
          <p:nvSpPr>
            <p:cNvPr id="75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68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68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68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7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0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81" name="任意多边形 80"/>
          <p:cNvSpPr/>
          <p:nvPr/>
        </p:nvSpPr>
        <p:spPr>
          <a:xfrm>
            <a:off x="7153274" y="506413"/>
            <a:ext cx="587077" cy="2487066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82" name="任意多边形 81"/>
          <p:cNvSpPr/>
          <p:nvPr/>
        </p:nvSpPr>
        <p:spPr>
          <a:xfrm>
            <a:off x="7165559" y="519113"/>
            <a:ext cx="274193" cy="1187925"/>
          </a:xfrm>
          <a:custGeom>
            <a:avLst/>
            <a:gdLst>
              <a:gd name="connsiteX0" fmla="*/ 0 w 252896"/>
              <a:gd name="connsiteY0" fmla="*/ 1106905 h 1106905"/>
              <a:gd name="connsiteX1" fmla="*/ 252663 w 252896"/>
              <a:gd name="connsiteY1" fmla="*/ 204537 h 1106905"/>
              <a:gd name="connsiteX2" fmla="*/ 36095 w 252896"/>
              <a:gd name="connsiteY2" fmla="*/ 0 h 1106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2896" h="1106905">
                <a:moveTo>
                  <a:pt x="0" y="1106905"/>
                </a:moveTo>
                <a:cubicBezTo>
                  <a:pt x="123323" y="747963"/>
                  <a:pt x="246647" y="389021"/>
                  <a:pt x="252663" y="204537"/>
                </a:cubicBezTo>
                <a:cubicBezTo>
                  <a:pt x="258679" y="20053"/>
                  <a:pt x="147387" y="10026"/>
                  <a:pt x="36095" y="0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grpSp>
        <p:nvGrpSpPr>
          <p:cNvPr id="113677" name="组合 82"/>
          <p:cNvGrpSpPr/>
          <p:nvPr/>
        </p:nvGrpSpPr>
        <p:grpSpPr bwMode="auto">
          <a:xfrm>
            <a:off x="6234113" y="3344863"/>
            <a:ext cx="2262187" cy="1728787"/>
            <a:chOff x="78177" y="3363243"/>
            <a:chExt cx="2261575" cy="1728787"/>
          </a:xfrm>
        </p:grpSpPr>
        <p:sp>
          <p:nvSpPr>
            <p:cNvPr id="84" name="Rectangle 4"/>
            <p:cNvSpPr>
              <a:spLocks noChangeArrowheads="1"/>
            </p:cNvSpPr>
            <p:nvPr/>
          </p:nvSpPr>
          <p:spPr bwMode="auto">
            <a:xfrm>
              <a:off x="78177" y="3363243"/>
              <a:ext cx="2261575" cy="17145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 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1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3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5" name="直接连接符 84"/>
            <p:cNvCxnSpPr/>
            <p:nvPr/>
          </p:nvCxnSpPr>
          <p:spPr bwMode="auto">
            <a:xfrm>
              <a:off x="78177" y="3648993"/>
              <a:ext cx="226157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/>
            <p:cNvCxnSpPr/>
            <p:nvPr/>
          </p:nvCxnSpPr>
          <p:spPr bwMode="auto">
            <a:xfrm>
              <a:off x="1331963" y="3363243"/>
              <a:ext cx="0" cy="172878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157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157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157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157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157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157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7157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7157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157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7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indefinite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0000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42" dur="indefinite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7" presetClass="emph" presetSubtype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0000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45" dur="indefinite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xit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9" dur="500"/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/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53" presetClass="exit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4" dur="500"/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/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6" dur="500"/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715" name="Group 99"/>
          <p:cNvGrpSpPr/>
          <p:nvPr/>
        </p:nvGrpSpPr>
        <p:grpSpPr bwMode="auto">
          <a:xfrm>
            <a:off x="6227763" y="96838"/>
            <a:ext cx="923925" cy="647700"/>
            <a:chOff x="975" y="2750"/>
            <a:chExt cx="776" cy="544"/>
          </a:xfrm>
        </p:grpSpPr>
        <p:sp>
          <p:nvSpPr>
            <p:cNvPr id="47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55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56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57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51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52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15716" name="Group 99"/>
          <p:cNvGrpSpPr/>
          <p:nvPr/>
        </p:nvGrpSpPr>
        <p:grpSpPr bwMode="auto">
          <a:xfrm>
            <a:off x="6234113" y="723900"/>
            <a:ext cx="954087" cy="636588"/>
            <a:chOff x="948" y="2750"/>
            <a:chExt cx="802" cy="534"/>
          </a:xfrm>
        </p:grpSpPr>
        <p:sp>
          <p:nvSpPr>
            <p:cNvPr id="54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49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50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51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58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59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15717" name="Group 99"/>
          <p:cNvGrpSpPr/>
          <p:nvPr/>
        </p:nvGrpSpPr>
        <p:grpSpPr bwMode="auto">
          <a:xfrm>
            <a:off x="6234113" y="1360488"/>
            <a:ext cx="954087" cy="635000"/>
            <a:chOff x="948" y="2750"/>
            <a:chExt cx="802" cy="534"/>
          </a:xfrm>
        </p:grpSpPr>
        <p:sp>
          <p:nvSpPr>
            <p:cNvPr id="61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4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4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4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5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66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15718" name="Group 99"/>
          <p:cNvGrpSpPr/>
          <p:nvPr/>
        </p:nvGrpSpPr>
        <p:grpSpPr bwMode="auto">
          <a:xfrm>
            <a:off x="6234113" y="1997797"/>
            <a:ext cx="954087" cy="635000"/>
            <a:chOff x="948" y="2750"/>
            <a:chExt cx="802" cy="534"/>
          </a:xfrm>
        </p:grpSpPr>
        <p:sp>
          <p:nvSpPr>
            <p:cNvPr id="6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37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38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i, j</a:t>
              </a:r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39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72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73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15719" name="Freeform 56"/>
          <p:cNvSpPr/>
          <p:nvPr/>
        </p:nvSpPr>
        <p:spPr bwMode="auto">
          <a:xfrm rot="-511685">
            <a:off x="7154863" y="1808163"/>
            <a:ext cx="247650" cy="520700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rgbClr val="FF0000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5720" name="Freeform 56"/>
          <p:cNvSpPr/>
          <p:nvPr/>
        </p:nvSpPr>
        <p:spPr bwMode="auto">
          <a:xfrm rot="-511685">
            <a:off x="7153275" y="530225"/>
            <a:ext cx="128588" cy="496888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rgbClr val="FF0000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15721" name="Group 99"/>
          <p:cNvGrpSpPr/>
          <p:nvPr/>
        </p:nvGrpSpPr>
        <p:grpSpPr bwMode="auto">
          <a:xfrm>
            <a:off x="6234113" y="2635106"/>
            <a:ext cx="954087" cy="636587"/>
            <a:chOff x="948" y="2750"/>
            <a:chExt cx="802" cy="534"/>
          </a:xfrm>
        </p:grpSpPr>
        <p:sp>
          <p:nvSpPr>
            <p:cNvPr id="77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31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32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33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81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82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83" name="任意多边形 82"/>
          <p:cNvSpPr/>
          <p:nvPr/>
        </p:nvSpPr>
        <p:spPr>
          <a:xfrm>
            <a:off x="7153275" y="506413"/>
            <a:ext cx="439738" cy="2443162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84" name="任意多边形 83"/>
          <p:cNvSpPr/>
          <p:nvPr/>
        </p:nvSpPr>
        <p:spPr>
          <a:xfrm>
            <a:off x="7129463" y="519113"/>
            <a:ext cx="252412" cy="1106487"/>
          </a:xfrm>
          <a:custGeom>
            <a:avLst/>
            <a:gdLst>
              <a:gd name="connsiteX0" fmla="*/ 0 w 252896"/>
              <a:gd name="connsiteY0" fmla="*/ 1106905 h 1106905"/>
              <a:gd name="connsiteX1" fmla="*/ 252663 w 252896"/>
              <a:gd name="connsiteY1" fmla="*/ 204537 h 1106905"/>
              <a:gd name="connsiteX2" fmla="*/ 36095 w 252896"/>
              <a:gd name="connsiteY2" fmla="*/ 0 h 1106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2896" h="1106905">
                <a:moveTo>
                  <a:pt x="0" y="1106905"/>
                </a:moveTo>
                <a:cubicBezTo>
                  <a:pt x="123323" y="747963"/>
                  <a:pt x="246647" y="389021"/>
                  <a:pt x="252663" y="204537"/>
                </a:cubicBezTo>
                <a:cubicBezTo>
                  <a:pt x="258679" y="20053"/>
                  <a:pt x="147387" y="10026"/>
                  <a:pt x="36095" y="0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grpSp>
        <p:nvGrpSpPr>
          <p:cNvPr id="115724" name="组合 84"/>
          <p:cNvGrpSpPr/>
          <p:nvPr/>
        </p:nvGrpSpPr>
        <p:grpSpPr bwMode="auto">
          <a:xfrm>
            <a:off x="6234113" y="3344863"/>
            <a:ext cx="2262187" cy="1728787"/>
            <a:chOff x="78177" y="3363243"/>
            <a:chExt cx="2261575" cy="1728787"/>
          </a:xfrm>
        </p:grpSpPr>
        <p:sp>
          <p:nvSpPr>
            <p:cNvPr id="86" name="Rectangle 4"/>
            <p:cNvSpPr>
              <a:spLocks noChangeArrowheads="1"/>
            </p:cNvSpPr>
            <p:nvPr/>
          </p:nvSpPr>
          <p:spPr bwMode="auto">
            <a:xfrm>
              <a:off x="78177" y="3363243"/>
              <a:ext cx="2261575" cy="17145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 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1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2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3</a:t>
              </a:r>
              <a:endParaRPr lang="en-US" altLang="zh-CN" sz="1800" dirty="0"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7" name="直接连接符 86"/>
            <p:cNvCxnSpPr/>
            <p:nvPr/>
          </p:nvCxnSpPr>
          <p:spPr bwMode="auto">
            <a:xfrm>
              <a:off x="78177" y="3648993"/>
              <a:ext cx="226157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接连接符 87"/>
            <p:cNvCxnSpPr/>
            <p:nvPr/>
          </p:nvCxnSpPr>
          <p:spPr bwMode="auto">
            <a:xfrm>
              <a:off x="1331963" y="3363243"/>
              <a:ext cx="0" cy="172878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5725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访问链的建立</a:t>
            </a:r>
            <a:endParaRPr lang="zh-CN" altLang="en-US"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9" name="Rectangle 2"/>
          <p:cNvSpPr>
            <a:spLocks noGrp="1" noChangeArrowheads="1"/>
          </p:cNvSpPr>
          <p:nvPr>
            <p:ph idx="1"/>
          </p:nvPr>
        </p:nvSpPr>
        <p:spPr>
          <a:xfrm>
            <a:off x="357188" y="714374"/>
            <a:ext cx="5588000" cy="3873599"/>
          </a:xfrm>
        </p:spPr>
        <p:txBody>
          <a:bodyPr/>
          <a:lstStyle/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建立访问链的代码属于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调用序列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的一部分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假设嵌套深度为</a:t>
            </a:r>
            <a:r>
              <a:rPr lang="en-US" altLang="zh-CN" sz="20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的过程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调用嵌套深度为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</a:rPr>
              <a:t>的过程</a:t>
            </a:r>
            <a:r>
              <a:rPr lang="en-US" altLang="zh-CN" sz="2000" b="1" i="1" dirty="0">
                <a:solidFill>
                  <a:schemeClr val="tx1"/>
                </a:solidFill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x</a:t>
            </a:r>
            <a:r>
              <a:rPr lang="en-US" altLang="zh-CN" sz="2000" b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→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)</a:t>
            </a:r>
            <a:endParaRPr lang="en-US" altLang="zh-CN" sz="2000" b="1" dirty="0">
              <a:solidFill>
                <a:schemeClr val="tx1"/>
              </a:solidFill>
              <a:ea typeface="方正楷体_GB2312" charset="0"/>
              <a:cs typeface="方正楷体_GB2312" charset="0"/>
            </a:endParaRP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x 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&lt; 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的情况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外层调用内层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)</a:t>
            </a:r>
            <a:endParaRPr lang="en-US" altLang="zh-CN" sz="2000" b="1" dirty="0">
              <a:solidFill>
                <a:schemeClr val="tx1"/>
              </a:solidFill>
              <a:ea typeface="方正楷体_GB2312" charset="0"/>
              <a:cs typeface="方正楷体_GB2312" charset="0"/>
            </a:endParaRP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000" b="1" i="1" dirty="0" err="1">
                <a:solidFill>
                  <a:srgbClr val="C00000"/>
                </a:solidFill>
                <a:ea typeface="方正楷体_GB2312" charset="0"/>
              </a:rPr>
              <a:t>n</a:t>
            </a:r>
            <a:r>
              <a:rPr lang="en-US" altLang="zh-CN" sz="2000" b="1" i="1" baseline="-30000" dirty="0" err="1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x</a:t>
            </a:r>
            <a:r>
              <a:rPr lang="en-US" altLang="zh-CN" sz="2000" b="1" i="1" baseline="-30000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000" b="1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= </a:t>
            </a:r>
            <a:r>
              <a:rPr lang="en-US" altLang="zh-CN" sz="2000" b="1" i="1" dirty="0" err="1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2000" b="1" i="1" baseline="-30000" dirty="0" err="1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r>
              <a:rPr lang="zh-CN" altLang="en-US" sz="2000" b="1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的情况</a:t>
            </a:r>
            <a:r>
              <a:rPr lang="en-US" altLang="zh-CN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本层调用本层</a:t>
            </a:r>
            <a:r>
              <a:rPr lang="en-US" altLang="zh-CN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)</a:t>
            </a:r>
            <a:endParaRPr lang="en-US" altLang="zh-CN" sz="2000" b="1" dirty="0">
              <a:solidFill>
                <a:prstClr val="black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685800" lvl="2" indent="228600">
              <a:lnSpc>
                <a:spcPts val="2600"/>
              </a:lnSpc>
              <a:spcBef>
                <a:spcPct val="0"/>
              </a:spcBef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例如：递归调用 </a:t>
            </a:r>
            <a:r>
              <a:rPr lang="en-US" altLang="zh-CN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 </a:t>
            </a:r>
            <a:r>
              <a:rPr lang="zh-CN" altLang="en-US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如：</a:t>
            </a:r>
            <a:r>
              <a:rPr lang="en-US" altLang="zh-CN" b="1" i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q</a:t>
            </a:r>
            <a:r>
              <a:rPr lang="en-US" altLang="zh-CN" b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→</a:t>
            </a:r>
            <a:r>
              <a:rPr lang="en-US" altLang="zh-CN" b="1" i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q</a:t>
            </a:r>
            <a:r>
              <a:rPr lang="en-US" altLang="zh-CN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)</a:t>
            </a:r>
            <a:endParaRPr lang="en-US" altLang="zh-CN" b="1" dirty="0">
              <a:solidFill>
                <a:prstClr val="black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685800" lvl="2" indent="228600">
              <a:lnSpc>
                <a:spcPts val="2600"/>
              </a:lnSpc>
              <a:spcBef>
                <a:spcPct val="0"/>
              </a:spcBef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被调用者的活动记录的</a:t>
            </a:r>
            <a:r>
              <a:rPr lang="zh-CN" altLang="en-US" b="1" dirty="0">
                <a:solidFill>
                  <a:schemeClr val="accent2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访问链</a:t>
            </a:r>
            <a:r>
              <a:rPr lang="zh-CN" altLang="en-US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与调用者的活动记录的访问链是相同的，可以</a:t>
            </a:r>
            <a:r>
              <a:rPr lang="zh-CN" altLang="en-US" b="1" dirty="0">
                <a:solidFill>
                  <a:schemeClr val="accent2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直接复制</a:t>
            </a:r>
            <a:endParaRPr lang="zh-CN" altLang="en-US" b="1" dirty="0">
              <a:solidFill>
                <a:schemeClr val="accent2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endParaRPr lang="zh-CN" altLang="en-US" sz="2000" b="1" dirty="0">
              <a:solidFill>
                <a:schemeClr val="tx1"/>
              </a:solidFill>
              <a:ea typeface="方正楷体_GB2312" charset="0"/>
              <a:cs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7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8" dur="indefinite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7" dur="500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/>
          <p:cNvSpPr txBox="1">
            <a:spLocks noChangeArrowheads="1"/>
          </p:cNvSpPr>
          <p:nvPr/>
        </p:nvSpPr>
        <p:spPr bwMode="auto">
          <a:xfrm>
            <a:off x="339725" y="2962275"/>
            <a:ext cx="5214938" cy="1697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 marL="342900" indent="-3429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557530" indent="-21463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lvl="1" eaLnBrk="1" hangingPunct="1">
              <a:lnSpc>
                <a:spcPts val="26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endParaRPr lang="zh-CN" altLang="en-US" sz="1800">
              <a:solidFill>
                <a:srgbClr val="000000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17763" name="Group 99"/>
          <p:cNvGrpSpPr/>
          <p:nvPr/>
        </p:nvGrpSpPr>
        <p:grpSpPr bwMode="auto">
          <a:xfrm>
            <a:off x="6227763" y="96838"/>
            <a:ext cx="923925" cy="647700"/>
            <a:chOff x="975" y="2750"/>
            <a:chExt cx="776" cy="544"/>
          </a:xfrm>
        </p:grpSpPr>
        <p:sp>
          <p:nvSpPr>
            <p:cNvPr id="47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80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80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80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51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2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grpSp>
        <p:nvGrpSpPr>
          <p:cNvPr id="117764" name="Group 99"/>
          <p:cNvGrpSpPr/>
          <p:nvPr/>
        </p:nvGrpSpPr>
        <p:grpSpPr bwMode="auto">
          <a:xfrm>
            <a:off x="6234113" y="723900"/>
            <a:ext cx="954087" cy="636588"/>
            <a:chOff x="948" y="2750"/>
            <a:chExt cx="802" cy="534"/>
          </a:xfrm>
        </p:grpSpPr>
        <p:sp>
          <p:nvSpPr>
            <p:cNvPr id="54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97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98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99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58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9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grpSp>
        <p:nvGrpSpPr>
          <p:cNvPr id="117765" name="Group 99"/>
          <p:cNvGrpSpPr/>
          <p:nvPr/>
        </p:nvGrpSpPr>
        <p:grpSpPr bwMode="auto">
          <a:xfrm>
            <a:off x="6234113" y="1360488"/>
            <a:ext cx="954087" cy="635000"/>
            <a:chOff x="948" y="2750"/>
            <a:chExt cx="802" cy="534"/>
          </a:xfrm>
        </p:grpSpPr>
        <p:sp>
          <p:nvSpPr>
            <p:cNvPr id="61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91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92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93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5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66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grpSp>
        <p:nvGrpSpPr>
          <p:cNvPr id="117766" name="Group 99"/>
          <p:cNvGrpSpPr/>
          <p:nvPr/>
        </p:nvGrpSpPr>
        <p:grpSpPr bwMode="auto">
          <a:xfrm>
            <a:off x="6234113" y="1997797"/>
            <a:ext cx="954087" cy="635000"/>
            <a:chOff x="948" y="2750"/>
            <a:chExt cx="802" cy="534"/>
          </a:xfrm>
        </p:grpSpPr>
        <p:sp>
          <p:nvSpPr>
            <p:cNvPr id="6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85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86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  <a:endParaRPr lang="en-US" altLang="zh-CN" sz="1200" i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87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72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3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17767" name="Freeform 56"/>
          <p:cNvSpPr/>
          <p:nvPr/>
        </p:nvSpPr>
        <p:spPr bwMode="auto">
          <a:xfrm rot="-511685">
            <a:off x="7154863" y="1808163"/>
            <a:ext cx="247650" cy="520700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rgbClr val="FF0000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7768" name="Freeform 56"/>
          <p:cNvSpPr/>
          <p:nvPr/>
        </p:nvSpPr>
        <p:spPr bwMode="auto">
          <a:xfrm rot="-511685">
            <a:off x="7153275" y="530225"/>
            <a:ext cx="128588" cy="496888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rgbClr val="FF0000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17769" name="Group 99"/>
          <p:cNvGrpSpPr/>
          <p:nvPr/>
        </p:nvGrpSpPr>
        <p:grpSpPr bwMode="auto">
          <a:xfrm>
            <a:off x="6234113" y="2635106"/>
            <a:ext cx="954087" cy="636587"/>
            <a:chOff x="948" y="2750"/>
            <a:chExt cx="802" cy="534"/>
          </a:xfrm>
        </p:grpSpPr>
        <p:sp>
          <p:nvSpPr>
            <p:cNvPr id="77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79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80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81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  <a:endParaRPr lang="zh-CN" altLang="en-US" sz="12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81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2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83" name="任意多边形 82"/>
          <p:cNvSpPr/>
          <p:nvPr/>
        </p:nvSpPr>
        <p:spPr>
          <a:xfrm>
            <a:off x="7153275" y="506413"/>
            <a:ext cx="439738" cy="2443162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84" name="任意多边形 83"/>
          <p:cNvSpPr/>
          <p:nvPr/>
        </p:nvSpPr>
        <p:spPr>
          <a:xfrm>
            <a:off x="7129463" y="519113"/>
            <a:ext cx="252412" cy="1106487"/>
          </a:xfrm>
          <a:custGeom>
            <a:avLst/>
            <a:gdLst>
              <a:gd name="connsiteX0" fmla="*/ 0 w 252896"/>
              <a:gd name="connsiteY0" fmla="*/ 1106905 h 1106905"/>
              <a:gd name="connsiteX1" fmla="*/ 252663 w 252896"/>
              <a:gd name="connsiteY1" fmla="*/ 204537 h 1106905"/>
              <a:gd name="connsiteX2" fmla="*/ 36095 w 252896"/>
              <a:gd name="connsiteY2" fmla="*/ 0 h 1106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2896" h="1106905">
                <a:moveTo>
                  <a:pt x="0" y="1106905"/>
                </a:moveTo>
                <a:cubicBezTo>
                  <a:pt x="123323" y="747963"/>
                  <a:pt x="246647" y="389021"/>
                  <a:pt x="252663" y="204537"/>
                </a:cubicBezTo>
                <a:cubicBezTo>
                  <a:pt x="258679" y="20053"/>
                  <a:pt x="147387" y="10026"/>
                  <a:pt x="36095" y="0"/>
                </a:cubicBezTo>
              </a:path>
            </a:pathLst>
          </a:custGeom>
          <a:noFill/>
          <a:ln w="25400">
            <a:solidFill>
              <a:schemeClr val="tx2">
                <a:lumMod val="60000"/>
                <a:lumOff val="40000"/>
              </a:schemeClr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grpSp>
        <p:nvGrpSpPr>
          <p:cNvPr id="117772" name="组合 84"/>
          <p:cNvGrpSpPr/>
          <p:nvPr/>
        </p:nvGrpSpPr>
        <p:grpSpPr bwMode="auto">
          <a:xfrm>
            <a:off x="6234113" y="3344863"/>
            <a:ext cx="2262187" cy="1728787"/>
            <a:chOff x="78177" y="3363243"/>
            <a:chExt cx="2261575" cy="1728787"/>
          </a:xfrm>
        </p:grpSpPr>
        <p:sp>
          <p:nvSpPr>
            <p:cNvPr id="86" name="Rectangle 4"/>
            <p:cNvSpPr>
              <a:spLocks noChangeArrowheads="1"/>
            </p:cNvSpPr>
            <p:nvPr/>
          </p:nvSpPr>
          <p:spPr bwMode="auto">
            <a:xfrm>
              <a:off x="78177" y="3363243"/>
              <a:ext cx="2261575" cy="17145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 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1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3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7" name="直接连接符 86"/>
            <p:cNvCxnSpPr/>
            <p:nvPr/>
          </p:nvCxnSpPr>
          <p:spPr bwMode="auto">
            <a:xfrm>
              <a:off x="78177" y="3648993"/>
              <a:ext cx="226157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接连接符 87"/>
            <p:cNvCxnSpPr/>
            <p:nvPr/>
          </p:nvCxnSpPr>
          <p:spPr bwMode="auto">
            <a:xfrm>
              <a:off x="1331963" y="3363243"/>
              <a:ext cx="0" cy="172878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7773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访问链的建立</a:t>
            </a:r>
            <a:endParaRPr lang="zh-CN" altLang="en-US" dirty="0"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9" name="Rectangle 2"/>
          <p:cNvSpPr>
            <a:spLocks noGrp="1" noChangeArrowheads="1"/>
          </p:cNvSpPr>
          <p:nvPr>
            <p:ph idx="1"/>
          </p:nvPr>
        </p:nvSpPr>
        <p:spPr>
          <a:xfrm>
            <a:off x="357188" y="714375"/>
            <a:ext cx="5768975" cy="4344988"/>
          </a:xfrm>
        </p:spPr>
        <p:txBody>
          <a:bodyPr/>
          <a:lstStyle/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建立访问链的代码属于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调用序列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的一部分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假设嵌套深度为</a:t>
            </a:r>
            <a:r>
              <a:rPr lang="en-US" altLang="zh-CN" sz="20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的过程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调用嵌套深度为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</a:rPr>
              <a:t>的过程</a:t>
            </a:r>
            <a:r>
              <a:rPr lang="en-US" altLang="zh-CN" sz="2000" b="1" i="1" dirty="0">
                <a:solidFill>
                  <a:schemeClr val="tx1"/>
                </a:solidFill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x</a:t>
            </a:r>
            <a:r>
              <a:rPr lang="en-US" altLang="zh-CN" sz="2000" b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→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)</a:t>
            </a:r>
            <a:endParaRPr lang="en-US" altLang="zh-CN" sz="2000" b="1" dirty="0">
              <a:solidFill>
                <a:schemeClr val="tx1"/>
              </a:solidFill>
              <a:ea typeface="方正楷体_GB2312" charset="0"/>
              <a:cs typeface="方正楷体_GB2312" charset="0"/>
            </a:endParaRP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x 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&lt; 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的情况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外层调用内层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)</a:t>
            </a:r>
            <a:endParaRPr lang="en-US" altLang="zh-CN" sz="2000" b="1" dirty="0">
              <a:solidFill>
                <a:schemeClr val="tx1"/>
              </a:solidFill>
              <a:ea typeface="方正楷体_GB2312" charset="0"/>
              <a:cs typeface="方正楷体_GB2312" charset="0"/>
            </a:endParaRP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000" b="1" i="1" dirty="0" err="1">
                <a:solidFill>
                  <a:prstClr val="black"/>
                </a:solidFill>
                <a:ea typeface="方正楷体_GB2312" charset="0"/>
              </a:rPr>
              <a:t>n</a:t>
            </a:r>
            <a:r>
              <a:rPr lang="en-US" altLang="zh-CN" sz="2000" b="1" i="1" baseline="-30000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x</a:t>
            </a:r>
            <a:r>
              <a:rPr lang="en-US" altLang="zh-CN" sz="2000" b="1" i="1" baseline="-300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= </a:t>
            </a:r>
            <a:r>
              <a:rPr lang="en-US" altLang="zh-CN" sz="2000" b="1" i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1800" b="1" i="1" baseline="-30000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r>
              <a:rPr lang="zh-CN" altLang="en-US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的情况</a:t>
            </a:r>
            <a:r>
              <a:rPr lang="en-US" altLang="zh-CN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本层调用本层</a:t>
            </a:r>
            <a:r>
              <a:rPr lang="en-US" altLang="zh-CN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)</a:t>
            </a:r>
            <a:endParaRPr lang="en-US" altLang="zh-CN" sz="2000" b="1" dirty="0">
              <a:solidFill>
                <a:prstClr val="black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000" b="1" i="1" dirty="0" err="1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2000" b="1" i="1" baseline="-30000" dirty="0" err="1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x</a:t>
            </a:r>
            <a:r>
              <a:rPr lang="en-US" altLang="zh-CN" sz="2000" b="1" i="1" baseline="-30000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000" b="1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&gt; </a:t>
            </a:r>
            <a:r>
              <a:rPr lang="en-US" altLang="zh-CN" sz="2000" b="1" i="1" dirty="0" err="1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1800" b="1" i="1" baseline="-30000" dirty="0" err="1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r>
              <a:rPr lang="zh-CN" altLang="en-US" sz="2000" b="1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的情况</a:t>
            </a:r>
            <a:r>
              <a:rPr lang="en-US" altLang="zh-CN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内层调用外层，</a:t>
            </a:r>
            <a:r>
              <a:rPr lang="zh-CN" altLang="en-US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如： </a:t>
            </a:r>
            <a:r>
              <a:rPr lang="en-US" altLang="zh-CN" sz="2000" b="1" i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p</a:t>
            </a:r>
            <a:r>
              <a:rPr lang="en-US" altLang="zh-CN" sz="2000" b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→</a:t>
            </a:r>
            <a:r>
              <a:rPr lang="en-US" altLang="zh-CN" sz="2000" b="1" i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)</a:t>
            </a:r>
            <a:endParaRPr lang="en-US" altLang="zh-CN" sz="2000" b="1" dirty="0">
              <a:solidFill>
                <a:prstClr val="black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调用者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x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: 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p 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必定嵌套在某个过程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z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(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: 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中，而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z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(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: 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r>
              <a:rPr lang="zh-CN" altLang="en-US" sz="18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中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直接定义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了被调用者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(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: 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p 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en-US" altLang="zh-CN" sz="1800" b="1" i="1" dirty="0">
              <a:solidFill>
                <a:prstClr val="black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从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x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的活动记录开始，</a:t>
            </a:r>
            <a:r>
              <a:rPr lang="zh-CN" altLang="en-US" sz="18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沿着访问链经过</a:t>
            </a:r>
            <a:r>
              <a:rPr lang="en-US" altLang="zh-CN" sz="18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1800" b="1" i="1" baseline="-30000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x</a:t>
            </a:r>
            <a:r>
              <a:rPr lang="en-US" altLang="zh-CN" sz="1800" b="1" i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- </a:t>
            </a:r>
            <a:r>
              <a:rPr lang="en-US" altLang="zh-CN" sz="18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1800" b="1" i="1" baseline="-30000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r>
              <a:rPr lang="en-US" altLang="zh-CN" sz="1800" b="1" i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+ 1</a:t>
            </a:r>
            <a:r>
              <a:rPr lang="zh-CN" altLang="en-US" sz="18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步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就可以找到离栈顶最近的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z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的活动记录。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y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的访问链必须指向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z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的这个活动记录</a:t>
            </a:r>
            <a:endParaRPr lang="zh-CN" altLang="en-US" sz="1800" b="1" dirty="0">
              <a:solidFill>
                <a:prstClr val="black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endParaRPr lang="zh-CN" altLang="en-US" sz="1800" b="1" dirty="0">
              <a:solidFill>
                <a:schemeClr val="tx1"/>
              </a:solidFill>
              <a:ea typeface="方正楷体_GB2312" charset="0"/>
              <a:cs typeface="方正楷体_GB2312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41404" y="4689250"/>
            <a:ext cx="5570756" cy="4001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rPr>
              <a:t>嵌套深度是在编译阶段通过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rPr>
              <a:t>静态分析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rPr>
              <a:t>就能确定的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华文楷体" panose="02010600040101010101" pitchFamily="2" charset="-122"/>
              <a:ea typeface="华文楷体" panose="02010600040101010101" pitchFamily="2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3946177"/>
          </a:xfrm>
        </p:spPr>
        <p:txBody>
          <a:bodyPr/>
          <a:lstStyle/>
          <a:p>
            <a:pPr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访问链方法存在的问题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访问外层过程名字的效率比较低，需要沿访问链寻找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b="1" dirty="0">
                <a:solidFill>
                  <a:prstClr val="black"/>
                </a:solidFill>
                <a:cs typeface="Times New Roman" panose="02020603050405020304" pitchFamily="18" charset="0"/>
              </a:rPr>
              <a:t>display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表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是一个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指针数组 </a:t>
            </a:r>
            <a:r>
              <a:rPr lang="en-US" altLang="zh-CN" sz="20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d </a:t>
            </a:r>
            <a:r>
              <a:rPr lang="zh-CN" altLang="en-US" sz="20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，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长度为程序中所有过程嵌套深度</a:t>
            </a:r>
            <a:r>
              <a:rPr lang="en-US" altLang="zh-CN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层号</a:t>
            </a:r>
            <a:r>
              <a:rPr lang="en-US" altLang="zh-CN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的最大值</a:t>
            </a:r>
            <a:endParaRPr lang="zh-CN" altLang="en-US" sz="2000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在任何时刻，</a:t>
            </a:r>
            <a:r>
              <a:rPr lang="en-US" altLang="zh-CN" sz="20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000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均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指向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运行栈中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最新建立的嵌套深度为</a:t>
            </a:r>
            <a:r>
              <a:rPr lang="en-US" altLang="zh-CN" sz="2000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的过程的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活动记录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（在运行栈中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可能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存在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多个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嵌套深度为</a:t>
            </a:r>
            <a:r>
              <a:rPr lang="en-US" altLang="zh-CN" sz="2000" b="1" i="1" dirty="0" err="1">
                <a:solidFill>
                  <a:prstClr val="black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的过程的活动记录）</a:t>
            </a:r>
            <a:endParaRPr lang="en-US" altLang="zh-CN" sz="2000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基于</a:t>
            </a:r>
            <a:r>
              <a:rPr lang="en-US" altLang="zh-CN" b="1" dirty="0">
                <a:solidFill>
                  <a:prstClr val="black"/>
                </a:solidFill>
                <a:cs typeface="Times New Roman" panose="02020603050405020304" pitchFamily="18" charset="0"/>
              </a:rPr>
              <a:t>display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表的非局部数据访问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如果要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访问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某个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嵌套深度为</a:t>
            </a:r>
            <a:r>
              <a:rPr lang="en-US" altLang="zh-CN" sz="2000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的非局部名字</a:t>
            </a:r>
            <a:r>
              <a:rPr lang="en-US" altLang="zh-CN" sz="20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，只要沿着指针</a:t>
            </a:r>
            <a:r>
              <a:rPr lang="en-US" altLang="zh-CN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d[</a:t>
            </a:r>
            <a:r>
              <a:rPr lang="en-US" altLang="zh-CN" sz="2000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找到</a:t>
            </a:r>
            <a:r>
              <a:rPr lang="en-US" altLang="zh-CN" sz="20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所属过程的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活动记录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，再根据已知的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偏移量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就可以在活动记录中找到</a:t>
            </a:r>
            <a:r>
              <a:rPr lang="en-US" altLang="zh-CN" sz="20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0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，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此时</a:t>
            </a:r>
            <a:r>
              <a:rPr lang="en-US" altLang="zh-CN" sz="2000" b="1" i="1" dirty="0">
                <a:solidFill>
                  <a:srgbClr val="C00000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srgbClr val="C00000"/>
                </a:solidFill>
                <a:cs typeface="Times New Roman" panose="02020603050405020304" pitchFamily="18" charset="0"/>
              </a:rPr>
              <a:t>的地址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使用如下二元组表示：</a:t>
            </a:r>
            <a:r>
              <a:rPr lang="zh-CN" altLang="en-US" sz="2000" b="1" dirty="0">
                <a:solidFill>
                  <a:srgbClr val="C00000"/>
                </a:solidFill>
                <a:cs typeface="Times New Roman" panose="02020603050405020304" pitchFamily="18" charset="0"/>
              </a:rPr>
              <a:t>（嵌套深度，偏移量）</a:t>
            </a:r>
            <a:endParaRPr lang="zh-CN" altLang="en-US" sz="2000" b="1" dirty="0">
              <a:solidFill>
                <a:srgbClr val="C00000"/>
              </a:solidFill>
              <a:cs typeface="Times New Roman" panose="02020603050405020304" pitchFamily="18" charset="0"/>
            </a:endParaRPr>
          </a:p>
        </p:txBody>
      </p:sp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display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表（嵌套层次显示表）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50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50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50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5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5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17"/>
          <p:cNvSpPr>
            <a:spLocks noChangeArrowheads="1"/>
          </p:cNvSpPr>
          <p:nvPr/>
        </p:nvSpPr>
        <p:spPr bwMode="auto">
          <a:xfrm>
            <a:off x="7629525" y="1739900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19" name="Rectangle 18"/>
          <p:cNvSpPr>
            <a:spLocks noChangeArrowheads="1"/>
          </p:cNvSpPr>
          <p:nvPr/>
        </p:nvSpPr>
        <p:spPr bwMode="auto">
          <a:xfrm>
            <a:off x="7361238" y="2359025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20" name="Rectangle 19"/>
          <p:cNvSpPr>
            <a:spLocks noChangeArrowheads="1"/>
          </p:cNvSpPr>
          <p:nvPr/>
        </p:nvSpPr>
        <p:spPr bwMode="auto">
          <a:xfrm>
            <a:off x="6572250" y="2378075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21" name="Line 20"/>
          <p:cNvSpPr>
            <a:spLocks noChangeShapeType="1"/>
          </p:cNvSpPr>
          <p:nvPr/>
        </p:nvSpPr>
        <p:spPr bwMode="auto">
          <a:xfrm flipH="1">
            <a:off x="7808913" y="2073275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6086" name="Line 21"/>
          <p:cNvSpPr>
            <a:spLocks noChangeShapeType="1"/>
          </p:cNvSpPr>
          <p:nvPr/>
        </p:nvSpPr>
        <p:spPr bwMode="auto">
          <a:xfrm flipH="1">
            <a:off x="6761163" y="2093913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44744" name="Line 23"/>
          <p:cNvSpPr>
            <a:spLocks noChangeShapeType="1"/>
          </p:cNvSpPr>
          <p:nvPr/>
        </p:nvSpPr>
        <p:spPr bwMode="auto">
          <a:xfrm flipH="1">
            <a:off x="7812088" y="2716213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1625" name="Rectangle 24"/>
          <p:cNvSpPr>
            <a:spLocks noChangeArrowheads="1"/>
          </p:cNvSpPr>
          <p:nvPr/>
        </p:nvSpPr>
        <p:spPr bwMode="auto">
          <a:xfrm>
            <a:off x="6413500" y="3051175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46" name="Rectangle 25"/>
          <p:cNvSpPr>
            <a:spLocks noChangeArrowheads="1"/>
          </p:cNvSpPr>
          <p:nvPr/>
        </p:nvSpPr>
        <p:spPr bwMode="auto">
          <a:xfrm>
            <a:off x="7377113" y="3068638"/>
            <a:ext cx="965200" cy="53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 dirty="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49" name="Rectangle 28"/>
          <p:cNvSpPr>
            <a:spLocks noChangeArrowheads="1"/>
          </p:cNvSpPr>
          <p:nvPr/>
        </p:nvSpPr>
        <p:spPr bwMode="auto">
          <a:xfrm>
            <a:off x="6697663" y="3778250"/>
            <a:ext cx="96678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 dirty="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50" name="Line 29"/>
          <p:cNvSpPr>
            <a:spLocks noChangeShapeType="1"/>
          </p:cNvSpPr>
          <p:nvPr/>
        </p:nvSpPr>
        <p:spPr bwMode="auto">
          <a:xfrm flipH="1">
            <a:off x="6975475" y="3414713"/>
            <a:ext cx="601663" cy="4445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1629" name="Rectangle 31"/>
          <p:cNvSpPr>
            <a:spLocks noChangeArrowheads="1"/>
          </p:cNvSpPr>
          <p:nvPr/>
        </p:nvSpPr>
        <p:spPr bwMode="auto">
          <a:xfrm>
            <a:off x="6829425" y="1287463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11630" name="组合 113"/>
          <p:cNvGrpSpPr/>
          <p:nvPr/>
        </p:nvGrpSpPr>
        <p:grpSpPr bwMode="auto">
          <a:xfrm>
            <a:off x="272733" y="3148330"/>
            <a:ext cx="3140075" cy="1728788"/>
            <a:chOff x="5003799" y="500048"/>
            <a:chExt cx="3282977" cy="1803794"/>
          </a:xfrm>
        </p:grpSpPr>
        <p:sp>
          <p:nvSpPr>
            <p:cNvPr id="21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2" name="直接连接符 21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631" name="Group 99"/>
          <p:cNvGrpSpPr/>
          <p:nvPr/>
        </p:nvGrpSpPr>
        <p:grpSpPr bwMode="auto">
          <a:xfrm>
            <a:off x="4759960" y="659765"/>
            <a:ext cx="923925" cy="647700"/>
            <a:chOff x="975" y="2750"/>
            <a:chExt cx="776" cy="544"/>
          </a:xfrm>
        </p:grpSpPr>
        <p:sp>
          <p:nvSpPr>
            <p:cNvPr id="30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0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1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2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srgbClr val="C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11632" name="Rectangle 32"/>
          <p:cNvSpPr>
            <a:spLocks noChangeArrowheads="1"/>
          </p:cNvSpPr>
          <p:nvPr/>
        </p:nvSpPr>
        <p:spPr bwMode="auto">
          <a:xfrm>
            <a:off x="4569460" y="142240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11633" name="Group 99"/>
          <p:cNvGrpSpPr/>
          <p:nvPr/>
        </p:nvGrpSpPr>
        <p:grpSpPr bwMode="auto">
          <a:xfrm>
            <a:off x="4766310" y="1307610"/>
            <a:ext cx="954088" cy="636587"/>
            <a:chOff x="948" y="2750"/>
            <a:chExt cx="802" cy="534"/>
          </a:xfrm>
        </p:grpSpPr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srgbClr val="C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Group 99"/>
          <p:cNvGrpSpPr/>
          <p:nvPr/>
        </p:nvGrpSpPr>
        <p:grpSpPr bwMode="auto">
          <a:xfrm>
            <a:off x="4766310" y="1944197"/>
            <a:ext cx="954088" cy="635000"/>
            <a:chOff x="948" y="2750"/>
            <a:chExt cx="802" cy="534"/>
          </a:xfrm>
        </p:grpSpPr>
        <p:sp>
          <p:nvSpPr>
            <p:cNvPr id="54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3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9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srgbClr val="C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Group 99"/>
          <p:cNvGrpSpPr/>
          <p:nvPr/>
        </p:nvGrpSpPr>
        <p:grpSpPr bwMode="auto">
          <a:xfrm>
            <a:off x="4766310" y="2572233"/>
            <a:ext cx="954088" cy="635000"/>
            <a:chOff x="948" y="2750"/>
            <a:chExt cx="802" cy="534"/>
          </a:xfrm>
        </p:grpSpPr>
        <p:sp>
          <p:nvSpPr>
            <p:cNvPr id="6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6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srgbClr val="C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d[3]</a:t>
              </a:r>
              <a:endParaRPr lang="en-US" altLang="zh-CN" sz="12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62" name="Line 12"/>
          <p:cNvSpPr>
            <a:spLocks noChangeShapeType="1"/>
          </p:cNvSpPr>
          <p:nvPr/>
        </p:nvSpPr>
        <p:spPr bwMode="auto">
          <a:xfrm flipH="1">
            <a:off x="6708775" y="3386138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 eaLnBrk="1" hangingPunct="1">
              <a:defRPr/>
            </a:pPr>
            <a:endParaRPr lang="zh-CN" altLang="en-US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111637" name="Rectangle 22"/>
          <p:cNvSpPr>
            <a:spLocks noChangeArrowheads="1"/>
          </p:cNvSpPr>
          <p:nvPr/>
        </p:nvSpPr>
        <p:spPr bwMode="auto">
          <a:xfrm>
            <a:off x="6545263" y="3602038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  <a:endParaRPr lang="en-US" altLang="zh-CN" sz="2000" i="1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67" name="Line 12"/>
          <p:cNvSpPr>
            <a:spLocks noChangeShapeType="1"/>
          </p:cNvSpPr>
          <p:nvPr/>
        </p:nvSpPr>
        <p:spPr bwMode="auto">
          <a:xfrm flipH="1">
            <a:off x="6910388" y="410051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8" name="Rectangle 22"/>
          <p:cNvSpPr>
            <a:spLocks noChangeArrowheads="1"/>
          </p:cNvSpPr>
          <p:nvPr/>
        </p:nvSpPr>
        <p:spPr bwMode="auto">
          <a:xfrm>
            <a:off x="6746875" y="431641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  <a:endParaRPr lang="en-US" altLang="zh-CN" sz="2000" i="1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9" name="Group 99"/>
          <p:cNvGrpSpPr/>
          <p:nvPr/>
        </p:nvGrpSpPr>
        <p:grpSpPr bwMode="auto">
          <a:xfrm>
            <a:off x="4766310" y="3209542"/>
            <a:ext cx="954088" cy="636588"/>
            <a:chOff x="948" y="2750"/>
            <a:chExt cx="802" cy="534"/>
          </a:xfrm>
        </p:grpSpPr>
        <p:sp>
          <p:nvSpPr>
            <p:cNvPr id="75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4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0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6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7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8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srgbClr val="C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en-US" altLang="zh-CN" sz="12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任意多边形 2"/>
          <p:cNvSpPr/>
          <p:nvPr/>
        </p:nvSpPr>
        <p:spPr>
          <a:xfrm>
            <a:off x="5685473" y="2297345"/>
            <a:ext cx="439737" cy="1215158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63" name="Line 22"/>
          <p:cNvSpPr>
            <a:spLocks noChangeShapeType="1"/>
          </p:cNvSpPr>
          <p:nvPr/>
        </p:nvSpPr>
        <p:spPr bwMode="auto">
          <a:xfrm flipH="1">
            <a:off x="6764338" y="2714625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5" name="Line 22"/>
          <p:cNvSpPr>
            <a:spLocks noChangeShapeType="1"/>
          </p:cNvSpPr>
          <p:nvPr/>
        </p:nvSpPr>
        <p:spPr bwMode="auto">
          <a:xfrm flipH="1">
            <a:off x="6764338" y="2717800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6" name="Rectangle 7"/>
          <p:cNvSpPr>
            <a:spLocks noChangeArrowheads="1"/>
          </p:cNvSpPr>
          <p:nvPr/>
        </p:nvSpPr>
        <p:spPr bwMode="auto">
          <a:xfrm>
            <a:off x="3631035" y="936190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 b="0" kern="0">
              <a:solidFill>
                <a:srgbClr val="00000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69" name="Text Box 8"/>
          <p:cNvSpPr txBox="1">
            <a:spLocks noChangeArrowheads="1"/>
          </p:cNvSpPr>
          <p:nvPr/>
        </p:nvSpPr>
        <p:spPr bwMode="auto">
          <a:xfrm>
            <a:off x="3488900" y="528678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71" name="Text Box 12"/>
          <p:cNvSpPr txBox="1">
            <a:spLocks noChangeArrowheads="1"/>
          </p:cNvSpPr>
          <p:nvPr/>
        </p:nvSpPr>
        <p:spPr bwMode="auto">
          <a:xfrm>
            <a:off x="3114303" y="889464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cxnSp>
        <p:nvCxnSpPr>
          <p:cNvPr id="72" name="直接箭头连接符 71"/>
          <p:cNvCxnSpPr/>
          <p:nvPr/>
        </p:nvCxnSpPr>
        <p:spPr>
          <a:xfrm>
            <a:off x="4176459" y="1091938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组合 72"/>
          <p:cNvGrpSpPr/>
          <p:nvPr/>
        </p:nvGrpSpPr>
        <p:grpSpPr>
          <a:xfrm>
            <a:off x="3114303" y="1165884"/>
            <a:ext cx="1234705" cy="369332"/>
            <a:chOff x="2253243" y="950619"/>
            <a:chExt cx="1234705" cy="369332"/>
          </a:xfrm>
        </p:grpSpPr>
        <p:sp>
          <p:nvSpPr>
            <p:cNvPr id="76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77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8" name="组合 77"/>
          <p:cNvGrpSpPr/>
          <p:nvPr/>
        </p:nvGrpSpPr>
        <p:grpSpPr>
          <a:xfrm>
            <a:off x="3111421" y="1442249"/>
            <a:ext cx="1234705" cy="369332"/>
            <a:chOff x="2253243" y="950619"/>
            <a:chExt cx="1234705" cy="369332"/>
          </a:xfrm>
        </p:grpSpPr>
        <p:sp>
          <p:nvSpPr>
            <p:cNvPr id="7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8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4" name="组合 83"/>
          <p:cNvGrpSpPr/>
          <p:nvPr/>
        </p:nvGrpSpPr>
        <p:grpSpPr>
          <a:xfrm>
            <a:off x="4180523" y="1337231"/>
            <a:ext cx="519904" cy="1017841"/>
            <a:chOff x="3319463" y="1121966"/>
            <a:chExt cx="519904" cy="1017841"/>
          </a:xfrm>
        </p:grpSpPr>
        <p:cxnSp>
          <p:nvCxnSpPr>
            <p:cNvPr id="85" name="直接箭头连接符 84"/>
            <p:cNvCxnSpPr/>
            <p:nvPr/>
          </p:nvCxnSpPr>
          <p:spPr>
            <a:xfrm>
              <a:off x="3608785" y="1121966"/>
              <a:ext cx="230582" cy="101784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Freeform 56"/>
          <p:cNvSpPr/>
          <p:nvPr/>
        </p:nvSpPr>
        <p:spPr bwMode="auto">
          <a:xfrm rot="-511685">
            <a:off x="5671861" y="1614568"/>
            <a:ext cx="290707" cy="610954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81" name="组合 80"/>
          <p:cNvGrpSpPr/>
          <p:nvPr/>
        </p:nvGrpSpPr>
        <p:grpSpPr>
          <a:xfrm>
            <a:off x="4177641" y="1634887"/>
            <a:ext cx="522786" cy="1367885"/>
            <a:chOff x="3319463" y="1121966"/>
            <a:chExt cx="522786" cy="1367885"/>
          </a:xfrm>
        </p:grpSpPr>
        <p:cxnSp>
          <p:nvCxnSpPr>
            <p:cNvPr id="82" name="直接箭头连接符 81"/>
            <p:cNvCxnSpPr/>
            <p:nvPr/>
          </p:nvCxnSpPr>
          <p:spPr>
            <a:xfrm>
              <a:off x="3608785" y="1121966"/>
              <a:ext cx="233464" cy="13678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Rectangle 2"/>
          <p:cNvSpPr>
            <a:spLocks noGrp="1" noChangeArrowheads="1"/>
          </p:cNvSpPr>
          <p:nvPr/>
        </p:nvSpPr>
        <p:spPr>
          <a:xfrm>
            <a:off x="828040" y="-65405"/>
            <a:ext cx="2578735" cy="1016000"/>
          </a:xfrm>
          <a:prstGeom prst="rect">
            <a:avLst/>
          </a:prstGeom>
          <a:noFill/>
          <a:ln>
            <a:noFill/>
          </a:ln>
        </p:spPr>
        <p:txBody>
          <a:bodyPr vert="horz" wrap="square" lIns="68580" tIns="34290" rIns="68580" bIns="34290" numCol="1" anchor="ctr" anchorCtr="0" compatLnSpc="1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 baseline="0">
                <a:solidFill>
                  <a:srgbClr val="FFFFFF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eaLnBrk="1" hangingPunct="1"/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基于</a:t>
            </a:r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display</a:t>
            </a:r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表的非局部数据访问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bldLvl="0" animBg="1"/>
      <p:bldP spid="68" grpId="0"/>
      <p:bldP spid="3" grpId="0" bldLvl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258175" cy="4089399"/>
          </a:xfrm>
        </p:spPr>
        <p:txBody>
          <a:bodyPr/>
          <a:lstStyle/>
          <a:p>
            <a:pPr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每当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开始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一个新活动时都要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修改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display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表。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如果嵌套深度为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b="1" i="1" baseline="-25000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的过程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被调用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，并且栈中已存在嵌套深度为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b="1" i="1" baseline="-25000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的活动记录，则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的活动记录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要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保存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b="1" i="1" baseline="-25000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原来的值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，同时置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b="1" i="1" baseline="-25000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指向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的这个活动记录</a:t>
            </a:r>
            <a:endParaRPr lang="zh-CN" altLang="en-US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而当控制从新活动中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返回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时，又必须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恢复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display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表的状态</a:t>
            </a:r>
            <a:endParaRPr lang="zh-CN" altLang="en-US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当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返回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且它的活动记录出栈时，再将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b="1" i="1" baseline="-25000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恢复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为调用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之前的旧值即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 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活动记录中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保存的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b="1" i="1" baseline="-25000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endParaRPr lang="zh-CN" altLang="en-US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如果运行栈中存在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多个嵌套深度为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的过程的活动记录，则通过这些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保存的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就将它们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链接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在了一起，但是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始终指向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最接近栈顶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的且嵌套深度为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的活动记录</a:t>
            </a:r>
            <a:endParaRPr lang="zh-CN" altLang="en-US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display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表的维护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4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4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59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105475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05477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5478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6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  <a:alpha val="99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连接符 26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17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25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cxnSp>
        <p:nvCxnSpPr>
          <p:cNvPr id="3" name="直接箭头连接符 2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35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6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7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52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3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9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40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41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07522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450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450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07525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07526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7527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12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接连接符 12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99"/>
          <p:cNvGrpSpPr/>
          <p:nvPr/>
        </p:nvGrpSpPr>
        <p:grpSpPr bwMode="auto">
          <a:xfrm>
            <a:off x="3898900" y="1079645"/>
            <a:ext cx="923925" cy="647700"/>
            <a:chOff x="975" y="2750"/>
            <a:chExt cx="776" cy="544"/>
          </a:xfrm>
        </p:grpSpPr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28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7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9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32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cxnSp>
        <p:nvCxnSpPr>
          <p:cNvPr id="34" name="直接箭头连接符 33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组合 8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36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35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3319463" y="1121966"/>
            <a:ext cx="579437" cy="369094"/>
            <a:chOff x="3319463" y="1121966"/>
            <a:chExt cx="579437" cy="369094"/>
          </a:xfrm>
        </p:grpSpPr>
        <p:cxnSp>
          <p:nvCxnSpPr>
            <p:cNvPr id="39" name="直接箭头连接符 38"/>
            <p:cNvCxnSpPr/>
            <p:nvPr/>
          </p:nvCxnSpPr>
          <p:spPr>
            <a:xfrm>
              <a:off x="3608785" y="1121966"/>
              <a:ext cx="290115" cy="36909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/>
            <p:cNvCxnSpPr/>
            <p:nvPr/>
          </p:nvCxnSpPr>
          <p:spPr>
            <a:xfrm>
              <a:off x="3319463" y="1131590"/>
              <a:ext cx="28932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4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4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4500" grpId="0"/>
      <p:bldP spid="23450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8595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572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8597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506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599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601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 dirty="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577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957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09579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958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4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3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4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d[3]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4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 dirty="0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  <a:endParaRPr lang="en-US" altLang="zh-CN" sz="2000" i="1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6" name="Group 99"/>
          <p:cNvGrpSpPr/>
          <p:nvPr/>
        </p:nvGrpSpPr>
        <p:grpSpPr bwMode="auto">
          <a:xfrm>
            <a:off x="3905250" y="2365480"/>
            <a:ext cx="954088" cy="635000"/>
            <a:chOff x="948" y="2750"/>
            <a:chExt cx="802" cy="534"/>
          </a:xfrm>
        </p:grpSpPr>
        <p:sp>
          <p:nvSpPr>
            <p:cNvPr id="5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54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55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57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cxnSp>
        <p:nvCxnSpPr>
          <p:cNvPr id="58" name="直接箭头连接符 57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组合 58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60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61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5" name="组合 64"/>
          <p:cNvGrpSpPr/>
          <p:nvPr/>
        </p:nvGrpSpPr>
        <p:grpSpPr>
          <a:xfrm>
            <a:off x="3319463" y="1121966"/>
            <a:ext cx="579437" cy="369094"/>
            <a:chOff x="3319463" y="1121966"/>
            <a:chExt cx="579437" cy="369094"/>
          </a:xfrm>
        </p:grpSpPr>
        <p:cxnSp>
          <p:nvCxnSpPr>
            <p:cNvPr id="66" name="直接箭头连接符 65"/>
            <p:cNvCxnSpPr/>
            <p:nvPr/>
          </p:nvCxnSpPr>
          <p:spPr>
            <a:xfrm>
              <a:off x="3608785" y="1121966"/>
              <a:ext cx="290115" cy="36909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/>
            <p:cNvCxnSpPr/>
            <p:nvPr/>
          </p:nvCxnSpPr>
          <p:spPr>
            <a:xfrm>
              <a:off x="3319463" y="1131590"/>
              <a:ext cx="28644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/>
          <p:cNvGrpSpPr/>
          <p:nvPr/>
        </p:nvGrpSpPr>
        <p:grpSpPr>
          <a:xfrm>
            <a:off x="2250361" y="1226984"/>
            <a:ext cx="1234705" cy="369332"/>
            <a:chOff x="2253243" y="950619"/>
            <a:chExt cx="1234705" cy="369332"/>
          </a:xfrm>
        </p:grpSpPr>
        <p:sp>
          <p:nvSpPr>
            <p:cNvPr id="6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7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1" name="组合 70"/>
          <p:cNvGrpSpPr/>
          <p:nvPr/>
        </p:nvGrpSpPr>
        <p:grpSpPr>
          <a:xfrm>
            <a:off x="3316581" y="1419622"/>
            <a:ext cx="587479" cy="741476"/>
            <a:chOff x="3319463" y="1121966"/>
            <a:chExt cx="587479" cy="741476"/>
          </a:xfrm>
        </p:grpSpPr>
        <p:cxnSp>
          <p:nvCxnSpPr>
            <p:cNvPr id="72" name="直接箭头连接符 71"/>
            <p:cNvCxnSpPr/>
            <p:nvPr/>
          </p:nvCxnSpPr>
          <p:spPr>
            <a:xfrm>
              <a:off x="3608785" y="1121966"/>
              <a:ext cx="298157" cy="74147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/>
            <p:cNvCxnSpPr/>
            <p:nvPr/>
          </p:nvCxnSpPr>
          <p:spPr>
            <a:xfrm>
              <a:off x="3319463" y="1131590"/>
              <a:ext cx="28932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Freeform 56"/>
          <p:cNvSpPr/>
          <p:nvPr/>
        </p:nvSpPr>
        <p:spPr bwMode="auto">
          <a:xfrm rot="-511685">
            <a:off x="4788289" y="1485656"/>
            <a:ext cx="342604" cy="1187907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8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8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385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86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3" dur="500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8597" grpId="0" animBg="1"/>
      <p:bldP spid="238599" grpId="0" animBg="1"/>
      <p:bldP spid="238601" grpId="0"/>
      <p:bldP spid="43" grpId="0" animBg="1"/>
      <p:bldP spid="44" grpId="0"/>
      <p:bldP spid="7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8595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572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8597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506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599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601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577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957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09579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958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4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3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4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d[3]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4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 dirty="0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  <a:endParaRPr lang="en-US" altLang="zh-CN" sz="2000" i="1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6" name="Group 99"/>
          <p:cNvGrpSpPr/>
          <p:nvPr/>
        </p:nvGrpSpPr>
        <p:grpSpPr bwMode="auto">
          <a:xfrm>
            <a:off x="3905250" y="2365480"/>
            <a:ext cx="954088" cy="635000"/>
            <a:chOff x="948" y="2750"/>
            <a:chExt cx="802" cy="534"/>
          </a:xfrm>
        </p:grpSpPr>
        <p:sp>
          <p:nvSpPr>
            <p:cNvPr id="5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48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54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 b="0" kern="0">
              <a:solidFill>
                <a:srgbClr val="00000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55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57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cxnSp>
        <p:nvCxnSpPr>
          <p:cNvPr id="58" name="直接箭头连接符 57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组合 58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60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61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5" name="组合 64"/>
          <p:cNvGrpSpPr/>
          <p:nvPr/>
        </p:nvGrpSpPr>
        <p:grpSpPr>
          <a:xfrm>
            <a:off x="3319463" y="1121966"/>
            <a:ext cx="519904" cy="1665541"/>
            <a:chOff x="3319463" y="1121966"/>
            <a:chExt cx="519904" cy="1665541"/>
          </a:xfrm>
        </p:grpSpPr>
        <p:cxnSp>
          <p:nvCxnSpPr>
            <p:cNvPr id="66" name="直接箭头连接符 65"/>
            <p:cNvCxnSpPr/>
            <p:nvPr/>
          </p:nvCxnSpPr>
          <p:spPr>
            <a:xfrm>
              <a:off x="3608785" y="1121966"/>
              <a:ext cx="230582" cy="166554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/>
          <p:cNvGrpSpPr/>
          <p:nvPr/>
        </p:nvGrpSpPr>
        <p:grpSpPr>
          <a:xfrm>
            <a:off x="2250361" y="1226984"/>
            <a:ext cx="1234705" cy="369332"/>
            <a:chOff x="2253243" y="950619"/>
            <a:chExt cx="1234705" cy="369332"/>
          </a:xfrm>
        </p:grpSpPr>
        <p:sp>
          <p:nvSpPr>
            <p:cNvPr id="6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7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1" name="组合 70"/>
          <p:cNvGrpSpPr/>
          <p:nvPr/>
        </p:nvGrpSpPr>
        <p:grpSpPr>
          <a:xfrm>
            <a:off x="3316581" y="1407471"/>
            <a:ext cx="587479" cy="753627"/>
            <a:chOff x="3319463" y="1121966"/>
            <a:chExt cx="587479" cy="741476"/>
          </a:xfrm>
        </p:grpSpPr>
        <p:cxnSp>
          <p:nvCxnSpPr>
            <p:cNvPr id="72" name="直接箭头连接符 71"/>
            <p:cNvCxnSpPr/>
            <p:nvPr/>
          </p:nvCxnSpPr>
          <p:spPr>
            <a:xfrm>
              <a:off x="3608785" y="1121966"/>
              <a:ext cx="298157" cy="74147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Freeform 56"/>
          <p:cNvSpPr/>
          <p:nvPr/>
        </p:nvSpPr>
        <p:spPr bwMode="auto">
          <a:xfrm rot="-511685">
            <a:off x="4788289" y="1485656"/>
            <a:ext cx="342604" cy="1187907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8595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572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8597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506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599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601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577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957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09579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958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4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3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4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d[3]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4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 dirty="0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  <a:endParaRPr lang="en-US" altLang="zh-CN" sz="2000" i="1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6" name="Group 99"/>
          <p:cNvGrpSpPr/>
          <p:nvPr/>
        </p:nvGrpSpPr>
        <p:grpSpPr bwMode="auto">
          <a:xfrm>
            <a:off x="3905250" y="2365480"/>
            <a:ext cx="954088" cy="635000"/>
            <a:chOff x="948" y="2750"/>
            <a:chExt cx="802" cy="534"/>
          </a:xfrm>
        </p:grpSpPr>
        <p:sp>
          <p:nvSpPr>
            <p:cNvPr id="5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48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54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 b="0" kern="0">
              <a:solidFill>
                <a:srgbClr val="00000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55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57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cxnSp>
        <p:nvCxnSpPr>
          <p:cNvPr id="58" name="直接箭头连接符 57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组合 58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60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61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5" name="组合 64"/>
          <p:cNvGrpSpPr/>
          <p:nvPr/>
        </p:nvGrpSpPr>
        <p:grpSpPr>
          <a:xfrm>
            <a:off x="3319463" y="1121966"/>
            <a:ext cx="579437" cy="382333"/>
            <a:chOff x="3319463" y="1121966"/>
            <a:chExt cx="579437" cy="382333"/>
          </a:xfrm>
        </p:grpSpPr>
        <p:cxnSp>
          <p:nvCxnSpPr>
            <p:cNvPr id="66" name="直接箭头连接符 65"/>
            <p:cNvCxnSpPr/>
            <p:nvPr/>
          </p:nvCxnSpPr>
          <p:spPr>
            <a:xfrm>
              <a:off x="3608785" y="1121966"/>
              <a:ext cx="290115" cy="38233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/>
            <p:cNvCxnSpPr/>
            <p:nvPr/>
          </p:nvCxnSpPr>
          <p:spPr>
            <a:xfrm>
              <a:off x="3319463" y="1131590"/>
              <a:ext cx="28644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/>
          <p:cNvGrpSpPr/>
          <p:nvPr/>
        </p:nvGrpSpPr>
        <p:grpSpPr>
          <a:xfrm>
            <a:off x="2250361" y="1226984"/>
            <a:ext cx="1234705" cy="369332"/>
            <a:chOff x="2253243" y="950619"/>
            <a:chExt cx="1234705" cy="369332"/>
          </a:xfrm>
        </p:grpSpPr>
        <p:sp>
          <p:nvSpPr>
            <p:cNvPr id="6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7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1" name="组合 70"/>
          <p:cNvGrpSpPr/>
          <p:nvPr/>
        </p:nvGrpSpPr>
        <p:grpSpPr>
          <a:xfrm>
            <a:off x="3316581" y="1419622"/>
            <a:ext cx="587479" cy="741476"/>
            <a:chOff x="3319463" y="1121966"/>
            <a:chExt cx="587479" cy="741476"/>
          </a:xfrm>
        </p:grpSpPr>
        <p:cxnSp>
          <p:nvCxnSpPr>
            <p:cNvPr id="72" name="直接箭头连接符 71"/>
            <p:cNvCxnSpPr/>
            <p:nvPr/>
          </p:nvCxnSpPr>
          <p:spPr>
            <a:xfrm>
              <a:off x="3608785" y="1121966"/>
              <a:ext cx="298157" cy="74147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/>
            <p:cNvCxnSpPr/>
            <p:nvPr/>
          </p:nvCxnSpPr>
          <p:spPr>
            <a:xfrm>
              <a:off x="3319463" y="1131590"/>
              <a:ext cx="28932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Freeform 56"/>
          <p:cNvSpPr/>
          <p:nvPr/>
        </p:nvSpPr>
        <p:spPr bwMode="auto">
          <a:xfrm rot="-511685">
            <a:off x="4788289" y="1485656"/>
            <a:ext cx="342604" cy="1187907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8595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572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8597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506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599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601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577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957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09579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0958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4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3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4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d[3]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4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 dirty="0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  <a:endParaRPr lang="en-US" altLang="zh-CN" sz="2000" i="1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8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9" name="Line 22"/>
          <p:cNvSpPr>
            <a:spLocks noChangeShapeType="1"/>
          </p:cNvSpPr>
          <p:nvPr/>
        </p:nvSpPr>
        <p:spPr bwMode="auto">
          <a:xfrm flipH="1">
            <a:off x="5688013" y="2359025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54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 b="0" kern="0">
              <a:solidFill>
                <a:srgbClr val="00000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55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57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cxnSp>
        <p:nvCxnSpPr>
          <p:cNvPr id="58" name="直接箭头连接符 57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组合 58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60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61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8" name="组合 67"/>
          <p:cNvGrpSpPr/>
          <p:nvPr/>
        </p:nvGrpSpPr>
        <p:grpSpPr>
          <a:xfrm>
            <a:off x="2250361" y="1226984"/>
            <a:ext cx="1234705" cy="369332"/>
            <a:chOff x="2253243" y="950619"/>
            <a:chExt cx="1234705" cy="369332"/>
          </a:xfrm>
        </p:grpSpPr>
        <p:sp>
          <p:nvSpPr>
            <p:cNvPr id="6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7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1" name="组合 70"/>
          <p:cNvGrpSpPr/>
          <p:nvPr/>
        </p:nvGrpSpPr>
        <p:grpSpPr>
          <a:xfrm>
            <a:off x="3316581" y="1419622"/>
            <a:ext cx="587479" cy="741476"/>
            <a:chOff x="3319463" y="1121966"/>
            <a:chExt cx="587479" cy="741476"/>
          </a:xfrm>
        </p:grpSpPr>
        <p:cxnSp>
          <p:nvCxnSpPr>
            <p:cNvPr id="72" name="直接箭头连接符 71"/>
            <p:cNvCxnSpPr/>
            <p:nvPr/>
          </p:nvCxnSpPr>
          <p:spPr>
            <a:xfrm>
              <a:off x="3608785" y="1121966"/>
              <a:ext cx="298157" cy="74147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/>
            <p:cNvCxnSpPr/>
            <p:nvPr/>
          </p:nvCxnSpPr>
          <p:spPr>
            <a:xfrm>
              <a:off x="3319463" y="1131590"/>
              <a:ext cx="28932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组合 74"/>
          <p:cNvGrpSpPr/>
          <p:nvPr/>
        </p:nvGrpSpPr>
        <p:grpSpPr>
          <a:xfrm>
            <a:off x="3319463" y="1121966"/>
            <a:ext cx="579437" cy="387892"/>
            <a:chOff x="3319463" y="1121966"/>
            <a:chExt cx="579437" cy="382333"/>
          </a:xfrm>
        </p:grpSpPr>
        <p:cxnSp>
          <p:nvCxnSpPr>
            <p:cNvPr id="76" name="直接箭头连接符 75"/>
            <p:cNvCxnSpPr/>
            <p:nvPr/>
          </p:nvCxnSpPr>
          <p:spPr>
            <a:xfrm>
              <a:off x="3608785" y="1121966"/>
              <a:ext cx="290115" cy="38233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连接符 76"/>
            <p:cNvCxnSpPr/>
            <p:nvPr/>
          </p:nvCxnSpPr>
          <p:spPr>
            <a:xfrm>
              <a:off x="3319463" y="1131590"/>
              <a:ext cx="28644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19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2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21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6086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44744" name="Line 23"/>
          <p:cNvSpPr>
            <a:spLocks noChangeShapeType="1"/>
          </p:cNvSpPr>
          <p:nvPr/>
        </p:nvSpPr>
        <p:spPr bwMode="auto">
          <a:xfrm flipH="1">
            <a:off x="6735763" y="2357438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1625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46" name="Rectangle 25"/>
          <p:cNvSpPr>
            <a:spLocks noChangeArrowheads="1"/>
          </p:cNvSpPr>
          <p:nvPr/>
        </p:nvSpPr>
        <p:spPr bwMode="auto">
          <a:xfrm>
            <a:off x="6300788" y="2709863"/>
            <a:ext cx="965200" cy="53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29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1163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1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2" name="直接连接符 21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631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30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0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1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2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11632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11633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54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3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9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62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 eaLnBrk="1" hangingPunct="1">
              <a:defRPr/>
            </a:pPr>
            <a:endParaRPr lang="zh-CN" altLang="en-US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111637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  <a:endParaRPr lang="en-US" altLang="zh-CN" sz="2000" i="1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63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5" name="Line 22"/>
          <p:cNvSpPr>
            <a:spLocks noChangeShapeType="1"/>
          </p:cNvSpPr>
          <p:nvPr/>
        </p:nvSpPr>
        <p:spPr bwMode="auto">
          <a:xfrm flipH="1">
            <a:off x="5688013" y="2359025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6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 b="0" kern="0">
              <a:solidFill>
                <a:srgbClr val="00000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69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71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cxnSp>
        <p:nvCxnSpPr>
          <p:cNvPr id="72" name="直接箭头连接符 71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组合 72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76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77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8" name="组合 77"/>
          <p:cNvGrpSpPr/>
          <p:nvPr/>
        </p:nvGrpSpPr>
        <p:grpSpPr>
          <a:xfrm>
            <a:off x="2250361" y="1226984"/>
            <a:ext cx="1234705" cy="369332"/>
            <a:chOff x="2253243" y="950619"/>
            <a:chExt cx="1234705" cy="369332"/>
          </a:xfrm>
        </p:grpSpPr>
        <p:sp>
          <p:nvSpPr>
            <p:cNvPr id="7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8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4" name="组合 83"/>
          <p:cNvGrpSpPr/>
          <p:nvPr/>
        </p:nvGrpSpPr>
        <p:grpSpPr>
          <a:xfrm>
            <a:off x="3319463" y="1121966"/>
            <a:ext cx="579437" cy="382333"/>
            <a:chOff x="3319463" y="1121966"/>
            <a:chExt cx="579437" cy="382333"/>
          </a:xfrm>
        </p:grpSpPr>
        <p:cxnSp>
          <p:nvCxnSpPr>
            <p:cNvPr id="85" name="直接箭头连接符 84"/>
            <p:cNvCxnSpPr/>
            <p:nvPr/>
          </p:nvCxnSpPr>
          <p:spPr>
            <a:xfrm>
              <a:off x="3608785" y="1121966"/>
              <a:ext cx="290115" cy="38233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/>
            <p:cNvCxnSpPr/>
            <p:nvPr/>
          </p:nvCxnSpPr>
          <p:spPr>
            <a:xfrm>
              <a:off x="3319463" y="1131590"/>
              <a:ext cx="28932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Freeform 56"/>
          <p:cNvSpPr/>
          <p:nvPr/>
        </p:nvSpPr>
        <p:spPr bwMode="auto">
          <a:xfrm rot="-511685">
            <a:off x="4810801" y="1399303"/>
            <a:ext cx="290707" cy="610954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47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4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744" grpId="0" animBg="1"/>
      <p:bldP spid="244746" grpId="0"/>
      <p:bldP spid="8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19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2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21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6086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44744" name="Line 23"/>
          <p:cNvSpPr>
            <a:spLocks noChangeShapeType="1"/>
          </p:cNvSpPr>
          <p:nvPr/>
        </p:nvSpPr>
        <p:spPr bwMode="auto">
          <a:xfrm flipH="1">
            <a:off x="6735763" y="2357438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1625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46" name="Rectangle 25"/>
          <p:cNvSpPr>
            <a:spLocks noChangeArrowheads="1"/>
          </p:cNvSpPr>
          <p:nvPr/>
        </p:nvSpPr>
        <p:spPr bwMode="auto">
          <a:xfrm>
            <a:off x="6300788" y="2709863"/>
            <a:ext cx="965200" cy="53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 dirty="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49" name="Rectangle 28"/>
          <p:cNvSpPr>
            <a:spLocks noChangeArrowheads="1"/>
          </p:cNvSpPr>
          <p:nvPr/>
        </p:nvSpPr>
        <p:spPr bwMode="auto">
          <a:xfrm>
            <a:off x="5621338" y="3419475"/>
            <a:ext cx="96678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 dirty="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50" name="Line 29"/>
          <p:cNvSpPr>
            <a:spLocks noChangeShapeType="1"/>
          </p:cNvSpPr>
          <p:nvPr/>
        </p:nvSpPr>
        <p:spPr bwMode="auto">
          <a:xfrm flipH="1">
            <a:off x="5899150" y="3055938"/>
            <a:ext cx="601663" cy="4445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1629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1163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1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2" name="直接连接符 21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631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30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0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1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2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11632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11633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54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3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9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Group 99"/>
          <p:cNvGrpSpPr/>
          <p:nvPr/>
        </p:nvGrpSpPr>
        <p:grpSpPr bwMode="auto">
          <a:xfrm>
            <a:off x="3905250" y="2365480"/>
            <a:ext cx="954088" cy="635000"/>
            <a:chOff x="948" y="2750"/>
            <a:chExt cx="802" cy="534"/>
          </a:xfrm>
        </p:grpSpPr>
        <p:sp>
          <p:nvSpPr>
            <p:cNvPr id="6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6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d[3]</a:t>
              </a:r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62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 eaLnBrk="1" hangingPunct="1">
              <a:defRPr/>
            </a:pPr>
            <a:endParaRPr lang="zh-CN" altLang="en-US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111637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  <a:endParaRPr lang="en-US" altLang="zh-CN" sz="2000" i="1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67" name="Line 12"/>
          <p:cNvSpPr>
            <a:spLocks noChangeShapeType="1"/>
          </p:cNvSpPr>
          <p:nvPr/>
        </p:nvSpPr>
        <p:spPr bwMode="auto">
          <a:xfrm flipH="1">
            <a:off x="5834063" y="3741738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8" name="Rectangle 22"/>
          <p:cNvSpPr>
            <a:spLocks noChangeArrowheads="1"/>
          </p:cNvSpPr>
          <p:nvPr/>
        </p:nvSpPr>
        <p:spPr bwMode="auto">
          <a:xfrm>
            <a:off x="5670550" y="3957638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  <a:endParaRPr lang="en-US" altLang="zh-CN" sz="2000" i="1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9" name="Group 99"/>
          <p:cNvGrpSpPr/>
          <p:nvPr/>
        </p:nvGrpSpPr>
        <p:grpSpPr bwMode="auto">
          <a:xfrm>
            <a:off x="3905250" y="2991637"/>
            <a:ext cx="954088" cy="636588"/>
            <a:chOff x="948" y="2750"/>
            <a:chExt cx="802" cy="534"/>
          </a:xfrm>
        </p:grpSpPr>
        <p:sp>
          <p:nvSpPr>
            <p:cNvPr id="75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4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0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6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7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8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任意多边形 2"/>
          <p:cNvSpPr/>
          <p:nvPr/>
        </p:nvSpPr>
        <p:spPr>
          <a:xfrm>
            <a:off x="4824413" y="2082080"/>
            <a:ext cx="439737" cy="1215158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63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5" name="Line 22"/>
          <p:cNvSpPr>
            <a:spLocks noChangeShapeType="1"/>
          </p:cNvSpPr>
          <p:nvPr/>
        </p:nvSpPr>
        <p:spPr bwMode="auto">
          <a:xfrm flipH="1">
            <a:off x="5688013" y="2359025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6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 b="0" kern="0">
              <a:solidFill>
                <a:srgbClr val="00000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69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71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cxnSp>
        <p:nvCxnSpPr>
          <p:cNvPr id="72" name="直接箭头连接符 71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组合 72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76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77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8" name="组合 77"/>
          <p:cNvGrpSpPr/>
          <p:nvPr/>
        </p:nvGrpSpPr>
        <p:grpSpPr>
          <a:xfrm>
            <a:off x="2250361" y="1226984"/>
            <a:ext cx="1234705" cy="369332"/>
            <a:chOff x="2253243" y="950619"/>
            <a:chExt cx="1234705" cy="369332"/>
          </a:xfrm>
        </p:grpSpPr>
        <p:sp>
          <p:nvSpPr>
            <p:cNvPr id="7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8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4" name="组合 83"/>
          <p:cNvGrpSpPr/>
          <p:nvPr/>
        </p:nvGrpSpPr>
        <p:grpSpPr>
          <a:xfrm>
            <a:off x="3319463" y="1121966"/>
            <a:ext cx="519904" cy="1017841"/>
            <a:chOff x="3319463" y="1121966"/>
            <a:chExt cx="519904" cy="1017841"/>
          </a:xfrm>
        </p:grpSpPr>
        <p:cxnSp>
          <p:nvCxnSpPr>
            <p:cNvPr id="85" name="直接箭头连接符 84"/>
            <p:cNvCxnSpPr/>
            <p:nvPr/>
          </p:nvCxnSpPr>
          <p:spPr>
            <a:xfrm>
              <a:off x="3608785" y="1121966"/>
              <a:ext cx="230582" cy="101784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Freeform 56"/>
          <p:cNvSpPr/>
          <p:nvPr/>
        </p:nvSpPr>
        <p:spPr bwMode="auto">
          <a:xfrm rot="-511685">
            <a:off x="4810801" y="1399303"/>
            <a:ext cx="290707" cy="610954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81" name="组合 80"/>
          <p:cNvGrpSpPr/>
          <p:nvPr/>
        </p:nvGrpSpPr>
        <p:grpSpPr>
          <a:xfrm>
            <a:off x="3316581" y="1419622"/>
            <a:ext cx="522786" cy="1367885"/>
            <a:chOff x="3319463" y="1121966"/>
            <a:chExt cx="522786" cy="1367885"/>
          </a:xfrm>
        </p:grpSpPr>
        <p:cxnSp>
          <p:nvCxnSpPr>
            <p:cNvPr id="82" name="直接箭头连接符 81"/>
            <p:cNvCxnSpPr/>
            <p:nvPr/>
          </p:nvCxnSpPr>
          <p:spPr>
            <a:xfrm>
              <a:off x="3608785" y="1121966"/>
              <a:ext cx="233464" cy="13678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47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44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1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749" grpId="0"/>
      <p:bldP spid="244750" grpId="0" animBg="1"/>
      <p:bldP spid="67" grpId="0" animBg="1"/>
      <p:bldP spid="68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19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2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endParaRPr lang="en-US" altLang="zh-CN" sz="1800" i="1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1621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6086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44744" name="Line 23"/>
          <p:cNvSpPr>
            <a:spLocks noChangeShapeType="1"/>
          </p:cNvSpPr>
          <p:nvPr/>
        </p:nvSpPr>
        <p:spPr bwMode="auto">
          <a:xfrm flipH="1">
            <a:off x="6735763" y="2357438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1625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  <a:endParaRPr lang="en-US" altLang="zh-CN" sz="180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46" name="Rectangle 25"/>
          <p:cNvSpPr>
            <a:spLocks noChangeArrowheads="1"/>
          </p:cNvSpPr>
          <p:nvPr/>
        </p:nvSpPr>
        <p:spPr bwMode="auto">
          <a:xfrm>
            <a:off x="6300788" y="2709863"/>
            <a:ext cx="965200" cy="53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 dirty="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49" name="Rectangle 28"/>
          <p:cNvSpPr>
            <a:spLocks noChangeArrowheads="1"/>
          </p:cNvSpPr>
          <p:nvPr/>
        </p:nvSpPr>
        <p:spPr bwMode="auto">
          <a:xfrm>
            <a:off x="5621338" y="3419475"/>
            <a:ext cx="96678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  <a:endParaRPr lang="en-US" altLang="zh-CN" sz="1800" dirty="0">
              <a:solidFill>
                <a:srgbClr val="000000"/>
              </a:solidFill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4750" name="Line 29"/>
          <p:cNvSpPr>
            <a:spLocks noChangeShapeType="1"/>
          </p:cNvSpPr>
          <p:nvPr/>
        </p:nvSpPr>
        <p:spPr bwMode="auto">
          <a:xfrm flipH="1">
            <a:off x="5899150" y="3055938"/>
            <a:ext cx="601663" cy="4445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1629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1163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1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  <a:endPara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2" name="直接连接符 21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631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30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0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1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2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11632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endParaRPr lang="zh-CN" altLang="en-US" sz="2700">
              <a:solidFill>
                <a:srgbClr val="2D83F4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11633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54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3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9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Group 99"/>
          <p:cNvGrpSpPr/>
          <p:nvPr/>
        </p:nvGrpSpPr>
        <p:grpSpPr bwMode="auto">
          <a:xfrm>
            <a:off x="3905250" y="2365480"/>
            <a:ext cx="954088" cy="635000"/>
            <a:chOff x="948" y="2750"/>
            <a:chExt cx="802" cy="534"/>
          </a:xfrm>
        </p:grpSpPr>
        <p:sp>
          <p:nvSpPr>
            <p:cNvPr id="6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6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d[3]</a:t>
              </a:r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62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 eaLnBrk="1" hangingPunct="1">
              <a:defRPr/>
            </a:pPr>
            <a:endParaRPr lang="zh-CN" altLang="en-US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111637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  <a:endParaRPr lang="en-US" altLang="zh-CN" sz="2000" i="1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67" name="Line 12"/>
          <p:cNvSpPr>
            <a:spLocks noChangeShapeType="1"/>
          </p:cNvSpPr>
          <p:nvPr/>
        </p:nvSpPr>
        <p:spPr bwMode="auto">
          <a:xfrm flipH="1">
            <a:off x="5834063" y="3741738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8" name="Rectangle 22"/>
          <p:cNvSpPr>
            <a:spLocks noChangeArrowheads="1"/>
          </p:cNvSpPr>
          <p:nvPr/>
        </p:nvSpPr>
        <p:spPr bwMode="auto">
          <a:xfrm>
            <a:off x="5670550" y="3957638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  <a:endParaRPr lang="en-US" altLang="zh-CN" sz="2000" i="1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9" name="Group 99"/>
          <p:cNvGrpSpPr/>
          <p:nvPr/>
        </p:nvGrpSpPr>
        <p:grpSpPr bwMode="auto">
          <a:xfrm>
            <a:off x="3905250" y="2991637"/>
            <a:ext cx="954088" cy="636588"/>
            <a:chOff x="948" y="2750"/>
            <a:chExt cx="802" cy="534"/>
          </a:xfrm>
        </p:grpSpPr>
        <p:sp>
          <p:nvSpPr>
            <p:cNvPr id="75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4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0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6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7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8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任意多边形 2"/>
          <p:cNvSpPr/>
          <p:nvPr/>
        </p:nvSpPr>
        <p:spPr>
          <a:xfrm>
            <a:off x="4824413" y="2082080"/>
            <a:ext cx="439737" cy="1215158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63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5" name="Line 22"/>
          <p:cNvSpPr>
            <a:spLocks noChangeShapeType="1"/>
          </p:cNvSpPr>
          <p:nvPr/>
        </p:nvSpPr>
        <p:spPr bwMode="auto">
          <a:xfrm flipH="1">
            <a:off x="5688013" y="2359025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6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 b="0" kern="0">
              <a:solidFill>
                <a:srgbClr val="00000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69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71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cxnSp>
        <p:nvCxnSpPr>
          <p:cNvPr id="72" name="直接箭头连接符 71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组合 72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76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77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8" name="组合 77"/>
          <p:cNvGrpSpPr/>
          <p:nvPr/>
        </p:nvGrpSpPr>
        <p:grpSpPr>
          <a:xfrm>
            <a:off x="2250361" y="1226984"/>
            <a:ext cx="1234705" cy="369332"/>
            <a:chOff x="2253243" y="950619"/>
            <a:chExt cx="1234705" cy="369332"/>
          </a:xfrm>
        </p:grpSpPr>
        <p:sp>
          <p:nvSpPr>
            <p:cNvPr id="7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  <a:endPara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8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4" name="组合 83"/>
          <p:cNvGrpSpPr/>
          <p:nvPr/>
        </p:nvGrpSpPr>
        <p:grpSpPr>
          <a:xfrm>
            <a:off x="3319463" y="1121966"/>
            <a:ext cx="519904" cy="2314321"/>
            <a:chOff x="3319463" y="1121966"/>
            <a:chExt cx="519904" cy="2314321"/>
          </a:xfrm>
        </p:grpSpPr>
        <p:cxnSp>
          <p:nvCxnSpPr>
            <p:cNvPr id="85" name="直接箭头连接符 84"/>
            <p:cNvCxnSpPr/>
            <p:nvPr/>
          </p:nvCxnSpPr>
          <p:spPr>
            <a:xfrm>
              <a:off x="3608785" y="1121966"/>
              <a:ext cx="230582" cy="23143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Freeform 56"/>
          <p:cNvSpPr/>
          <p:nvPr/>
        </p:nvSpPr>
        <p:spPr bwMode="auto">
          <a:xfrm rot="-511685">
            <a:off x="4810801" y="1399303"/>
            <a:ext cx="290707" cy="610954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81" name="组合 80"/>
          <p:cNvGrpSpPr/>
          <p:nvPr/>
        </p:nvGrpSpPr>
        <p:grpSpPr>
          <a:xfrm>
            <a:off x="3316581" y="1419622"/>
            <a:ext cx="522786" cy="1367885"/>
            <a:chOff x="3319463" y="1121966"/>
            <a:chExt cx="522786" cy="1367885"/>
          </a:xfrm>
        </p:grpSpPr>
        <p:cxnSp>
          <p:nvCxnSpPr>
            <p:cNvPr id="82" name="直接箭头连接符 81"/>
            <p:cNvCxnSpPr/>
            <p:nvPr/>
          </p:nvCxnSpPr>
          <p:spPr>
            <a:xfrm>
              <a:off x="3608785" y="1121966"/>
              <a:ext cx="233464" cy="13678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sz="1800" b="1" dirty="0"/>
              <a:t>设有如下的 </a:t>
            </a:r>
            <a:r>
              <a:rPr lang="en-US" altLang="zh-CN" sz="1800" b="1" dirty="0"/>
              <a:t>Pascal</a:t>
            </a:r>
            <a:r>
              <a:rPr lang="zh-CN" altLang="en-US" sz="1800" b="1" dirty="0"/>
              <a:t>程序：</a:t>
            </a:r>
            <a:endParaRPr lang="zh-CN" altLang="en-US" sz="1800" b="1" dirty="0"/>
          </a:p>
          <a:p>
            <a:pPr marL="0" indent="0">
              <a:buNone/>
            </a:pPr>
            <a:r>
              <a:rPr lang="en-US" altLang="zh-CN" sz="1600" b="1" dirty="0"/>
              <a:t>program main( input, output)</a:t>
            </a:r>
            <a:r>
              <a:rPr lang="zh-CN" altLang="en-US" sz="1600" b="1" dirty="0"/>
              <a:t>；</a:t>
            </a:r>
            <a:endParaRPr lang="en-US" altLang="zh-CN" sz="1600" b="1" dirty="0"/>
          </a:p>
          <a:p>
            <a:pPr marL="0" indent="0">
              <a:buNone/>
            </a:pPr>
            <a:r>
              <a:rPr lang="en-US" altLang="zh-CN" sz="1600" b="1" dirty="0"/>
              <a:t>	var k: integer; </a:t>
            </a:r>
            <a:endParaRPr lang="en-US" altLang="zh-CN" sz="1600" b="1" dirty="0"/>
          </a:p>
          <a:p>
            <a:pPr marL="0" indent="0">
              <a:buNone/>
            </a:pPr>
            <a:r>
              <a:rPr lang="en-US" altLang="zh-CN" sz="1600" b="1" dirty="0"/>
              <a:t>	function f(n: integer): integer;</a:t>
            </a:r>
            <a:endParaRPr lang="en-US" altLang="zh-CN" sz="1600" b="1" dirty="0"/>
          </a:p>
          <a:p>
            <a:pPr marL="0" indent="0">
              <a:buNone/>
            </a:pPr>
            <a:r>
              <a:rPr lang="en-US" altLang="zh-CN" sz="1600" b="1" dirty="0"/>
              <a:t>		begin if n &lt;=0 then f: =1 else f:=n* f(n-1) end; </a:t>
            </a:r>
            <a:endParaRPr lang="en-US" altLang="zh-CN" sz="1600" b="1" dirty="0"/>
          </a:p>
          <a:p>
            <a:pPr marL="0" indent="0">
              <a:buNone/>
            </a:pPr>
            <a:r>
              <a:rPr lang="en-US" altLang="zh-CN" sz="1600" b="1" dirty="0"/>
              <a:t>	begin</a:t>
            </a:r>
            <a:endParaRPr lang="en-US" altLang="zh-CN" sz="1600" b="1" dirty="0"/>
          </a:p>
          <a:p>
            <a:pPr marL="0" indent="0">
              <a:buNone/>
            </a:pPr>
            <a:r>
              <a:rPr lang="en-US" altLang="zh-CN" sz="1600" b="1" dirty="0"/>
              <a:t>		k:</a:t>
            </a:r>
            <a:r>
              <a:rPr lang="zh-CN" altLang="en-US" sz="1600" b="1" dirty="0"/>
              <a:t>＝</a:t>
            </a:r>
            <a:r>
              <a:rPr lang="en-US" altLang="zh-CN" sz="1600" b="1" dirty="0"/>
              <a:t>f(10);</a:t>
            </a:r>
            <a:endParaRPr lang="en-US" altLang="zh-CN" sz="1600" b="1" dirty="0"/>
          </a:p>
          <a:p>
            <a:pPr marL="0" indent="0">
              <a:buNone/>
            </a:pPr>
            <a:r>
              <a:rPr lang="en-US" altLang="zh-CN" sz="1600" b="1" dirty="0"/>
              <a:t>		</a:t>
            </a:r>
            <a:r>
              <a:rPr lang="en-US" altLang="zh-CN" sz="1600" b="1" dirty="0" err="1"/>
              <a:t>writeln</a:t>
            </a:r>
            <a:r>
              <a:rPr lang="en-US" altLang="zh-CN" sz="1600" b="1" dirty="0"/>
              <a:t>(</a:t>
            </a:r>
            <a:r>
              <a:rPr lang="en-US" altLang="zh-CN" sz="1600" b="1"/>
              <a:t>k);</a:t>
            </a:r>
            <a:endParaRPr lang="en-US" altLang="zh-CN" sz="1600" b="1" dirty="0"/>
          </a:p>
          <a:p>
            <a:pPr marL="0" indent="0">
              <a:buNone/>
            </a:pPr>
            <a:r>
              <a:rPr lang="en-US" altLang="zh-CN" sz="1600" b="1" dirty="0"/>
              <a:t>	end</a:t>
            </a:r>
            <a:endParaRPr lang="en-US" altLang="zh-CN" sz="1600" b="1" dirty="0"/>
          </a:p>
          <a:p>
            <a:pPr marL="0" indent="0">
              <a:buNone/>
            </a:pPr>
            <a:r>
              <a:rPr lang="en-US" altLang="zh-CN" sz="1600" b="1" dirty="0"/>
              <a:t>(1)</a:t>
            </a:r>
            <a:r>
              <a:rPr lang="zh-CN" altLang="en-US" sz="1600" b="1" dirty="0"/>
              <a:t>若采用访问链存取非局部名字，当第</a:t>
            </a:r>
            <a:r>
              <a:rPr lang="en-US" altLang="zh-CN" sz="1600" b="1" dirty="0"/>
              <a:t>3</a:t>
            </a:r>
            <a:r>
              <a:rPr lang="zh-CN" altLang="en-US" sz="1600" b="1" dirty="0"/>
              <a:t>次</a:t>
            </a:r>
            <a:r>
              <a:rPr lang="en-US" altLang="zh-CN" sz="1600" b="1" dirty="0"/>
              <a:t>(</a:t>
            </a:r>
            <a:r>
              <a:rPr lang="zh-CN" altLang="en-US" sz="1600" b="1" dirty="0"/>
              <a:t>递归地</a:t>
            </a:r>
            <a:r>
              <a:rPr lang="en-US" altLang="zh-CN" sz="1600" b="1" dirty="0"/>
              <a:t>)</a:t>
            </a:r>
            <a:r>
              <a:rPr lang="zh-CN" altLang="en-US" sz="1600" b="1" dirty="0"/>
              <a:t>进入后，试绘制运行栈中的活动记录示意图</a:t>
            </a:r>
            <a:r>
              <a:rPr lang="en-US" altLang="zh-CN" sz="1600" b="1" dirty="0"/>
              <a:t>(</a:t>
            </a:r>
            <a:r>
              <a:rPr lang="zh-CN" altLang="en-US" sz="1600" b="1" dirty="0"/>
              <a:t>至少标示活动名称，画出访问链和控制链及其指向的活动记录</a:t>
            </a:r>
            <a:r>
              <a:rPr lang="en-US" altLang="zh-CN" sz="1600" b="1" dirty="0"/>
              <a:t>)</a:t>
            </a:r>
            <a:r>
              <a:rPr lang="zh-CN" altLang="en-US" sz="1600" b="1" dirty="0"/>
              <a:t>。</a:t>
            </a:r>
            <a:endParaRPr lang="zh-CN" altLang="en-US" sz="1600" b="1" dirty="0"/>
          </a:p>
          <a:p>
            <a:pPr marL="0" indent="0">
              <a:buNone/>
            </a:pPr>
            <a:r>
              <a:rPr lang="en-US" altLang="zh-CN" sz="1600" b="1" dirty="0"/>
              <a:t>(2) </a:t>
            </a:r>
            <a:r>
              <a:rPr lang="zh-CN" altLang="en-US" sz="1600" b="1" dirty="0"/>
              <a:t>若采用 </a:t>
            </a:r>
            <a:r>
              <a:rPr lang="en-US" altLang="zh-CN" sz="1600" b="1" dirty="0"/>
              <a:t>display</a:t>
            </a:r>
            <a:r>
              <a:rPr lang="zh-CN" altLang="en-US" sz="1600" b="1" dirty="0"/>
              <a:t>表方式实现非局部数据的访问，参考教材图</a:t>
            </a:r>
            <a:r>
              <a:rPr lang="en-US" altLang="zh-CN" sz="1600" b="1" dirty="0"/>
              <a:t>7-14</a:t>
            </a:r>
            <a:r>
              <a:rPr lang="zh-CN" altLang="en-US" sz="1600" b="1" dirty="0"/>
              <a:t>重做</a:t>
            </a:r>
            <a:r>
              <a:rPr lang="en-US" altLang="zh-CN" sz="1600" b="1" dirty="0"/>
              <a:t>(1)</a:t>
            </a:r>
            <a:r>
              <a:rPr lang="zh-CN" altLang="en-US" sz="1600" b="1" dirty="0"/>
              <a:t>。</a:t>
            </a:r>
            <a:endParaRPr lang="zh-CN" altLang="en-US" sz="1600" b="1" dirty="0"/>
          </a:p>
          <a:p>
            <a:endParaRPr lang="zh-CN" altLang="en-US" sz="1600" b="1" dirty="0"/>
          </a:p>
        </p:txBody>
      </p:sp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练习</a:t>
            </a:r>
            <a:endParaRPr lang="zh-CN" altLang="en-US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  <a:sym typeface="+mn-ea"/>
              </a:rPr>
              <a:t>7.4 </a:t>
            </a:r>
            <a:r>
              <a:rPr lang="zh-CN" altLang="en-US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  <a:sym typeface="+mn-ea"/>
              </a:rPr>
              <a:t>非局部数据的访问小结</a:t>
            </a:r>
            <a:endParaRPr lang="zh-CN" altLang="en-US"/>
          </a:p>
        </p:txBody>
      </p:sp>
      <p:graphicFrame>
        <p:nvGraphicFramePr>
          <p:cNvPr id="4" name="表格 3"/>
          <p:cNvGraphicFramePr/>
          <p:nvPr/>
        </p:nvGraphicFramePr>
        <p:xfrm>
          <a:off x="640080" y="1270635"/>
          <a:ext cx="7863840" cy="0"/>
        </p:xfrm>
        <a:graphic>
          <a:graphicData uri="http://schemas.openxmlformats.org/drawingml/2006/table">
            <a:tbl>
              <a:tblPr/>
              <a:tblGrid>
                <a:gridCol w="1884680"/>
                <a:gridCol w="2764155"/>
                <a:gridCol w="3215005"/>
              </a:tblGrid>
              <a:tr h="0">
                <a:tc>
                  <a:txBody>
                    <a:bodyPr/>
                    <a:p>
                      <a:pPr algn="ctr"/>
                      <a:r>
                        <a:rPr lang="zh-CN" altLang="en-US" sz="1800" b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对比项</a:t>
                      </a:r>
                      <a:endParaRPr lang="zh-CN" altLang="en-US" sz="1800" b="1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访问链（静态链）</a:t>
                      </a:r>
                      <a:endParaRPr lang="zh-CN" altLang="en-US" sz="1800" b="1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>
                          <a:latin typeface="黑体" panose="02010609060101010101" pitchFamily="49" charset="-122"/>
                          <a:ea typeface="黑体" panose="02010609060101010101" pitchFamily="49" charset="-122"/>
                          <a:cs typeface="黑体" panose="02010609060101010101" pitchFamily="49" charset="-122"/>
                        </a:rPr>
                        <a:t>显示表（</a:t>
                      </a:r>
                      <a:r>
                        <a:rPr lang="en-US" altLang="zh-CN" sz="1800" b="1">
                          <a:latin typeface="黑体" panose="02010609060101010101" pitchFamily="49" charset="-122"/>
                          <a:ea typeface="黑体" panose="02010609060101010101" pitchFamily="49" charset="-122"/>
                          <a:cs typeface="黑体" panose="02010609060101010101" pitchFamily="49" charset="-122"/>
                        </a:rPr>
                        <a:t>Display</a:t>
                      </a:r>
                      <a:r>
                        <a:rPr lang="zh-CN" altLang="en-US" sz="1800" b="1">
                          <a:latin typeface="黑体" panose="02010609060101010101" pitchFamily="49" charset="-122"/>
                          <a:ea typeface="黑体" panose="02010609060101010101" pitchFamily="49" charset="-122"/>
                          <a:cs typeface="黑体" panose="02010609060101010101" pitchFamily="49" charset="-122"/>
                        </a:rPr>
                        <a:t>）</a:t>
                      </a:r>
                      <a:endParaRPr lang="zh-CN" altLang="en-US" sz="1800" b="1">
                        <a:latin typeface="黑体" panose="02010609060101010101" pitchFamily="49" charset="-122"/>
                        <a:ea typeface="黑体" panose="02010609060101010101" pitchFamily="49" charset="-122"/>
                        <a:cs typeface="黑体" panose="02010609060101010101" pitchFamily="49" charset="-122"/>
                      </a:endParaRPr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寻址方式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逐层链式查找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数组直接索引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寻址速度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慢，嵌套越深越慢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快，</a:t>
                      </a:r>
                      <a:r>
                        <a:rPr lang="en-US" altLang="zh-CN" sz="1800" b="1"/>
                        <a:t>O(1) </a:t>
                      </a:r>
                      <a:r>
                        <a:rPr lang="zh-CN" altLang="en-US" sz="1800" b="1"/>
                        <a:t>固定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维护开销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小，仅维护指针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大，调用返回需更新数组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空间开销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小（单指针）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略大（数组）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嵌套限制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无限制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受最大深度限制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核心特点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结构简单、效率低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/>
                        <a:t>效率高、维护略显复杂</a:t>
                      </a:r>
                      <a:endParaRPr lang="zh-CN" altLang="en-US" sz="1800" b="1"/>
                    </a:p>
                  </a:txBody>
                  <a:tcPr marL="51117" marR="51117" marT="51117" marB="51117" anchor="ctr" anchorCtr="0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611505" y="4011930"/>
            <a:ext cx="7908925" cy="58356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1600"/>
              <a:t>Python</a:t>
            </a:r>
            <a:r>
              <a:rPr lang="zh-CN" altLang="en-US" sz="1600"/>
              <a:t>、</a:t>
            </a:r>
            <a:r>
              <a:rPr lang="en-US" altLang="zh-CN" sz="1600"/>
              <a:t>C#</a:t>
            </a:r>
            <a:r>
              <a:rPr lang="zh-CN" altLang="en-US" sz="1600"/>
              <a:t>、</a:t>
            </a:r>
            <a:r>
              <a:rPr lang="en-US" altLang="zh-CN" sz="1600"/>
              <a:t>Go</a:t>
            </a:r>
            <a:r>
              <a:rPr lang="zh-CN" altLang="en-US" sz="1600"/>
              <a:t>、</a:t>
            </a:r>
            <a:r>
              <a:rPr lang="en-US" altLang="zh-CN" sz="1600"/>
              <a:t>JS</a:t>
            </a:r>
            <a:r>
              <a:rPr lang="zh-CN" altLang="en-US" sz="1600"/>
              <a:t>、</a:t>
            </a:r>
            <a:r>
              <a:rPr lang="en-US" altLang="zh-CN" sz="1600"/>
              <a:t>Lua → </a:t>
            </a:r>
            <a:r>
              <a:rPr lang="zh-CN" altLang="en-US" sz="1600"/>
              <a:t>全都支持函数嵌套 </a:t>
            </a:r>
            <a:r>
              <a:rPr lang="en-US" altLang="zh-CN" sz="1600"/>
              <a:t>+ </a:t>
            </a:r>
            <a:r>
              <a:rPr lang="zh-CN" altLang="en-US" sz="1600"/>
              <a:t>静态作用域</a:t>
            </a:r>
            <a:endParaRPr lang="zh-CN" altLang="en-US" sz="1600"/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1600"/>
              <a:t>现代实现：</a:t>
            </a:r>
            <a:r>
              <a:rPr lang="en-US" altLang="zh-CN" sz="1600"/>
              <a:t>Display </a:t>
            </a:r>
            <a:r>
              <a:rPr lang="zh-CN" altLang="en-US" sz="1600"/>
              <a:t>设计思想</a:t>
            </a:r>
            <a:r>
              <a:rPr lang="en-US" altLang="zh-CN" sz="1600"/>
              <a:t> + </a:t>
            </a:r>
            <a:r>
              <a:rPr lang="zh-CN" altLang="en-US" sz="1600"/>
              <a:t>堆闭包环境</a:t>
            </a:r>
            <a:r>
              <a:rPr lang="en-US" altLang="zh-CN" sz="1600"/>
              <a:t> </a:t>
            </a:r>
            <a:r>
              <a:rPr lang="en-US" altLang="en-US" sz="1600"/>
              <a:t>→</a:t>
            </a:r>
            <a:r>
              <a:rPr lang="en-US" altLang="zh-CN" sz="1600"/>
              <a:t> </a:t>
            </a:r>
            <a:r>
              <a:rPr lang="zh-CN" altLang="en-US" sz="1600"/>
              <a:t>高效寻址</a:t>
            </a:r>
            <a:endParaRPr lang="zh-CN" altLang="en-US" sz="1600"/>
          </a:p>
        </p:txBody>
      </p:sp>
      <p:sp>
        <p:nvSpPr>
          <p:cNvPr id="8" name="文本框 7"/>
          <p:cNvSpPr txBox="1"/>
          <p:nvPr/>
        </p:nvSpPr>
        <p:spPr>
          <a:xfrm>
            <a:off x="2578735" y="850900"/>
            <a:ext cx="45015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访问链与</a:t>
            </a:r>
            <a:r>
              <a:rPr lang="en-US" altLang="zh-CN" sz="1600"/>
              <a:t>display</a:t>
            </a:r>
            <a:r>
              <a:rPr lang="zh-CN" altLang="en-US" sz="1600">
                <a:ea typeface="宋体" panose="02010600030101010101" pitchFamily="2" charset="-122"/>
              </a:rPr>
              <a:t>表实现非局部数据访问的对比</a:t>
            </a:r>
            <a:endParaRPr lang="zh-CN" altLang="en-US" sz="1600"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119811" name="矩形 7"/>
          <p:cNvSpPr>
            <a:spLocks noChangeArrowheads="1"/>
          </p:cNvSpPr>
          <p:nvPr/>
        </p:nvSpPr>
        <p:spPr bwMode="auto">
          <a:xfrm>
            <a:off x="4500563" y="1357313"/>
            <a:ext cx="4357687" cy="3146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7.1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存储组织</a:t>
            </a:r>
            <a:endParaRPr lang="zh-CN" altLang="en-US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7.2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静态存储分配</a:t>
            </a:r>
            <a:endParaRPr lang="zh-CN" altLang="en-US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7.3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栈式存储分配</a:t>
            </a:r>
            <a:endParaRPr lang="zh-CN" altLang="en-US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7.4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非局部数据的访问</a:t>
            </a:r>
            <a:endParaRPr lang="zh-CN" altLang="en-US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7.5 </a:t>
            </a:r>
            <a:r>
              <a:rPr lang="zh-CN" altLang="en-US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参数传递</a:t>
            </a:r>
            <a:endParaRPr lang="en-US" altLang="zh-CN" sz="2500" b="0" dirty="0">
              <a:solidFill>
                <a:srgbClr val="2D83F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7.6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符号表</a:t>
            </a:r>
            <a:endParaRPr lang="zh-CN" altLang="en-US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9812" name="Picture 7" descr="E:\工大编译\ppt\制作\0330e9c554c768200000158fc50d53d.jpg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矩形 15"/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提纲</a:t>
            </a: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7.5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参数传递（自学）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形式参数（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formal parameter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）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在过程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定义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中使用的参数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实际参数（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actual parameter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）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调用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过程时使用的参数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形参和实参相关联的几种方法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传值（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Call- by-Value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）</a:t>
            </a:r>
            <a:endParaRPr lang="zh-CN" altLang="en-US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传地址（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Call- by-Reference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）</a:t>
            </a:r>
            <a:endParaRPr lang="zh-CN" altLang="en-US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传值结果（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Call- by-Value-Result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）</a:t>
            </a:r>
            <a:endParaRPr lang="zh-CN" altLang="en-US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传名（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Call- by-Name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）</a:t>
            </a:r>
            <a:endParaRPr lang="zh-CN" altLang="en-US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>
              <a:lnSpc>
                <a:spcPts val="3800"/>
              </a:lnSpc>
              <a:buClrTx/>
              <a:buFont typeface="Wingdings" panose="05000000000000000000" pitchFamily="2" charset="2"/>
              <a:buChar char="Ø"/>
              <a:defRPr/>
            </a:pPr>
            <a:endParaRPr lang="zh-CN" altLang="en-US" sz="2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7.5.1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传值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（</a:t>
            </a:r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Call- by-Value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  <a:endParaRPr lang="zh-CN" altLang="en-US" sz="3000" dirty="0">
              <a:solidFill>
                <a:schemeClr val="tx1"/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258175" cy="3730153"/>
          </a:xfrm>
        </p:spPr>
        <p:txBody>
          <a:bodyPr/>
          <a:lstStyle/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把实参的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值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传递给相应的形参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实现方法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调用过程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把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实参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值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计算出来，并传递到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被调用过程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相应的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形式单元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中</a:t>
            </a:r>
            <a:endParaRPr lang="zh-CN" altLang="en-US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被调用过程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中，像引用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局部数据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一样引用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形式参数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直接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访问对应的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形式单元</a:t>
            </a:r>
            <a:endParaRPr lang="zh-CN" altLang="en-US" b="1" dirty="0">
              <a:solidFill>
                <a:srgbClr val="FF0000"/>
              </a:solidFill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例：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Pascal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值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参数、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C/C++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的缺省参数传递</a:t>
            </a:r>
            <a:endParaRPr lang="zh-CN" altLang="en-US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343926" y="1170287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343926" y="156363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343926" y="2058402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343926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9" grpId="0"/>
      <p:bldP spid="11" grpId="0"/>
      <p:bldP spid="13" grpId="0"/>
      <p:bldP spid="15" grpId="0"/>
      <p:bldP spid="19" grpId="0"/>
      <p:bldP spid="21" grpId="0"/>
      <p:bldP spid="23" grpId="0"/>
      <p:bldP spid="29" grpId="0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8" grpId="0"/>
      <p:bldP spid="50" grpId="0"/>
      <p:bldP spid="51" grpId="0"/>
      <p:bldP spid="52" grpId="0"/>
      <p:bldP spid="53" grpId="0"/>
      <p:bldP spid="54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343926" y="1170287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343926" y="156363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343926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343926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343926" y="1170287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343926" y="156363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343926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343926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7.5.2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传地址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（</a:t>
            </a:r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Call- by-Reference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258175" cy="3874169"/>
          </a:xfrm>
        </p:spPr>
        <p:txBody>
          <a:bodyPr/>
          <a:lstStyle/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把实参的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地址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传递给相应的形参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实现方法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调用过程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把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实参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地址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传递到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被调用过程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相应的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形式单元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中</a:t>
            </a:r>
            <a:endParaRPr lang="zh-CN" altLang="en-US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被调用过程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中，对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形参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的引用或赋值被处理成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对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形式单元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间接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访问</a:t>
            </a:r>
            <a:endParaRPr lang="zh-CN" altLang="en-US" b="1" dirty="0">
              <a:solidFill>
                <a:srgbClr val="FF0000"/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例：</a:t>
            </a:r>
            <a:r>
              <a:rPr lang="en-US" altLang="zh-CN" b="1" dirty="0">
                <a:solidFill>
                  <a:prstClr val="black"/>
                </a:solidFill>
                <a:cs typeface="Times New Roman" panose="02020603050405020304" pitchFamily="18" charset="0"/>
              </a:rPr>
              <a:t>Pascal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的</a:t>
            </a:r>
            <a:r>
              <a:rPr lang="en-US" altLang="zh-CN" b="1" dirty="0" err="1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var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参数、</a:t>
            </a:r>
            <a:r>
              <a:rPr lang="en-US" altLang="zh-CN" b="1" dirty="0">
                <a:solidFill>
                  <a:prstClr val="black"/>
                </a:solidFill>
                <a:cs typeface="Times New Roman" panose="02020603050405020304" pitchFamily="18" charset="0"/>
              </a:rPr>
              <a:t>C/C++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的传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引用</a:t>
            </a:r>
            <a:endParaRPr lang="zh-CN" altLang="en-US" b="1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, a-b, a, 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w</a:t>
            </a:r>
            <a:endParaRPr lang="zh-CN" altLang="en-US" sz="2000" dirty="0"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x</a:t>
            </a:r>
            <a:endParaRPr lang="zh-CN" altLang="en-US" sz="2000" dirty="0"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y</a:t>
            </a:r>
            <a:endParaRPr lang="zh-CN" altLang="en-US" sz="2000" dirty="0"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z</a:t>
            </a:r>
            <a:endParaRPr lang="zh-CN" altLang="en-US" sz="2000" dirty="0"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a</a:t>
            </a:r>
            <a:endParaRPr lang="zh-CN" altLang="en-US" sz="2000" dirty="0"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b</a:t>
            </a:r>
            <a:endParaRPr lang="zh-CN" altLang="en-US" sz="2000" dirty="0"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t</a:t>
            </a:r>
            <a:r>
              <a:rPr lang="en-US" altLang="zh-CN" sz="2000" baseline="-25000" dirty="0">
                <a:ea typeface="方正楷体_GB2312" charset="0"/>
              </a:rPr>
              <a:t>1</a:t>
            </a:r>
            <a:endParaRPr lang="zh-CN" altLang="en-US" sz="2000" baseline="-25000" dirty="0"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t</a:t>
            </a:r>
            <a:r>
              <a:rPr lang="en-US" altLang="zh-CN" sz="2000" baseline="-25000" dirty="0">
                <a:ea typeface="方正楷体_GB2312" charset="0"/>
              </a:rPr>
              <a:t>2</a:t>
            </a:r>
            <a:endParaRPr lang="zh-CN" altLang="en-US" sz="2000" baseline="-25000" dirty="0"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ea typeface="+mn-ea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的地址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ea typeface="+mn-ea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的地址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ea typeface="+mn-ea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的地址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ea typeface="+mn-ea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的地址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5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3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8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2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9" grpId="0"/>
      <p:bldP spid="11" grpId="0"/>
      <p:bldP spid="13" grpId="0"/>
      <p:bldP spid="15" grpId="0"/>
      <p:bldP spid="19" grpId="0"/>
      <p:bldP spid="21" grpId="0"/>
      <p:bldP spid="23" grpId="0"/>
      <p:bldP spid="29" grpId="0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8" grpId="0"/>
      <p:bldP spid="50" grpId="0"/>
      <p:bldP spid="51" grpId="0"/>
      <p:bldP spid="52" grpId="0"/>
      <p:bldP spid="53" grpId="0"/>
      <p:bldP spid="5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, a-b, a, 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, a-b, a, 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7.5.3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传值结果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（</a:t>
            </a:r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Call- by-Value-Result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  <a:endParaRPr lang="zh-CN" altLang="en-US" sz="3000" dirty="0">
              <a:solidFill>
                <a:schemeClr val="tx1"/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3946177"/>
          </a:xfrm>
        </p:spPr>
        <p:txBody>
          <a:bodyPr/>
          <a:lstStyle/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传地址的一种变形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实现方法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每个形参对应两个形式单元。第一个形式单元存放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实参的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地址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，第二个形式单元存放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实参的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值</a:t>
            </a:r>
            <a:endParaRPr lang="en-US" altLang="zh-CN" b="1" dirty="0">
              <a:solidFill>
                <a:srgbClr val="FF0000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在过程体中，对形参的引用或赋值看作对它的第二个形式单元的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直接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访问</a:t>
            </a:r>
            <a:endParaRPr lang="en-US" altLang="zh-CN" b="1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过程完成返回前，把第二个单元的内容存放到第一个单元所指的实参单元中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例：</a:t>
            </a:r>
            <a:r>
              <a:rPr lang="en-US" altLang="zh-CN" b="1" dirty="0">
                <a:solidFill>
                  <a:prstClr val="black"/>
                </a:solidFill>
                <a:cs typeface="Times New Roman" panose="02020603050405020304" pitchFamily="18" charset="0"/>
              </a:rPr>
              <a:t>Fortune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5304153" y="1240828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712078" y="119430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92080" y="1672876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00005" y="16263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92080" y="2104924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700005" y="2058402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92080" y="2536972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700005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9" grpId="0"/>
      <p:bldP spid="11" grpId="0"/>
      <p:bldP spid="13" grpId="0"/>
      <p:bldP spid="15" grpId="0"/>
      <p:bldP spid="19" grpId="0"/>
      <p:bldP spid="21" grpId="0"/>
      <p:bldP spid="23" grpId="0"/>
      <p:bldP spid="29" grpId="0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8" grpId="0"/>
      <p:bldP spid="50" grpId="0"/>
      <p:bldP spid="51" grpId="0"/>
      <p:bldP spid="52" grpId="0"/>
      <p:bldP spid="53" grpId="0"/>
      <p:bldP spid="54" grpId="0"/>
      <p:bldP spid="31" grpId="0" animBg="1"/>
      <p:bldP spid="32" grpId="0"/>
      <p:bldP spid="33" grpId="0" animBg="1"/>
      <p:bldP spid="34" grpId="0"/>
      <p:bldP spid="35" grpId="0" animBg="1"/>
      <p:bldP spid="36" grpId="0"/>
      <p:bldP spid="37" grpId="0" animBg="1"/>
      <p:bldP spid="38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5304153" y="1240828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712078" y="119430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92080" y="1672876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00005" y="16263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92080" y="2104924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700005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92080" y="2536972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700005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5304153" y="1240828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712078" y="119430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92080" y="1672876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00005" y="16263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92080" y="2104924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700005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92080" y="2536972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700005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5304153" y="1240828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712078" y="119430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92080" y="1672876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00005" y="16263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92080" y="2104924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700005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92080" y="2536972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700005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5304153" y="1240828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712078" y="119430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92080" y="1672876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00005" y="16263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92080" y="2104924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700005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92080" y="2536972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700005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5304153" y="1240828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712078" y="119430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92080" y="1672876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00005" y="16263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92080" y="2104924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700005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92080" y="2536972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700005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5304153" y="1240828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712078" y="119430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92080" y="1672876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00005" y="16263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92080" y="2104924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700005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92080" y="2536972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700005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7.5.4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传名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（</a:t>
            </a:r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Call- by-Name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相当于把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被调用过程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的过程体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抄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到调用出现的地方，但把其中出现的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形参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都替换成相应的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实参</a:t>
            </a:r>
            <a:endParaRPr lang="en-US" altLang="zh-CN" b="1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实现方法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在进入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被调用过程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之前不对实参预先进行计值，而是让过程体中每当使用到相应的实参时才逐次对它实行计值（或计算地址）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通常把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实参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处理成一个子程序（称为参数子程序），每当过程体中使用到相应的实参时就调用这个子程序</a:t>
            </a:r>
            <a:endParaRPr lang="zh-CN" altLang="en-US" sz="2000" b="1" dirty="0">
              <a:solidFill>
                <a:srgbClr val="FF0000"/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例：</a:t>
            </a:r>
            <a:r>
              <a:rPr lang="en-US" altLang="zh-CN" b="1" dirty="0">
                <a:solidFill>
                  <a:prstClr val="black"/>
                </a:solidFill>
                <a:cs typeface="Times New Roman" panose="02020603050405020304" pitchFamily="18" charset="0"/>
              </a:rPr>
              <a:t>ALGOL60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2631207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720297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4720297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5080337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5080337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5500335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5500335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42" grpId="0" animBg="1"/>
      <p:bldP spid="43" grpId="0" animBg="1"/>
      <p:bldP spid="51" grpId="0"/>
      <p:bldP spid="5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2631207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P(</a:t>
            </a:r>
            <a:r>
              <a:rPr lang="en-US" altLang="zh-CN" sz="2000" b="1" dirty="0" err="1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8" name="Rectangle 3"/>
          <p:cNvSpPr txBox="1">
            <a:spLocks noChangeArrowheads="1"/>
          </p:cNvSpPr>
          <p:nvPr/>
        </p:nvSpPr>
        <p:spPr bwMode="auto">
          <a:xfrm>
            <a:off x="2627784" y="2819712"/>
            <a:ext cx="2045379" cy="2448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>
            <a:lvl1pPr marL="271780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73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12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16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20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2000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a:=a*(a+b);</a:t>
            </a:r>
            <a:endParaRPr lang="en-US" altLang="zh-CN" sz="2000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    a:=a+(a-b);</a:t>
            </a:r>
            <a:endParaRPr lang="en-US" altLang="zh-CN" sz="2000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右箭头 3"/>
          <p:cNvSpPr/>
          <p:nvPr/>
        </p:nvSpPr>
        <p:spPr>
          <a:xfrm>
            <a:off x="1619672" y="2859782"/>
            <a:ext cx="648072" cy="2841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720297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720297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080337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080337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500335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500335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2631207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P(</a:t>
            </a:r>
            <a:r>
              <a:rPr lang="en-US" altLang="zh-CN" sz="2000" b="1" dirty="0" err="1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8" name="Rectangle 3"/>
          <p:cNvSpPr txBox="1">
            <a:spLocks noChangeArrowheads="1"/>
          </p:cNvSpPr>
          <p:nvPr/>
        </p:nvSpPr>
        <p:spPr bwMode="auto">
          <a:xfrm>
            <a:off x="2627784" y="2819712"/>
            <a:ext cx="2045379" cy="2448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>
            <a:lvl1pPr marL="271780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73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12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16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20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2000" dirty="0">
                <a:solidFill>
                  <a:srgbClr val="073E87">
                    <a:lumMod val="60000"/>
                    <a:lumOff val="40000"/>
                  </a:srgbClr>
                </a:solidFill>
                <a:cs typeface="Times New Roman" panose="02020603050405020304" pitchFamily="18" charset="0"/>
              </a:rPr>
              <a:t>a:=a*(a+b);</a:t>
            </a:r>
            <a:endParaRPr lang="en-US" altLang="zh-CN" sz="2000" dirty="0">
              <a:solidFill>
                <a:srgbClr val="073E87">
                  <a:lumMod val="60000"/>
                  <a:lumOff val="40000"/>
                </a:srgbClr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srgbClr val="073E87">
                    <a:lumMod val="60000"/>
                    <a:lumOff val="40000"/>
                  </a:srgbClr>
                </a:solidFill>
                <a:cs typeface="Times New Roman" panose="02020603050405020304" pitchFamily="18" charset="0"/>
              </a:rPr>
              <a:t>    a:=a+(a-b);</a:t>
            </a:r>
            <a:endParaRPr lang="en-US" altLang="zh-CN" sz="2000" dirty="0">
              <a:solidFill>
                <a:srgbClr val="073E87">
                  <a:lumMod val="60000"/>
                  <a:lumOff val="40000"/>
                </a:srgbClr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右箭头 3"/>
          <p:cNvSpPr/>
          <p:nvPr/>
        </p:nvSpPr>
        <p:spPr>
          <a:xfrm>
            <a:off x="1619672" y="2859782"/>
            <a:ext cx="648072" cy="2841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720297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720297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080337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080337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500335" y="2922498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500335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2631207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P(</a:t>
            </a:r>
            <a:r>
              <a:rPr lang="en-US" altLang="zh-CN" sz="2000" b="1" dirty="0" err="1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8" name="Rectangle 3"/>
          <p:cNvSpPr txBox="1">
            <a:spLocks noChangeArrowheads="1"/>
          </p:cNvSpPr>
          <p:nvPr/>
        </p:nvSpPr>
        <p:spPr bwMode="auto">
          <a:xfrm>
            <a:off x="2627784" y="2819712"/>
            <a:ext cx="2045379" cy="2448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>
            <a:lvl1pPr marL="271780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73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12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16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20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2000" dirty="0">
                <a:solidFill>
                  <a:srgbClr val="073E87">
                    <a:lumMod val="60000"/>
                    <a:lumOff val="40000"/>
                  </a:srgbClr>
                </a:solidFill>
                <a:cs typeface="Times New Roman" panose="02020603050405020304" pitchFamily="18" charset="0"/>
              </a:rPr>
              <a:t>a:=a*(a+b);</a:t>
            </a:r>
            <a:endParaRPr lang="en-US" altLang="zh-CN" sz="2000" dirty="0">
              <a:solidFill>
                <a:srgbClr val="073E87">
                  <a:lumMod val="60000"/>
                  <a:lumOff val="40000"/>
                </a:srgbClr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srgbClr val="073E87">
                    <a:lumMod val="60000"/>
                    <a:lumOff val="40000"/>
                  </a:srgbClr>
                </a:solidFill>
                <a:cs typeface="Times New Roman" panose="02020603050405020304" pitchFamily="18" charset="0"/>
              </a:rPr>
              <a:t>    a:=a+(a-b);</a:t>
            </a:r>
            <a:endParaRPr lang="en-US" altLang="zh-CN" sz="2000" dirty="0">
              <a:solidFill>
                <a:srgbClr val="073E87">
                  <a:lumMod val="60000"/>
                  <a:lumOff val="40000"/>
                </a:srgbClr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右箭头 3"/>
          <p:cNvSpPr/>
          <p:nvPr/>
        </p:nvSpPr>
        <p:spPr>
          <a:xfrm>
            <a:off x="1619672" y="2859782"/>
            <a:ext cx="648072" cy="2841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720297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720297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080337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080337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500335" y="2922498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500335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传名方式中的重命名问题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4291672" cy="4368800"/>
          </a:xfrm>
        </p:spPr>
        <p:txBody>
          <a:bodyPr/>
          <a:lstStyle/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PROGRAM  EX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…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18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var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 integer;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PROCEDURE  P(</a:t>
            </a:r>
            <a:r>
              <a:rPr lang="en-US" altLang="zh-CN" sz="1800" b="1" dirty="0">
                <a:solidFill>
                  <a:srgbClr val="00B05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 integer)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   …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18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var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 integer;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BEGIN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  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:=0;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   </a:t>
            </a:r>
            <a:r>
              <a:rPr lang="en-US" altLang="zh-CN" sz="1800" b="1" dirty="0">
                <a:solidFill>
                  <a:srgbClr val="00B05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:=</a:t>
            </a:r>
            <a:r>
              <a:rPr lang="en-US" altLang="zh-CN" sz="1800" b="1" dirty="0">
                <a:solidFill>
                  <a:srgbClr val="00B05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+1;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  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:=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+</a:t>
            </a:r>
            <a:r>
              <a:rPr lang="en-US" altLang="zh-CN" sz="1800" b="1" dirty="0">
                <a:solidFill>
                  <a:srgbClr val="00B05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;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END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:=2;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右箭头 3"/>
          <p:cNvSpPr/>
          <p:nvPr/>
        </p:nvSpPr>
        <p:spPr>
          <a:xfrm>
            <a:off x="1547664" y="3579862"/>
            <a:ext cx="648072" cy="2841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2" name="Rectangle 3"/>
          <p:cNvSpPr txBox="1">
            <a:spLocks noChangeArrowheads="1"/>
          </p:cNvSpPr>
          <p:nvPr/>
        </p:nvSpPr>
        <p:spPr bwMode="auto">
          <a:xfrm>
            <a:off x="2573095" y="3579862"/>
            <a:ext cx="1483360" cy="17045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>
            <a:lvl1pPr marL="271780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73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12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16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20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:=2;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:=0;</a:t>
            </a:r>
            <a:endParaRPr lang="en-US" altLang="zh-CN" sz="1800" dirty="0">
              <a:solidFill>
                <a:prstClr val="black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</a:t>
            </a:r>
            <a:r>
              <a:rPr lang="en-US" altLang="zh-CN" sz="18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+1;</a:t>
            </a:r>
            <a:endParaRPr lang="en-US" altLang="zh-CN" sz="1800" dirty="0">
              <a:solidFill>
                <a:prstClr val="black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+</a:t>
            </a:r>
            <a:r>
              <a:rPr lang="en-US" altLang="zh-CN" sz="18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;</a:t>
            </a:r>
            <a:endParaRPr lang="en-US" altLang="zh-CN" sz="1800" dirty="0">
              <a:solidFill>
                <a:prstClr val="black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2704072" y="4022726"/>
            <a:ext cx="1219855" cy="6372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右箭头 13"/>
          <p:cNvSpPr/>
          <p:nvPr/>
        </p:nvSpPr>
        <p:spPr>
          <a:xfrm>
            <a:off x="3707904" y="3579862"/>
            <a:ext cx="648072" cy="2841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5" name="Rectangle 3"/>
          <p:cNvSpPr txBox="1">
            <a:spLocks noChangeArrowheads="1"/>
          </p:cNvSpPr>
          <p:nvPr/>
        </p:nvSpPr>
        <p:spPr bwMode="auto">
          <a:xfrm>
            <a:off x="4600808" y="3579862"/>
            <a:ext cx="1483360" cy="17045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>
            <a:lvl1pPr marL="271780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73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12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16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20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:=2;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:=0;</a:t>
            </a:r>
            <a:endParaRPr lang="en-US" altLang="zh-CN" sz="1800" dirty="0">
              <a:solidFill>
                <a:prstClr val="black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</a:t>
            </a:r>
            <a:r>
              <a:rPr lang="en-US" altLang="zh-CN" sz="1800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+1;</a:t>
            </a:r>
            <a:endParaRPr lang="en-US" altLang="zh-CN" sz="1800" dirty="0">
              <a:solidFill>
                <a:prstClr val="black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+</a:t>
            </a:r>
            <a:r>
              <a:rPr lang="en-US" altLang="zh-CN" sz="1800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;</a:t>
            </a:r>
            <a:endParaRPr lang="en-US" altLang="zh-CN" sz="1800" dirty="0">
              <a:solidFill>
                <a:prstClr val="black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4720297" y="4022726"/>
            <a:ext cx="1231344" cy="6372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右箭头 16"/>
          <p:cNvSpPr/>
          <p:nvPr/>
        </p:nvSpPr>
        <p:spPr>
          <a:xfrm>
            <a:off x="5724128" y="3579862"/>
            <a:ext cx="648072" cy="2841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 bwMode="auto">
          <a:xfrm>
            <a:off x="6617032" y="3579862"/>
            <a:ext cx="1650354" cy="17045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>
            <a:lvl1pPr marL="271780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73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12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16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20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:=2;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:=0;</a:t>
            </a:r>
            <a:endParaRPr lang="en-US" altLang="zh-CN" sz="1800" dirty="0">
              <a:solidFill>
                <a:prstClr val="black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</a:t>
            </a:r>
            <a:r>
              <a:rPr lang="en-US" altLang="zh-CN" sz="1800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+1;</a:t>
            </a:r>
            <a:endParaRPr lang="en-US" altLang="zh-CN" sz="1800" dirty="0">
              <a:solidFill>
                <a:prstClr val="black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</a:t>
            </a:r>
            <a:r>
              <a:rPr lang="en-US" altLang="zh-CN" sz="1800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+</a:t>
            </a:r>
            <a:r>
              <a:rPr lang="en-US" altLang="zh-CN" sz="1800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;</a:t>
            </a:r>
            <a:endParaRPr lang="en-US" altLang="zh-CN" sz="1800" dirty="0">
              <a:solidFill>
                <a:prstClr val="black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732239" y="4022726"/>
            <a:ext cx="1235625" cy="6372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2" grpId="0"/>
      <p:bldP spid="2" grpId="0" animBg="1"/>
      <p:bldP spid="14" grpId="0" animBg="1"/>
      <p:bldP spid="15" grpId="0"/>
      <p:bldP spid="16" grpId="0" animBg="1"/>
      <p:bldP spid="17" grpId="0" animBg="1"/>
      <p:bldP spid="18" grpId="0"/>
      <p:bldP spid="19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参数传递方式对比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2843808" y="2283718"/>
            <a:ext cx="4572000" cy="1815882"/>
          </a:xfrm>
          <a:prstGeom prst="rect">
            <a:avLst/>
          </a:prstGeom>
        </p:spPr>
        <p:txBody>
          <a:bodyPr>
            <a:spAutoFit/>
          </a:bodyPr>
          <a:lstStyle/>
          <a:p>
            <a:pPr marL="271780" lvl="0" indent="-271780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传值：</a:t>
            </a:r>
            <a:r>
              <a:rPr lang="en-US" altLang="zh-CN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	5</a:t>
            </a:r>
            <a:endParaRPr lang="en-US" altLang="zh-CN" sz="2000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271780" lvl="0" indent="-271780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传地址：</a:t>
            </a:r>
            <a:r>
              <a:rPr lang="en-US" altLang="zh-CN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	42</a:t>
            </a:r>
            <a:endParaRPr lang="en-US" altLang="zh-CN" sz="2000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271780" lvl="0" indent="-271780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传值结果：</a:t>
            </a:r>
            <a:r>
              <a:rPr lang="en-US" altLang="zh-CN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	7</a:t>
            </a:r>
            <a:endParaRPr lang="en-US" altLang="zh-CN" sz="2000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271780" lvl="0" indent="-271780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传名：</a:t>
            </a:r>
            <a:r>
              <a:rPr lang="en-US" altLang="zh-CN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	77</a:t>
            </a:r>
            <a:endParaRPr lang="zh-CN" altLang="en-US" sz="2000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119811" name="矩形 7"/>
          <p:cNvSpPr>
            <a:spLocks noChangeArrowheads="1"/>
          </p:cNvSpPr>
          <p:nvPr/>
        </p:nvSpPr>
        <p:spPr bwMode="auto">
          <a:xfrm>
            <a:off x="4500563" y="1357313"/>
            <a:ext cx="4357687" cy="31470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7.1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存储组织</a:t>
            </a:r>
            <a:endParaRPr lang="zh-CN" altLang="en-US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7.2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静态存储分配</a:t>
            </a:r>
            <a:endParaRPr lang="zh-CN" altLang="en-US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7.3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栈式存储分配</a:t>
            </a:r>
            <a:endParaRPr lang="zh-CN" altLang="en-US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7.4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非局部数据的访问</a:t>
            </a:r>
            <a:endParaRPr lang="zh-CN" altLang="en-US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7.5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参数传递</a:t>
            </a:r>
            <a:endParaRPr lang="en-US" altLang="zh-CN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7.6 </a:t>
            </a:r>
            <a:r>
              <a:rPr lang="zh-CN" altLang="en-US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符号表</a:t>
            </a:r>
            <a:endParaRPr lang="zh-CN" altLang="en-US" sz="2500" b="0" dirty="0">
              <a:solidFill>
                <a:srgbClr val="2D83F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9812" name="Picture 7" descr="E:\工大编译\ppt\制作\0330e9c554c768200000158fc50d53d.jpg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矩形 15"/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提纲</a:t>
            </a: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846138"/>
            <a:ext cx="8429625" cy="4029074"/>
          </a:xfrm>
        </p:spPr>
        <p:txBody>
          <a:bodyPr/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符号表是用于存放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标识符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属性信息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的数据结构</a:t>
            </a:r>
            <a:endParaRPr lang="en-US" altLang="zh-CN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种属 </a:t>
            </a:r>
            <a:r>
              <a:rPr lang="en-US" altLang="zh-CN" sz="2400" b="1" dirty="0">
                <a:solidFill>
                  <a:prstClr val="black"/>
                </a:solidFill>
                <a:ea typeface="方正楷体_GB2312" charset="0"/>
              </a:rPr>
              <a:t>(Kind)</a:t>
            </a:r>
            <a:endParaRPr lang="zh-CN" altLang="en-US" sz="2400" dirty="0">
              <a:solidFill>
                <a:srgbClr val="073E87"/>
              </a:solidFill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类型 </a:t>
            </a:r>
            <a:r>
              <a:rPr lang="en-US" altLang="zh-CN" sz="2400" b="1" dirty="0">
                <a:solidFill>
                  <a:prstClr val="black"/>
                </a:solidFill>
                <a:ea typeface="方正楷体_GB2312" charset="0"/>
              </a:rPr>
              <a:t>(Type)</a:t>
            </a:r>
            <a:endParaRPr lang="zh-CN" altLang="en-US" sz="2400" dirty="0">
              <a:solidFill>
                <a:srgbClr val="073E87"/>
              </a:solidFill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latin typeface="楷体" panose="02010609060101010101" pitchFamily="49" charset="-122"/>
              </a:rPr>
              <a:t>存储位置、长度</a:t>
            </a:r>
            <a:endParaRPr lang="zh-CN" altLang="en-US" sz="24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latin typeface="楷体" panose="02010609060101010101" pitchFamily="49" charset="-122"/>
              </a:rPr>
              <a:t>作用域 </a:t>
            </a:r>
            <a:endParaRPr lang="zh-CN" altLang="en-US" sz="24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latin typeface="楷体" panose="02010609060101010101" pitchFamily="49" charset="-122"/>
              </a:rPr>
              <a:t>参数和返回值信息</a:t>
            </a:r>
            <a:endParaRPr lang="zh-CN" altLang="en-US" sz="24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0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prstClr val="black"/>
                </a:solidFill>
                <a:latin typeface="楷体" panose="02010609060101010101" pitchFamily="49" charset="-122"/>
              </a:rPr>
              <a:t>符号表的作用</a:t>
            </a:r>
            <a:endParaRPr lang="en-US" altLang="zh-CN" b="1" dirty="0">
              <a:solidFill>
                <a:prstClr val="black"/>
              </a:solidFill>
              <a:latin typeface="楷体" panose="02010609060101010101" pitchFamily="49" charset="-122"/>
            </a:endParaRPr>
          </a:p>
          <a:p>
            <a:pPr lvl="1"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latin typeface="楷体" panose="02010609060101010101" pitchFamily="49" charset="-122"/>
              </a:rPr>
              <a:t>辅助代码生成</a:t>
            </a:r>
            <a:endParaRPr lang="en-US" altLang="zh-CN" sz="24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latin typeface="楷体" panose="02010609060101010101" pitchFamily="49" charset="-122"/>
              </a:rPr>
              <a:t>一致性检查</a:t>
            </a:r>
            <a:endParaRPr lang="en-US" altLang="zh-CN" b="1" dirty="0">
              <a:solidFill>
                <a:prstClr val="black"/>
              </a:solidFill>
              <a:latin typeface="楷体" panose="02010609060101010101" pitchFamily="49" charset="-122"/>
            </a:endParaRPr>
          </a:p>
        </p:txBody>
      </p:sp>
      <p:sp>
        <p:nvSpPr>
          <p:cNvPr id="12083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7.6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符号表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3758210" y="1643056"/>
            <a:ext cx="5488374" cy="2965409"/>
            <a:chOff x="3758210" y="1643056"/>
            <a:chExt cx="5488374" cy="2965409"/>
          </a:xfrm>
        </p:grpSpPr>
        <p:pic>
          <p:nvPicPr>
            <p:cNvPr id="5" name="Picture 2" descr="E:\工大编译\ppt\图片3副本.png"/>
            <p:cNvPicPr>
              <a:picLocks noChangeAspect="1" noChangeArrowheads="1"/>
            </p:cNvPicPr>
            <p:nvPr/>
          </p:nvPicPr>
          <p:blipFill>
            <a:blip r:embed="rId1"/>
            <a:srcRect/>
            <a:stretch>
              <a:fillRect/>
            </a:stretch>
          </p:blipFill>
          <p:spPr bwMode="auto">
            <a:xfrm>
              <a:off x="3758210" y="1643056"/>
              <a:ext cx="5488374" cy="2965409"/>
            </a:xfrm>
            <a:prstGeom prst="rect">
              <a:avLst/>
            </a:prstGeom>
            <a:noFill/>
          </p:spPr>
        </p:pic>
        <p:sp>
          <p:nvSpPr>
            <p:cNvPr id="6" name="矩形 5"/>
            <p:cNvSpPr/>
            <p:nvPr/>
          </p:nvSpPr>
          <p:spPr>
            <a:xfrm>
              <a:off x="3851920" y="2200880"/>
              <a:ext cx="360040" cy="13069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3880976" y="3435846"/>
              <a:ext cx="5184576" cy="9611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4265232" y="2096357"/>
              <a:ext cx="1152128" cy="2479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SIMPLE</a:t>
              </a:r>
              <a:endPara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4283968" y="2355727"/>
              <a:ext cx="1152128" cy="233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SYMBLE</a:t>
              </a:r>
              <a:endPara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305670" y="2616224"/>
              <a:ext cx="1152128" cy="2182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TABLE</a:t>
              </a:r>
              <a:endPara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4305669" y="2864614"/>
              <a:ext cx="929777" cy="2149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/>
            <p:cNvSpPr/>
            <p:nvPr/>
          </p:nvSpPr>
          <p:spPr>
            <a:xfrm>
              <a:off x="4383253" y="3131978"/>
              <a:ext cx="929777" cy="24703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8024" y="2864614"/>
              <a:ext cx="204572" cy="230145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208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08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08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208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208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208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846138"/>
            <a:ext cx="8429625" cy="3225800"/>
          </a:xfrm>
        </p:spPr>
        <p:txBody>
          <a:bodyPr/>
          <a:lstStyle/>
          <a:p>
            <a:pPr eaLnBrk="1" hangingPunct="1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rgbClr val="0000FF"/>
                </a:solidFill>
                <a:latin typeface="楷体" panose="02010609060101010101" pitchFamily="49" charset="-122"/>
              </a:rPr>
              <a:t>声明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语句的翻译（</a:t>
            </a:r>
            <a:r>
              <a:rPr lang="zh-CN" altLang="en-US" sz="2800" b="1" dirty="0">
                <a:solidFill>
                  <a:srgbClr val="0000FF"/>
                </a:solidFill>
                <a:latin typeface="楷体" panose="02010609060101010101" pitchFamily="49" charset="-122"/>
              </a:rPr>
              <a:t>定义性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出现）</a:t>
            </a:r>
            <a:endParaRPr lang="en-US" altLang="zh-CN" sz="28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</a:rPr>
              <a:t>填、查</a:t>
            </a:r>
            <a:endParaRPr lang="en-US" altLang="zh-CN" sz="26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eaLnBrk="1" hangingPunct="1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rgbClr val="0000FF"/>
                </a:solidFill>
                <a:latin typeface="楷体" panose="02010609060101010101" pitchFamily="49" charset="-122"/>
              </a:rPr>
              <a:t>可执行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语句的翻译（</a:t>
            </a:r>
            <a:r>
              <a:rPr lang="zh-CN" altLang="en-US" sz="2800" b="1" dirty="0">
                <a:solidFill>
                  <a:srgbClr val="0000FF"/>
                </a:solidFill>
                <a:latin typeface="楷体" panose="02010609060101010101" pitchFamily="49" charset="-122"/>
              </a:rPr>
              <a:t>使用性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出现）</a:t>
            </a:r>
            <a:endParaRPr lang="en-US" altLang="zh-CN" sz="28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</a:rPr>
              <a:t>查</a:t>
            </a:r>
            <a:endParaRPr lang="en-US" altLang="zh-CN" sz="2600" b="1" dirty="0">
              <a:solidFill>
                <a:schemeClr val="tx1"/>
              </a:solidFill>
              <a:latin typeface="楷体" panose="02010609060101010101" pitchFamily="49" charset="-122"/>
            </a:endParaRPr>
          </a:p>
        </p:txBody>
      </p:sp>
      <p:sp>
        <p:nvSpPr>
          <p:cNvPr id="12083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符号表上的主要操作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单个过程符号表的组织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7" name="Picture 2" descr="E:\工大编译\ppt\图片3副本.png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3655626" y="1419622"/>
            <a:ext cx="5488374" cy="2965409"/>
          </a:xfrm>
          <a:prstGeom prst="rect">
            <a:avLst/>
          </a:prstGeom>
          <a:noFill/>
        </p:spPr>
      </p:pic>
      <p:sp>
        <p:nvSpPr>
          <p:cNvPr id="120834" name="Rectangle 3"/>
          <p:cNvSpPr>
            <a:spLocks noGrp="1" noChangeArrowheads="1"/>
          </p:cNvSpPr>
          <p:nvPr>
            <p:ph idx="1"/>
          </p:nvPr>
        </p:nvSpPr>
        <p:spPr>
          <a:xfrm>
            <a:off x="239496" y="987574"/>
            <a:ext cx="3384376" cy="3701132"/>
          </a:xfrm>
        </p:spPr>
        <p:txBody>
          <a:bodyPr/>
          <a:lstStyle/>
          <a:p>
            <a:pPr eaLnBrk="1" hangingPunct="1">
              <a:spcBef>
                <a:spcPts val="120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方法一：一张大表</a:t>
            </a:r>
            <a:endParaRPr lang="en-US" altLang="zh-CN" sz="20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spcBef>
                <a:spcPts val="120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问题：不同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种属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的名字所需存放的属性信息在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数量上的差异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会造成符号表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空间的浪费</a:t>
            </a:r>
            <a:endParaRPr lang="en-US" altLang="zh-CN" sz="2000" b="1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</a:endParaRPr>
          </a:p>
          <a:p>
            <a:pPr lvl="2" eaLnBrk="1" hangingPunct="1">
              <a:spcBef>
                <a:spcPts val="120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sz="1800" b="1" dirty="0">
                <a:solidFill>
                  <a:schemeClr val="tx1"/>
                </a:solidFill>
                <a:latin typeface="楷体" panose="02010609060101010101" pitchFamily="49" charset="-122"/>
              </a:rPr>
              <a:t>数组名：数组的维数、各维的长度</a:t>
            </a:r>
            <a:endParaRPr lang="en-US" altLang="zh-CN" sz="18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2" eaLnBrk="1" hangingPunct="1">
              <a:spcBef>
                <a:spcPts val="120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sz="1800" b="1" dirty="0">
                <a:solidFill>
                  <a:schemeClr val="tx1"/>
                </a:solidFill>
                <a:latin typeface="楷体" panose="02010609060101010101" pitchFamily="49" charset="-122"/>
              </a:rPr>
              <a:t>过程名：参数个数、参数类型、返回值类型</a:t>
            </a:r>
            <a:endParaRPr lang="en-US" altLang="zh-CN" sz="1800" b="1" dirty="0">
              <a:solidFill>
                <a:schemeClr val="tx1"/>
              </a:solidFill>
              <a:latin typeface="楷体" panose="02010609060101010101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846138"/>
            <a:ext cx="8429625" cy="4173884"/>
          </a:xfrm>
        </p:spPr>
        <p:txBody>
          <a:bodyPr/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方法一：一张大表</a:t>
            </a:r>
            <a:endParaRPr lang="en-US" altLang="zh-CN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问题：不同</a:t>
            </a:r>
            <a:r>
              <a:rPr lang="zh-CN" altLang="en-US" sz="2400" b="1" dirty="0">
                <a:solidFill>
                  <a:srgbClr val="073E87">
                    <a:lumMod val="60000"/>
                    <a:lumOff val="40000"/>
                  </a:srgbClr>
                </a:solidFill>
                <a:latin typeface="楷体" panose="02010609060101010101" pitchFamily="49" charset="-122"/>
              </a:rPr>
              <a:t>种属</a:t>
            </a: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的名字所需存放的</a:t>
            </a:r>
            <a:r>
              <a:rPr lang="zh-CN" altLang="en-US" sz="2400" b="1" dirty="0">
                <a:solidFill>
                  <a:srgbClr val="0070C0"/>
                </a:solidFill>
                <a:latin typeface="楷体" panose="02010609060101010101" pitchFamily="49" charset="-122"/>
              </a:rPr>
              <a:t>属性信息</a:t>
            </a: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在</a:t>
            </a:r>
            <a:r>
              <a:rPr lang="zh-CN" altLang="en-US" sz="2400" b="1" dirty="0">
                <a:solidFill>
                  <a:srgbClr val="0070C0"/>
                </a:solidFill>
                <a:latin typeface="楷体" panose="02010609060101010101" pitchFamily="49" charset="-122"/>
              </a:rPr>
              <a:t>数量上的差异</a:t>
            </a: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会造成符号表</a:t>
            </a:r>
            <a:r>
              <a:rPr lang="zh-CN" altLang="en-US" sz="2400" b="1" dirty="0">
                <a:solidFill>
                  <a:srgbClr val="FF0000"/>
                </a:solidFill>
                <a:latin typeface="楷体" panose="02010609060101010101" pitchFamily="49" charset="-122"/>
              </a:rPr>
              <a:t>空间</a:t>
            </a:r>
            <a:r>
              <a:rPr lang="zh-CN" altLang="en-US" sz="2400" b="1" dirty="0">
                <a:solidFill>
                  <a:srgbClr val="073E87">
                    <a:lumMod val="60000"/>
                    <a:lumOff val="40000"/>
                  </a:srgbClr>
                </a:solidFill>
                <a:latin typeface="楷体" panose="02010609060101010101" pitchFamily="49" charset="-122"/>
              </a:rPr>
              <a:t>的浪费</a:t>
            </a:r>
            <a:endParaRPr lang="en-US" altLang="zh-CN" sz="2400" b="1" dirty="0">
              <a:solidFill>
                <a:srgbClr val="073E87">
                  <a:lumMod val="60000"/>
                  <a:lumOff val="40000"/>
                </a:srgbClr>
              </a:solidFill>
              <a:latin typeface="楷体" panose="02010609060101010101" pitchFamily="49" charset="-122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方法二：多张子表（按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种属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分）</a:t>
            </a:r>
            <a:endParaRPr lang="en-US" altLang="zh-CN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变量表、数组表、过程表、</a:t>
            </a:r>
            <a:r>
              <a:rPr lang="en-US" altLang="zh-CN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…</a:t>
            </a:r>
            <a:endParaRPr lang="en-US" altLang="zh-CN" sz="2400" b="1" dirty="0">
              <a:solidFill>
                <a:prstClr val="black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问题：为避免</a:t>
            </a:r>
            <a:r>
              <a:rPr lang="zh-CN" altLang="en-US" sz="2400" b="1" dirty="0">
                <a:solidFill>
                  <a:srgbClr val="0070C0"/>
                </a:solidFill>
                <a:latin typeface="楷体" panose="02010609060101010101" pitchFamily="49" charset="-122"/>
              </a:rPr>
              <a:t>重名</a:t>
            </a: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问题，</a:t>
            </a:r>
            <a:r>
              <a:rPr lang="zh-CN" altLang="en-US" sz="2400" b="1" dirty="0">
                <a:solidFill>
                  <a:srgbClr val="0070C0"/>
                </a:solidFill>
                <a:latin typeface="楷体" panose="02010609060101010101" pitchFamily="49" charset="-122"/>
              </a:rPr>
              <a:t>插入</a:t>
            </a: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或</a:t>
            </a:r>
            <a:r>
              <a:rPr lang="zh-CN" altLang="en-US" sz="2400" b="1" dirty="0">
                <a:solidFill>
                  <a:srgbClr val="0070C0"/>
                </a:solidFill>
                <a:latin typeface="楷体" panose="02010609060101010101" pitchFamily="49" charset="-122"/>
              </a:rPr>
              <a:t>查找</a:t>
            </a: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某个符号时需要查看所有的符号表，从而造成</a:t>
            </a:r>
            <a:r>
              <a:rPr lang="zh-CN" altLang="en-US" sz="2400" b="1" dirty="0">
                <a:solidFill>
                  <a:srgbClr val="FF0000"/>
                </a:solidFill>
                <a:latin typeface="楷体" panose="02010609060101010101" pitchFamily="49" charset="-122"/>
              </a:rPr>
              <a:t>时间</a:t>
            </a:r>
            <a:r>
              <a:rPr lang="zh-CN" altLang="en-US" sz="2400" b="1" dirty="0">
                <a:solidFill>
                  <a:srgbClr val="0070C0"/>
                </a:solidFill>
                <a:latin typeface="楷体" panose="02010609060101010101" pitchFamily="49" charset="-122"/>
              </a:rPr>
              <a:t>上的浪费</a:t>
            </a:r>
            <a:endParaRPr lang="zh-CN" altLang="en-US" sz="2400" b="1" dirty="0">
              <a:solidFill>
                <a:srgbClr val="0070C0"/>
              </a:solidFill>
              <a:latin typeface="楷体" panose="02010609060101010101" pitchFamily="49" charset="-122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解决办法</a:t>
            </a:r>
            <a:endParaRPr lang="en-US" altLang="zh-CN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prstClr val="black"/>
                </a:solidFill>
                <a:latin typeface="华文楷体" panose="02010600040101010101" pitchFamily="2" charset="-122"/>
              </a:rPr>
              <a:t>基本属性（直接存放在符号表中）</a:t>
            </a:r>
            <a:r>
              <a:rPr lang="en-US" altLang="zh-CN" sz="2400" b="1" dirty="0">
                <a:solidFill>
                  <a:prstClr val="black"/>
                </a:solidFill>
                <a:latin typeface="华文楷体" panose="02010600040101010101" pitchFamily="2" charset="-122"/>
              </a:rPr>
              <a:t>+</a:t>
            </a:r>
            <a:r>
              <a:rPr lang="zh-CN" altLang="en-US" sz="2400" b="1" dirty="0">
                <a:solidFill>
                  <a:prstClr val="black"/>
                </a:solidFill>
                <a:latin typeface="华文楷体" panose="02010600040101010101" pitchFamily="2" charset="-122"/>
              </a:rPr>
              <a:t>扩展属性（动态申请内存）</a:t>
            </a:r>
            <a:endParaRPr lang="zh-CN" altLang="en-US" sz="2400" b="1" dirty="0">
              <a:solidFill>
                <a:prstClr val="black"/>
              </a:solidFill>
              <a:latin typeface="华文楷体" panose="02010600040101010101" pitchFamily="2" charset="-122"/>
            </a:endParaRPr>
          </a:p>
        </p:txBody>
      </p:sp>
      <p:sp>
        <p:nvSpPr>
          <p:cNvPr id="12083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单个过程符号表的组织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979712" y="302806"/>
            <a:ext cx="6571030" cy="3693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基本属性（直接存放在符号表中）</a:t>
            </a:r>
            <a:r>
              <a:rPr lang="en-US" altLang="zh-CN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+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扩展属性（动态申请内存）</a:t>
            </a:r>
            <a:endParaRPr lang="zh-CN" altLang="en-US" sz="1800" dirty="0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153" y="2901777"/>
            <a:ext cx="8514507" cy="1728192"/>
          </a:xfrm>
          <a:prstGeom prst="rect">
            <a:avLst/>
          </a:prstGeom>
        </p:spPr>
      </p:pic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846138"/>
            <a:ext cx="8429625" cy="3225800"/>
          </a:xfrm>
        </p:spPr>
        <p:txBody>
          <a:bodyPr/>
          <a:lstStyle/>
          <a:p>
            <a:pPr marL="302895" lvl="1" indent="0" eaLnBrk="1" hangingPunct="1">
              <a:buClrTx/>
              <a:buNone/>
            </a:pPr>
            <a:r>
              <a:rPr lang="en-US" altLang="zh-CN" sz="26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int</a:t>
            </a:r>
            <a:r>
              <a:rPr lang="en-US" altLang="zh-CN" sz="26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6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abc</a:t>
            </a:r>
            <a:r>
              <a:rPr lang="en-US" altLang="zh-CN" sz="2600" b="1" dirty="0">
                <a:solidFill>
                  <a:schemeClr val="tx1"/>
                </a:solidFill>
                <a:cs typeface="Times New Roman" panose="02020603050405020304" pitchFamily="18" charset="0"/>
              </a:rPr>
              <a:t>;</a:t>
            </a:r>
            <a:endParaRPr lang="en-US" altLang="zh-CN" sz="26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302895" lvl="1" indent="0" eaLnBrk="1" hangingPunct="1">
              <a:buClrTx/>
              <a:buNone/>
            </a:pPr>
            <a:r>
              <a:rPr lang="en-US" altLang="zh-CN" sz="26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int</a:t>
            </a:r>
            <a:r>
              <a:rPr lang="en-US" altLang="zh-CN" sz="26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6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sz="2600" b="1" dirty="0">
                <a:solidFill>
                  <a:schemeClr val="tx1"/>
                </a:solidFill>
                <a:cs typeface="Times New Roman" panose="02020603050405020304" pitchFamily="18" charset="0"/>
              </a:rPr>
              <a:t>;</a:t>
            </a:r>
            <a:endParaRPr lang="en-US" altLang="zh-CN" sz="26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302895" lvl="1" indent="0" eaLnBrk="1" hangingPunct="1">
              <a:buClrTx/>
              <a:buNone/>
            </a:pPr>
            <a:r>
              <a:rPr lang="en-US" altLang="zh-CN" sz="2600" b="1" dirty="0">
                <a:solidFill>
                  <a:schemeClr val="tx1"/>
                </a:solidFill>
                <a:cs typeface="Times New Roman" panose="02020603050405020304" pitchFamily="18" charset="0"/>
              </a:rPr>
              <a:t>char </a:t>
            </a:r>
            <a:r>
              <a:rPr lang="en-US" altLang="zh-CN" sz="26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myarray</a:t>
            </a:r>
            <a:r>
              <a:rPr lang="en-US" altLang="zh-CN" sz="2600" b="1" dirty="0">
                <a:solidFill>
                  <a:schemeClr val="tx1"/>
                </a:solidFill>
                <a:cs typeface="Times New Roman" panose="02020603050405020304" pitchFamily="18" charset="0"/>
              </a:rPr>
              <a:t>[3][4];</a:t>
            </a:r>
            <a:endParaRPr lang="en-US" altLang="zh-CN" sz="26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7596336" y="4626978"/>
            <a:ext cx="14414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800" dirty="0">
                <a:solidFill>
                  <a:srgbClr val="FF0000"/>
                </a:solidFill>
                <a:ea typeface="+mn-ea"/>
                <a:cs typeface="Times New Roman" panose="02020603050405020304" pitchFamily="18" charset="0"/>
              </a:rPr>
              <a:t>各维的</a:t>
            </a:r>
            <a:r>
              <a:rPr lang="en-US" altLang="zh-CN" sz="1800" dirty="0">
                <a:solidFill>
                  <a:srgbClr val="FF0000"/>
                </a:solidFill>
                <a:ea typeface="+mn-ea"/>
                <a:cs typeface="Times New Roman" panose="02020603050405020304" pitchFamily="18" charset="0"/>
              </a:rPr>
              <a:t>width</a:t>
            </a:r>
            <a:endParaRPr lang="zh-CN" altLang="en-US" sz="2800" dirty="0">
              <a:solidFill>
                <a:srgbClr val="FF0000"/>
              </a:solidFill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8316416" y="4299942"/>
            <a:ext cx="0" cy="27002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3"/>
          <p:cNvSpPr>
            <a:spLocks noGrp="1" noChangeArrowheads="1"/>
          </p:cNvSpPr>
          <p:nvPr>
            <p:ph idx="1"/>
          </p:nvPr>
        </p:nvSpPr>
        <p:spPr>
          <a:xfrm>
            <a:off x="428626" y="846139"/>
            <a:ext cx="8607871" cy="3225800"/>
          </a:xfrm>
        </p:spPr>
        <p:txBody>
          <a:bodyPr/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3000" b="1" dirty="0">
                <a:solidFill>
                  <a:schemeClr val="tx1"/>
                </a:solidFill>
                <a:latin typeface="楷体" panose="02010609060101010101" pitchFamily="49" charset="-122"/>
              </a:rPr>
              <a:t>需要考虑的问题</a:t>
            </a:r>
            <a:endParaRPr lang="en-US" altLang="zh-CN" sz="30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刻画过程之间的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嵌套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关系（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作用域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信息）</a:t>
            </a:r>
            <a:endParaRPr lang="en-US" altLang="zh-CN" sz="28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重名问题</a:t>
            </a:r>
            <a:r>
              <a:rPr lang="en-US" altLang="zh-CN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: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不同作用域可以重名</a:t>
            </a:r>
            <a:endParaRPr lang="en-US" altLang="zh-CN" sz="28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3000" b="1" dirty="0">
                <a:solidFill>
                  <a:schemeClr val="tx1"/>
                </a:solidFill>
                <a:latin typeface="楷体" panose="02010609060101010101" pitchFamily="49" charset="-122"/>
              </a:rPr>
              <a:t>常用的组织方式</a:t>
            </a:r>
            <a:endParaRPr lang="en-US" altLang="zh-CN" sz="30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每个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过程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建立一个符号表，同时需要建立起这些符号表之间的联系，用来刻画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过程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之间的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嵌套关系</a:t>
            </a:r>
            <a:endParaRPr lang="zh-CN" altLang="en-US" sz="2800" b="1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</a:endParaRPr>
          </a:p>
        </p:txBody>
      </p:sp>
      <p:sp>
        <p:nvSpPr>
          <p:cNvPr id="12083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多个过程符号表的组织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732393" y="857374"/>
            <a:ext cx="530410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defTabSz="914400"/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假设过程</a:t>
            </a:r>
            <a:r>
              <a:rPr lang="en-US" altLang="zh-CN" sz="1400" i="1" dirty="0">
                <a:solidFill>
                  <a:srgbClr val="FF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要访问过程</a:t>
            </a:r>
            <a:r>
              <a:rPr lang="en-US" altLang="zh-CN" sz="1400" i="1" dirty="0">
                <a:solidFill>
                  <a:srgbClr val="FF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q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中的数据对象</a:t>
            </a:r>
            <a:r>
              <a:rPr lang="en-US" altLang="zh-CN" sz="1400" i="1" dirty="0">
                <a:solidFill>
                  <a:srgbClr val="FF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，</a:t>
            </a:r>
            <a:endParaRPr lang="en-US" altLang="zh-CN" sz="1400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defTabSz="914400"/>
            <a:r>
              <a:rPr lang="en-US" altLang="zh-CN" sz="1400" i="1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 </a:t>
            </a:r>
            <a:r>
              <a:rPr lang="en-US" altLang="zh-CN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= </a:t>
            </a:r>
            <a:r>
              <a:rPr lang="en-US" altLang="zh-CN" sz="1400" i="1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q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的活动记录基地址 </a:t>
            </a:r>
            <a:r>
              <a:rPr lang="en-US" altLang="zh-CN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+ </a:t>
            </a:r>
            <a:r>
              <a:rPr lang="en-US" altLang="zh-CN" sz="1400" i="1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sz="1400" i="1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q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的活动记录中的偏移地址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矩形 88"/>
          <p:cNvSpPr/>
          <p:nvPr/>
        </p:nvSpPr>
        <p:spPr>
          <a:xfrm>
            <a:off x="155575" y="828675"/>
            <a:ext cx="7624667" cy="4279633"/>
          </a:xfrm>
          <a:prstGeom prst="rect">
            <a:avLst/>
          </a:prstGeom>
          <a:noFill/>
          <a:ln>
            <a:noFill/>
          </a:ln>
        </p:spPr>
        <p:txBody>
          <a:bodyPr wrap="square" lIns="68580" tIns="34290" rIns="68580" bIns="34290">
            <a:spAutoFit/>
          </a:bodyPr>
          <a:lstStyle/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program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sort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(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output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);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[0..10]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of 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           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  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FF0000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zh-CN" altLang="en-US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exchang</a:t>
            </a:r>
            <a:r>
              <a:rPr lang="en-US" altLang="zh-CN" sz="2000" kern="0" dirty="0">
                <a:solidFill>
                  <a:srgbClr val="FF0000"/>
                </a:solidFill>
                <a:ea typeface="方正楷体_GB2312" charset="0"/>
              </a:rPr>
              <a:t>e</a:t>
            </a:r>
            <a:r>
              <a:rPr lang="en-US" altLang="zh-CN" sz="2000" kern="0" dirty="0">
                <a:ea typeface="方正楷体_GB2312" charset="0"/>
              </a:rPr>
              <a:t>(</a:t>
            </a:r>
            <a:r>
              <a:rPr lang="en-US" altLang="zh-CN" sz="2000" i="1" kern="0" dirty="0" err="1">
                <a:ea typeface="方正楷体_GB2312" charset="0"/>
              </a:rPr>
              <a:t>i</a:t>
            </a:r>
            <a:r>
              <a:rPr lang="en-US" altLang="zh-CN" sz="2000" kern="0" dirty="0"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exchange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zh-CN" altLang="en-US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ea typeface="方正楷体_GB2312" charset="0"/>
              </a:rPr>
              <a:t>(</a:t>
            </a:r>
            <a:r>
              <a:rPr lang="en-US" altLang="zh-CN" sz="2000" i="1" kern="0" dirty="0">
                <a:ea typeface="方正楷体_GB2312" charset="0"/>
              </a:rPr>
              <a:t>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k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v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function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ea typeface="方正楷体_GB2312" charset="0"/>
              </a:rPr>
              <a:t>(</a:t>
            </a:r>
            <a:r>
              <a:rPr lang="en-US" altLang="zh-CN" sz="2000" i="1" kern="0" dirty="0">
                <a:ea typeface="方正楷体_GB2312" charset="0"/>
              </a:rPr>
              <a:t>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z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r;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exchange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(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};</a:t>
            </a:r>
            <a:endParaRPr lang="zh-CN" altLang="en-US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sort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</p:txBody>
      </p:sp>
      <p:sp>
        <p:nvSpPr>
          <p:cNvPr id="12288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2" name="组合 2"/>
          <p:cNvGrpSpPr/>
          <p:nvPr/>
        </p:nvGrpSpPr>
        <p:grpSpPr bwMode="auto">
          <a:xfrm>
            <a:off x="4465638" y="-15875"/>
            <a:ext cx="4714875" cy="4548188"/>
            <a:chOff x="4465638" y="-15875"/>
            <a:chExt cx="4714874" cy="4548188"/>
          </a:xfrm>
        </p:grpSpPr>
        <p:sp>
          <p:nvSpPr>
            <p:cNvPr id="122885" name="Rectangle 54"/>
            <p:cNvSpPr>
              <a:spLocks noChangeArrowheads="1"/>
            </p:cNvSpPr>
            <p:nvPr/>
          </p:nvSpPr>
          <p:spPr bwMode="auto">
            <a:xfrm>
              <a:off x="7108911" y="2277971"/>
              <a:ext cx="2035089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k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0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886" name="Rectangle 55"/>
            <p:cNvSpPr>
              <a:spLocks noChangeArrowheads="1"/>
            </p:cNvSpPr>
            <p:nvPr/>
          </p:nvSpPr>
          <p:spPr bwMode="auto">
            <a:xfrm>
              <a:off x="7108910" y="2562088"/>
              <a:ext cx="2035089" cy="390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v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4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887" name="Rectangle 68"/>
            <p:cNvSpPr>
              <a:spLocks noChangeArrowheads="1"/>
            </p:cNvSpPr>
            <p:nvPr/>
          </p:nvSpPr>
          <p:spPr bwMode="auto">
            <a:xfrm>
              <a:off x="7559744" y="4168833"/>
              <a:ext cx="1620768" cy="363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j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4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888" name="Rectangle 67"/>
            <p:cNvSpPr>
              <a:spLocks noChangeArrowheads="1"/>
            </p:cNvSpPr>
            <p:nvPr/>
          </p:nvSpPr>
          <p:spPr bwMode="auto">
            <a:xfrm>
              <a:off x="7559744" y="3859319"/>
              <a:ext cx="1458850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0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889" name="Line 2"/>
            <p:cNvSpPr>
              <a:spLocks noChangeShapeType="1"/>
            </p:cNvSpPr>
            <p:nvPr/>
          </p:nvSpPr>
          <p:spPr bwMode="auto">
            <a:xfrm>
              <a:off x="4489326" y="1027296"/>
              <a:ext cx="1587" cy="17856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0" name="Line 3"/>
            <p:cNvSpPr>
              <a:spLocks noChangeShapeType="1"/>
            </p:cNvSpPr>
            <p:nvPr/>
          </p:nvSpPr>
          <p:spPr bwMode="auto">
            <a:xfrm>
              <a:off x="6140057" y="1027296"/>
              <a:ext cx="0" cy="176026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1" name="Line 4"/>
            <p:cNvSpPr>
              <a:spLocks noChangeShapeType="1"/>
            </p:cNvSpPr>
            <p:nvPr/>
          </p:nvSpPr>
          <p:spPr bwMode="auto">
            <a:xfrm flipV="1">
              <a:off x="4472625" y="2784951"/>
              <a:ext cx="205020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2" name="Line 5"/>
            <p:cNvSpPr>
              <a:spLocks noChangeShapeType="1"/>
            </p:cNvSpPr>
            <p:nvPr/>
          </p:nvSpPr>
          <p:spPr bwMode="auto">
            <a:xfrm>
              <a:off x="4490913" y="2489723"/>
              <a:ext cx="200800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3" name="Line 6"/>
            <p:cNvSpPr>
              <a:spLocks noChangeShapeType="1"/>
            </p:cNvSpPr>
            <p:nvPr/>
          </p:nvSpPr>
          <p:spPr bwMode="auto">
            <a:xfrm flipV="1">
              <a:off x="4478213" y="2208908"/>
              <a:ext cx="203404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4" name="Line 7"/>
            <p:cNvSpPr>
              <a:spLocks noChangeShapeType="1"/>
            </p:cNvSpPr>
            <p:nvPr/>
          </p:nvSpPr>
          <p:spPr bwMode="auto">
            <a:xfrm flipV="1">
              <a:off x="4503612" y="1925679"/>
              <a:ext cx="200864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5" name="Line 8"/>
            <p:cNvSpPr>
              <a:spLocks noChangeShapeType="1"/>
            </p:cNvSpPr>
            <p:nvPr/>
          </p:nvSpPr>
          <p:spPr bwMode="auto">
            <a:xfrm>
              <a:off x="4502025" y="1633625"/>
              <a:ext cx="2020800" cy="15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6" name="Line 9"/>
            <p:cNvSpPr>
              <a:spLocks noChangeShapeType="1"/>
            </p:cNvSpPr>
            <p:nvPr/>
          </p:nvSpPr>
          <p:spPr bwMode="auto">
            <a:xfrm flipV="1">
              <a:off x="4490913" y="1338397"/>
              <a:ext cx="200916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7" name="Rectangle 10"/>
            <p:cNvSpPr>
              <a:spLocks noChangeArrowheads="1"/>
            </p:cNvSpPr>
            <p:nvPr/>
          </p:nvSpPr>
          <p:spPr bwMode="auto">
            <a:xfrm>
              <a:off x="4916344" y="976504"/>
              <a:ext cx="1738457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48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898" name="Rectangle 11"/>
            <p:cNvSpPr>
              <a:spLocks noChangeArrowheads="1"/>
            </p:cNvSpPr>
            <p:nvPr/>
          </p:nvSpPr>
          <p:spPr bwMode="auto">
            <a:xfrm>
              <a:off x="4860213" y="703497"/>
              <a:ext cx="1168351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899" name="Line 12"/>
            <p:cNvSpPr>
              <a:spLocks noChangeShapeType="1"/>
            </p:cNvSpPr>
            <p:nvPr/>
          </p:nvSpPr>
          <p:spPr bwMode="auto">
            <a:xfrm flipV="1">
              <a:off x="4502024" y="1025709"/>
              <a:ext cx="2020801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00" name="Line 13"/>
            <p:cNvSpPr>
              <a:spLocks noChangeShapeType="1"/>
            </p:cNvSpPr>
            <p:nvPr/>
          </p:nvSpPr>
          <p:spPr bwMode="auto">
            <a:xfrm>
              <a:off x="4867135" y="1041582"/>
              <a:ext cx="0" cy="28411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01" name="Line 14"/>
            <p:cNvSpPr>
              <a:spLocks noChangeShapeType="1"/>
            </p:cNvSpPr>
            <p:nvPr/>
          </p:nvSpPr>
          <p:spPr bwMode="auto">
            <a:xfrm>
              <a:off x="5564018" y="1314266"/>
              <a:ext cx="0" cy="146344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02" name="Rectangle 15"/>
            <p:cNvSpPr>
              <a:spLocks noChangeArrowheads="1"/>
            </p:cNvSpPr>
            <p:nvPr/>
          </p:nvSpPr>
          <p:spPr bwMode="auto">
            <a:xfrm>
              <a:off x="7092367" y="-15875"/>
              <a:ext cx="1428690" cy="4285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readarrary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03" name="Rectangle 25"/>
            <p:cNvSpPr>
              <a:spLocks noChangeArrowheads="1"/>
            </p:cNvSpPr>
            <p:nvPr/>
          </p:nvSpPr>
          <p:spPr bwMode="auto">
            <a:xfrm>
              <a:off x="4484563" y="1282844"/>
              <a:ext cx="2038263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   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array  0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04" name="Rectangle 26"/>
            <p:cNvSpPr>
              <a:spLocks noChangeArrowheads="1"/>
            </p:cNvSpPr>
            <p:nvPr/>
          </p:nvSpPr>
          <p:spPr bwMode="auto">
            <a:xfrm>
              <a:off x="4501480" y="1585513"/>
              <a:ext cx="2070606" cy="363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x    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44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05" name="Rectangle 28"/>
            <p:cNvSpPr>
              <a:spLocks noChangeArrowheads="1"/>
            </p:cNvSpPr>
            <p:nvPr/>
          </p:nvSpPr>
          <p:spPr bwMode="auto">
            <a:xfrm>
              <a:off x="4465638" y="1835206"/>
              <a:ext cx="1314394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readarray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06" name="Rectangle 31"/>
            <p:cNvSpPr>
              <a:spLocks noChangeArrowheads="1"/>
            </p:cNvSpPr>
            <p:nvPr/>
          </p:nvSpPr>
          <p:spPr bwMode="auto">
            <a:xfrm>
              <a:off x="7169582" y="970179"/>
              <a:ext cx="1271534" cy="403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07" name="Line 32"/>
            <p:cNvSpPr>
              <a:spLocks noChangeShapeType="1"/>
            </p:cNvSpPr>
            <p:nvPr/>
          </p:nvSpPr>
          <p:spPr bwMode="auto">
            <a:xfrm>
              <a:off x="7090260" y="1375449"/>
              <a:ext cx="0" cy="29205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08" name="Line 33"/>
            <p:cNvSpPr>
              <a:spLocks noChangeShapeType="1"/>
            </p:cNvSpPr>
            <p:nvPr/>
          </p:nvSpPr>
          <p:spPr bwMode="auto">
            <a:xfrm>
              <a:off x="8321661" y="1363257"/>
              <a:ext cx="0" cy="3278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22909" name="Line 34"/>
            <p:cNvSpPr>
              <a:spLocks noChangeShapeType="1"/>
            </p:cNvSpPr>
            <p:nvPr/>
          </p:nvSpPr>
          <p:spPr bwMode="auto">
            <a:xfrm>
              <a:off x="7073559" y="1684961"/>
              <a:ext cx="125922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22910" name="Rectangle 35"/>
            <p:cNvSpPr>
              <a:spLocks noChangeArrowheads="1"/>
            </p:cNvSpPr>
            <p:nvPr/>
          </p:nvSpPr>
          <p:spPr bwMode="auto">
            <a:xfrm>
              <a:off x="7313591" y="1323070"/>
              <a:ext cx="1078362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0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11" name="Line 36"/>
            <p:cNvSpPr>
              <a:spLocks noChangeShapeType="1"/>
            </p:cNvSpPr>
            <p:nvPr/>
          </p:nvSpPr>
          <p:spPr bwMode="auto">
            <a:xfrm flipV="1">
              <a:off x="7080163" y="1375449"/>
              <a:ext cx="123540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12" name="Line 37"/>
            <p:cNvSpPr>
              <a:spLocks noChangeShapeType="1"/>
            </p:cNvSpPr>
            <p:nvPr/>
          </p:nvSpPr>
          <p:spPr bwMode="auto">
            <a:xfrm>
              <a:off x="7313591" y="1389734"/>
              <a:ext cx="0" cy="28411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13" name="Rectangle 39"/>
            <p:cNvSpPr>
              <a:spLocks noChangeArrowheads="1"/>
            </p:cNvSpPr>
            <p:nvPr/>
          </p:nvSpPr>
          <p:spPr bwMode="auto">
            <a:xfrm>
              <a:off x="4465638" y="2132022"/>
              <a:ext cx="1260422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14" name="Line 42"/>
            <p:cNvSpPr>
              <a:spLocks noChangeShapeType="1"/>
            </p:cNvSpPr>
            <p:nvPr/>
          </p:nvSpPr>
          <p:spPr bwMode="auto">
            <a:xfrm>
              <a:off x="7058113" y="1997027"/>
              <a:ext cx="1587" cy="117932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15" name="Line 43"/>
            <p:cNvSpPr>
              <a:spLocks noChangeShapeType="1"/>
            </p:cNvSpPr>
            <p:nvPr/>
          </p:nvSpPr>
          <p:spPr bwMode="auto">
            <a:xfrm flipH="1">
              <a:off x="8694756" y="1995440"/>
              <a:ext cx="4763" cy="11967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16" name="Line 44"/>
            <p:cNvSpPr>
              <a:spLocks noChangeShapeType="1"/>
            </p:cNvSpPr>
            <p:nvPr/>
          </p:nvSpPr>
          <p:spPr bwMode="auto">
            <a:xfrm flipV="1">
              <a:off x="7047001" y="3177941"/>
              <a:ext cx="1639819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17" name="Line 45"/>
            <p:cNvSpPr>
              <a:spLocks noChangeShapeType="1"/>
            </p:cNvSpPr>
            <p:nvPr/>
          </p:nvSpPr>
          <p:spPr bwMode="auto">
            <a:xfrm flipV="1">
              <a:off x="7070813" y="2895410"/>
              <a:ext cx="1642992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18" name="Line 46"/>
            <p:cNvSpPr>
              <a:spLocks noChangeShapeType="1"/>
            </p:cNvSpPr>
            <p:nvPr/>
          </p:nvSpPr>
          <p:spPr bwMode="auto">
            <a:xfrm flipV="1">
              <a:off x="7070813" y="2601770"/>
              <a:ext cx="1639818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19" name="Line 47"/>
            <p:cNvSpPr>
              <a:spLocks noChangeShapeType="1"/>
            </p:cNvSpPr>
            <p:nvPr/>
          </p:nvSpPr>
          <p:spPr bwMode="auto">
            <a:xfrm flipV="1">
              <a:off x="7059700" y="2306541"/>
              <a:ext cx="163981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0" name="Rectangle 48"/>
            <p:cNvSpPr>
              <a:spLocks noChangeArrowheads="1"/>
            </p:cNvSpPr>
            <p:nvPr/>
          </p:nvSpPr>
          <p:spPr bwMode="auto">
            <a:xfrm>
              <a:off x="7550217" y="1944649"/>
              <a:ext cx="1304001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8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21" name="Rectangle 49"/>
            <p:cNvSpPr>
              <a:spLocks noChangeArrowheads="1"/>
            </p:cNvSpPr>
            <p:nvPr/>
          </p:nvSpPr>
          <p:spPr bwMode="auto">
            <a:xfrm>
              <a:off x="7270109" y="1658944"/>
              <a:ext cx="1350906" cy="387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22" name="Line 50"/>
            <p:cNvSpPr>
              <a:spLocks noChangeShapeType="1"/>
            </p:cNvSpPr>
            <p:nvPr/>
          </p:nvSpPr>
          <p:spPr bwMode="auto">
            <a:xfrm flipV="1">
              <a:off x="7070813" y="1995440"/>
              <a:ext cx="1639818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3" name="Line 51"/>
            <p:cNvSpPr>
              <a:spLocks noChangeShapeType="1"/>
            </p:cNvSpPr>
            <p:nvPr/>
          </p:nvSpPr>
          <p:spPr bwMode="auto">
            <a:xfrm>
              <a:off x="7435922" y="2011313"/>
              <a:ext cx="1587" cy="28253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4" name="Line 52"/>
            <p:cNvSpPr>
              <a:spLocks noChangeShapeType="1"/>
            </p:cNvSpPr>
            <p:nvPr/>
          </p:nvSpPr>
          <p:spPr bwMode="auto">
            <a:xfrm>
              <a:off x="7990159" y="2330350"/>
              <a:ext cx="0" cy="86028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5" name="Line 56"/>
            <p:cNvSpPr>
              <a:spLocks noChangeShapeType="1"/>
            </p:cNvSpPr>
            <p:nvPr/>
          </p:nvSpPr>
          <p:spPr bwMode="auto">
            <a:xfrm flipH="1">
              <a:off x="7507358" y="3589487"/>
              <a:ext cx="0" cy="9031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6" name="Line 57"/>
            <p:cNvSpPr>
              <a:spLocks noChangeShapeType="1"/>
            </p:cNvSpPr>
            <p:nvPr/>
          </p:nvSpPr>
          <p:spPr bwMode="auto">
            <a:xfrm flipH="1">
              <a:off x="8802827" y="3589487"/>
              <a:ext cx="0" cy="9031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7" name="Line 58"/>
            <p:cNvSpPr>
              <a:spLocks noChangeShapeType="1"/>
            </p:cNvSpPr>
            <p:nvPr/>
          </p:nvSpPr>
          <p:spPr bwMode="auto">
            <a:xfrm>
              <a:off x="7532757" y="4489458"/>
              <a:ext cx="127800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8" name="Line 59"/>
            <p:cNvSpPr>
              <a:spLocks noChangeShapeType="1"/>
            </p:cNvSpPr>
            <p:nvPr/>
          </p:nvSpPr>
          <p:spPr bwMode="auto">
            <a:xfrm flipV="1">
              <a:off x="7531171" y="4175605"/>
              <a:ext cx="127959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9" name="Line 60"/>
            <p:cNvSpPr>
              <a:spLocks noChangeShapeType="1"/>
            </p:cNvSpPr>
            <p:nvPr/>
          </p:nvSpPr>
          <p:spPr bwMode="auto">
            <a:xfrm flipV="1">
              <a:off x="7520058" y="3883550"/>
              <a:ext cx="129070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30" name="Rectangle 61"/>
            <p:cNvSpPr>
              <a:spLocks noChangeArrowheads="1"/>
            </p:cNvSpPr>
            <p:nvPr/>
          </p:nvSpPr>
          <p:spPr bwMode="auto">
            <a:xfrm>
              <a:off x="7794758" y="3537108"/>
              <a:ext cx="1188914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8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31" name="Rectangle 62"/>
            <p:cNvSpPr>
              <a:spLocks noChangeArrowheads="1"/>
            </p:cNvSpPr>
            <p:nvPr/>
          </p:nvSpPr>
          <p:spPr bwMode="auto">
            <a:xfrm>
              <a:off x="7680290" y="3252197"/>
              <a:ext cx="1350906" cy="387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32" name="Line 63"/>
            <p:cNvSpPr>
              <a:spLocks noChangeShapeType="1"/>
            </p:cNvSpPr>
            <p:nvPr/>
          </p:nvSpPr>
          <p:spPr bwMode="auto">
            <a:xfrm>
              <a:off x="7531170" y="3591074"/>
              <a:ext cx="1269945" cy="158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33" name="Line 64"/>
            <p:cNvSpPr>
              <a:spLocks noChangeShapeType="1"/>
            </p:cNvSpPr>
            <p:nvPr/>
          </p:nvSpPr>
          <p:spPr bwMode="auto">
            <a:xfrm>
              <a:off x="7794758" y="3603773"/>
              <a:ext cx="1587" cy="28253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34" name="Line 65"/>
            <p:cNvSpPr>
              <a:spLocks noChangeShapeType="1"/>
            </p:cNvSpPr>
            <p:nvPr/>
          </p:nvSpPr>
          <p:spPr bwMode="auto">
            <a:xfrm flipH="1">
              <a:off x="7801108" y="3902175"/>
              <a:ext cx="0" cy="57775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35" name="Rectangle 69"/>
            <p:cNvSpPr>
              <a:spLocks noChangeArrowheads="1"/>
            </p:cNvSpPr>
            <p:nvPr/>
          </p:nvSpPr>
          <p:spPr bwMode="auto">
            <a:xfrm>
              <a:off x="7054938" y="2817636"/>
              <a:ext cx="1166763" cy="4174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36" name="Rectangle 72"/>
            <p:cNvSpPr>
              <a:spLocks noChangeArrowheads="1"/>
            </p:cNvSpPr>
            <p:nvPr/>
          </p:nvSpPr>
          <p:spPr bwMode="auto">
            <a:xfrm>
              <a:off x="4465638" y="2417726"/>
              <a:ext cx="1242959" cy="3888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39" name="Line 103"/>
            <p:cNvSpPr>
              <a:spLocks noChangeShapeType="1"/>
            </p:cNvSpPr>
            <p:nvPr/>
          </p:nvSpPr>
          <p:spPr bwMode="auto">
            <a:xfrm flipH="1" flipV="1">
              <a:off x="6365875" y="2092325"/>
              <a:ext cx="269875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38" name="Line 17"/>
            <p:cNvSpPr>
              <a:spLocks noChangeShapeType="1"/>
            </p:cNvSpPr>
            <p:nvPr/>
          </p:nvSpPr>
          <p:spPr bwMode="auto">
            <a:xfrm>
              <a:off x="7094996" y="360303"/>
              <a:ext cx="0" cy="5920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39" name="Line 18"/>
            <p:cNvSpPr>
              <a:spLocks noChangeShapeType="1"/>
            </p:cNvSpPr>
            <p:nvPr/>
          </p:nvSpPr>
          <p:spPr bwMode="auto">
            <a:xfrm>
              <a:off x="8386621" y="360304"/>
              <a:ext cx="0" cy="59204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40" name="Line 19"/>
            <p:cNvSpPr>
              <a:spLocks noChangeShapeType="1"/>
            </p:cNvSpPr>
            <p:nvPr/>
          </p:nvSpPr>
          <p:spPr bwMode="auto">
            <a:xfrm flipV="1">
              <a:off x="7095503" y="952347"/>
              <a:ext cx="129645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41" name="Line 20"/>
            <p:cNvSpPr>
              <a:spLocks noChangeShapeType="1"/>
            </p:cNvSpPr>
            <p:nvPr/>
          </p:nvSpPr>
          <p:spPr bwMode="auto">
            <a:xfrm flipV="1">
              <a:off x="7096583" y="653945"/>
              <a:ext cx="128582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42" name="Rectangle 21"/>
            <p:cNvSpPr>
              <a:spLocks noChangeArrowheads="1"/>
            </p:cNvSpPr>
            <p:nvPr/>
          </p:nvSpPr>
          <p:spPr bwMode="auto">
            <a:xfrm>
              <a:off x="7339460" y="287463"/>
              <a:ext cx="1119165" cy="363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43" name="Line 22"/>
            <p:cNvSpPr>
              <a:spLocks noChangeShapeType="1"/>
            </p:cNvSpPr>
            <p:nvPr/>
          </p:nvSpPr>
          <p:spPr bwMode="auto">
            <a:xfrm>
              <a:off x="7083312" y="360303"/>
              <a:ext cx="130864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44" name="Line 23"/>
            <p:cNvSpPr>
              <a:spLocks noChangeShapeType="1"/>
            </p:cNvSpPr>
            <p:nvPr/>
          </p:nvSpPr>
          <p:spPr bwMode="auto">
            <a:xfrm>
              <a:off x="7378551" y="374588"/>
              <a:ext cx="0" cy="28411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45" name="Rectangle 40"/>
            <p:cNvSpPr>
              <a:spLocks noChangeArrowheads="1"/>
            </p:cNvSpPr>
            <p:nvPr/>
          </p:nvSpPr>
          <p:spPr bwMode="auto">
            <a:xfrm>
              <a:off x="7126744" y="615850"/>
              <a:ext cx="1220390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0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46" name="Line 24"/>
            <p:cNvSpPr>
              <a:spLocks noChangeShapeType="1"/>
            </p:cNvSpPr>
            <p:nvPr/>
          </p:nvSpPr>
          <p:spPr bwMode="auto">
            <a:xfrm>
              <a:off x="7378551" y="696799"/>
              <a:ext cx="0" cy="26983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249" name="Line 95"/>
            <p:cNvSpPr>
              <a:spLocks noChangeShapeType="1"/>
            </p:cNvSpPr>
            <p:nvPr/>
          </p:nvSpPr>
          <p:spPr bwMode="auto">
            <a:xfrm>
              <a:off x="6819900" y="2066925"/>
              <a:ext cx="0" cy="6318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0" name="Line 43"/>
            <p:cNvSpPr>
              <a:spLocks noChangeShapeType="1"/>
            </p:cNvSpPr>
            <p:nvPr/>
          </p:nvSpPr>
          <p:spPr bwMode="auto">
            <a:xfrm>
              <a:off x="6804025" y="2066925"/>
              <a:ext cx="246063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49" name="Line 51"/>
            <p:cNvSpPr>
              <a:spLocks noChangeShapeType="1"/>
            </p:cNvSpPr>
            <p:nvPr/>
          </p:nvSpPr>
          <p:spPr bwMode="auto">
            <a:xfrm flipH="1" flipV="1">
              <a:off x="6498916" y="2198608"/>
              <a:ext cx="821399" cy="43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50" name="Line 3"/>
            <p:cNvSpPr>
              <a:spLocks noChangeShapeType="1"/>
            </p:cNvSpPr>
            <p:nvPr/>
          </p:nvSpPr>
          <p:spPr bwMode="auto">
            <a:xfrm>
              <a:off x="6512257" y="1007117"/>
              <a:ext cx="0" cy="177783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51" name="Line 18"/>
            <p:cNvSpPr>
              <a:spLocks noChangeShapeType="1"/>
            </p:cNvSpPr>
            <p:nvPr/>
          </p:nvSpPr>
          <p:spPr bwMode="auto">
            <a:xfrm>
              <a:off x="8098601" y="362956"/>
              <a:ext cx="0" cy="58939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52" name="Line 33"/>
            <p:cNvSpPr>
              <a:spLocks noChangeShapeType="1"/>
            </p:cNvSpPr>
            <p:nvPr/>
          </p:nvSpPr>
          <p:spPr bwMode="auto">
            <a:xfrm>
              <a:off x="8105646" y="1370687"/>
              <a:ext cx="0" cy="32221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53" name="Line 57"/>
            <p:cNvSpPr>
              <a:spLocks noChangeShapeType="1"/>
            </p:cNvSpPr>
            <p:nvPr/>
          </p:nvSpPr>
          <p:spPr bwMode="auto">
            <a:xfrm flipH="1">
              <a:off x="8586812" y="3610543"/>
              <a:ext cx="0" cy="9031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54" name="Line 43"/>
            <p:cNvSpPr>
              <a:spLocks noChangeShapeType="1"/>
            </p:cNvSpPr>
            <p:nvPr/>
          </p:nvSpPr>
          <p:spPr bwMode="auto">
            <a:xfrm flipH="1">
              <a:off x="8350184" y="1980237"/>
              <a:ext cx="4763" cy="11967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258" name="Line 103"/>
            <p:cNvSpPr>
              <a:spLocks noChangeShapeType="1"/>
            </p:cNvSpPr>
            <p:nvPr/>
          </p:nvSpPr>
          <p:spPr bwMode="auto">
            <a:xfrm flipH="1">
              <a:off x="6356350" y="2381250"/>
              <a:ext cx="374650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9" name="Line 103"/>
            <p:cNvSpPr>
              <a:spLocks noChangeShapeType="1"/>
            </p:cNvSpPr>
            <p:nvPr/>
          </p:nvSpPr>
          <p:spPr bwMode="auto">
            <a:xfrm flipH="1" flipV="1">
              <a:off x="6359692" y="2692400"/>
              <a:ext cx="458928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0" name="Line 95"/>
            <p:cNvSpPr>
              <a:spLocks noChangeShapeType="1"/>
            </p:cNvSpPr>
            <p:nvPr/>
          </p:nvSpPr>
          <p:spPr bwMode="auto">
            <a:xfrm flipH="1">
              <a:off x="6732588" y="1511300"/>
              <a:ext cx="0" cy="865188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1" name="Line 95"/>
            <p:cNvSpPr>
              <a:spLocks noChangeShapeType="1"/>
            </p:cNvSpPr>
            <p:nvPr/>
          </p:nvSpPr>
          <p:spPr bwMode="auto">
            <a:xfrm flipH="1">
              <a:off x="6626225" y="825500"/>
              <a:ext cx="0" cy="12795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2" name="Line 43"/>
            <p:cNvSpPr>
              <a:spLocks noChangeShapeType="1"/>
            </p:cNvSpPr>
            <p:nvPr/>
          </p:nvSpPr>
          <p:spPr bwMode="auto">
            <a:xfrm flipV="1">
              <a:off x="6732588" y="1511300"/>
              <a:ext cx="284162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3" name="Line 43"/>
            <p:cNvSpPr>
              <a:spLocks noChangeShapeType="1"/>
            </p:cNvSpPr>
            <p:nvPr/>
          </p:nvSpPr>
          <p:spPr bwMode="auto">
            <a:xfrm>
              <a:off x="6635750" y="825500"/>
              <a:ext cx="471488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4" name="Line 95"/>
            <p:cNvSpPr>
              <a:spLocks noChangeShapeType="1"/>
            </p:cNvSpPr>
            <p:nvPr/>
          </p:nvSpPr>
          <p:spPr bwMode="auto">
            <a:xfrm flipH="1">
              <a:off x="8440737" y="3030538"/>
              <a:ext cx="0" cy="21590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5" name="Line 43"/>
            <p:cNvSpPr>
              <a:spLocks noChangeShapeType="1"/>
            </p:cNvSpPr>
            <p:nvPr/>
          </p:nvSpPr>
          <p:spPr bwMode="auto">
            <a:xfrm>
              <a:off x="7740649" y="3233739"/>
              <a:ext cx="0" cy="309562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6" name="Line 103"/>
            <p:cNvSpPr>
              <a:spLocks noChangeShapeType="1"/>
            </p:cNvSpPr>
            <p:nvPr/>
          </p:nvSpPr>
          <p:spPr bwMode="auto">
            <a:xfrm flipH="1" flipV="1">
              <a:off x="7740648" y="3233738"/>
              <a:ext cx="696913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64" name="Line 51"/>
            <p:cNvSpPr>
              <a:spLocks noChangeShapeType="1"/>
            </p:cNvSpPr>
            <p:nvPr/>
          </p:nvSpPr>
          <p:spPr bwMode="auto">
            <a:xfrm flipV="1">
              <a:off x="7570011" y="3277643"/>
              <a:ext cx="1" cy="38462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65" name="Line 51"/>
            <p:cNvSpPr>
              <a:spLocks noChangeShapeType="1"/>
            </p:cNvSpPr>
            <p:nvPr/>
          </p:nvSpPr>
          <p:spPr bwMode="auto">
            <a:xfrm flipH="1">
              <a:off x="6464638" y="1609715"/>
              <a:ext cx="736791" cy="1659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66" name="Line 103"/>
            <p:cNvSpPr>
              <a:spLocks noChangeShapeType="1"/>
            </p:cNvSpPr>
            <p:nvPr/>
          </p:nvSpPr>
          <p:spPr bwMode="auto">
            <a:xfrm flipH="1" flipV="1">
              <a:off x="6282255" y="556698"/>
              <a:ext cx="968484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67" name="Line 51"/>
            <p:cNvSpPr>
              <a:spLocks noChangeShapeType="1"/>
            </p:cNvSpPr>
            <p:nvPr/>
          </p:nvSpPr>
          <p:spPr bwMode="auto">
            <a:xfrm flipH="1">
              <a:off x="6300658" y="542412"/>
              <a:ext cx="0" cy="458199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2"/>
            <a:ext cx="8072438" cy="4089400"/>
          </a:xfrm>
        </p:spPr>
        <p:txBody>
          <a:bodyPr/>
          <a:lstStyle/>
          <a:p>
            <a:pPr algn="just" eaLnBrk="1" hangingPunct="1">
              <a:lnSpc>
                <a:spcPts val="3500"/>
              </a:lnSpc>
              <a:spcBef>
                <a:spcPct val="150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嵌套过程声明语句的文法</a:t>
            </a:r>
            <a:endParaRPr lang="en-US" altLang="zh-CN" b="1" dirty="0">
              <a:solidFill>
                <a:schemeClr val="tx1"/>
              </a:solidFill>
              <a:latin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3500"/>
              </a:lnSpc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	P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 </a:t>
            </a:r>
            <a:endParaRPr lang="en-US" altLang="zh-CN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3500"/>
              </a:lnSpc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	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 </a:t>
            </a:r>
            <a:r>
              <a:rPr lang="en-US" altLang="zh-CN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| </a:t>
            </a:r>
            <a:r>
              <a:rPr lang="en-US" altLang="zh-CN" b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proc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id ; 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 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 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| id : 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;</a:t>
            </a:r>
            <a:endParaRPr lang="en-US" altLang="zh-CN" b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在允许</a:t>
            </a:r>
            <a:r>
              <a:rPr lang="zh-CN" altLang="en-US" b="1" dirty="0">
                <a:solidFill>
                  <a:srgbClr val="0070C0"/>
                </a:solidFill>
                <a:latin typeface="+mn-ea"/>
                <a:cs typeface="Times New Roman" panose="02020603050405020304" pitchFamily="18" charset="0"/>
              </a:rPr>
              <a:t>嵌套过程声明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的语言中，</a:t>
            </a:r>
            <a:r>
              <a:rPr lang="zh-CN" altLang="en-US" b="1" dirty="0">
                <a:solidFill>
                  <a:srgbClr val="0070C0"/>
                </a:solidFill>
                <a:latin typeface="+mn-ea"/>
                <a:cs typeface="Times New Roman" panose="02020603050405020304" pitchFamily="18" charset="0"/>
              </a:rPr>
              <a:t>局部于每个过程的名字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可以使用第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6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章介绍的方法分配相对地址；</a:t>
            </a:r>
            <a:endParaRPr lang="en-US" altLang="zh-CN" b="1" dirty="0">
              <a:solidFill>
                <a:schemeClr val="tx1"/>
              </a:solidFill>
              <a:latin typeface="+mn-ea"/>
              <a:cs typeface="Times New Roman" panose="02020603050405020304" pitchFamily="18" charset="0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当看到</a:t>
            </a:r>
            <a:r>
              <a:rPr lang="zh-CN" altLang="en-US" b="1" dirty="0">
                <a:solidFill>
                  <a:srgbClr val="0070C0"/>
                </a:solidFill>
                <a:latin typeface="+mn-ea"/>
                <a:cs typeface="Times New Roman" panose="02020603050405020304" pitchFamily="18" charset="0"/>
              </a:rPr>
              <a:t>嵌套的过程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en-US" altLang="zh-CN" b="1" i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时，应暂时</a:t>
            </a:r>
            <a:r>
              <a:rPr lang="zh-CN" altLang="en-US" b="1" dirty="0">
                <a:solidFill>
                  <a:srgbClr val="0070C0"/>
                </a:solidFill>
                <a:latin typeface="+mn-ea"/>
                <a:cs typeface="Times New Roman" panose="02020603050405020304" pitchFamily="18" charset="0"/>
              </a:rPr>
              <a:t>挂起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对</a:t>
            </a:r>
            <a:r>
              <a:rPr lang="zh-CN" altLang="en-US" b="1" dirty="0">
                <a:solidFill>
                  <a:srgbClr val="0070C0"/>
                </a:solidFill>
                <a:latin typeface="+mn-ea"/>
                <a:cs typeface="Times New Roman" panose="02020603050405020304" pitchFamily="18" charset="0"/>
              </a:rPr>
              <a:t>外围过程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q</a:t>
            </a:r>
            <a:r>
              <a:rPr lang="en-US" altLang="zh-CN" b="1" i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声明语句的翻译，转而翻译过程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 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的声明语句。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en-US" altLang="zh-CN" b="1" i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处理完后，再接着翻译过程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q</a:t>
            </a:r>
            <a:r>
              <a:rPr lang="en-US" altLang="zh-CN" b="1" i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的剩余代码。</a:t>
            </a:r>
            <a:endParaRPr lang="en-US" altLang="zh-CN" b="1" dirty="0">
              <a:solidFill>
                <a:schemeClr val="tx1"/>
              </a:solidFill>
              <a:latin typeface="+mn-ea"/>
              <a:cs typeface="Times New Roman" panose="02020603050405020304" pitchFamily="18" charset="0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过程定义亦满足嵌套性，因此可以使用</a:t>
            </a:r>
            <a:r>
              <a:rPr lang="zh-CN" altLang="en-US" b="1" dirty="0">
                <a:solidFill>
                  <a:srgbClr val="0070C0"/>
                </a:solidFill>
                <a:latin typeface="+mn-ea"/>
                <a:cs typeface="Times New Roman" panose="02020603050405020304" pitchFamily="18" charset="0"/>
              </a:rPr>
              <a:t>栈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来管理不同过程的符号表指针</a:t>
            </a:r>
            <a:endParaRPr lang="en-US" altLang="zh-CN" b="1" dirty="0">
              <a:solidFill>
                <a:schemeClr val="tx1"/>
              </a:solidFill>
              <a:latin typeface="+mn-ea"/>
              <a:cs typeface="方正楷体_GB2312" charset="0"/>
            </a:endParaRPr>
          </a:p>
        </p:txBody>
      </p:sp>
      <p:sp>
        <p:nvSpPr>
          <p:cNvPr id="130051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符号表的建立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4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4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4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4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4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4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74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4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4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74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4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4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47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47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47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47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47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47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3"/>
          <p:cNvSpPr>
            <a:spLocks noGrp="1" noChangeArrowheads="1"/>
          </p:cNvSpPr>
          <p:nvPr>
            <p:ph idx="1"/>
          </p:nvPr>
        </p:nvSpPr>
        <p:spPr>
          <a:xfrm>
            <a:off x="107950" y="842963"/>
            <a:ext cx="7088188" cy="4465637"/>
          </a:xfrm>
        </p:spPr>
        <p:txBody>
          <a:bodyPr/>
          <a:lstStyle/>
          <a:p>
            <a:pPr>
              <a:lnSpc>
                <a:spcPts val="18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</a:rPr>
              <a:t>	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nil 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  <a:endParaRPr lang="en-US" altLang="zh-CN" sz="1800" b="1" dirty="0">
              <a:solidFill>
                <a:srgbClr val="0000FF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2</a:t>
            </a:r>
            <a:endParaRPr lang="en-US" altLang="zh-CN" sz="1800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proc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id ;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      		         </a:t>
            </a:r>
            <a:r>
              <a:rPr lang="en-US" altLang="zh-CN" sz="1800" b="1" i="1" dirty="0" err="1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)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	  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	  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     		         </a:t>
            </a:r>
            <a:r>
              <a:rPr lang="en-US" altLang="zh-CN" sz="1800" b="1" i="1" dirty="0" err="1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enterproc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id: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;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enter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T.type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)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       	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）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+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)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 </a:t>
            </a:r>
            <a:endParaRPr lang="zh-CN" altLang="en-US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132099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嵌套过程声明语句的</a:t>
            </a:r>
            <a:r>
              <a:rPr lang="en-US" altLang="zh-CN" sz="3000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SDT</a:t>
            </a:r>
            <a:endParaRPr lang="zh-CN" altLang="en-US" sz="3000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267268" name="AutoShape 4"/>
          <p:cNvSpPr>
            <a:spLocks noChangeArrowheads="1"/>
          </p:cNvSpPr>
          <p:nvPr/>
        </p:nvSpPr>
        <p:spPr bwMode="auto">
          <a:xfrm>
            <a:off x="3178174" y="1131888"/>
            <a:ext cx="5714305" cy="792162"/>
          </a:xfrm>
          <a:prstGeom prst="wedgeRectCallout">
            <a:avLst>
              <a:gd name="adj1" fmla="val -54824"/>
              <a:gd name="adj2" fmla="val 38471"/>
            </a:avLst>
          </a:prstGeom>
          <a:solidFill>
            <a:schemeClr val="accent5">
              <a:lumMod val="40000"/>
              <a:lumOff val="60000"/>
            </a:schemeClr>
          </a:solidFill>
          <a:ln w="9525" algn="ctr">
            <a:solidFill>
              <a:schemeClr val="tx1"/>
            </a:solidFill>
            <a:prstDash val="solid"/>
            <a:miter lim="800000"/>
          </a:ln>
        </p:spPr>
        <p:txBody>
          <a:bodyPr lIns="68580" tIns="34290" rIns="68580" bIns="34290" anchor="ctr"/>
          <a:lstStyle/>
          <a:p>
            <a:pPr eaLnBrk="1" hangingPunct="1">
              <a:defRPr/>
            </a:pPr>
            <a:r>
              <a:rPr lang="en-US" altLang="zh-CN" sz="1600" i="1" dirty="0" err="1">
                <a:solidFill>
                  <a:srgbClr val="FF0000"/>
                </a:solidFill>
                <a:ea typeface="方正楷体_GB2312" charset="0"/>
                <a:cs typeface="方正楷体_GB2312" charset="0"/>
              </a:rPr>
              <a:t>mktable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 previous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 )</a:t>
            </a:r>
            <a:endParaRPr lang="en-US" altLang="zh-CN" sz="1600" dirty="0">
              <a:solidFill>
                <a:srgbClr val="0000FF"/>
              </a:solidFill>
              <a:ea typeface="方正楷体_GB2312" charset="0"/>
              <a:cs typeface="方正楷体_GB2312" charset="0"/>
            </a:endParaRPr>
          </a:p>
          <a:p>
            <a:pPr eaLnBrk="1" hangingPunct="1">
              <a:defRPr/>
            </a:pP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创建一个</a:t>
            </a:r>
            <a:r>
              <a:rPr lang="zh-CN" altLang="en-US" sz="1600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新符号表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，其</a:t>
            </a:r>
            <a:r>
              <a:rPr lang="zh-CN" altLang="en-US" sz="1600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父过程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指针为</a:t>
            </a:r>
            <a:r>
              <a:rPr lang="en-US" altLang="zh-CN" sz="1600" i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previous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，并返回指向新表的指针。</a:t>
            </a:r>
            <a:endParaRPr lang="zh-CN" altLang="en-US" sz="1600" dirty="0">
              <a:solidFill>
                <a:prstClr val="black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67269" name="AutoShape 5"/>
          <p:cNvSpPr>
            <a:spLocks noChangeArrowheads="1"/>
          </p:cNvSpPr>
          <p:nvPr/>
        </p:nvSpPr>
        <p:spPr bwMode="auto">
          <a:xfrm>
            <a:off x="5148064" y="4299942"/>
            <a:ext cx="3945136" cy="785812"/>
          </a:xfrm>
          <a:prstGeom prst="wedgeRectCallout">
            <a:avLst>
              <a:gd name="adj1" fmla="val -40495"/>
              <a:gd name="adj2" fmla="val -67081"/>
            </a:avLst>
          </a:prstGeom>
          <a:solidFill>
            <a:schemeClr val="accent5">
              <a:lumMod val="40000"/>
              <a:lumOff val="60000"/>
            </a:schemeClr>
          </a:solidFill>
          <a:ln w="9525" algn="ctr">
            <a:solidFill>
              <a:schemeClr val="tx1"/>
            </a:solidFill>
            <a:prstDash val="solid"/>
            <a:miter lim="800000"/>
          </a:ln>
        </p:spPr>
        <p:txBody>
          <a:bodyPr lIns="68580" tIns="34290" rIns="68580" bIns="34290" anchor="ctr"/>
          <a:lstStyle/>
          <a:p>
            <a:pPr eaLnBrk="1" hangingPunct="1">
              <a:defRPr/>
            </a:pPr>
            <a:r>
              <a:rPr lang="en-US" altLang="zh-CN" sz="1600" i="1" dirty="0">
                <a:solidFill>
                  <a:srgbClr val="FF0000"/>
                </a:solidFill>
                <a:ea typeface="方正楷体_GB2312" charset="0"/>
                <a:cs typeface="方正楷体_GB2312" charset="0"/>
              </a:rPr>
              <a:t>enter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( 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table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, 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name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, 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type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, 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offset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 )</a:t>
            </a:r>
            <a:endParaRPr lang="en-US" altLang="zh-CN" sz="1600" dirty="0">
              <a:solidFill>
                <a:srgbClr val="0000FF"/>
              </a:solidFill>
              <a:ea typeface="方正楷体_GB2312" charset="0"/>
              <a:cs typeface="方正楷体_GB2312" charset="0"/>
            </a:endParaRPr>
          </a:p>
          <a:p>
            <a:pPr eaLnBrk="1" hangingPunct="1">
              <a:defRPr/>
            </a:pP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在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table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指向的符号表中为名字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name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建立一个新表项，类型为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type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，相对地址为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offset</a:t>
            </a:r>
            <a:endParaRPr lang="zh-CN" altLang="en-US" sz="1600" i="1" dirty="0">
              <a:solidFill>
                <a:prstClr val="black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2" name="AutoShape 16"/>
          <p:cNvSpPr>
            <a:spLocks noChangeArrowheads="1"/>
          </p:cNvSpPr>
          <p:nvPr/>
        </p:nvSpPr>
        <p:spPr bwMode="auto">
          <a:xfrm>
            <a:off x="3995737" y="1995686"/>
            <a:ext cx="4896741" cy="720527"/>
          </a:xfrm>
          <a:prstGeom prst="wedgeRectCallout">
            <a:avLst>
              <a:gd name="adj1" fmla="val -44256"/>
              <a:gd name="adj2" fmla="val 84948"/>
            </a:avLst>
          </a:prstGeom>
          <a:solidFill>
            <a:schemeClr val="accent5">
              <a:lumMod val="40000"/>
              <a:lumOff val="60000"/>
            </a:schemeClr>
          </a:solidFill>
          <a:ln w="9525" algn="ctr">
            <a:solidFill>
              <a:schemeClr val="tx1"/>
            </a:solidFill>
            <a:prstDash val="solid"/>
            <a:miter lim="800000"/>
          </a:ln>
        </p:spPr>
        <p:txBody>
          <a:bodyPr lIns="68580" tIns="34290" rIns="68580" bIns="34290" anchor="ctr"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zh-CN" sz="1600" i="1" dirty="0">
                <a:solidFill>
                  <a:srgbClr val="FF0000"/>
                </a:solidFill>
                <a:ea typeface="方正楷体_GB2312" charset="0"/>
                <a:cs typeface="方正楷体_GB2312" charset="0"/>
              </a:rPr>
              <a:t>addwidth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( 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table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, 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width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 )  </a:t>
            </a:r>
            <a:endParaRPr lang="en-US" altLang="zh-CN" sz="1600" dirty="0">
              <a:solidFill>
                <a:srgbClr val="0000FF"/>
              </a:solidFill>
              <a:ea typeface="方正楷体_GB2312" charset="0"/>
              <a:cs typeface="方正楷体_GB2312" charset="0"/>
            </a:endParaRPr>
          </a:p>
          <a:p>
            <a:pPr eaLnBrk="1" hangingPunct="1">
              <a:lnSpc>
                <a:spcPct val="90000"/>
              </a:lnSpc>
              <a:defRPr/>
            </a:pP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将符号表中所有局部数据宽度之和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width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记录在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table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指向的符号表表头中</a:t>
            </a:r>
            <a:endParaRPr lang="zh-CN" altLang="en-US" sz="1600" dirty="0">
              <a:solidFill>
                <a:prstClr val="black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3" name="AutoShape 15"/>
          <p:cNvSpPr>
            <a:spLocks noChangeArrowheads="1"/>
          </p:cNvSpPr>
          <p:nvPr/>
        </p:nvSpPr>
        <p:spPr bwMode="auto">
          <a:xfrm>
            <a:off x="4932041" y="2932113"/>
            <a:ext cx="4161160" cy="704850"/>
          </a:xfrm>
          <a:prstGeom prst="wedgeRectCallout">
            <a:avLst>
              <a:gd name="adj1" fmla="val -36727"/>
              <a:gd name="adj2" fmla="val 65014"/>
            </a:avLst>
          </a:prstGeom>
          <a:solidFill>
            <a:schemeClr val="accent5">
              <a:lumMod val="40000"/>
              <a:lumOff val="60000"/>
            </a:schemeClr>
          </a:solidFill>
          <a:ln w="9525" algn="ctr">
            <a:solidFill>
              <a:schemeClr val="tx1"/>
            </a:solidFill>
            <a:prstDash val="solid"/>
            <a:miter lim="800000"/>
          </a:ln>
        </p:spPr>
        <p:txBody>
          <a:bodyPr lIns="68580" tIns="34290" rIns="68580" bIns="34290" anchor="ctr"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zh-CN" sz="1600" i="1" dirty="0" err="1">
                <a:solidFill>
                  <a:srgbClr val="FF0000"/>
                </a:solidFill>
                <a:ea typeface="方正楷体_GB2312" charset="0"/>
                <a:cs typeface="方正楷体_GB2312" charset="0"/>
              </a:rPr>
              <a:t>enterproc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table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, 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name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, </a:t>
            </a:r>
            <a:r>
              <a:rPr lang="en-US" altLang="zh-CN" sz="1600" i="1" dirty="0" err="1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newtable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 )</a:t>
            </a:r>
            <a:endParaRPr lang="en-US" altLang="zh-CN" sz="1600" dirty="0">
              <a:solidFill>
                <a:srgbClr val="0000FF"/>
              </a:solidFill>
              <a:ea typeface="方正楷体_GB2312" charset="0"/>
              <a:cs typeface="方正楷体_GB2312" charset="0"/>
            </a:endParaRPr>
          </a:p>
          <a:p>
            <a:pPr eaLnBrk="1" hangingPunct="1">
              <a:defRPr/>
            </a:pP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在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table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指向的符号表中为过程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name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创建一条过程记录，</a:t>
            </a:r>
            <a:r>
              <a:rPr lang="en-US" altLang="zh-CN" sz="1600" i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newtable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指向过程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name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的符号表</a:t>
            </a:r>
            <a:endParaRPr lang="zh-CN" altLang="en-US" sz="1600" dirty="0">
              <a:solidFill>
                <a:prstClr val="black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5076056" y="411510"/>
            <a:ext cx="3816422" cy="64874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i="1" dirty="0" err="1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tblptr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栈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未处理完过程的符号表的指针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i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offset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栈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未处理完过程的可用偏移地址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672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672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67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2672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2672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2672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672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672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7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2672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/>
                                        <p:tgtEl>
                                          <p:spTgt spid="2672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2672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7268" grpId="0" animBg="1"/>
      <p:bldP spid="267268" grpId="1" animBg="1"/>
      <p:bldP spid="267269" grpId="0" animBg="1"/>
      <p:bldP spid="267269" grpId="1" animBg="1"/>
      <p:bldP spid="12" grpId="0" animBg="1"/>
      <p:bldP spid="12" grpId="1" animBg="1"/>
      <p:bldP spid="13" grpId="0" animBg="1"/>
      <p:bldP spid="13" grpId="1" animBg="1"/>
      <p:bldP spid="2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55575" y="828675"/>
            <a:ext cx="8177213" cy="4279900"/>
          </a:xfrm>
          <a:prstGeom prst="rect">
            <a:avLst/>
          </a:prstGeom>
          <a:noFill/>
          <a:ln>
            <a:noFill/>
          </a:ln>
        </p:spPr>
        <p:txBody>
          <a:bodyPr lIns="68580" tIns="34290" rIns="68580" bIns="34290">
            <a:spAutoFit/>
          </a:bodyPr>
          <a:lstStyle/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program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sort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(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output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);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[0..10]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of 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           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  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FF0000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zh-CN" altLang="en-US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exchang</a:t>
            </a:r>
            <a:r>
              <a:rPr lang="en-US" altLang="zh-CN" sz="2000" kern="0" dirty="0">
                <a:solidFill>
                  <a:srgbClr val="FF0000"/>
                </a:solidFill>
                <a:ea typeface="方正楷体_GB2312" charset="0"/>
              </a:rPr>
              <a:t>e</a:t>
            </a:r>
            <a:r>
              <a:rPr lang="en-US" altLang="zh-CN" sz="2000" kern="0" dirty="0">
                <a:ea typeface="方正楷体_GB2312" charset="0"/>
              </a:rPr>
              <a:t>(</a:t>
            </a:r>
            <a:r>
              <a:rPr lang="en-US" altLang="zh-CN" sz="2000" i="1" kern="0" dirty="0" err="1">
                <a:ea typeface="方正楷体_GB2312" charset="0"/>
              </a:rPr>
              <a:t>i</a:t>
            </a:r>
            <a:r>
              <a:rPr lang="en-US" altLang="zh-CN" sz="2000" kern="0" dirty="0"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exchang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zh-CN" altLang="en-US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ea typeface="方正楷体_GB2312" charset="0"/>
              </a:rPr>
              <a:t>(</a:t>
            </a:r>
            <a:r>
              <a:rPr lang="en-US" altLang="zh-CN" sz="2000" i="1" kern="0" dirty="0">
                <a:ea typeface="方正楷体_GB2312" charset="0"/>
              </a:rPr>
              <a:t>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k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v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function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ea typeface="方正楷体_GB2312" charset="0"/>
              </a:rPr>
              <a:t>(</a:t>
            </a:r>
            <a:r>
              <a:rPr lang="en-US" altLang="zh-CN" sz="2000" i="1" kern="0" dirty="0">
                <a:ea typeface="方正楷体_GB2312" charset="0"/>
              </a:rPr>
              <a:t>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z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r;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exchange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(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zh-CN" altLang="en-US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sort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 bwMode="auto">
          <a:xfrm>
            <a:off x="5286375" y="285750"/>
            <a:ext cx="2482850" cy="23907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80223"/>
          <p:cNvGrpSpPr/>
          <p:nvPr/>
        </p:nvGrpSpPr>
        <p:grpSpPr bwMode="auto">
          <a:xfrm>
            <a:off x="4886325" y="842963"/>
            <a:ext cx="2362200" cy="2327275"/>
            <a:chOff x="4885681" y="843558"/>
            <a:chExt cx="2362199" cy="2326457"/>
          </a:xfrm>
        </p:grpSpPr>
        <p:sp>
          <p:nvSpPr>
            <p:cNvPr id="136265" name="Line 2"/>
            <p:cNvSpPr>
              <a:spLocks noChangeShapeType="1"/>
            </p:cNvSpPr>
            <p:nvPr/>
          </p:nvSpPr>
          <p:spPr bwMode="auto">
            <a:xfrm>
              <a:off x="4885681" y="1384077"/>
              <a:ext cx="1587" cy="17859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66" name="Line 3"/>
            <p:cNvSpPr>
              <a:spLocks noChangeShapeType="1"/>
            </p:cNvSpPr>
            <p:nvPr/>
          </p:nvSpPr>
          <p:spPr bwMode="auto">
            <a:xfrm>
              <a:off x="6536482" y="1384077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67" name="Line 9"/>
            <p:cNvSpPr>
              <a:spLocks noChangeShapeType="1"/>
            </p:cNvSpPr>
            <p:nvPr/>
          </p:nvSpPr>
          <p:spPr bwMode="auto">
            <a:xfrm flipV="1">
              <a:off x="4887268" y="1695227"/>
              <a:ext cx="200925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68" name="Rectangle 10"/>
            <p:cNvSpPr>
              <a:spLocks noChangeArrowheads="1"/>
            </p:cNvSpPr>
            <p:nvPr/>
          </p:nvSpPr>
          <p:spPr bwMode="auto">
            <a:xfrm>
              <a:off x="5312717" y="1333277"/>
              <a:ext cx="193516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6269" name="Rectangle 11"/>
            <p:cNvSpPr>
              <a:spLocks noChangeArrowheads="1"/>
            </p:cNvSpPr>
            <p:nvPr/>
          </p:nvSpPr>
          <p:spPr bwMode="auto">
            <a:xfrm>
              <a:off x="5220072" y="1060227"/>
              <a:ext cx="1168400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6270" name="Line 12"/>
            <p:cNvSpPr>
              <a:spLocks noChangeShapeType="1"/>
            </p:cNvSpPr>
            <p:nvPr/>
          </p:nvSpPr>
          <p:spPr bwMode="auto">
            <a:xfrm flipV="1">
              <a:off x="4898380" y="1382490"/>
              <a:ext cx="2020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71" name="Line 13"/>
            <p:cNvSpPr>
              <a:spLocks noChangeShapeType="1"/>
            </p:cNvSpPr>
            <p:nvPr/>
          </p:nvSpPr>
          <p:spPr bwMode="auto">
            <a:xfrm>
              <a:off x="5263506" y="1398365"/>
              <a:ext cx="0" cy="2841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72" name="Line 14"/>
            <p:cNvSpPr>
              <a:spLocks noChangeShapeType="1"/>
            </p:cNvSpPr>
            <p:nvPr/>
          </p:nvSpPr>
          <p:spPr bwMode="auto">
            <a:xfrm>
              <a:off x="5960418" y="1671092"/>
              <a:ext cx="0" cy="14636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73" name="Line 3"/>
            <p:cNvSpPr>
              <a:spLocks noChangeShapeType="1"/>
            </p:cNvSpPr>
            <p:nvPr/>
          </p:nvSpPr>
          <p:spPr bwMode="auto">
            <a:xfrm>
              <a:off x="6908696" y="1371028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74" name="Line 95"/>
            <p:cNvSpPr>
              <a:spLocks noChangeShapeType="1"/>
            </p:cNvSpPr>
            <p:nvPr/>
          </p:nvSpPr>
          <p:spPr bwMode="auto">
            <a:xfrm>
              <a:off x="4957428" y="847725"/>
              <a:ext cx="0" cy="666377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75" name="Line 43"/>
            <p:cNvSpPr>
              <a:spLocks noChangeShapeType="1"/>
            </p:cNvSpPr>
            <p:nvPr/>
          </p:nvSpPr>
          <p:spPr bwMode="auto">
            <a:xfrm>
              <a:off x="4966140" y="843558"/>
              <a:ext cx="181924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80226" name="Rectangle 3"/>
          <p:cNvSpPr>
            <a:spLocks noGrp="1" noChangeArrowheads="1"/>
          </p:cNvSpPr>
          <p:nvPr>
            <p:ph idx="1"/>
          </p:nvPr>
        </p:nvSpPr>
        <p:spPr>
          <a:xfrm>
            <a:off x="107949" y="2441575"/>
            <a:ext cx="9036051" cy="2651125"/>
          </a:xfrm>
        </p:spPr>
        <p:txBody>
          <a:bodyPr/>
          <a:lstStyle/>
          <a:p>
            <a:pPr>
              <a:lnSpc>
                <a:spcPts val="18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nil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2</a:t>
            </a:r>
            <a:endParaRPr lang="en-US" altLang="zh-CN" sz="1800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proc id ;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  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enterproc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 }</a:t>
            </a:r>
            <a:r>
              <a:rPr lang="en-US" altLang="zh-CN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//</a:t>
            </a:r>
            <a:r>
              <a:rPr lang="zh-CN" altLang="en-US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将过程记入符号表</a:t>
            </a:r>
            <a:endParaRPr lang="en-US" altLang="zh-CN" sz="1800" b="1" dirty="0">
              <a:solidFill>
                <a:schemeClr val="accent3">
                  <a:lumMod val="5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id: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;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T.type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  </a:t>
            </a:r>
            <a:r>
              <a:rPr lang="en-US" altLang="zh-CN" sz="1800" b="1" dirty="0">
                <a:solidFill>
                  <a:schemeClr val="accent3">
                    <a:lumMod val="50000"/>
                  </a:schemeClr>
                </a:solidFill>
                <a:latin typeface="+mn-ea"/>
                <a:cs typeface="Times New Roman" panose="02020603050405020304" pitchFamily="18" charset="0"/>
              </a:rPr>
              <a:t>//</a:t>
            </a:r>
            <a:r>
              <a:rPr lang="zh-CN" altLang="en-US" sz="1800" b="1" dirty="0">
                <a:solidFill>
                  <a:schemeClr val="accent3">
                    <a:lumMod val="50000"/>
                  </a:schemeClr>
                </a:solidFill>
                <a:latin typeface="+mn-ea"/>
                <a:cs typeface="Times New Roman" panose="02020603050405020304" pitchFamily="18" charset="0"/>
              </a:rPr>
              <a:t>向栈顶的符号表添加表项</a:t>
            </a:r>
            <a:endParaRPr lang="en-US" altLang="zh-CN" sz="1800" b="1" dirty="0">
              <a:solidFill>
                <a:schemeClr val="accent3">
                  <a:lumMod val="50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       	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）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+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  </a:t>
            </a:r>
            <a:r>
              <a:rPr lang="en-US" altLang="zh-CN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//</a:t>
            </a:r>
            <a:r>
              <a:rPr lang="zh-CN" altLang="en-US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新建符号表</a:t>
            </a:r>
            <a:endParaRPr lang="zh-CN" altLang="en-US" sz="1800" b="1" dirty="0">
              <a:solidFill>
                <a:schemeClr val="accent3">
                  <a:lumMod val="5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3619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63" name="Line 103"/>
          <p:cNvSpPr>
            <a:spLocks noChangeShapeType="1"/>
          </p:cNvSpPr>
          <p:nvPr/>
        </p:nvSpPr>
        <p:spPr bwMode="auto">
          <a:xfrm flipH="1" flipV="1">
            <a:off x="6761163" y="2449513"/>
            <a:ext cx="269875" cy="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3" name="组合 180241"/>
          <p:cNvGrpSpPr/>
          <p:nvPr/>
        </p:nvGrpSpPr>
        <p:grpSpPr bwMode="auto">
          <a:xfrm>
            <a:off x="6678613" y="-92075"/>
            <a:ext cx="2238375" cy="1449388"/>
            <a:chOff x="6678686" y="-92546"/>
            <a:chExt cx="2238896" cy="1449933"/>
          </a:xfrm>
        </p:grpSpPr>
        <p:sp>
          <p:nvSpPr>
            <p:cNvPr id="136255" name="Rectangle 15"/>
            <p:cNvSpPr>
              <a:spLocks noChangeArrowheads="1"/>
            </p:cNvSpPr>
            <p:nvPr/>
          </p:nvSpPr>
          <p:spPr bwMode="auto">
            <a:xfrm>
              <a:off x="7488832" y="-92546"/>
              <a:ext cx="1428750" cy="428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readarrary</a:t>
              </a:r>
              <a:endParaRPr lang="en-US" altLang="zh-CN" sz="21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6256" name="Line 17"/>
            <p:cNvSpPr>
              <a:spLocks noChangeShapeType="1"/>
            </p:cNvSpPr>
            <p:nvPr/>
          </p:nvSpPr>
          <p:spPr bwMode="auto">
            <a:xfrm>
              <a:off x="7491461" y="283691"/>
              <a:ext cx="0" cy="5921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57" name="Line 18"/>
            <p:cNvSpPr>
              <a:spLocks noChangeShapeType="1"/>
            </p:cNvSpPr>
            <p:nvPr/>
          </p:nvSpPr>
          <p:spPr bwMode="auto">
            <a:xfrm>
              <a:off x="8783140" y="283691"/>
              <a:ext cx="1587" cy="620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6258" name="Line 20"/>
            <p:cNvSpPr>
              <a:spLocks noChangeShapeType="1"/>
            </p:cNvSpPr>
            <p:nvPr/>
          </p:nvSpPr>
          <p:spPr bwMode="auto">
            <a:xfrm flipV="1">
              <a:off x="7493048" y="577380"/>
              <a:ext cx="128587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59" name="Rectangle 21"/>
            <p:cNvSpPr>
              <a:spLocks noChangeArrowheads="1"/>
            </p:cNvSpPr>
            <p:nvPr/>
          </p:nvSpPr>
          <p:spPr bwMode="auto">
            <a:xfrm>
              <a:off x="7735936" y="210840"/>
              <a:ext cx="111921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6260" name="Line 22"/>
            <p:cNvSpPr>
              <a:spLocks noChangeShapeType="1"/>
            </p:cNvSpPr>
            <p:nvPr/>
          </p:nvSpPr>
          <p:spPr bwMode="auto">
            <a:xfrm>
              <a:off x="7483837" y="283691"/>
              <a:ext cx="129930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61" name="Line 24"/>
            <p:cNvSpPr>
              <a:spLocks noChangeShapeType="1"/>
            </p:cNvSpPr>
            <p:nvPr/>
          </p:nvSpPr>
          <p:spPr bwMode="auto">
            <a:xfrm flipH="1">
              <a:off x="7775028" y="286867"/>
              <a:ext cx="0" cy="6032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62" name="Line 18"/>
            <p:cNvSpPr>
              <a:spLocks noChangeShapeType="1"/>
            </p:cNvSpPr>
            <p:nvPr/>
          </p:nvSpPr>
          <p:spPr bwMode="auto">
            <a:xfrm>
              <a:off x="8495109" y="286345"/>
              <a:ext cx="0" cy="58684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63" name="Line 103"/>
            <p:cNvSpPr>
              <a:spLocks noChangeShapeType="1"/>
            </p:cNvSpPr>
            <p:nvPr/>
          </p:nvSpPr>
          <p:spPr bwMode="auto">
            <a:xfrm flipH="1" flipV="1">
              <a:off x="6678686" y="480117"/>
              <a:ext cx="96852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64" name="Line 51"/>
            <p:cNvSpPr>
              <a:spLocks noChangeShapeType="1"/>
            </p:cNvSpPr>
            <p:nvPr/>
          </p:nvSpPr>
          <p:spPr bwMode="auto">
            <a:xfrm>
              <a:off x="6684144" y="480116"/>
              <a:ext cx="12946" cy="87727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94" name="Rectangle 3"/>
          <p:cNvSpPr txBox="1">
            <a:spLocks noChangeArrowheads="1"/>
          </p:cNvSpPr>
          <p:nvPr/>
        </p:nvSpPr>
        <p:spPr bwMode="auto">
          <a:xfrm>
            <a:off x="1296988" y="71438"/>
            <a:ext cx="2482850" cy="23907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4" name="组合 5"/>
          <p:cNvGrpSpPr/>
          <p:nvPr/>
        </p:nvGrpSpPr>
        <p:grpSpPr bwMode="auto">
          <a:xfrm>
            <a:off x="5070475" y="79375"/>
            <a:ext cx="1517650" cy="969963"/>
            <a:chOff x="5069755" y="79300"/>
            <a:chExt cx="1518468" cy="970576"/>
          </a:xfrm>
        </p:grpSpPr>
        <p:sp>
          <p:nvSpPr>
            <p:cNvPr id="136246" name="Rectangle 78"/>
            <p:cNvSpPr>
              <a:spLocks noChangeArrowheads="1"/>
            </p:cNvSpPr>
            <p:nvPr/>
          </p:nvSpPr>
          <p:spPr bwMode="auto">
            <a:xfrm>
              <a:off x="5573811" y="79300"/>
              <a:ext cx="101441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r>
                <a:rPr lang="zh-CN" altLang="en-US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6247" name="Line 30"/>
            <p:cNvSpPr>
              <a:spLocks noChangeShapeType="1"/>
            </p:cNvSpPr>
            <p:nvPr/>
          </p:nvSpPr>
          <p:spPr bwMode="auto">
            <a:xfrm>
              <a:off x="5175270" y="149876"/>
              <a:ext cx="0" cy="900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48" name="Line 37"/>
            <p:cNvSpPr>
              <a:spLocks noChangeShapeType="1"/>
            </p:cNvSpPr>
            <p:nvPr/>
          </p:nvSpPr>
          <p:spPr bwMode="auto">
            <a:xfrm flipV="1">
              <a:off x="5166098" y="452784"/>
              <a:ext cx="141582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49" name="Rectangle 39"/>
            <p:cNvSpPr>
              <a:spLocks noChangeArrowheads="1"/>
            </p:cNvSpPr>
            <p:nvPr/>
          </p:nvSpPr>
          <p:spPr bwMode="auto">
            <a:xfrm>
              <a:off x="5069755" y="112637"/>
              <a:ext cx="51593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nil</a:t>
              </a:r>
              <a:endParaRPr lang="zh-CN" altLang="en-US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6250" name="Line 41"/>
            <p:cNvSpPr>
              <a:spLocks noChangeShapeType="1"/>
            </p:cNvSpPr>
            <p:nvPr/>
          </p:nvSpPr>
          <p:spPr bwMode="auto">
            <a:xfrm>
              <a:off x="5175622" y="165025"/>
              <a:ext cx="140000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51" name="Line 42"/>
            <p:cNvSpPr>
              <a:spLocks noChangeShapeType="1"/>
            </p:cNvSpPr>
            <p:nvPr/>
          </p:nvSpPr>
          <p:spPr bwMode="auto">
            <a:xfrm>
              <a:off x="5573811" y="180900"/>
              <a:ext cx="0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52" name="Line 43"/>
            <p:cNvSpPr>
              <a:spLocks noChangeShapeType="1"/>
            </p:cNvSpPr>
            <p:nvPr/>
          </p:nvSpPr>
          <p:spPr bwMode="auto">
            <a:xfrm>
              <a:off x="5573811" y="471412"/>
              <a:ext cx="0" cy="5762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53" name="Line 44"/>
            <p:cNvSpPr>
              <a:spLocks noChangeShapeType="1"/>
            </p:cNvSpPr>
            <p:nvPr/>
          </p:nvSpPr>
          <p:spPr bwMode="auto">
            <a:xfrm>
              <a:off x="6318882" y="161552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54" name="Line 44"/>
            <p:cNvSpPr>
              <a:spLocks noChangeShapeType="1"/>
            </p:cNvSpPr>
            <p:nvPr/>
          </p:nvSpPr>
          <p:spPr bwMode="auto">
            <a:xfrm>
              <a:off x="6581923" y="164231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5" name="组合 180235"/>
          <p:cNvGrpSpPr/>
          <p:nvPr/>
        </p:nvGrpSpPr>
        <p:grpSpPr bwMode="auto">
          <a:xfrm>
            <a:off x="3816350" y="-14288"/>
            <a:ext cx="1331913" cy="1649413"/>
            <a:chOff x="3816350" y="-15044"/>
            <a:chExt cx="1331714" cy="1649918"/>
          </a:xfrm>
        </p:grpSpPr>
        <p:sp>
          <p:nvSpPr>
            <p:cNvPr id="136238" name="Line 16"/>
            <p:cNvSpPr>
              <a:spLocks noChangeShapeType="1"/>
            </p:cNvSpPr>
            <p:nvPr/>
          </p:nvSpPr>
          <p:spPr bwMode="auto">
            <a:xfrm>
              <a:off x="3908022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39" name="Line 18"/>
            <p:cNvSpPr>
              <a:spLocks noChangeShapeType="1"/>
            </p:cNvSpPr>
            <p:nvPr/>
          </p:nvSpPr>
          <p:spPr bwMode="auto">
            <a:xfrm flipH="1" flipV="1">
              <a:off x="4355976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40" name="Line 19"/>
            <p:cNvSpPr>
              <a:spLocks noChangeShapeType="1"/>
            </p:cNvSpPr>
            <p:nvPr/>
          </p:nvSpPr>
          <p:spPr bwMode="auto">
            <a:xfrm>
              <a:off x="4484086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41" name="Line 20"/>
            <p:cNvSpPr>
              <a:spLocks noChangeShapeType="1"/>
            </p:cNvSpPr>
            <p:nvPr/>
          </p:nvSpPr>
          <p:spPr bwMode="auto">
            <a:xfrm>
              <a:off x="4491924" y="339502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42" name="Line 21"/>
            <p:cNvSpPr>
              <a:spLocks noChangeShapeType="1"/>
            </p:cNvSpPr>
            <p:nvPr/>
          </p:nvSpPr>
          <p:spPr bwMode="auto">
            <a:xfrm flipH="1" flipV="1">
              <a:off x="4771399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43" name="Text Box 22"/>
            <p:cNvSpPr txBox="1">
              <a:spLocks noChangeArrowheads="1"/>
            </p:cNvSpPr>
            <p:nvPr/>
          </p:nvSpPr>
          <p:spPr bwMode="auto">
            <a:xfrm>
              <a:off x="3816350" y="-15044"/>
              <a:ext cx="755650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offset</a:t>
              </a:r>
              <a:endParaRPr lang="en-US" altLang="zh-CN" sz="1800" b="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6244" name="Text Box 26"/>
            <p:cNvSpPr txBox="1">
              <a:spLocks noChangeArrowheads="1"/>
            </p:cNvSpPr>
            <p:nvPr/>
          </p:nvSpPr>
          <p:spPr bwMode="auto">
            <a:xfrm>
              <a:off x="4390827" y="-3398"/>
              <a:ext cx="757237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tblptr</a:t>
              </a:r>
              <a:endParaRPr lang="en-US" altLang="zh-CN" sz="1800" b="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6245" name="Line 20"/>
            <p:cNvSpPr>
              <a:spLocks noChangeShapeType="1"/>
            </p:cNvSpPr>
            <p:nvPr/>
          </p:nvSpPr>
          <p:spPr bwMode="auto">
            <a:xfrm flipV="1">
              <a:off x="3908022" y="334865"/>
              <a:ext cx="434883" cy="46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27" name="Line 20"/>
          <p:cNvSpPr>
            <a:spLocks noChangeShapeType="1"/>
          </p:cNvSpPr>
          <p:nvPr/>
        </p:nvSpPr>
        <p:spPr bwMode="auto">
          <a:xfrm flipV="1">
            <a:off x="1296988" y="268288"/>
            <a:ext cx="142557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38" name="Line 20"/>
          <p:cNvSpPr>
            <a:spLocks noChangeShapeType="1"/>
          </p:cNvSpPr>
          <p:nvPr/>
        </p:nvSpPr>
        <p:spPr bwMode="auto">
          <a:xfrm flipV="1">
            <a:off x="1633538" y="492702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6" name="组合 180224"/>
          <p:cNvGrpSpPr/>
          <p:nvPr/>
        </p:nvGrpSpPr>
        <p:grpSpPr bwMode="auto">
          <a:xfrm>
            <a:off x="4881563" y="1639888"/>
            <a:ext cx="2038350" cy="361950"/>
            <a:chOff x="4880918" y="1639665"/>
            <a:chExt cx="2038349" cy="361950"/>
          </a:xfrm>
        </p:grpSpPr>
        <p:sp>
          <p:nvSpPr>
            <p:cNvPr id="136236" name="Rectangle 25"/>
            <p:cNvSpPr>
              <a:spLocks noChangeArrowheads="1"/>
            </p:cNvSpPr>
            <p:nvPr/>
          </p:nvSpPr>
          <p:spPr bwMode="auto">
            <a:xfrm>
              <a:off x="4880918" y="1639665"/>
              <a:ext cx="2038349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array  0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6237" name="Line 8"/>
            <p:cNvSpPr>
              <a:spLocks noChangeShapeType="1"/>
            </p:cNvSpPr>
            <p:nvPr/>
          </p:nvSpPr>
          <p:spPr bwMode="auto">
            <a:xfrm>
              <a:off x="4898381" y="1990502"/>
              <a:ext cx="2020886" cy="15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2" name="Line 20"/>
          <p:cNvSpPr>
            <a:spLocks noChangeShapeType="1"/>
          </p:cNvSpPr>
          <p:nvPr/>
        </p:nvSpPr>
        <p:spPr bwMode="auto">
          <a:xfrm>
            <a:off x="2982913" y="503670"/>
            <a:ext cx="37782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7" name="组合 180236"/>
          <p:cNvGrpSpPr/>
          <p:nvPr/>
        </p:nvGrpSpPr>
        <p:grpSpPr bwMode="auto">
          <a:xfrm>
            <a:off x="3913188" y="311150"/>
            <a:ext cx="1266825" cy="315913"/>
            <a:chOff x="3913756" y="310816"/>
            <a:chExt cx="1266106" cy="316804"/>
          </a:xfrm>
        </p:grpSpPr>
        <p:sp>
          <p:nvSpPr>
            <p:cNvPr id="136233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24" name="直接箭头连接符 123"/>
            <p:cNvCxnSpPr/>
            <p:nvPr/>
          </p:nvCxnSpPr>
          <p:spPr>
            <a:xfrm flipV="1">
              <a:off x="4616619" y="310816"/>
              <a:ext cx="563243" cy="165566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矩形 150"/>
            <p:cNvSpPr/>
            <p:nvPr/>
          </p:nvSpPr>
          <p:spPr>
            <a:xfrm>
              <a:off x="3913756" y="334696"/>
              <a:ext cx="439487" cy="292924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组合 180238"/>
          <p:cNvGrpSpPr/>
          <p:nvPr/>
        </p:nvGrpSpPr>
        <p:grpSpPr bwMode="auto">
          <a:xfrm>
            <a:off x="3908425" y="626428"/>
            <a:ext cx="990600" cy="780097"/>
            <a:chOff x="3907724" y="626940"/>
            <a:chExt cx="990625" cy="779635"/>
          </a:xfrm>
        </p:grpSpPr>
        <p:sp>
          <p:nvSpPr>
            <p:cNvPr id="136230" name="Line 20"/>
            <p:cNvSpPr>
              <a:spLocks noChangeShapeType="1"/>
            </p:cNvSpPr>
            <p:nvPr/>
          </p:nvSpPr>
          <p:spPr bwMode="auto">
            <a:xfrm>
              <a:off x="4499992" y="926397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33" name="直接箭头连接符 132"/>
            <p:cNvCxnSpPr/>
            <p:nvPr/>
          </p:nvCxnSpPr>
          <p:spPr>
            <a:xfrm>
              <a:off x="4617355" y="771951"/>
              <a:ext cx="280994" cy="634624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矩形 152"/>
            <p:cNvSpPr/>
            <p:nvPr/>
          </p:nvSpPr>
          <p:spPr>
            <a:xfrm>
              <a:off x="3907724" y="626940"/>
              <a:ext cx="446483" cy="291927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0232" name="矩形 180231"/>
          <p:cNvSpPr/>
          <p:nvPr/>
        </p:nvSpPr>
        <p:spPr>
          <a:xfrm>
            <a:off x="3911872" y="613092"/>
            <a:ext cx="439737" cy="309245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44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组合 180240"/>
          <p:cNvGrpSpPr/>
          <p:nvPr/>
        </p:nvGrpSpPr>
        <p:grpSpPr bwMode="auto">
          <a:xfrm>
            <a:off x="4897438" y="1943100"/>
            <a:ext cx="2071687" cy="363538"/>
            <a:chOff x="4897836" y="1942382"/>
            <a:chExt cx="2070694" cy="363537"/>
          </a:xfrm>
        </p:grpSpPr>
        <p:sp>
          <p:nvSpPr>
            <p:cNvPr id="136228" name="Line 7"/>
            <p:cNvSpPr>
              <a:spLocks noChangeShapeType="1"/>
            </p:cNvSpPr>
            <p:nvPr/>
          </p:nvSpPr>
          <p:spPr bwMode="auto">
            <a:xfrm flipV="1">
              <a:off x="4899967" y="2282602"/>
              <a:ext cx="201832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6229" name="Rectangle 26"/>
            <p:cNvSpPr>
              <a:spLocks noChangeArrowheads="1"/>
            </p:cNvSpPr>
            <p:nvPr/>
          </p:nvSpPr>
          <p:spPr bwMode="auto">
            <a:xfrm>
              <a:off x="4897836" y="1942382"/>
              <a:ext cx="2070694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x 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44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64" name="矩形 163"/>
          <p:cNvSpPr/>
          <p:nvPr/>
        </p:nvSpPr>
        <p:spPr>
          <a:xfrm>
            <a:off x="3913725" y="606875"/>
            <a:ext cx="439738" cy="31848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Line 20"/>
          <p:cNvSpPr>
            <a:spLocks noChangeShapeType="1"/>
          </p:cNvSpPr>
          <p:nvPr/>
        </p:nvSpPr>
        <p:spPr bwMode="auto">
          <a:xfrm>
            <a:off x="1633538" y="700088"/>
            <a:ext cx="14271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0" name="组合 166"/>
          <p:cNvGrpSpPr/>
          <p:nvPr/>
        </p:nvGrpSpPr>
        <p:grpSpPr bwMode="auto">
          <a:xfrm>
            <a:off x="3913505" y="579565"/>
            <a:ext cx="3562350" cy="638175"/>
            <a:chOff x="3913756" y="-10450"/>
            <a:chExt cx="3562797" cy="638070"/>
          </a:xfrm>
        </p:grpSpPr>
        <p:sp>
          <p:nvSpPr>
            <p:cNvPr id="136225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69" name="直接箭头连接符 168"/>
            <p:cNvCxnSpPr/>
            <p:nvPr/>
          </p:nvCxnSpPr>
          <p:spPr>
            <a:xfrm flipV="1">
              <a:off x="4617107" y="-10450"/>
              <a:ext cx="2859446" cy="487282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矩形 169"/>
            <p:cNvSpPr/>
            <p:nvPr/>
          </p:nvSpPr>
          <p:spPr>
            <a:xfrm>
              <a:off x="3913756" y="335568"/>
              <a:ext cx="439793" cy="2920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2" name="Line 20"/>
          <p:cNvSpPr>
            <a:spLocks noChangeShapeType="1"/>
          </p:cNvSpPr>
          <p:nvPr/>
        </p:nvSpPr>
        <p:spPr bwMode="auto">
          <a:xfrm flipV="1">
            <a:off x="1785938" y="922338"/>
            <a:ext cx="842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1" name="组合 180243"/>
          <p:cNvGrpSpPr/>
          <p:nvPr/>
        </p:nvGrpSpPr>
        <p:grpSpPr bwMode="auto">
          <a:xfrm>
            <a:off x="7478712" y="539750"/>
            <a:ext cx="1303866" cy="361950"/>
            <a:chOff x="7478764" y="539279"/>
            <a:chExt cx="1303503" cy="361950"/>
          </a:xfrm>
        </p:grpSpPr>
        <p:sp>
          <p:nvSpPr>
            <p:cNvPr id="136223" name="Line 19"/>
            <p:cNvSpPr>
              <a:spLocks noChangeShapeType="1"/>
            </p:cNvSpPr>
            <p:nvPr/>
          </p:nvSpPr>
          <p:spPr bwMode="auto">
            <a:xfrm flipV="1">
              <a:off x="7478764" y="875829"/>
              <a:ext cx="130350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24" name="Rectangle 40"/>
            <p:cNvSpPr>
              <a:spLocks noChangeArrowheads="1"/>
            </p:cNvSpPr>
            <p:nvPr/>
          </p:nvSpPr>
          <p:spPr bwMode="auto">
            <a:xfrm>
              <a:off x="7523211" y="539279"/>
              <a:ext cx="122044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0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76" name="矩形 175"/>
          <p:cNvSpPr/>
          <p:nvPr/>
        </p:nvSpPr>
        <p:spPr>
          <a:xfrm>
            <a:off x="3910662" y="922339"/>
            <a:ext cx="445195" cy="309244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Line 20"/>
          <p:cNvSpPr>
            <a:spLocks noChangeShapeType="1"/>
          </p:cNvSpPr>
          <p:nvPr/>
        </p:nvSpPr>
        <p:spPr bwMode="auto">
          <a:xfrm flipV="1">
            <a:off x="2773363" y="9159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8503920" y="283210"/>
            <a:ext cx="271463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组合 180244"/>
          <p:cNvGrpSpPr/>
          <p:nvPr/>
        </p:nvGrpSpPr>
        <p:grpSpPr bwMode="auto">
          <a:xfrm>
            <a:off x="4862513" y="739775"/>
            <a:ext cx="2640012" cy="1817688"/>
            <a:chOff x="4861992" y="739181"/>
            <a:chExt cx="2640954" cy="1818058"/>
          </a:xfrm>
        </p:grpSpPr>
        <p:sp>
          <p:nvSpPr>
            <p:cNvPr id="84" name="Line 95"/>
            <p:cNvSpPr>
              <a:spLocks noChangeShapeType="1"/>
            </p:cNvSpPr>
            <p:nvPr/>
          </p:nvSpPr>
          <p:spPr bwMode="auto">
            <a:xfrm>
              <a:off x="7018586" y="739181"/>
              <a:ext cx="3176" cy="1722789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6" name="Line 43"/>
            <p:cNvSpPr>
              <a:spLocks noChangeShapeType="1"/>
            </p:cNvSpPr>
            <p:nvPr/>
          </p:nvSpPr>
          <p:spPr bwMode="auto">
            <a:xfrm>
              <a:off x="7031291" y="750296"/>
              <a:ext cx="471655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6221" name="Line 6"/>
            <p:cNvSpPr>
              <a:spLocks noChangeShapeType="1"/>
            </p:cNvSpPr>
            <p:nvPr/>
          </p:nvSpPr>
          <p:spPr bwMode="auto">
            <a:xfrm flipV="1">
              <a:off x="4874568" y="2557239"/>
              <a:ext cx="204451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6222" name="Rectangle 28"/>
            <p:cNvSpPr>
              <a:spLocks noChangeArrowheads="1"/>
            </p:cNvSpPr>
            <p:nvPr/>
          </p:nvSpPr>
          <p:spPr bwMode="auto">
            <a:xfrm>
              <a:off x="4861992" y="2192115"/>
              <a:ext cx="1314450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readarray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" dur="250" autoRev="1" fill="remove"/>
                                        <p:tgtEl>
                                          <p:spTgt spid="180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4" dur="250" autoRev="1" fill="remove"/>
                                        <p:tgtEl>
                                          <p:spTgt spid="180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180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50" autoRev="1" fill="remove"/>
                                        <p:tgtEl>
                                          <p:spTgt spid="180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250" autoRev="1" fill="remove"/>
                                        <p:tgtEl>
                                          <p:spTgt spid="180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9" dur="250" autoRev="1" fill="remove"/>
                                        <p:tgtEl>
                                          <p:spTgt spid="180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0" dur="250" autoRev="1" fill="remove"/>
                                        <p:tgtEl>
                                          <p:spTgt spid="180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1" dur="250" autoRev="1" fill="remove"/>
                                        <p:tgtEl>
                                          <p:spTgt spid="180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7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8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4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5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6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7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9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80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1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2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80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7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08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09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0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2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13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14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5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0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41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42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3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2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8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69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70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1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73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74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75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6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4" fill="hold">
                      <p:stCondLst>
                        <p:cond delay="indefinite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8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5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6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1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02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03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4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6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07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08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9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4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7" fill="hold">
                      <p:stCondLst>
                        <p:cond delay="indefinite"/>
                      </p:stCondLst>
                      <p:childTnLst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2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1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25" dur="500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6" dur="500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7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8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9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7" grpId="0" animBg="1"/>
      <p:bldP spid="138" grpId="0" animBg="1"/>
      <p:bldP spid="142" grpId="0" animBg="1"/>
      <p:bldP spid="180232" grpId="0" animBg="1"/>
      <p:bldP spid="164" grpId="0" animBg="1"/>
      <p:bldP spid="165" grpId="0" animBg="1"/>
      <p:bldP spid="172" grpId="0" animBg="1"/>
      <p:bldP spid="176" grpId="0" animBg="1"/>
      <p:bldP spid="176" grpId="1" animBg="1"/>
      <p:bldP spid="177" grpId="0" animBg="1"/>
      <p:bldP spid="178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8242" name="组合 180223"/>
          <p:cNvGrpSpPr/>
          <p:nvPr/>
        </p:nvGrpSpPr>
        <p:grpSpPr bwMode="auto">
          <a:xfrm>
            <a:off x="4886325" y="842963"/>
            <a:ext cx="2362200" cy="2327275"/>
            <a:chOff x="4885681" y="843558"/>
            <a:chExt cx="2362199" cy="2326457"/>
          </a:xfrm>
        </p:grpSpPr>
        <p:sp>
          <p:nvSpPr>
            <p:cNvPr id="138331" name="Line 2"/>
            <p:cNvSpPr>
              <a:spLocks noChangeShapeType="1"/>
            </p:cNvSpPr>
            <p:nvPr/>
          </p:nvSpPr>
          <p:spPr bwMode="auto">
            <a:xfrm>
              <a:off x="4885681" y="1384077"/>
              <a:ext cx="1587" cy="17859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32" name="Line 3"/>
            <p:cNvSpPr>
              <a:spLocks noChangeShapeType="1"/>
            </p:cNvSpPr>
            <p:nvPr/>
          </p:nvSpPr>
          <p:spPr bwMode="auto">
            <a:xfrm>
              <a:off x="6536482" y="1384077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33" name="Line 9"/>
            <p:cNvSpPr>
              <a:spLocks noChangeShapeType="1"/>
            </p:cNvSpPr>
            <p:nvPr/>
          </p:nvSpPr>
          <p:spPr bwMode="auto">
            <a:xfrm flipV="1">
              <a:off x="4887268" y="1695227"/>
              <a:ext cx="200925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34" name="Rectangle 10"/>
            <p:cNvSpPr>
              <a:spLocks noChangeArrowheads="1"/>
            </p:cNvSpPr>
            <p:nvPr/>
          </p:nvSpPr>
          <p:spPr bwMode="auto">
            <a:xfrm>
              <a:off x="5312717" y="1333277"/>
              <a:ext cx="193516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335" name="Rectangle 11"/>
            <p:cNvSpPr>
              <a:spLocks noChangeArrowheads="1"/>
            </p:cNvSpPr>
            <p:nvPr/>
          </p:nvSpPr>
          <p:spPr bwMode="auto">
            <a:xfrm>
              <a:off x="5220072" y="1060227"/>
              <a:ext cx="1168400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336" name="Line 12"/>
            <p:cNvSpPr>
              <a:spLocks noChangeShapeType="1"/>
            </p:cNvSpPr>
            <p:nvPr/>
          </p:nvSpPr>
          <p:spPr bwMode="auto">
            <a:xfrm flipV="1">
              <a:off x="4898380" y="1382490"/>
              <a:ext cx="2020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37" name="Line 13"/>
            <p:cNvSpPr>
              <a:spLocks noChangeShapeType="1"/>
            </p:cNvSpPr>
            <p:nvPr/>
          </p:nvSpPr>
          <p:spPr bwMode="auto">
            <a:xfrm>
              <a:off x="5263506" y="1398365"/>
              <a:ext cx="0" cy="2841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38" name="Line 14"/>
            <p:cNvSpPr>
              <a:spLocks noChangeShapeType="1"/>
            </p:cNvSpPr>
            <p:nvPr/>
          </p:nvSpPr>
          <p:spPr bwMode="auto">
            <a:xfrm>
              <a:off x="5960418" y="1671092"/>
              <a:ext cx="0" cy="14636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39" name="Line 3"/>
            <p:cNvSpPr>
              <a:spLocks noChangeShapeType="1"/>
            </p:cNvSpPr>
            <p:nvPr/>
          </p:nvSpPr>
          <p:spPr bwMode="auto">
            <a:xfrm>
              <a:off x="6908696" y="1376106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40" name="Line 95"/>
            <p:cNvSpPr>
              <a:spLocks noChangeShapeType="1"/>
            </p:cNvSpPr>
            <p:nvPr/>
          </p:nvSpPr>
          <p:spPr bwMode="auto">
            <a:xfrm>
              <a:off x="4957428" y="847725"/>
              <a:ext cx="0" cy="666377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41" name="Line 43"/>
            <p:cNvSpPr>
              <a:spLocks noChangeShapeType="1"/>
            </p:cNvSpPr>
            <p:nvPr/>
          </p:nvSpPr>
          <p:spPr bwMode="auto">
            <a:xfrm>
              <a:off x="4966140" y="843558"/>
              <a:ext cx="181924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80226" name="Rectangle 3"/>
          <p:cNvSpPr>
            <a:spLocks noGrp="1" noChangeArrowheads="1"/>
          </p:cNvSpPr>
          <p:nvPr>
            <p:ph idx="1"/>
          </p:nvPr>
        </p:nvSpPr>
        <p:spPr>
          <a:xfrm>
            <a:off x="107949" y="2441575"/>
            <a:ext cx="9036050" cy="2651125"/>
          </a:xfrm>
        </p:spPr>
        <p:txBody>
          <a:bodyPr/>
          <a:lstStyle/>
          <a:p>
            <a:pPr>
              <a:lnSpc>
                <a:spcPts val="18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nil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2</a:t>
            </a:r>
            <a:endParaRPr lang="en-US" altLang="zh-CN" sz="1800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proc id ;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  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enterproc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  <a:r>
              <a:rPr lang="en-US" altLang="zh-CN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//</a:t>
            </a:r>
            <a:r>
              <a:rPr lang="zh-CN" altLang="en-US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将过程记入符号表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id: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;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T.type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r>
              <a:rPr lang="en-US" altLang="zh-CN" sz="1800" b="1" dirty="0">
                <a:solidFill>
                  <a:schemeClr val="accent3">
                    <a:lumMod val="50000"/>
                  </a:schemeClr>
                </a:solidFill>
                <a:latin typeface="+mn-ea"/>
                <a:cs typeface="Times New Roman" panose="02020603050405020304" pitchFamily="18" charset="0"/>
              </a:rPr>
              <a:t>//</a:t>
            </a:r>
            <a:r>
              <a:rPr lang="zh-CN" altLang="en-US" sz="1800" b="1" dirty="0">
                <a:solidFill>
                  <a:schemeClr val="accent3">
                    <a:lumMod val="50000"/>
                  </a:schemeClr>
                </a:solidFill>
                <a:latin typeface="+mn-ea"/>
                <a:cs typeface="Times New Roman" panose="02020603050405020304" pitchFamily="18" charset="0"/>
              </a:rPr>
              <a:t>向栈顶的符号表添加表项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       	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）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+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 </a:t>
            </a:r>
            <a:r>
              <a:rPr lang="en-US" altLang="zh-CN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//</a:t>
            </a:r>
            <a:r>
              <a:rPr lang="zh-CN" altLang="en-US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新建符号表</a:t>
            </a:r>
            <a:endParaRPr lang="zh-CN" altLang="en-US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13824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 i="1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63" name="Line 103"/>
          <p:cNvSpPr>
            <a:spLocks noChangeShapeType="1"/>
          </p:cNvSpPr>
          <p:nvPr/>
        </p:nvSpPr>
        <p:spPr bwMode="auto">
          <a:xfrm flipH="1" flipV="1">
            <a:off x="6761163" y="2449513"/>
            <a:ext cx="269875" cy="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138246" name="组合 180241"/>
          <p:cNvGrpSpPr/>
          <p:nvPr/>
        </p:nvGrpSpPr>
        <p:grpSpPr bwMode="auto">
          <a:xfrm>
            <a:off x="6678613" y="-92075"/>
            <a:ext cx="2238375" cy="1449388"/>
            <a:chOff x="6678686" y="-92546"/>
            <a:chExt cx="2238896" cy="1449933"/>
          </a:xfrm>
        </p:grpSpPr>
        <p:sp>
          <p:nvSpPr>
            <p:cNvPr id="138321" name="Rectangle 15"/>
            <p:cNvSpPr>
              <a:spLocks noChangeArrowheads="1"/>
            </p:cNvSpPr>
            <p:nvPr/>
          </p:nvSpPr>
          <p:spPr bwMode="auto">
            <a:xfrm>
              <a:off x="7488832" y="-92546"/>
              <a:ext cx="1428750" cy="428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readarrary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322" name="Line 17"/>
            <p:cNvSpPr>
              <a:spLocks noChangeShapeType="1"/>
            </p:cNvSpPr>
            <p:nvPr/>
          </p:nvSpPr>
          <p:spPr bwMode="auto">
            <a:xfrm>
              <a:off x="7491461" y="283691"/>
              <a:ext cx="0" cy="5921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23" name="Line 18"/>
            <p:cNvSpPr>
              <a:spLocks noChangeShapeType="1"/>
            </p:cNvSpPr>
            <p:nvPr/>
          </p:nvSpPr>
          <p:spPr bwMode="auto">
            <a:xfrm>
              <a:off x="8783141" y="283691"/>
              <a:ext cx="0" cy="60333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24" name="Line 20"/>
            <p:cNvSpPr>
              <a:spLocks noChangeShapeType="1"/>
            </p:cNvSpPr>
            <p:nvPr/>
          </p:nvSpPr>
          <p:spPr bwMode="auto">
            <a:xfrm flipV="1">
              <a:off x="7493048" y="577380"/>
              <a:ext cx="128587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25" name="Rectangle 21"/>
            <p:cNvSpPr>
              <a:spLocks noChangeArrowheads="1"/>
            </p:cNvSpPr>
            <p:nvPr/>
          </p:nvSpPr>
          <p:spPr bwMode="auto">
            <a:xfrm>
              <a:off x="7735936" y="210840"/>
              <a:ext cx="111921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326" name="Line 22"/>
            <p:cNvSpPr>
              <a:spLocks noChangeShapeType="1"/>
            </p:cNvSpPr>
            <p:nvPr/>
          </p:nvSpPr>
          <p:spPr bwMode="auto">
            <a:xfrm>
              <a:off x="7504162" y="283691"/>
              <a:ext cx="127897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27" name="Line 24"/>
            <p:cNvSpPr>
              <a:spLocks noChangeShapeType="1"/>
            </p:cNvSpPr>
            <p:nvPr/>
          </p:nvSpPr>
          <p:spPr bwMode="auto">
            <a:xfrm flipH="1">
              <a:off x="7775028" y="286867"/>
              <a:ext cx="0" cy="6032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28" name="Line 18"/>
            <p:cNvSpPr>
              <a:spLocks noChangeShapeType="1"/>
            </p:cNvSpPr>
            <p:nvPr/>
          </p:nvSpPr>
          <p:spPr bwMode="auto">
            <a:xfrm>
              <a:off x="8495109" y="286345"/>
              <a:ext cx="0" cy="58948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8329" name="Line 103"/>
            <p:cNvSpPr>
              <a:spLocks noChangeShapeType="1"/>
            </p:cNvSpPr>
            <p:nvPr/>
          </p:nvSpPr>
          <p:spPr bwMode="auto">
            <a:xfrm flipH="1" flipV="1">
              <a:off x="6678686" y="480117"/>
              <a:ext cx="96852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30" name="Line 51"/>
            <p:cNvSpPr>
              <a:spLocks noChangeShapeType="1"/>
            </p:cNvSpPr>
            <p:nvPr/>
          </p:nvSpPr>
          <p:spPr bwMode="auto">
            <a:xfrm>
              <a:off x="6684144" y="480116"/>
              <a:ext cx="12946" cy="87727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94" name="Rectangle 3"/>
          <p:cNvSpPr txBox="1">
            <a:spLocks noChangeArrowheads="1"/>
          </p:cNvSpPr>
          <p:nvPr/>
        </p:nvSpPr>
        <p:spPr bwMode="auto">
          <a:xfrm>
            <a:off x="1296988" y="71438"/>
            <a:ext cx="2482850" cy="23907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138248" name="组合 5"/>
          <p:cNvGrpSpPr/>
          <p:nvPr/>
        </p:nvGrpSpPr>
        <p:grpSpPr bwMode="auto">
          <a:xfrm>
            <a:off x="5070475" y="79375"/>
            <a:ext cx="1517650" cy="969963"/>
            <a:chOff x="5069755" y="79300"/>
            <a:chExt cx="1518468" cy="970576"/>
          </a:xfrm>
        </p:grpSpPr>
        <p:sp>
          <p:nvSpPr>
            <p:cNvPr id="138312" name="Rectangle 78"/>
            <p:cNvSpPr>
              <a:spLocks noChangeArrowheads="1"/>
            </p:cNvSpPr>
            <p:nvPr/>
          </p:nvSpPr>
          <p:spPr bwMode="auto">
            <a:xfrm>
              <a:off x="5573811" y="79300"/>
              <a:ext cx="101441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r>
                <a:rPr lang="zh-CN" altLang="en-US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313" name="Line 30"/>
            <p:cNvSpPr>
              <a:spLocks noChangeShapeType="1"/>
            </p:cNvSpPr>
            <p:nvPr/>
          </p:nvSpPr>
          <p:spPr bwMode="auto">
            <a:xfrm>
              <a:off x="5175270" y="149876"/>
              <a:ext cx="0" cy="900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14" name="Line 37"/>
            <p:cNvSpPr>
              <a:spLocks noChangeShapeType="1"/>
            </p:cNvSpPr>
            <p:nvPr/>
          </p:nvSpPr>
          <p:spPr bwMode="auto">
            <a:xfrm flipV="1">
              <a:off x="5166098" y="452784"/>
              <a:ext cx="141582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15" name="Rectangle 39"/>
            <p:cNvSpPr>
              <a:spLocks noChangeArrowheads="1"/>
            </p:cNvSpPr>
            <p:nvPr/>
          </p:nvSpPr>
          <p:spPr bwMode="auto">
            <a:xfrm>
              <a:off x="5069755" y="112637"/>
              <a:ext cx="51593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nil</a:t>
              </a:r>
              <a:endParaRPr lang="zh-CN" altLang="en-US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316" name="Line 41"/>
            <p:cNvSpPr>
              <a:spLocks noChangeShapeType="1"/>
            </p:cNvSpPr>
            <p:nvPr/>
          </p:nvSpPr>
          <p:spPr bwMode="auto">
            <a:xfrm>
              <a:off x="5175621" y="165025"/>
              <a:ext cx="140630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8317" name="Line 42"/>
            <p:cNvSpPr>
              <a:spLocks noChangeShapeType="1"/>
            </p:cNvSpPr>
            <p:nvPr/>
          </p:nvSpPr>
          <p:spPr bwMode="auto">
            <a:xfrm>
              <a:off x="5573811" y="180900"/>
              <a:ext cx="0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18" name="Line 43"/>
            <p:cNvSpPr>
              <a:spLocks noChangeShapeType="1"/>
            </p:cNvSpPr>
            <p:nvPr/>
          </p:nvSpPr>
          <p:spPr bwMode="auto">
            <a:xfrm>
              <a:off x="5573811" y="370538"/>
              <a:ext cx="0" cy="67713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19" name="Line 44"/>
            <p:cNvSpPr>
              <a:spLocks noChangeShapeType="1"/>
            </p:cNvSpPr>
            <p:nvPr/>
          </p:nvSpPr>
          <p:spPr bwMode="auto">
            <a:xfrm>
              <a:off x="6318882" y="161552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20" name="Line 44"/>
            <p:cNvSpPr>
              <a:spLocks noChangeShapeType="1"/>
            </p:cNvSpPr>
            <p:nvPr/>
          </p:nvSpPr>
          <p:spPr bwMode="auto">
            <a:xfrm>
              <a:off x="6581923" y="164231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38249" name="组合 180235"/>
          <p:cNvGrpSpPr/>
          <p:nvPr/>
        </p:nvGrpSpPr>
        <p:grpSpPr bwMode="auto">
          <a:xfrm>
            <a:off x="3816350" y="-14288"/>
            <a:ext cx="1331913" cy="1649413"/>
            <a:chOff x="3816350" y="-15044"/>
            <a:chExt cx="1331714" cy="1649918"/>
          </a:xfrm>
        </p:grpSpPr>
        <p:sp>
          <p:nvSpPr>
            <p:cNvPr id="138304" name="Line 16"/>
            <p:cNvSpPr>
              <a:spLocks noChangeShapeType="1"/>
            </p:cNvSpPr>
            <p:nvPr/>
          </p:nvSpPr>
          <p:spPr bwMode="auto">
            <a:xfrm>
              <a:off x="3908022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05" name="Line 18"/>
            <p:cNvSpPr>
              <a:spLocks noChangeShapeType="1"/>
            </p:cNvSpPr>
            <p:nvPr/>
          </p:nvSpPr>
          <p:spPr bwMode="auto">
            <a:xfrm flipH="1" flipV="1">
              <a:off x="4355976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06" name="Line 19"/>
            <p:cNvSpPr>
              <a:spLocks noChangeShapeType="1"/>
            </p:cNvSpPr>
            <p:nvPr/>
          </p:nvSpPr>
          <p:spPr bwMode="auto">
            <a:xfrm>
              <a:off x="4484086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07" name="Line 20"/>
            <p:cNvSpPr>
              <a:spLocks noChangeShapeType="1"/>
            </p:cNvSpPr>
            <p:nvPr/>
          </p:nvSpPr>
          <p:spPr bwMode="auto">
            <a:xfrm>
              <a:off x="4491924" y="339502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08" name="Line 21"/>
            <p:cNvSpPr>
              <a:spLocks noChangeShapeType="1"/>
            </p:cNvSpPr>
            <p:nvPr/>
          </p:nvSpPr>
          <p:spPr bwMode="auto">
            <a:xfrm flipH="1" flipV="1">
              <a:off x="4771399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09" name="Text Box 22"/>
            <p:cNvSpPr txBox="1">
              <a:spLocks noChangeArrowheads="1"/>
            </p:cNvSpPr>
            <p:nvPr/>
          </p:nvSpPr>
          <p:spPr bwMode="auto">
            <a:xfrm>
              <a:off x="3816350" y="-15044"/>
              <a:ext cx="755650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offset</a:t>
              </a:r>
              <a:endParaRPr lang="en-US" altLang="zh-CN" sz="1800" b="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310" name="Text Box 26"/>
            <p:cNvSpPr txBox="1">
              <a:spLocks noChangeArrowheads="1"/>
            </p:cNvSpPr>
            <p:nvPr/>
          </p:nvSpPr>
          <p:spPr bwMode="auto">
            <a:xfrm>
              <a:off x="4390827" y="-3398"/>
              <a:ext cx="757237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tblptr</a:t>
              </a:r>
              <a:endParaRPr lang="en-US" altLang="zh-CN" sz="1800" b="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311" name="Line 20"/>
            <p:cNvSpPr>
              <a:spLocks noChangeShapeType="1"/>
            </p:cNvSpPr>
            <p:nvPr/>
          </p:nvSpPr>
          <p:spPr bwMode="auto">
            <a:xfrm flipV="1">
              <a:off x="3908022" y="334865"/>
              <a:ext cx="434883" cy="46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38250" name="Line 20"/>
          <p:cNvSpPr>
            <a:spLocks noChangeShapeType="1"/>
          </p:cNvSpPr>
          <p:nvPr/>
        </p:nvSpPr>
        <p:spPr bwMode="auto">
          <a:xfrm flipV="1">
            <a:off x="1296988" y="268288"/>
            <a:ext cx="142557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38251" name="Line 20"/>
          <p:cNvSpPr>
            <a:spLocks noChangeShapeType="1"/>
          </p:cNvSpPr>
          <p:nvPr/>
        </p:nvSpPr>
        <p:spPr bwMode="auto">
          <a:xfrm flipV="1">
            <a:off x="1633538" y="523875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38252" name="组合 180224"/>
          <p:cNvGrpSpPr/>
          <p:nvPr/>
        </p:nvGrpSpPr>
        <p:grpSpPr bwMode="auto">
          <a:xfrm>
            <a:off x="4881563" y="1639888"/>
            <a:ext cx="2038350" cy="361950"/>
            <a:chOff x="4880918" y="1639665"/>
            <a:chExt cx="2038349" cy="361950"/>
          </a:xfrm>
        </p:grpSpPr>
        <p:sp>
          <p:nvSpPr>
            <p:cNvPr id="138302" name="Rectangle 25"/>
            <p:cNvSpPr>
              <a:spLocks noChangeArrowheads="1"/>
            </p:cNvSpPr>
            <p:nvPr/>
          </p:nvSpPr>
          <p:spPr bwMode="auto">
            <a:xfrm>
              <a:off x="4880918" y="1639665"/>
              <a:ext cx="2038349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array  0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303" name="Line 8"/>
            <p:cNvSpPr>
              <a:spLocks noChangeShapeType="1"/>
            </p:cNvSpPr>
            <p:nvPr/>
          </p:nvSpPr>
          <p:spPr bwMode="auto">
            <a:xfrm>
              <a:off x="4898381" y="1990502"/>
              <a:ext cx="2020886" cy="15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38253" name="Line 20"/>
          <p:cNvSpPr>
            <a:spLocks noChangeShapeType="1"/>
          </p:cNvSpPr>
          <p:nvPr/>
        </p:nvSpPr>
        <p:spPr bwMode="auto">
          <a:xfrm>
            <a:off x="2982913" y="555625"/>
            <a:ext cx="37782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38254" name="组合 180236"/>
          <p:cNvGrpSpPr/>
          <p:nvPr/>
        </p:nvGrpSpPr>
        <p:grpSpPr bwMode="auto">
          <a:xfrm>
            <a:off x="3913188" y="311150"/>
            <a:ext cx="1266825" cy="315913"/>
            <a:chOff x="3913756" y="310816"/>
            <a:chExt cx="1266106" cy="316804"/>
          </a:xfrm>
        </p:grpSpPr>
        <p:sp>
          <p:nvSpPr>
            <p:cNvPr id="138299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24" name="直接箭头连接符 123"/>
            <p:cNvCxnSpPr/>
            <p:nvPr/>
          </p:nvCxnSpPr>
          <p:spPr>
            <a:xfrm flipV="1">
              <a:off x="4616619" y="310816"/>
              <a:ext cx="563243" cy="165566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矩形 150"/>
            <p:cNvSpPr/>
            <p:nvPr/>
          </p:nvSpPr>
          <p:spPr>
            <a:xfrm>
              <a:off x="3913756" y="334696"/>
              <a:ext cx="439487" cy="292924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38255" name="组合 180238"/>
          <p:cNvGrpSpPr/>
          <p:nvPr/>
        </p:nvGrpSpPr>
        <p:grpSpPr bwMode="auto">
          <a:xfrm>
            <a:off x="3908425" y="636588"/>
            <a:ext cx="990600" cy="769937"/>
            <a:chOff x="3907724" y="637094"/>
            <a:chExt cx="990625" cy="769481"/>
          </a:xfrm>
        </p:grpSpPr>
        <p:sp>
          <p:nvSpPr>
            <p:cNvPr id="138296" name="Line 20"/>
            <p:cNvSpPr>
              <a:spLocks noChangeShapeType="1"/>
            </p:cNvSpPr>
            <p:nvPr/>
          </p:nvSpPr>
          <p:spPr bwMode="auto">
            <a:xfrm>
              <a:off x="4499992" y="926397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33" name="直接箭头连接符 132"/>
            <p:cNvCxnSpPr/>
            <p:nvPr/>
          </p:nvCxnSpPr>
          <p:spPr>
            <a:xfrm>
              <a:off x="4617355" y="771951"/>
              <a:ext cx="280994" cy="634624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矩形 152"/>
            <p:cNvSpPr/>
            <p:nvPr/>
          </p:nvSpPr>
          <p:spPr>
            <a:xfrm>
              <a:off x="3907724" y="637094"/>
              <a:ext cx="439749" cy="291927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0232" name="矩形 180231"/>
          <p:cNvSpPr/>
          <p:nvPr/>
        </p:nvSpPr>
        <p:spPr>
          <a:xfrm>
            <a:off x="3906203" y="622300"/>
            <a:ext cx="446722" cy="293688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8257" name="组合 180240"/>
          <p:cNvGrpSpPr/>
          <p:nvPr/>
        </p:nvGrpSpPr>
        <p:grpSpPr bwMode="auto">
          <a:xfrm>
            <a:off x="4881564" y="1943100"/>
            <a:ext cx="2087562" cy="363538"/>
            <a:chOff x="4881969" y="1942382"/>
            <a:chExt cx="2086561" cy="363537"/>
          </a:xfrm>
        </p:grpSpPr>
        <p:sp>
          <p:nvSpPr>
            <p:cNvPr id="138294" name="Line 7"/>
            <p:cNvSpPr>
              <a:spLocks noChangeShapeType="1"/>
            </p:cNvSpPr>
            <p:nvPr/>
          </p:nvSpPr>
          <p:spPr bwMode="auto">
            <a:xfrm flipV="1">
              <a:off x="4881969" y="2282602"/>
              <a:ext cx="202680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295" name="Rectangle 26"/>
            <p:cNvSpPr>
              <a:spLocks noChangeArrowheads="1"/>
            </p:cNvSpPr>
            <p:nvPr/>
          </p:nvSpPr>
          <p:spPr bwMode="auto">
            <a:xfrm>
              <a:off x="4897836" y="1942382"/>
              <a:ext cx="2070694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x 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44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38258" name="Line 20"/>
          <p:cNvSpPr>
            <a:spLocks noChangeShapeType="1"/>
          </p:cNvSpPr>
          <p:nvPr/>
        </p:nvSpPr>
        <p:spPr bwMode="auto">
          <a:xfrm>
            <a:off x="1633538" y="700088"/>
            <a:ext cx="14271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38259" name="Line 20"/>
          <p:cNvSpPr>
            <a:spLocks noChangeShapeType="1"/>
          </p:cNvSpPr>
          <p:nvPr/>
        </p:nvSpPr>
        <p:spPr bwMode="auto">
          <a:xfrm flipV="1">
            <a:off x="1785938" y="922338"/>
            <a:ext cx="842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38260" name="组合 180243"/>
          <p:cNvGrpSpPr/>
          <p:nvPr/>
        </p:nvGrpSpPr>
        <p:grpSpPr bwMode="auto">
          <a:xfrm>
            <a:off x="7483792" y="539750"/>
            <a:ext cx="1304660" cy="361950"/>
            <a:chOff x="7483844" y="539279"/>
            <a:chExt cx="1304297" cy="361950"/>
          </a:xfrm>
        </p:grpSpPr>
        <p:sp>
          <p:nvSpPr>
            <p:cNvPr id="138292" name="Line 19"/>
            <p:cNvSpPr>
              <a:spLocks noChangeShapeType="1"/>
            </p:cNvSpPr>
            <p:nvPr/>
          </p:nvSpPr>
          <p:spPr bwMode="auto">
            <a:xfrm flipV="1">
              <a:off x="7483844" y="880909"/>
              <a:ext cx="130429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8293" name="Rectangle 40"/>
            <p:cNvSpPr>
              <a:spLocks noChangeArrowheads="1"/>
            </p:cNvSpPr>
            <p:nvPr/>
          </p:nvSpPr>
          <p:spPr bwMode="auto">
            <a:xfrm>
              <a:off x="7523211" y="539279"/>
              <a:ext cx="122044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0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38261" name="Line 20"/>
          <p:cNvSpPr>
            <a:spLocks noChangeShapeType="1"/>
          </p:cNvSpPr>
          <p:nvPr/>
        </p:nvSpPr>
        <p:spPr bwMode="auto">
          <a:xfrm flipV="1">
            <a:off x="2773363" y="9159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8503920" y="288290"/>
            <a:ext cx="271463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8263" name="组合 180244"/>
          <p:cNvGrpSpPr/>
          <p:nvPr/>
        </p:nvGrpSpPr>
        <p:grpSpPr bwMode="auto">
          <a:xfrm>
            <a:off x="4862513" y="739775"/>
            <a:ext cx="2640012" cy="1817688"/>
            <a:chOff x="4861992" y="739181"/>
            <a:chExt cx="2640954" cy="1818058"/>
          </a:xfrm>
        </p:grpSpPr>
        <p:sp>
          <p:nvSpPr>
            <p:cNvPr id="84" name="Line 95"/>
            <p:cNvSpPr>
              <a:spLocks noChangeShapeType="1"/>
            </p:cNvSpPr>
            <p:nvPr/>
          </p:nvSpPr>
          <p:spPr bwMode="auto">
            <a:xfrm>
              <a:off x="7018586" y="739181"/>
              <a:ext cx="3176" cy="1722789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6" name="Line 43"/>
            <p:cNvSpPr>
              <a:spLocks noChangeShapeType="1"/>
            </p:cNvSpPr>
            <p:nvPr/>
          </p:nvSpPr>
          <p:spPr bwMode="auto">
            <a:xfrm>
              <a:off x="7031291" y="750296"/>
              <a:ext cx="471655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8290" name="Line 6"/>
            <p:cNvSpPr>
              <a:spLocks noChangeShapeType="1"/>
            </p:cNvSpPr>
            <p:nvPr/>
          </p:nvSpPr>
          <p:spPr bwMode="auto">
            <a:xfrm flipV="1">
              <a:off x="4874567" y="2557239"/>
              <a:ext cx="20455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8291" name="Rectangle 28"/>
            <p:cNvSpPr>
              <a:spLocks noChangeArrowheads="1"/>
            </p:cNvSpPr>
            <p:nvPr/>
          </p:nvSpPr>
          <p:spPr bwMode="auto">
            <a:xfrm>
              <a:off x="4861992" y="2192115"/>
              <a:ext cx="1314450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readarray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87" name="Line 20"/>
          <p:cNvSpPr>
            <a:spLocks noChangeShapeType="1"/>
          </p:cNvSpPr>
          <p:nvPr/>
        </p:nvSpPr>
        <p:spPr bwMode="auto">
          <a:xfrm>
            <a:off x="1619250" y="1131888"/>
            <a:ext cx="1427163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2" name="组合 1"/>
          <p:cNvGrpSpPr/>
          <p:nvPr/>
        </p:nvGrpSpPr>
        <p:grpSpPr bwMode="auto">
          <a:xfrm>
            <a:off x="6861175" y="893763"/>
            <a:ext cx="1976438" cy="727075"/>
            <a:chOff x="6861077" y="893664"/>
            <a:chExt cx="1976561" cy="727596"/>
          </a:xfrm>
        </p:grpSpPr>
        <p:sp>
          <p:nvSpPr>
            <p:cNvPr id="138279" name="Rectangle 31"/>
            <p:cNvSpPr>
              <a:spLocks noChangeArrowheads="1"/>
            </p:cNvSpPr>
            <p:nvPr/>
          </p:nvSpPr>
          <p:spPr bwMode="auto">
            <a:xfrm>
              <a:off x="7566050" y="893664"/>
              <a:ext cx="1271588" cy="403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280" name="Line 32"/>
            <p:cNvSpPr>
              <a:spLocks noChangeShapeType="1"/>
            </p:cNvSpPr>
            <p:nvPr/>
          </p:nvSpPr>
          <p:spPr bwMode="auto">
            <a:xfrm>
              <a:off x="7486725" y="1298998"/>
              <a:ext cx="0" cy="31749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281" name="Line 33"/>
            <p:cNvSpPr>
              <a:spLocks noChangeShapeType="1"/>
            </p:cNvSpPr>
            <p:nvPr/>
          </p:nvSpPr>
          <p:spPr bwMode="auto">
            <a:xfrm>
              <a:off x="8738499" y="1298998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282" name="Line 34"/>
            <p:cNvSpPr>
              <a:spLocks noChangeShapeType="1"/>
            </p:cNvSpPr>
            <p:nvPr/>
          </p:nvSpPr>
          <p:spPr bwMode="auto">
            <a:xfrm>
              <a:off x="7488312" y="1608559"/>
              <a:ext cx="126042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283" name="Rectangle 35"/>
            <p:cNvSpPr>
              <a:spLocks noChangeArrowheads="1"/>
            </p:cNvSpPr>
            <p:nvPr/>
          </p:nvSpPr>
          <p:spPr bwMode="auto">
            <a:xfrm>
              <a:off x="7710066" y="1246610"/>
              <a:ext cx="107840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284" name="Line 36"/>
            <p:cNvSpPr>
              <a:spLocks noChangeShapeType="1"/>
            </p:cNvSpPr>
            <p:nvPr/>
          </p:nvSpPr>
          <p:spPr bwMode="auto">
            <a:xfrm flipV="1">
              <a:off x="7483040" y="1297409"/>
              <a:ext cx="126569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285" name="Line 37"/>
            <p:cNvSpPr>
              <a:spLocks noChangeShapeType="1"/>
            </p:cNvSpPr>
            <p:nvPr/>
          </p:nvSpPr>
          <p:spPr bwMode="auto">
            <a:xfrm>
              <a:off x="7710066" y="1313285"/>
              <a:ext cx="0" cy="2841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286" name="Line 33"/>
            <p:cNvSpPr>
              <a:spLocks noChangeShapeType="1"/>
            </p:cNvSpPr>
            <p:nvPr/>
          </p:nvSpPr>
          <p:spPr bwMode="auto">
            <a:xfrm>
              <a:off x="8502154" y="1294235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287" name="Line 51"/>
            <p:cNvSpPr>
              <a:spLocks noChangeShapeType="1"/>
            </p:cNvSpPr>
            <p:nvPr/>
          </p:nvSpPr>
          <p:spPr bwMode="auto">
            <a:xfrm flipH="1">
              <a:off x="6861077" y="1533301"/>
              <a:ext cx="736822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3" name="组合 114"/>
          <p:cNvGrpSpPr/>
          <p:nvPr/>
        </p:nvGrpSpPr>
        <p:grpSpPr bwMode="auto">
          <a:xfrm>
            <a:off x="3914138" y="916305"/>
            <a:ext cx="3572510" cy="329883"/>
            <a:chOff x="3903594" y="340114"/>
            <a:chExt cx="3572959" cy="330518"/>
          </a:xfrm>
        </p:grpSpPr>
        <p:sp>
          <p:nvSpPr>
            <p:cNvPr id="138276" name="Line 20"/>
            <p:cNvSpPr>
              <a:spLocks noChangeShapeType="1"/>
            </p:cNvSpPr>
            <p:nvPr/>
          </p:nvSpPr>
          <p:spPr bwMode="auto">
            <a:xfrm>
              <a:off x="4479669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18" name="直接箭头连接符 117"/>
            <p:cNvCxnSpPr/>
            <p:nvPr/>
          </p:nvCxnSpPr>
          <p:spPr>
            <a:xfrm>
              <a:off x="4617107" y="476584"/>
              <a:ext cx="2859446" cy="194048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矩形 118"/>
            <p:cNvSpPr/>
            <p:nvPr/>
          </p:nvSpPr>
          <p:spPr>
            <a:xfrm>
              <a:off x="3903594" y="340114"/>
              <a:ext cx="439793" cy="29266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20" name="Line 20"/>
          <p:cNvSpPr>
            <a:spLocks noChangeShapeType="1"/>
          </p:cNvSpPr>
          <p:nvPr/>
        </p:nvSpPr>
        <p:spPr bwMode="auto">
          <a:xfrm flipV="1">
            <a:off x="3157538" y="11318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22" name="矩形 121"/>
          <p:cNvSpPr/>
          <p:nvPr/>
        </p:nvSpPr>
        <p:spPr>
          <a:xfrm>
            <a:off x="8510515" y="1310404"/>
            <a:ext cx="238125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组合 3"/>
          <p:cNvGrpSpPr/>
          <p:nvPr/>
        </p:nvGrpSpPr>
        <p:grpSpPr bwMode="auto">
          <a:xfrm>
            <a:off x="4862513" y="1423988"/>
            <a:ext cx="2551112" cy="1428750"/>
            <a:chOff x="4861992" y="1423765"/>
            <a:chExt cx="2551631" cy="1428750"/>
          </a:xfrm>
        </p:grpSpPr>
        <p:sp>
          <p:nvSpPr>
            <p:cNvPr id="138271" name="Line 5"/>
            <p:cNvSpPr>
              <a:spLocks noChangeShapeType="1"/>
            </p:cNvSpPr>
            <p:nvPr/>
          </p:nvSpPr>
          <p:spPr bwMode="auto">
            <a:xfrm>
              <a:off x="4887267" y="2846735"/>
              <a:ext cx="202196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8272" name="Rectangle 39"/>
            <p:cNvSpPr>
              <a:spLocks noChangeArrowheads="1"/>
            </p:cNvSpPr>
            <p:nvPr/>
          </p:nvSpPr>
          <p:spPr bwMode="auto">
            <a:xfrm>
              <a:off x="4861992" y="2488977"/>
              <a:ext cx="1260475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0" name="Line 103"/>
            <p:cNvSpPr>
              <a:spLocks noChangeShapeType="1"/>
            </p:cNvSpPr>
            <p:nvPr/>
          </p:nvSpPr>
          <p:spPr bwMode="auto">
            <a:xfrm flipH="1">
              <a:off x="6753088" y="2738215"/>
              <a:ext cx="396956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1" name="Line 95"/>
            <p:cNvSpPr>
              <a:spLocks noChangeShapeType="1"/>
            </p:cNvSpPr>
            <p:nvPr/>
          </p:nvSpPr>
          <p:spPr bwMode="auto">
            <a:xfrm flipH="1">
              <a:off x="7150044" y="1423765"/>
              <a:ext cx="0" cy="13303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2" name="Line 43"/>
            <p:cNvSpPr>
              <a:spLocks noChangeShapeType="1"/>
            </p:cNvSpPr>
            <p:nvPr/>
          </p:nvSpPr>
          <p:spPr bwMode="auto">
            <a:xfrm flipV="1">
              <a:off x="7129403" y="1436465"/>
              <a:ext cx="284220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02" name="矩形 101"/>
          <p:cNvSpPr/>
          <p:nvPr/>
        </p:nvSpPr>
        <p:spPr>
          <a:xfrm>
            <a:off x="3912344" y="625634"/>
            <a:ext cx="439738" cy="293687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4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2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3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7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8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  <p:bldP spid="120" grpId="0" animBg="1"/>
      <p:bldP spid="122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290" name="组合 180223"/>
          <p:cNvGrpSpPr/>
          <p:nvPr/>
        </p:nvGrpSpPr>
        <p:grpSpPr bwMode="auto">
          <a:xfrm>
            <a:off x="4886325" y="842963"/>
            <a:ext cx="2362200" cy="2327275"/>
            <a:chOff x="4885681" y="843558"/>
            <a:chExt cx="2362199" cy="2326457"/>
          </a:xfrm>
        </p:grpSpPr>
        <p:sp>
          <p:nvSpPr>
            <p:cNvPr id="140433" name="Line 2"/>
            <p:cNvSpPr>
              <a:spLocks noChangeShapeType="1"/>
            </p:cNvSpPr>
            <p:nvPr/>
          </p:nvSpPr>
          <p:spPr bwMode="auto">
            <a:xfrm>
              <a:off x="4885681" y="1384077"/>
              <a:ext cx="1587" cy="17859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34" name="Line 3"/>
            <p:cNvSpPr>
              <a:spLocks noChangeShapeType="1"/>
            </p:cNvSpPr>
            <p:nvPr/>
          </p:nvSpPr>
          <p:spPr bwMode="auto">
            <a:xfrm>
              <a:off x="6536482" y="1384077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35" name="Line 9"/>
            <p:cNvSpPr>
              <a:spLocks noChangeShapeType="1"/>
            </p:cNvSpPr>
            <p:nvPr/>
          </p:nvSpPr>
          <p:spPr bwMode="auto">
            <a:xfrm flipV="1">
              <a:off x="4887268" y="1695227"/>
              <a:ext cx="200925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36" name="Rectangle 10"/>
            <p:cNvSpPr>
              <a:spLocks noChangeArrowheads="1"/>
            </p:cNvSpPr>
            <p:nvPr/>
          </p:nvSpPr>
          <p:spPr bwMode="auto">
            <a:xfrm>
              <a:off x="5312717" y="1333277"/>
              <a:ext cx="193516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437" name="Rectangle 11"/>
            <p:cNvSpPr>
              <a:spLocks noChangeArrowheads="1"/>
            </p:cNvSpPr>
            <p:nvPr/>
          </p:nvSpPr>
          <p:spPr bwMode="auto">
            <a:xfrm>
              <a:off x="5220072" y="1060227"/>
              <a:ext cx="1168400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438" name="Line 12"/>
            <p:cNvSpPr>
              <a:spLocks noChangeShapeType="1"/>
            </p:cNvSpPr>
            <p:nvPr/>
          </p:nvSpPr>
          <p:spPr bwMode="auto">
            <a:xfrm flipV="1">
              <a:off x="4898380" y="1382490"/>
              <a:ext cx="2020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39" name="Line 13"/>
            <p:cNvSpPr>
              <a:spLocks noChangeShapeType="1"/>
            </p:cNvSpPr>
            <p:nvPr/>
          </p:nvSpPr>
          <p:spPr bwMode="auto">
            <a:xfrm>
              <a:off x="5263506" y="1398365"/>
              <a:ext cx="0" cy="2841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40" name="Line 14"/>
            <p:cNvSpPr>
              <a:spLocks noChangeShapeType="1"/>
            </p:cNvSpPr>
            <p:nvPr/>
          </p:nvSpPr>
          <p:spPr bwMode="auto">
            <a:xfrm>
              <a:off x="5960418" y="1671092"/>
              <a:ext cx="0" cy="14636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41" name="Line 3"/>
            <p:cNvSpPr>
              <a:spLocks noChangeShapeType="1"/>
            </p:cNvSpPr>
            <p:nvPr/>
          </p:nvSpPr>
          <p:spPr bwMode="auto">
            <a:xfrm>
              <a:off x="6901076" y="1383723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42" name="Line 95"/>
            <p:cNvSpPr>
              <a:spLocks noChangeShapeType="1"/>
            </p:cNvSpPr>
            <p:nvPr/>
          </p:nvSpPr>
          <p:spPr bwMode="auto">
            <a:xfrm>
              <a:off x="4957428" y="847725"/>
              <a:ext cx="0" cy="666377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43" name="Line 43"/>
            <p:cNvSpPr>
              <a:spLocks noChangeShapeType="1"/>
            </p:cNvSpPr>
            <p:nvPr/>
          </p:nvSpPr>
          <p:spPr bwMode="auto">
            <a:xfrm>
              <a:off x="4966140" y="843558"/>
              <a:ext cx="181924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80226" name="Rectangle 3"/>
          <p:cNvSpPr>
            <a:spLocks noGrp="1" noChangeArrowheads="1"/>
          </p:cNvSpPr>
          <p:nvPr>
            <p:ph idx="1"/>
          </p:nvPr>
        </p:nvSpPr>
        <p:spPr>
          <a:xfrm>
            <a:off x="107949" y="2441575"/>
            <a:ext cx="7103785" cy="2651125"/>
          </a:xfrm>
        </p:spPr>
        <p:txBody>
          <a:bodyPr/>
          <a:lstStyle/>
          <a:p>
            <a:pPr>
              <a:lnSpc>
                <a:spcPts val="18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nil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2</a:t>
            </a:r>
            <a:endParaRPr lang="en-US" altLang="zh-CN" sz="1800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proc id ;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  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enterproc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id: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;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T.type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       	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）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+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 </a:t>
            </a:r>
            <a:endParaRPr lang="zh-CN" altLang="en-US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140292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 i="1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63" name="Line 103"/>
          <p:cNvSpPr>
            <a:spLocks noChangeShapeType="1"/>
          </p:cNvSpPr>
          <p:nvPr/>
        </p:nvSpPr>
        <p:spPr bwMode="auto">
          <a:xfrm flipH="1" flipV="1">
            <a:off x="6761163" y="2449513"/>
            <a:ext cx="269875" cy="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140294" name="组合 180241"/>
          <p:cNvGrpSpPr/>
          <p:nvPr/>
        </p:nvGrpSpPr>
        <p:grpSpPr bwMode="auto">
          <a:xfrm>
            <a:off x="6678613" y="-92075"/>
            <a:ext cx="2238375" cy="1449388"/>
            <a:chOff x="6678686" y="-92546"/>
            <a:chExt cx="2238896" cy="1449933"/>
          </a:xfrm>
        </p:grpSpPr>
        <p:sp>
          <p:nvSpPr>
            <p:cNvPr id="140423" name="Rectangle 15"/>
            <p:cNvSpPr>
              <a:spLocks noChangeArrowheads="1"/>
            </p:cNvSpPr>
            <p:nvPr/>
          </p:nvSpPr>
          <p:spPr bwMode="auto">
            <a:xfrm>
              <a:off x="7488832" y="-92546"/>
              <a:ext cx="1428750" cy="428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readarrary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424" name="Line 17"/>
            <p:cNvSpPr>
              <a:spLocks noChangeShapeType="1"/>
            </p:cNvSpPr>
            <p:nvPr/>
          </p:nvSpPr>
          <p:spPr bwMode="auto">
            <a:xfrm>
              <a:off x="7491461" y="283691"/>
              <a:ext cx="0" cy="5921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25" name="Line 18"/>
            <p:cNvSpPr>
              <a:spLocks noChangeShapeType="1"/>
            </p:cNvSpPr>
            <p:nvPr/>
          </p:nvSpPr>
          <p:spPr bwMode="auto">
            <a:xfrm>
              <a:off x="8783141" y="283691"/>
              <a:ext cx="0" cy="59452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26" name="Line 20"/>
            <p:cNvSpPr>
              <a:spLocks noChangeShapeType="1"/>
            </p:cNvSpPr>
            <p:nvPr/>
          </p:nvSpPr>
          <p:spPr bwMode="auto">
            <a:xfrm flipV="1">
              <a:off x="7493048" y="577380"/>
              <a:ext cx="128587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27" name="Rectangle 21"/>
            <p:cNvSpPr>
              <a:spLocks noChangeArrowheads="1"/>
            </p:cNvSpPr>
            <p:nvPr/>
          </p:nvSpPr>
          <p:spPr bwMode="auto">
            <a:xfrm>
              <a:off x="7735936" y="210840"/>
              <a:ext cx="111921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428" name="Line 22"/>
            <p:cNvSpPr>
              <a:spLocks noChangeShapeType="1"/>
            </p:cNvSpPr>
            <p:nvPr/>
          </p:nvSpPr>
          <p:spPr bwMode="auto">
            <a:xfrm>
              <a:off x="7477485" y="283691"/>
              <a:ext cx="131153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29" name="Line 24"/>
            <p:cNvSpPr>
              <a:spLocks noChangeShapeType="1"/>
            </p:cNvSpPr>
            <p:nvPr/>
          </p:nvSpPr>
          <p:spPr bwMode="auto">
            <a:xfrm flipH="1">
              <a:off x="7775028" y="286867"/>
              <a:ext cx="0" cy="6032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30" name="Line 18"/>
            <p:cNvSpPr>
              <a:spLocks noChangeShapeType="1"/>
            </p:cNvSpPr>
            <p:nvPr/>
          </p:nvSpPr>
          <p:spPr bwMode="auto">
            <a:xfrm>
              <a:off x="8495109" y="286345"/>
              <a:ext cx="0" cy="5949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31" name="Line 103"/>
            <p:cNvSpPr>
              <a:spLocks noChangeShapeType="1"/>
            </p:cNvSpPr>
            <p:nvPr/>
          </p:nvSpPr>
          <p:spPr bwMode="auto">
            <a:xfrm flipH="1" flipV="1">
              <a:off x="6678686" y="480117"/>
              <a:ext cx="96852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32" name="Line 51"/>
            <p:cNvSpPr>
              <a:spLocks noChangeShapeType="1"/>
            </p:cNvSpPr>
            <p:nvPr/>
          </p:nvSpPr>
          <p:spPr bwMode="auto">
            <a:xfrm>
              <a:off x="6684144" y="480116"/>
              <a:ext cx="12946" cy="87727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94" name="Rectangle 3"/>
          <p:cNvSpPr txBox="1">
            <a:spLocks noChangeArrowheads="1"/>
          </p:cNvSpPr>
          <p:nvPr/>
        </p:nvSpPr>
        <p:spPr bwMode="auto">
          <a:xfrm>
            <a:off x="1296988" y="71438"/>
            <a:ext cx="2482850" cy="23907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140296" name="组合 5"/>
          <p:cNvGrpSpPr/>
          <p:nvPr/>
        </p:nvGrpSpPr>
        <p:grpSpPr bwMode="auto">
          <a:xfrm>
            <a:off x="5070475" y="79375"/>
            <a:ext cx="1517650" cy="969963"/>
            <a:chOff x="5069755" y="79300"/>
            <a:chExt cx="1518468" cy="970576"/>
          </a:xfrm>
        </p:grpSpPr>
        <p:sp>
          <p:nvSpPr>
            <p:cNvPr id="140414" name="Rectangle 78"/>
            <p:cNvSpPr>
              <a:spLocks noChangeArrowheads="1"/>
            </p:cNvSpPr>
            <p:nvPr/>
          </p:nvSpPr>
          <p:spPr bwMode="auto">
            <a:xfrm>
              <a:off x="5573811" y="79300"/>
              <a:ext cx="101441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r>
                <a:rPr lang="zh-CN" altLang="en-US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415" name="Line 30"/>
            <p:cNvSpPr>
              <a:spLocks noChangeShapeType="1"/>
            </p:cNvSpPr>
            <p:nvPr/>
          </p:nvSpPr>
          <p:spPr bwMode="auto">
            <a:xfrm>
              <a:off x="5175270" y="149876"/>
              <a:ext cx="0" cy="900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16" name="Line 37"/>
            <p:cNvSpPr>
              <a:spLocks noChangeShapeType="1"/>
            </p:cNvSpPr>
            <p:nvPr/>
          </p:nvSpPr>
          <p:spPr bwMode="auto">
            <a:xfrm flipV="1">
              <a:off x="5166098" y="452784"/>
              <a:ext cx="141582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17" name="Rectangle 39"/>
            <p:cNvSpPr>
              <a:spLocks noChangeArrowheads="1"/>
            </p:cNvSpPr>
            <p:nvPr/>
          </p:nvSpPr>
          <p:spPr bwMode="auto">
            <a:xfrm>
              <a:off x="5069755" y="112637"/>
              <a:ext cx="51593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nil</a:t>
              </a:r>
              <a:endParaRPr lang="zh-CN" altLang="en-US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418" name="Line 41"/>
            <p:cNvSpPr>
              <a:spLocks noChangeShapeType="1"/>
            </p:cNvSpPr>
            <p:nvPr/>
          </p:nvSpPr>
          <p:spPr bwMode="auto">
            <a:xfrm>
              <a:off x="5175621" y="165025"/>
              <a:ext cx="140630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0419" name="Line 42"/>
            <p:cNvSpPr>
              <a:spLocks noChangeShapeType="1"/>
            </p:cNvSpPr>
            <p:nvPr/>
          </p:nvSpPr>
          <p:spPr bwMode="auto">
            <a:xfrm>
              <a:off x="5573811" y="180900"/>
              <a:ext cx="0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20" name="Line 43"/>
            <p:cNvSpPr>
              <a:spLocks noChangeShapeType="1"/>
            </p:cNvSpPr>
            <p:nvPr/>
          </p:nvSpPr>
          <p:spPr bwMode="auto">
            <a:xfrm>
              <a:off x="5573811" y="471412"/>
              <a:ext cx="0" cy="5762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21" name="Line 44"/>
            <p:cNvSpPr>
              <a:spLocks noChangeShapeType="1"/>
            </p:cNvSpPr>
            <p:nvPr/>
          </p:nvSpPr>
          <p:spPr bwMode="auto">
            <a:xfrm>
              <a:off x="6318882" y="161552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22" name="Line 44"/>
            <p:cNvSpPr>
              <a:spLocks noChangeShapeType="1"/>
            </p:cNvSpPr>
            <p:nvPr/>
          </p:nvSpPr>
          <p:spPr bwMode="auto">
            <a:xfrm>
              <a:off x="6581923" y="164231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40297" name="组合 180235"/>
          <p:cNvGrpSpPr/>
          <p:nvPr/>
        </p:nvGrpSpPr>
        <p:grpSpPr bwMode="auto">
          <a:xfrm>
            <a:off x="3816350" y="-14288"/>
            <a:ext cx="1331913" cy="1649413"/>
            <a:chOff x="3816350" y="-15044"/>
            <a:chExt cx="1331714" cy="1649918"/>
          </a:xfrm>
        </p:grpSpPr>
        <p:sp>
          <p:nvSpPr>
            <p:cNvPr id="140406" name="Line 16"/>
            <p:cNvSpPr>
              <a:spLocks noChangeShapeType="1"/>
            </p:cNvSpPr>
            <p:nvPr/>
          </p:nvSpPr>
          <p:spPr bwMode="auto">
            <a:xfrm>
              <a:off x="3908022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07" name="Line 18"/>
            <p:cNvSpPr>
              <a:spLocks noChangeShapeType="1"/>
            </p:cNvSpPr>
            <p:nvPr/>
          </p:nvSpPr>
          <p:spPr bwMode="auto">
            <a:xfrm flipH="1" flipV="1">
              <a:off x="4355976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08" name="Line 19"/>
            <p:cNvSpPr>
              <a:spLocks noChangeShapeType="1"/>
            </p:cNvSpPr>
            <p:nvPr/>
          </p:nvSpPr>
          <p:spPr bwMode="auto">
            <a:xfrm>
              <a:off x="4484086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09" name="Line 20"/>
            <p:cNvSpPr>
              <a:spLocks noChangeShapeType="1"/>
            </p:cNvSpPr>
            <p:nvPr/>
          </p:nvSpPr>
          <p:spPr bwMode="auto">
            <a:xfrm>
              <a:off x="4491924" y="339502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10" name="Line 21"/>
            <p:cNvSpPr>
              <a:spLocks noChangeShapeType="1"/>
            </p:cNvSpPr>
            <p:nvPr/>
          </p:nvSpPr>
          <p:spPr bwMode="auto">
            <a:xfrm flipH="1" flipV="1">
              <a:off x="4771399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11" name="Text Box 22"/>
            <p:cNvSpPr txBox="1">
              <a:spLocks noChangeArrowheads="1"/>
            </p:cNvSpPr>
            <p:nvPr/>
          </p:nvSpPr>
          <p:spPr bwMode="auto">
            <a:xfrm>
              <a:off x="3816350" y="-15044"/>
              <a:ext cx="755650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offset</a:t>
              </a:r>
              <a:endParaRPr lang="en-US" altLang="zh-CN" sz="1800" b="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412" name="Text Box 26"/>
            <p:cNvSpPr txBox="1">
              <a:spLocks noChangeArrowheads="1"/>
            </p:cNvSpPr>
            <p:nvPr/>
          </p:nvSpPr>
          <p:spPr bwMode="auto">
            <a:xfrm>
              <a:off x="4390827" y="-3398"/>
              <a:ext cx="757237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tblptr</a:t>
              </a:r>
              <a:endParaRPr lang="en-US" altLang="zh-CN" sz="1800" b="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413" name="Line 20"/>
            <p:cNvSpPr>
              <a:spLocks noChangeShapeType="1"/>
            </p:cNvSpPr>
            <p:nvPr/>
          </p:nvSpPr>
          <p:spPr bwMode="auto">
            <a:xfrm flipV="1">
              <a:off x="3908022" y="334865"/>
              <a:ext cx="434883" cy="46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0298" name="Line 20"/>
          <p:cNvSpPr>
            <a:spLocks noChangeShapeType="1"/>
          </p:cNvSpPr>
          <p:nvPr/>
        </p:nvSpPr>
        <p:spPr bwMode="auto">
          <a:xfrm flipV="1">
            <a:off x="1296988" y="268288"/>
            <a:ext cx="142557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40299" name="Line 20"/>
          <p:cNvSpPr>
            <a:spLocks noChangeShapeType="1"/>
          </p:cNvSpPr>
          <p:nvPr/>
        </p:nvSpPr>
        <p:spPr bwMode="auto">
          <a:xfrm flipV="1">
            <a:off x="1633538" y="523875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0300" name="组合 180224"/>
          <p:cNvGrpSpPr/>
          <p:nvPr/>
        </p:nvGrpSpPr>
        <p:grpSpPr bwMode="auto">
          <a:xfrm>
            <a:off x="4881563" y="1639888"/>
            <a:ext cx="2038350" cy="361950"/>
            <a:chOff x="4880918" y="1639665"/>
            <a:chExt cx="2038349" cy="361950"/>
          </a:xfrm>
        </p:grpSpPr>
        <p:sp>
          <p:nvSpPr>
            <p:cNvPr id="140404" name="Rectangle 25"/>
            <p:cNvSpPr>
              <a:spLocks noChangeArrowheads="1"/>
            </p:cNvSpPr>
            <p:nvPr/>
          </p:nvSpPr>
          <p:spPr bwMode="auto">
            <a:xfrm>
              <a:off x="4880918" y="1639665"/>
              <a:ext cx="2038349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array  0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405" name="Line 8"/>
            <p:cNvSpPr>
              <a:spLocks noChangeShapeType="1"/>
            </p:cNvSpPr>
            <p:nvPr/>
          </p:nvSpPr>
          <p:spPr bwMode="auto">
            <a:xfrm>
              <a:off x="4898381" y="1990502"/>
              <a:ext cx="2020886" cy="15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0301" name="Line 20"/>
          <p:cNvSpPr>
            <a:spLocks noChangeShapeType="1"/>
          </p:cNvSpPr>
          <p:nvPr/>
        </p:nvSpPr>
        <p:spPr bwMode="auto">
          <a:xfrm>
            <a:off x="2982913" y="555625"/>
            <a:ext cx="37782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0302" name="组合 180236"/>
          <p:cNvGrpSpPr/>
          <p:nvPr/>
        </p:nvGrpSpPr>
        <p:grpSpPr bwMode="auto">
          <a:xfrm>
            <a:off x="3913188" y="311150"/>
            <a:ext cx="1266825" cy="315913"/>
            <a:chOff x="3913756" y="310816"/>
            <a:chExt cx="1266106" cy="316804"/>
          </a:xfrm>
        </p:grpSpPr>
        <p:sp>
          <p:nvSpPr>
            <p:cNvPr id="140401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24" name="直接箭头连接符 123"/>
            <p:cNvCxnSpPr/>
            <p:nvPr/>
          </p:nvCxnSpPr>
          <p:spPr>
            <a:xfrm flipV="1">
              <a:off x="4616619" y="310816"/>
              <a:ext cx="563243" cy="165566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矩形 150"/>
            <p:cNvSpPr/>
            <p:nvPr/>
          </p:nvSpPr>
          <p:spPr>
            <a:xfrm>
              <a:off x="3913756" y="334696"/>
              <a:ext cx="439487" cy="292924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40303" name="组合 180238"/>
          <p:cNvGrpSpPr/>
          <p:nvPr/>
        </p:nvGrpSpPr>
        <p:grpSpPr bwMode="auto">
          <a:xfrm>
            <a:off x="3908425" y="636588"/>
            <a:ext cx="990600" cy="769937"/>
            <a:chOff x="3907724" y="637094"/>
            <a:chExt cx="990625" cy="769481"/>
          </a:xfrm>
        </p:grpSpPr>
        <p:sp>
          <p:nvSpPr>
            <p:cNvPr id="140398" name="Line 20"/>
            <p:cNvSpPr>
              <a:spLocks noChangeShapeType="1"/>
            </p:cNvSpPr>
            <p:nvPr/>
          </p:nvSpPr>
          <p:spPr bwMode="auto">
            <a:xfrm>
              <a:off x="4499992" y="926397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33" name="直接箭头连接符 132"/>
            <p:cNvCxnSpPr/>
            <p:nvPr/>
          </p:nvCxnSpPr>
          <p:spPr>
            <a:xfrm>
              <a:off x="4617355" y="771951"/>
              <a:ext cx="280994" cy="634624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矩形 152"/>
            <p:cNvSpPr/>
            <p:nvPr/>
          </p:nvSpPr>
          <p:spPr>
            <a:xfrm>
              <a:off x="3907724" y="637094"/>
              <a:ext cx="439749" cy="291927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0232" name="矩形 180231"/>
          <p:cNvSpPr/>
          <p:nvPr/>
        </p:nvSpPr>
        <p:spPr>
          <a:xfrm>
            <a:off x="3913505" y="621808"/>
            <a:ext cx="439737" cy="293688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0305" name="组合 180240"/>
          <p:cNvGrpSpPr/>
          <p:nvPr/>
        </p:nvGrpSpPr>
        <p:grpSpPr bwMode="auto">
          <a:xfrm>
            <a:off x="4891952" y="1943100"/>
            <a:ext cx="2077175" cy="363538"/>
            <a:chOff x="4892351" y="1942382"/>
            <a:chExt cx="2076179" cy="363537"/>
          </a:xfrm>
        </p:grpSpPr>
        <p:sp>
          <p:nvSpPr>
            <p:cNvPr id="140396" name="Line 7"/>
            <p:cNvSpPr>
              <a:spLocks noChangeShapeType="1"/>
            </p:cNvSpPr>
            <p:nvPr/>
          </p:nvSpPr>
          <p:spPr bwMode="auto">
            <a:xfrm flipV="1">
              <a:off x="4892351" y="2282602"/>
              <a:ext cx="200310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0397" name="Rectangle 26"/>
            <p:cNvSpPr>
              <a:spLocks noChangeArrowheads="1"/>
            </p:cNvSpPr>
            <p:nvPr/>
          </p:nvSpPr>
          <p:spPr bwMode="auto">
            <a:xfrm>
              <a:off x="4897836" y="1942382"/>
              <a:ext cx="2070694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x 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44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40306" name="Line 20"/>
          <p:cNvSpPr>
            <a:spLocks noChangeShapeType="1"/>
          </p:cNvSpPr>
          <p:nvPr/>
        </p:nvSpPr>
        <p:spPr bwMode="auto">
          <a:xfrm>
            <a:off x="1633538" y="700088"/>
            <a:ext cx="14271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40307" name="Line 20"/>
          <p:cNvSpPr>
            <a:spLocks noChangeShapeType="1"/>
          </p:cNvSpPr>
          <p:nvPr/>
        </p:nvSpPr>
        <p:spPr bwMode="auto">
          <a:xfrm flipV="1">
            <a:off x="1785938" y="922338"/>
            <a:ext cx="842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0308" name="组合 180243"/>
          <p:cNvGrpSpPr/>
          <p:nvPr/>
        </p:nvGrpSpPr>
        <p:grpSpPr bwMode="auto">
          <a:xfrm>
            <a:off x="7477834" y="539750"/>
            <a:ext cx="1310615" cy="361950"/>
            <a:chOff x="7477890" y="539279"/>
            <a:chExt cx="1310251" cy="361950"/>
          </a:xfrm>
        </p:grpSpPr>
        <p:sp>
          <p:nvSpPr>
            <p:cNvPr id="140394" name="Line 19"/>
            <p:cNvSpPr>
              <a:spLocks noChangeShapeType="1"/>
            </p:cNvSpPr>
            <p:nvPr/>
          </p:nvSpPr>
          <p:spPr bwMode="auto">
            <a:xfrm flipV="1">
              <a:off x="7477890" y="875829"/>
              <a:ext cx="131025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0395" name="Rectangle 40"/>
            <p:cNvSpPr>
              <a:spLocks noChangeArrowheads="1"/>
            </p:cNvSpPr>
            <p:nvPr/>
          </p:nvSpPr>
          <p:spPr bwMode="auto">
            <a:xfrm>
              <a:off x="7523211" y="539279"/>
              <a:ext cx="122044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0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40309" name="Line 20"/>
          <p:cNvSpPr>
            <a:spLocks noChangeShapeType="1"/>
          </p:cNvSpPr>
          <p:nvPr/>
        </p:nvSpPr>
        <p:spPr bwMode="auto">
          <a:xfrm flipV="1">
            <a:off x="2773363" y="9159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8505391" y="286652"/>
            <a:ext cx="271463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0311" name="组合 180244"/>
          <p:cNvGrpSpPr/>
          <p:nvPr/>
        </p:nvGrpSpPr>
        <p:grpSpPr bwMode="auto">
          <a:xfrm>
            <a:off x="4862513" y="739775"/>
            <a:ext cx="2640012" cy="1817688"/>
            <a:chOff x="4861992" y="739181"/>
            <a:chExt cx="2640954" cy="1818058"/>
          </a:xfrm>
        </p:grpSpPr>
        <p:sp>
          <p:nvSpPr>
            <p:cNvPr id="84" name="Line 95"/>
            <p:cNvSpPr>
              <a:spLocks noChangeShapeType="1"/>
            </p:cNvSpPr>
            <p:nvPr/>
          </p:nvSpPr>
          <p:spPr bwMode="auto">
            <a:xfrm>
              <a:off x="7018586" y="739181"/>
              <a:ext cx="3176" cy="1722789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6" name="Line 43"/>
            <p:cNvSpPr>
              <a:spLocks noChangeShapeType="1"/>
            </p:cNvSpPr>
            <p:nvPr/>
          </p:nvSpPr>
          <p:spPr bwMode="auto">
            <a:xfrm>
              <a:off x="7031291" y="750296"/>
              <a:ext cx="471655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40392" name="Line 6"/>
            <p:cNvSpPr>
              <a:spLocks noChangeShapeType="1"/>
            </p:cNvSpPr>
            <p:nvPr/>
          </p:nvSpPr>
          <p:spPr bwMode="auto">
            <a:xfrm flipV="1">
              <a:off x="4874568" y="2557239"/>
              <a:ext cx="202165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93" name="Rectangle 28"/>
            <p:cNvSpPr>
              <a:spLocks noChangeArrowheads="1"/>
            </p:cNvSpPr>
            <p:nvPr/>
          </p:nvSpPr>
          <p:spPr bwMode="auto">
            <a:xfrm>
              <a:off x="4861992" y="2192115"/>
              <a:ext cx="1314450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readarray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40312" name="Line 20"/>
          <p:cNvSpPr>
            <a:spLocks noChangeShapeType="1"/>
          </p:cNvSpPr>
          <p:nvPr/>
        </p:nvSpPr>
        <p:spPr bwMode="auto">
          <a:xfrm>
            <a:off x="1619250" y="1131888"/>
            <a:ext cx="1427163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0313" name="组合 1"/>
          <p:cNvGrpSpPr/>
          <p:nvPr/>
        </p:nvGrpSpPr>
        <p:grpSpPr bwMode="auto">
          <a:xfrm>
            <a:off x="6861175" y="893763"/>
            <a:ext cx="1976438" cy="728229"/>
            <a:chOff x="6861077" y="893664"/>
            <a:chExt cx="1976561" cy="728751"/>
          </a:xfrm>
        </p:grpSpPr>
        <p:sp>
          <p:nvSpPr>
            <p:cNvPr id="140381" name="Rectangle 31"/>
            <p:cNvSpPr>
              <a:spLocks noChangeArrowheads="1"/>
            </p:cNvSpPr>
            <p:nvPr/>
          </p:nvSpPr>
          <p:spPr bwMode="auto">
            <a:xfrm>
              <a:off x="7566050" y="893664"/>
              <a:ext cx="1271588" cy="403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382" name="Line 32"/>
            <p:cNvSpPr>
              <a:spLocks noChangeShapeType="1"/>
            </p:cNvSpPr>
            <p:nvPr/>
          </p:nvSpPr>
          <p:spPr bwMode="auto">
            <a:xfrm>
              <a:off x="7486725" y="1298998"/>
              <a:ext cx="0" cy="32341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83" name="Line 33"/>
            <p:cNvSpPr>
              <a:spLocks noChangeShapeType="1"/>
            </p:cNvSpPr>
            <p:nvPr/>
          </p:nvSpPr>
          <p:spPr bwMode="auto">
            <a:xfrm>
              <a:off x="8733419" y="1298998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84" name="Line 34"/>
            <p:cNvSpPr>
              <a:spLocks noChangeShapeType="1"/>
            </p:cNvSpPr>
            <p:nvPr/>
          </p:nvSpPr>
          <p:spPr bwMode="auto">
            <a:xfrm>
              <a:off x="7480692" y="1608559"/>
              <a:ext cx="125819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85" name="Rectangle 35"/>
            <p:cNvSpPr>
              <a:spLocks noChangeArrowheads="1"/>
            </p:cNvSpPr>
            <p:nvPr/>
          </p:nvSpPr>
          <p:spPr bwMode="auto">
            <a:xfrm>
              <a:off x="7710066" y="1246610"/>
              <a:ext cx="107840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386" name="Line 36"/>
            <p:cNvSpPr>
              <a:spLocks noChangeShapeType="1"/>
            </p:cNvSpPr>
            <p:nvPr/>
          </p:nvSpPr>
          <p:spPr bwMode="auto">
            <a:xfrm flipV="1">
              <a:off x="7474340" y="1298998"/>
              <a:ext cx="125819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0387" name="Line 37"/>
            <p:cNvSpPr>
              <a:spLocks noChangeShapeType="1"/>
            </p:cNvSpPr>
            <p:nvPr/>
          </p:nvSpPr>
          <p:spPr bwMode="auto">
            <a:xfrm>
              <a:off x="7710066" y="1313285"/>
              <a:ext cx="0" cy="2841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88" name="Line 33"/>
            <p:cNvSpPr>
              <a:spLocks noChangeShapeType="1"/>
            </p:cNvSpPr>
            <p:nvPr/>
          </p:nvSpPr>
          <p:spPr bwMode="auto">
            <a:xfrm>
              <a:off x="8502154" y="1294235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89" name="Line 51"/>
            <p:cNvSpPr>
              <a:spLocks noChangeShapeType="1"/>
            </p:cNvSpPr>
            <p:nvPr/>
          </p:nvSpPr>
          <p:spPr bwMode="auto">
            <a:xfrm flipH="1">
              <a:off x="6861077" y="1533301"/>
              <a:ext cx="736822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0314" name="Line 20"/>
          <p:cNvSpPr>
            <a:spLocks noChangeShapeType="1"/>
          </p:cNvSpPr>
          <p:nvPr/>
        </p:nvSpPr>
        <p:spPr bwMode="auto">
          <a:xfrm flipV="1">
            <a:off x="3157538" y="11318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22" name="矩形 121"/>
          <p:cNvSpPr/>
          <p:nvPr/>
        </p:nvSpPr>
        <p:spPr>
          <a:xfrm>
            <a:off x="8499474" y="1308188"/>
            <a:ext cx="238125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0316" name="组合 3"/>
          <p:cNvGrpSpPr/>
          <p:nvPr/>
        </p:nvGrpSpPr>
        <p:grpSpPr bwMode="auto">
          <a:xfrm>
            <a:off x="4862513" y="1423988"/>
            <a:ext cx="2551112" cy="1428750"/>
            <a:chOff x="4861992" y="1423765"/>
            <a:chExt cx="2551631" cy="1428750"/>
          </a:xfrm>
        </p:grpSpPr>
        <p:sp>
          <p:nvSpPr>
            <p:cNvPr id="140376" name="Line 5"/>
            <p:cNvSpPr>
              <a:spLocks noChangeShapeType="1"/>
            </p:cNvSpPr>
            <p:nvPr/>
          </p:nvSpPr>
          <p:spPr bwMode="auto">
            <a:xfrm>
              <a:off x="4887267" y="2846735"/>
              <a:ext cx="200864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77" name="Rectangle 39"/>
            <p:cNvSpPr>
              <a:spLocks noChangeArrowheads="1"/>
            </p:cNvSpPr>
            <p:nvPr/>
          </p:nvSpPr>
          <p:spPr bwMode="auto">
            <a:xfrm>
              <a:off x="4861992" y="2488977"/>
              <a:ext cx="1260475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0" name="Line 103"/>
            <p:cNvSpPr>
              <a:spLocks noChangeShapeType="1"/>
            </p:cNvSpPr>
            <p:nvPr/>
          </p:nvSpPr>
          <p:spPr bwMode="auto">
            <a:xfrm flipH="1">
              <a:off x="6753088" y="2738215"/>
              <a:ext cx="396956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1" name="Line 95"/>
            <p:cNvSpPr>
              <a:spLocks noChangeShapeType="1"/>
            </p:cNvSpPr>
            <p:nvPr/>
          </p:nvSpPr>
          <p:spPr bwMode="auto">
            <a:xfrm flipH="1">
              <a:off x="7150044" y="1423765"/>
              <a:ext cx="0" cy="13303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2" name="Line 43"/>
            <p:cNvSpPr>
              <a:spLocks noChangeShapeType="1"/>
            </p:cNvSpPr>
            <p:nvPr/>
          </p:nvSpPr>
          <p:spPr bwMode="auto">
            <a:xfrm flipV="1">
              <a:off x="7129403" y="1436465"/>
              <a:ext cx="284220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35" name="Line 20"/>
          <p:cNvSpPr>
            <a:spLocks noChangeShapeType="1"/>
          </p:cNvSpPr>
          <p:nvPr/>
        </p:nvSpPr>
        <p:spPr bwMode="auto">
          <a:xfrm>
            <a:off x="1619250" y="1347788"/>
            <a:ext cx="1427163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" name="组合 2"/>
          <p:cNvGrpSpPr/>
          <p:nvPr/>
        </p:nvGrpSpPr>
        <p:grpSpPr bwMode="auto">
          <a:xfrm>
            <a:off x="6896100" y="1582738"/>
            <a:ext cx="2354263" cy="1533525"/>
            <a:chOff x="6895356" y="1582537"/>
            <a:chExt cx="2355402" cy="1533525"/>
          </a:xfrm>
        </p:grpSpPr>
        <p:sp>
          <p:nvSpPr>
            <p:cNvPr id="140366" name="Line 42"/>
            <p:cNvSpPr>
              <a:spLocks noChangeShapeType="1"/>
            </p:cNvSpPr>
            <p:nvPr/>
          </p:nvSpPr>
          <p:spPr bwMode="auto">
            <a:xfrm>
              <a:off x="7454577" y="1920674"/>
              <a:ext cx="1587" cy="11795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67" name="Line 43"/>
            <p:cNvSpPr>
              <a:spLocks noChangeShapeType="1"/>
            </p:cNvSpPr>
            <p:nvPr/>
          </p:nvSpPr>
          <p:spPr bwMode="auto">
            <a:xfrm flipH="1">
              <a:off x="9091289" y="1919087"/>
              <a:ext cx="4763" cy="11969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68" name="Line 47"/>
            <p:cNvSpPr>
              <a:spLocks noChangeShapeType="1"/>
            </p:cNvSpPr>
            <p:nvPr/>
          </p:nvSpPr>
          <p:spPr bwMode="auto">
            <a:xfrm flipV="1">
              <a:off x="7456164" y="2230237"/>
              <a:ext cx="163988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69" name="Rectangle 48"/>
            <p:cNvSpPr>
              <a:spLocks noChangeArrowheads="1"/>
            </p:cNvSpPr>
            <p:nvPr/>
          </p:nvSpPr>
          <p:spPr bwMode="auto">
            <a:xfrm>
              <a:off x="7946702" y="1868287"/>
              <a:ext cx="1304056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370" name="Rectangle 49"/>
            <p:cNvSpPr>
              <a:spLocks noChangeArrowheads="1"/>
            </p:cNvSpPr>
            <p:nvPr/>
          </p:nvSpPr>
          <p:spPr bwMode="auto">
            <a:xfrm>
              <a:off x="7666582" y="1582537"/>
              <a:ext cx="1350963" cy="387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371" name="Line 50"/>
            <p:cNvSpPr>
              <a:spLocks noChangeShapeType="1"/>
            </p:cNvSpPr>
            <p:nvPr/>
          </p:nvSpPr>
          <p:spPr bwMode="auto">
            <a:xfrm flipV="1">
              <a:off x="7467277" y="1919087"/>
              <a:ext cx="1639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72" name="Line 51"/>
            <p:cNvSpPr>
              <a:spLocks noChangeShapeType="1"/>
            </p:cNvSpPr>
            <p:nvPr/>
          </p:nvSpPr>
          <p:spPr bwMode="auto">
            <a:xfrm>
              <a:off x="7832402" y="1934962"/>
              <a:ext cx="1587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73" name="Line 52"/>
            <p:cNvSpPr>
              <a:spLocks noChangeShapeType="1"/>
            </p:cNvSpPr>
            <p:nvPr/>
          </p:nvSpPr>
          <p:spPr bwMode="auto">
            <a:xfrm>
              <a:off x="8386662" y="2254049"/>
              <a:ext cx="0" cy="86042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74" name="Line 51"/>
            <p:cNvSpPr>
              <a:spLocks noChangeShapeType="1"/>
            </p:cNvSpPr>
            <p:nvPr/>
          </p:nvSpPr>
          <p:spPr bwMode="auto">
            <a:xfrm flipH="1" flipV="1">
              <a:off x="6895356" y="2122287"/>
              <a:ext cx="821434" cy="43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75" name="Line 43"/>
            <p:cNvSpPr>
              <a:spLocks noChangeShapeType="1"/>
            </p:cNvSpPr>
            <p:nvPr/>
          </p:nvSpPr>
          <p:spPr bwMode="auto">
            <a:xfrm flipH="1">
              <a:off x="8746702" y="1903881"/>
              <a:ext cx="4763" cy="11969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5" name="组合 154"/>
          <p:cNvGrpSpPr/>
          <p:nvPr/>
        </p:nvGrpSpPr>
        <p:grpSpPr bwMode="auto">
          <a:xfrm>
            <a:off x="3913012" y="922813"/>
            <a:ext cx="3530600" cy="997268"/>
            <a:chOff x="3913756" y="329940"/>
            <a:chExt cx="3530649" cy="997963"/>
          </a:xfrm>
        </p:grpSpPr>
        <p:sp>
          <p:nvSpPr>
            <p:cNvPr id="140363" name="Line 20"/>
            <p:cNvSpPr>
              <a:spLocks noChangeShapeType="1"/>
            </p:cNvSpPr>
            <p:nvPr/>
          </p:nvSpPr>
          <p:spPr bwMode="auto">
            <a:xfrm>
              <a:off x="447967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57" name="直接箭头连接符 156"/>
            <p:cNvCxnSpPr/>
            <p:nvPr/>
          </p:nvCxnSpPr>
          <p:spPr>
            <a:xfrm>
              <a:off x="4617029" y="476410"/>
              <a:ext cx="2827376" cy="851493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矩形 157"/>
            <p:cNvSpPr/>
            <p:nvPr/>
          </p:nvSpPr>
          <p:spPr>
            <a:xfrm>
              <a:off x="3913756" y="329940"/>
              <a:ext cx="439744" cy="30167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60" name="Line 20"/>
          <p:cNvSpPr>
            <a:spLocks noChangeShapeType="1"/>
          </p:cNvSpPr>
          <p:nvPr/>
        </p:nvSpPr>
        <p:spPr bwMode="auto">
          <a:xfrm flipV="1">
            <a:off x="1785938" y="1563688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6" name="组合 6"/>
          <p:cNvGrpSpPr/>
          <p:nvPr/>
        </p:nvGrpSpPr>
        <p:grpSpPr bwMode="auto">
          <a:xfrm>
            <a:off x="7467600" y="2201863"/>
            <a:ext cx="1676400" cy="361950"/>
            <a:chOff x="7467277" y="2201662"/>
            <a:chExt cx="1676723" cy="361950"/>
          </a:xfrm>
        </p:grpSpPr>
        <p:sp>
          <p:nvSpPr>
            <p:cNvPr id="140361" name="Rectangle 54"/>
            <p:cNvSpPr>
              <a:spLocks noChangeArrowheads="1"/>
            </p:cNvSpPr>
            <p:nvPr/>
          </p:nvSpPr>
          <p:spPr bwMode="auto">
            <a:xfrm>
              <a:off x="7505377" y="2201662"/>
              <a:ext cx="163862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k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0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362" name="Line 46"/>
            <p:cNvSpPr>
              <a:spLocks noChangeShapeType="1"/>
            </p:cNvSpPr>
            <p:nvPr/>
          </p:nvSpPr>
          <p:spPr bwMode="auto">
            <a:xfrm flipV="1">
              <a:off x="7467277" y="2525512"/>
              <a:ext cx="1639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67" name="矩形 166"/>
          <p:cNvSpPr/>
          <p:nvPr/>
        </p:nvSpPr>
        <p:spPr>
          <a:xfrm>
            <a:off x="3908036" y="915988"/>
            <a:ext cx="445847" cy="311625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7" name="组合 7"/>
          <p:cNvGrpSpPr/>
          <p:nvPr/>
        </p:nvGrpSpPr>
        <p:grpSpPr bwMode="auto">
          <a:xfrm>
            <a:off x="7467600" y="2486025"/>
            <a:ext cx="1643063" cy="390525"/>
            <a:chOff x="7467277" y="2485824"/>
            <a:chExt cx="1643062" cy="390526"/>
          </a:xfrm>
        </p:grpSpPr>
        <p:sp>
          <p:nvSpPr>
            <p:cNvPr id="140359" name="Rectangle 55"/>
            <p:cNvSpPr>
              <a:spLocks noChangeArrowheads="1"/>
            </p:cNvSpPr>
            <p:nvPr/>
          </p:nvSpPr>
          <p:spPr bwMode="auto">
            <a:xfrm>
              <a:off x="7505376" y="2485824"/>
              <a:ext cx="1585913" cy="3905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v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4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360" name="Line 45"/>
            <p:cNvSpPr>
              <a:spLocks noChangeShapeType="1"/>
            </p:cNvSpPr>
            <p:nvPr/>
          </p:nvSpPr>
          <p:spPr bwMode="auto">
            <a:xfrm flipV="1">
              <a:off x="7467277" y="2819199"/>
              <a:ext cx="1643062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70" name="矩形 169"/>
          <p:cNvSpPr/>
          <p:nvPr/>
        </p:nvSpPr>
        <p:spPr>
          <a:xfrm>
            <a:off x="3910188" y="907547"/>
            <a:ext cx="441250" cy="316095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Line 20"/>
          <p:cNvSpPr>
            <a:spLocks noChangeShapeType="1"/>
          </p:cNvSpPr>
          <p:nvPr/>
        </p:nvSpPr>
        <p:spPr bwMode="auto">
          <a:xfrm flipV="1">
            <a:off x="1938338" y="1779588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8" name="组合 8"/>
          <p:cNvGrpSpPr/>
          <p:nvPr/>
        </p:nvGrpSpPr>
        <p:grpSpPr bwMode="auto">
          <a:xfrm>
            <a:off x="7603557" y="3176589"/>
            <a:ext cx="1524568" cy="1239437"/>
            <a:chOff x="7603357" y="3176042"/>
            <a:chExt cx="1524470" cy="1240631"/>
          </a:xfrm>
        </p:grpSpPr>
        <p:sp>
          <p:nvSpPr>
            <p:cNvPr id="140349" name="Line 56"/>
            <p:cNvSpPr>
              <a:spLocks noChangeShapeType="1"/>
            </p:cNvSpPr>
            <p:nvPr/>
          </p:nvSpPr>
          <p:spPr bwMode="auto">
            <a:xfrm flipH="1">
              <a:off x="7603925" y="3513385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50" name="Line 57"/>
            <p:cNvSpPr>
              <a:spLocks noChangeShapeType="1"/>
            </p:cNvSpPr>
            <p:nvPr/>
          </p:nvSpPr>
          <p:spPr bwMode="auto">
            <a:xfrm flipH="1">
              <a:off x="8936022" y="3513385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51" name="Line 60"/>
            <p:cNvSpPr>
              <a:spLocks noChangeShapeType="1"/>
            </p:cNvSpPr>
            <p:nvPr/>
          </p:nvSpPr>
          <p:spPr bwMode="auto">
            <a:xfrm flipV="1">
              <a:off x="7616626" y="3807495"/>
              <a:ext cx="133134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52" name="Rectangle 61"/>
            <p:cNvSpPr>
              <a:spLocks noChangeArrowheads="1"/>
            </p:cNvSpPr>
            <p:nvPr/>
          </p:nvSpPr>
          <p:spPr bwMode="auto">
            <a:xfrm>
              <a:off x="7891337" y="3460998"/>
              <a:ext cx="1188964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353" name="Rectangle 62"/>
            <p:cNvSpPr>
              <a:spLocks noChangeArrowheads="1"/>
            </p:cNvSpPr>
            <p:nvPr/>
          </p:nvSpPr>
          <p:spPr bwMode="auto">
            <a:xfrm>
              <a:off x="7776864" y="3176042"/>
              <a:ext cx="1350963" cy="387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354" name="Line 63"/>
            <p:cNvSpPr>
              <a:spLocks noChangeShapeType="1"/>
            </p:cNvSpPr>
            <p:nvPr/>
          </p:nvSpPr>
          <p:spPr bwMode="auto">
            <a:xfrm flipV="1">
              <a:off x="7603357" y="3505687"/>
              <a:ext cx="1347789" cy="928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55" name="Line 64"/>
            <p:cNvSpPr>
              <a:spLocks noChangeShapeType="1"/>
            </p:cNvSpPr>
            <p:nvPr/>
          </p:nvSpPr>
          <p:spPr bwMode="auto">
            <a:xfrm>
              <a:off x="7891337" y="3527673"/>
              <a:ext cx="1587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56" name="Line 65"/>
            <p:cNvSpPr>
              <a:spLocks noChangeShapeType="1"/>
            </p:cNvSpPr>
            <p:nvPr/>
          </p:nvSpPr>
          <p:spPr bwMode="auto">
            <a:xfrm flipH="1">
              <a:off x="7897687" y="3826123"/>
              <a:ext cx="0" cy="5778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57" name="Line 57"/>
            <p:cNvSpPr>
              <a:spLocks noChangeShapeType="1"/>
            </p:cNvSpPr>
            <p:nvPr/>
          </p:nvSpPr>
          <p:spPr bwMode="auto">
            <a:xfrm flipH="1">
              <a:off x="8683425" y="3497834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58" name="Line 51"/>
            <p:cNvSpPr>
              <a:spLocks noChangeShapeType="1"/>
            </p:cNvSpPr>
            <p:nvPr/>
          </p:nvSpPr>
          <p:spPr bwMode="auto">
            <a:xfrm flipV="1">
              <a:off x="7666581" y="3201492"/>
              <a:ext cx="1" cy="384689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93" name="Line 20"/>
          <p:cNvSpPr>
            <a:spLocks noChangeShapeType="1"/>
          </p:cNvSpPr>
          <p:nvPr/>
        </p:nvSpPr>
        <p:spPr bwMode="auto">
          <a:xfrm flipV="1">
            <a:off x="2138363" y="1995488"/>
            <a:ext cx="1138237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9" name="组合 9"/>
          <p:cNvGrpSpPr/>
          <p:nvPr/>
        </p:nvGrpSpPr>
        <p:grpSpPr bwMode="auto">
          <a:xfrm>
            <a:off x="7627938" y="3783013"/>
            <a:ext cx="1303337" cy="363537"/>
            <a:chOff x="7627739" y="3783260"/>
            <a:chExt cx="1303462" cy="363538"/>
          </a:xfrm>
        </p:grpSpPr>
        <p:sp>
          <p:nvSpPr>
            <p:cNvPr id="140347" name="Rectangle 67"/>
            <p:cNvSpPr>
              <a:spLocks noChangeArrowheads="1"/>
            </p:cNvSpPr>
            <p:nvPr/>
          </p:nvSpPr>
          <p:spPr bwMode="auto">
            <a:xfrm>
              <a:off x="7656313" y="3783260"/>
              <a:ext cx="127488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0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348" name="Line 59"/>
            <p:cNvSpPr>
              <a:spLocks noChangeShapeType="1"/>
            </p:cNvSpPr>
            <p:nvPr/>
          </p:nvSpPr>
          <p:spPr bwMode="auto">
            <a:xfrm flipV="1">
              <a:off x="7627739" y="4099596"/>
              <a:ext cx="127965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20" name="组合 11"/>
          <p:cNvGrpSpPr/>
          <p:nvPr/>
        </p:nvGrpSpPr>
        <p:grpSpPr bwMode="auto">
          <a:xfrm>
            <a:off x="7580732" y="4092575"/>
            <a:ext cx="1379094" cy="363538"/>
            <a:chOff x="7580548" y="4092823"/>
            <a:chExt cx="1379228" cy="363537"/>
          </a:xfrm>
        </p:grpSpPr>
        <p:sp>
          <p:nvSpPr>
            <p:cNvPr id="140345" name="Rectangle 68"/>
            <p:cNvSpPr>
              <a:spLocks noChangeArrowheads="1"/>
            </p:cNvSpPr>
            <p:nvPr/>
          </p:nvSpPr>
          <p:spPr bwMode="auto">
            <a:xfrm>
              <a:off x="7656314" y="4092823"/>
              <a:ext cx="130346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j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4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346" name="Line 58"/>
            <p:cNvSpPr>
              <a:spLocks noChangeShapeType="1"/>
            </p:cNvSpPr>
            <p:nvPr/>
          </p:nvSpPr>
          <p:spPr bwMode="auto">
            <a:xfrm>
              <a:off x="7580548" y="4413498"/>
              <a:ext cx="137313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</p:grpSp>
      <p:sp>
        <p:nvSpPr>
          <p:cNvPr id="199" name="Line 20"/>
          <p:cNvSpPr>
            <a:spLocks noChangeShapeType="1"/>
          </p:cNvSpPr>
          <p:nvPr/>
        </p:nvSpPr>
        <p:spPr bwMode="auto">
          <a:xfrm flipV="1">
            <a:off x="3309938" y="19954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21" name="组合 199"/>
          <p:cNvGrpSpPr/>
          <p:nvPr/>
        </p:nvGrpSpPr>
        <p:grpSpPr bwMode="auto">
          <a:xfrm>
            <a:off x="3909552" y="1225550"/>
            <a:ext cx="3679825" cy="2314575"/>
            <a:chOff x="3913756" y="335024"/>
            <a:chExt cx="3679997" cy="2314351"/>
          </a:xfrm>
        </p:grpSpPr>
        <p:sp>
          <p:nvSpPr>
            <p:cNvPr id="140342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202" name="直接箭头连接符 201"/>
            <p:cNvCxnSpPr>
              <a:endCxn id="140349" idx="0"/>
            </p:cNvCxnSpPr>
            <p:nvPr/>
          </p:nvCxnSpPr>
          <p:spPr>
            <a:xfrm>
              <a:off x="4617052" y="476297"/>
              <a:ext cx="2976701" cy="2173078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矩形 202"/>
            <p:cNvSpPr/>
            <p:nvPr/>
          </p:nvSpPr>
          <p:spPr>
            <a:xfrm>
              <a:off x="3913756" y="335024"/>
              <a:ext cx="439759" cy="29207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4" name="矩形 203"/>
          <p:cNvSpPr/>
          <p:nvPr/>
        </p:nvSpPr>
        <p:spPr>
          <a:xfrm>
            <a:off x="3909131" y="1223918"/>
            <a:ext cx="439738" cy="293687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5" name="矩形 204"/>
          <p:cNvSpPr/>
          <p:nvPr/>
        </p:nvSpPr>
        <p:spPr>
          <a:xfrm>
            <a:off x="3907667" y="1229519"/>
            <a:ext cx="447361" cy="293687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6" name="矩形 205"/>
          <p:cNvSpPr/>
          <p:nvPr/>
        </p:nvSpPr>
        <p:spPr>
          <a:xfrm>
            <a:off x="8695937" y="3509882"/>
            <a:ext cx="230188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2" name="组合 208"/>
          <p:cNvGrpSpPr/>
          <p:nvPr/>
        </p:nvGrpSpPr>
        <p:grpSpPr bwMode="auto">
          <a:xfrm>
            <a:off x="7443788" y="2741613"/>
            <a:ext cx="1639887" cy="725487"/>
            <a:chOff x="7443464" y="2741412"/>
            <a:chExt cx="1639888" cy="726359"/>
          </a:xfrm>
        </p:grpSpPr>
        <p:sp>
          <p:nvSpPr>
            <p:cNvPr id="140337" name="Line 44"/>
            <p:cNvSpPr>
              <a:spLocks noChangeShapeType="1"/>
            </p:cNvSpPr>
            <p:nvPr/>
          </p:nvSpPr>
          <p:spPr bwMode="auto">
            <a:xfrm flipV="1">
              <a:off x="7443464" y="3101774"/>
              <a:ext cx="1639888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38" name="Rectangle 69"/>
            <p:cNvSpPr>
              <a:spLocks noChangeArrowheads="1"/>
            </p:cNvSpPr>
            <p:nvPr/>
          </p:nvSpPr>
          <p:spPr bwMode="auto">
            <a:xfrm>
              <a:off x="7451402" y="2741412"/>
              <a:ext cx="1166812" cy="4175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12" name="Line 95"/>
            <p:cNvSpPr>
              <a:spLocks noChangeShapeType="1"/>
            </p:cNvSpPr>
            <p:nvPr/>
          </p:nvSpPr>
          <p:spPr bwMode="auto">
            <a:xfrm flipH="1">
              <a:off x="8837290" y="2954393"/>
              <a:ext cx="0" cy="21616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13" name="Line 43"/>
            <p:cNvSpPr>
              <a:spLocks noChangeShapeType="1"/>
            </p:cNvSpPr>
            <p:nvPr/>
          </p:nvSpPr>
          <p:spPr bwMode="auto">
            <a:xfrm>
              <a:off x="7886376" y="3186446"/>
              <a:ext cx="0" cy="2813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14" name="Line 103"/>
            <p:cNvSpPr>
              <a:spLocks noChangeShapeType="1"/>
            </p:cNvSpPr>
            <p:nvPr/>
          </p:nvSpPr>
          <p:spPr bwMode="auto">
            <a:xfrm flipH="1" flipV="1">
              <a:off x="7897489" y="3170552"/>
              <a:ext cx="936626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56" name="矩形 155"/>
          <p:cNvSpPr/>
          <p:nvPr/>
        </p:nvSpPr>
        <p:spPr>
          <a:xfrm>
            <a:off x="3911401" y="614172"/>
            <a:ext cx="439738" cy="293687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4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2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3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7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8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8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89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90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1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6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17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18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9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1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22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23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4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5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3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64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65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6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8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69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70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1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5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2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8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7" dur="500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8" dur="500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89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2" dur="500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3" dur="500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9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6" fill="hold">
                      <p:stCondLst>
                        <p:cond delay="indefinite"/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" grpId="0" animBg="1"/>
      <p:bldP spid="160" grpId="0" animBg="1"/>
      <p:bldP spid="167" grpId="0" animBg="1"/>
      <p:bldP spid="170" grpId="0" animBg="1"/>
      <p:bldP spid="171" grpId="0" animBg="1"/>
      <p:bldP spid="193" grpId="0" animBg="1"/>
      <p:bldP spid="199" grpId="0" animBg="1"/>
      <p:bldP spid="204" grpId="0" animBg="1"/>
      <p:bldP spid="204" grpId="1" animBg="1"/>
      <p:bldP spid="205" grpId="0" animBg="1"/>
      <p:bldP spid="205" grpId="1" animBg="1"/>
      <p:bldP spid="206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338" name="组合 180223"/>
          <p:cNvGrpSpPr/>
          <p:nvPr/>
        </p:nvGrpSpPr>
        <p:grpSpPr bwMode="auto">
          <a:xfrm>
            <a:off x="4886325" y="842963"/>
            <a:ext cx="2362200" cy="2327275"/>
            <a:chOff x="4885681" y="843558"/>
            <a:chExt cx="2362199" cy="2326457"/>
          </a:xfrm>
        </p:grpSpPr>
        <p:sp>
          <p:nvSpPr>
            <p:cNvPr id="142483" name="Line 2"/>
            <p:cNvSpPr>
              <a:spLocks noChangeShapeType="1"/>
            </p:cNvSpPr>
            <p:nvPr/>
          </p:nvSpPr>
          <p:spPr bwMode="auto">
            <a:xfrm>
              <a:off x="4885681" y="1384077"/>
              <a:ext cx="1587" cy="17859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84" name="Line 3"/>
            <p:cNvSpPr>
              <a:spLocks noChangeShapeType="1"/>
            </p:cNvSpPr>
            <p:nvPr/>
          </p:nvSpPr>
          <p:spPr bwMode="auto">
            <a:xfrm>
              <a:off x="6536482" y="1384077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85" name="Line 9"/>
            <p:cNvSpPr>
              <a:spLocks noChangeShapeType="1"/>
            </p:cNvSpPr>
            <p:nvPr/>
          </p:nvSpPr>
          <p:spPr bwMode="auto">
            <a:xfrm flipV="1">
              <a:off x="4887268" y="1695227"/>
              <a:ext cx="200925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86" name="Rectangle 10"/>
            <p:cNvSpPr>
              <a:spLocks noChangeArrowheads="1"/>
            </p:cNvSpPr>
            <p:nvPr/>
          </p:nvSpPr>
          <p:spPr bwMode="auto">
            <a:xfrm>
              <a:off x="5312717" y="1333277"/>
              <a:ext cx="193516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87" name="Rectangle 11"/>
            <p:cNvSpPr>
              <a:spLocks noChangeArrowheads="1"/>
            </p:cNvSpPr>
            <p:nvPr/>
          </p:nvSpPr>
          <p:spPr bwMode="auto">
            <a:xfrm>
              <a:off x="5220072" y="1060227"/>
              <a:ext cx="1168400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88" name="Line 12"/>
            <p:cNvSpPr>
              <a:spLocks noChangeShapeType="1"/>
            </p:cNvSpPr>
            <p:nvPr/>
          </p:nvSpPr>
          <p:spPr bwMode="auto">
            <a:xfrm flipV="1">
              <a:off x="4886187" y="1384077"/>
              <a:ext cx="202860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89" name="Line 13"/>
            <p:cNvSpPr>
              <a:spLocks noChangeShapeType="1"/>
            </p:cNvSpPr>
            <p:nvPr/>
          </p:nvSpPr>
          <p:spPr bwMode="auto">
            <a:xfrm>
              <a:off x="5263506" y="1398365"/>
              <a:ext cx="0" cy="2841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90" name="Line 14"/>
            <p:cNvSpPr>
              <a:spLocks noChangeShapeType="1"/>
            </p:cNvSpPr>
            <p:nvPr/>
          </p:nvSpPr>
          <p:spPr bwMode="auto">
            <a:xfrm>
              <a:off x="5960418" y="1682526"/>
              <a:ext cx="0" cy="145224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91" name="Line 3"/>
            <p:cNvSpPr>
              <a:spLocks noChangeShapeType="1"/>
            </p:cNvSpPr>
            <p:nvPr/>
          </p:nvSpPr>
          <p:spPr bwMode="auto">
            <a:xfrm>
              <a:off x="6914792" y="1382200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2492" name="Line 95"/>
            <p:cNvSpPr>
              <a:spLocks noChangeShapeType="1"/>
            </p:cNvSpPr>
            <p:nvPr/>
          </p:nvSpPr>
          <p:spPr bwMode="auto">
            <a:xfrm>
              <a:off x="4957428" y="847725"/>
              <a:ext cx="0" cy="666377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93" name="Line 43"/>
            <p:cNvSpPr>
              <a:spLocks noChangeShapeType="1"/>
            </p:cNvSpPr>
            <p:nvPr/>
          </p:nvSpPr>
          <p:spPr bwMode="auto">
            <a:xfrm>
              <a:off x="4966140" y="843558"/>
              <a:ext cx="181924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80226" name="Rectangle 3"/>
          <p:cNvSpPr>
            <a:spLocks noGrp="1" noChangeArrowheads="1"/>
          </p:cNvSpPr>
          <p:nvPr>
            <p:ph idx="1"/>
          </p:nvPr>
        </p:nvSpPr>
        <p:spPr>
          <a:xfrm>
            <a:off x="107950" y="2441575"/>
            <a:ext cx="7088188" cy="2651125"/>
          </a:xfrm>
        </p:spPr>
        <p:txBody>
          <a:bodyPr/>
          <a:lstStyle/>
          <a:p>
            <a:pPr>
              <a:lnSpc>
                <a:spcPts val="18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nil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2</a:t>
            </a:r>
            <a:endParaRPr lang="en-US" altLang="zh-CN" sz="1800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proc id ;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  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enterproc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id: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;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T.type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       	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）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+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 </a:t>
            </a:r>
            <a:endParaRPr lang="zh-CN" altLang="en-US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142340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63" name="Line 103"/>
          <p:cNvSpPr>
            <a:spLocks noChangeShapeType="1"/>
          </p:cNvSpPr>
          <p:nvPr/>
        </p:nvSpPr>
        <p:spPr bwMode="auto">
          <a:xfrm flipH="1" flipV="1">
            <a:off x="6761163" y="2449513"/>
            <a:ext cx="269875" cy="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142342" name="组合 180241"/>
          <p:cNvGrpSpPr/>
          <p:nvPr/>
        </p:nvGrpSpPr>
        <p:grpSpPr bwMode="auto">
          <a:xfrm>
            <a:off x="6678613" y="-92075"/>
            <a:ext cx="2238375" cy="1449388"/>
            <a:chOff x="6678686" y="-92546"/>
            <a:chExt cx="2238896" cy="1449933"/>
          </a:xfrm>
        </p:grpSpPr>
        <p:sp>
          <p:nvSpPr>
            <p:cNvPr id="142473" name="Rectangle 15"/>
            <p:cNvSpPr>
              <a:spLocks noChangeArrowheads="1"/>
            </p:cNvSpPr>
            <p:nvPr/>
          </p:nvSpPr>
          <p:spPr bwMode="auto">
            <a:xfrm>
              <a:off x="7488832" y="-92546"/>
              <a:ext cx="1428750" cy="428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readarrary</a:t>
              </a:r>
              <a:endParaRPr lang="en-US" altLang="zh-CN" sz="21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74" name="Line 17"/>
            <p:cNvSpPr>
              <a:spLocks noChangeShapeType="1"/>
            </p:cNvSpPr>
            <p:nvPr/>
          </p:nvSpPr>
          <p:spPr bwMode="auto">
            <a:xfrm>
              <a:off x="7491461" y="283691"/>
              <a:ext cx="0" cy="5921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75" name="Line 18"/>
            <p:cNvSpPr>
              <a:spLocks noChangeShapeType="1"/>
            </p:cNvSpPr>
            <p:nvPr/>
          </p:nvSpPr>
          <p:spPr bwMode="auto">
            <a:xfrm>
              <a:off x="8783141" y="283691"/>
              <a:ext cx="0" cy="5921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2476" name="Line 20"/>
            <p:cNvSpPr>
              <a:spLocks noChangeShapeType="1"/>
            </p:cNvSpPr>
            <p:nvPr/>
          </p:nvSpPr>
          <p:spPr bwMode="auto">
            <a:xfrm flipV="1">
              <a:off x="7493048" y="577380"/>
              <a:ext cx="128587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77" name="Rectangle 21"/>
            <p:cNvSpPr>
              <a:spLocks noChangeArrowheads="1"/>
            </p:cNvSpPr>
            <p:nvPr/>
          </p:nvSpPr>
          <p:spPr bwMode="auto">
            <a:xfrm>
              <a:off x="7735936" y="210840"/>
              <a:ext cx="111921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78" name="Line 22"/>
            <p:cNvSpPr>
              <a:spLocks noChangeShapeType="1"/>
            </p:cNvSpPr>
            <p:nvPr/>
          </p:nvSpPr>
          <p:spPr bwMode="auto">
            <a:xfrm>
              <a:off x="7485870" y="283691"/>
              <a:ext cx="130314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2479" name="Line 24"/>
            <p:cNvSpPr>
              <a:spLocks noChangeShapeType="1"/>
            </p:cNvSpPr>
            <p:nvPr/>
          </p:nvSpPr>
          <p:spPr bwMode="auto">
            <a:xfrm flipH="1">
              <a:off x="7775028" y="286867"/>
              <a:ext cx="0" cy="6032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80" name="Line 18"/>
            <p:cNvSpPr>
              <a:spLocks noChangeShapeType="1"/>
            </p:cNvSpPr>
            <p:nvPr/>
          </p:nvSpPr>
          <p:spPr bwMode="auto">
            <a:xfrm>
              <a:off x="8495109" y="286345"/>
              <a:ext cx="0" cy="57813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81" name="Line 103"/>
            <p:cNvSpPr>
              <a:spLocks noChangeShapeType="1"/>
            </p:cNvSpPr>
            <p:nvPr/>
          </p:nvSpPr>
          <p:spPr bwMode="auto">
            <a:xfrm flipH="1" flipV="1">
              <a:off x="6678686" y="480117"/>
              <a:ext cx="96852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82" name="Line 51"/>
            <p:cNvSpPr>
              <a:spLocks noChangeShapeType="1"/>
            </p:cNvSpPr>
            <p:nvPr/>
          </p:nvSpPr>
          <p:spPr bwMode="auto">
            <a:xfrm>
              <a:off x="6684144" y="480116"/>
              <a:ext cx="12946" cy="87727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94" name="Rectangle 3"/>
          <p:cNvSpPr txBox="1">
            <a:spLocks noChangeArrowheads="1"/>
          </p:cNvSpPr>
          <p:nvPr/>
        </p:nvSpPr>
        <p:spPr bwMode="auto">
          <a:xfrm>
            <a:off x="1296988" y="71438"/>
            <a:ext cx="2482850" cy="23907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142344" name="组合 5"/>
          <p:cNvGrpSpPr/>
          <p:nvPr/>
        </p:nvGrpSpPr>
        <p:grpSpPr bwMode="auto">
          <a:xfrm>
            <a:off x="5070475" y="79375"/>
            <a:ext cx="1517650" cy="969963"/>
            <a:chOff x="5069755" y="79300"/>
            <a:chExt cx="1518468" cy="970576"/>
          </a:xfrm>
        </p:grpSpPr>
        <p:sp>
          <p:nvSpPr>
            <p:cNvPr id="142464" name="Rectangle 78"/>
            <p:cNvSpPr>
              <a:spLocks noChangeArrowheads="1"/>
            </p:cNvSpPr>
            <p:nvPr/>
          </p:nvSpPr>
          <p:spPr bwMode="auto">
            <a:xfrm>
              <a:off x="5573811" y="79300"/>
              <a:ext cx="101441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r>
                <a:rPr lang="zh-CN" altLang="en-US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65" name="Line 30"/>
            <p:cNvSpPr>
              <a:spLocks noChangeShapeType="1"/>
            </p:cNvSpPr>
            <p:nvPr/>
          </p:nvSpPr>
          <p:spPr bwMode="auto">
            <a:xfrm>
              <a:off x="5175270" y="149876"/>
              <a:ext cx="0" cy="900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66" name="Line 37"/>
            <p:cNvSpPr>
              <a:spLocks noChangeShapeType="1"/>
            </p:cNvSpPr>
            <p:nvPr/>
          </p:nvSpPr>
          <p:spPr bwMode="auto">
            <a:xfrm flipV="1">
              <a:off x="5166098" y="452784"/>
              <a:ext cx="141582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67" name="Rectangle 39"/>
            <p:cNvSpPr>
              <a:spLocks noChangeArrowheads="1"/>
            </p:cNvSpPr>
            <p:nvPr/>
          </p:nvSpPr>
          <p:spPr bwMode="auto">
            <a:xfrm>
              <a:off x="5069755" y="112637"/>
              <a:ext cx="51593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nil</a:t>
              </a:r>
              <a:endParaRPr lang="zh-CN" altLang="en-US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68" name="Line 41"/>
            <p:cNvSpPr>
              <a:spLocks noChangeShapeType="1"/>
            </p:cNvSpPr>
            <p:nvPr/>
          </p:nvSpPr>
          <p:spPr bwMode="auto">
            <a:xfrm>
              <a:off x="5175622" y="165025"/>
              <a:ext cx="140000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69" name="Line 42"/>
            <p:cNvSpPr>
              <a:spLocks noChangeShapeType="1"/>
            </p:cNvSpPr>
            <p:nvPr/>
          </p:nvSpPr>
          <p:spPr bwMode="auto">
            <a:xfrm>
              <a:off x="5573811" y="180900"/>
              <a:ext cx="0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70" name="Line 43"/>
            <p:cNvSpPr>
              <a:spLocks noChangeShapeType="1"/>
            </p:cNvSpPr>
            <p:nvPr/>
          </p:nvSpPr>
          <p:spPr bwMode="auto">
            <a:xfrm>
              <a:off x="5573811" y="471412"/>
              <a:ext cx="0" cy="5762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71" name="Line 44"/>
            <p:cNvSpPr>
              <a:spLocks noChangeShapeType="1"/>
            </p:cNvSpPr>
            <p:nvPr/>
          </p:nvSpPr>
          <p:spPr bwMode="auto">
            <a:xfrm>
              <a:off x="6318882" y="161552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72" name="Line 44"/>
            <p:cNvSpPr>
              <a:spLocks noChangeShapeType="1"/>
            </p:cNvSpPr>
            <p:nvPr/>
          </p:nvSpPr>
          <p:spPr bwMode="auto">
            <a:xfrm>
              <a:off x="6581923" y="164231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42345" name="组合 180235"/>
          <p:cNvGrpSpPr/>
          <p:nvPr/>
        </p:nvGrpSpPr>
        <p:grpSpPr bwMode="auto">
          <a:xfrm>
            <a:off x="3816350" y="-14288"/>
            <a:ext cx="1331913" cy="1649413"/>
            <a:chOff x="3816350" y="-15044"/>
            <a:chExt cx="1331714" cy="1649918"/>
          </a:xfrm>
        </p:grpSpPr>
        <p:sp>
          <p:nvSpPr>
            <p:cNvPr id="142456" name="Line 16"/>
            <p:cNvSpPr>
              <a:spLocks noChangeShapeType="1"/>
            </p:cNvSpPr>
            <p:nvPr/>
          </p:nvSpPr>
          <p:spPr bwMode="auto">
            <a:xfrm>
              <a:off x="3908022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57" name="Line 18"/>
            <p:cNvSpPr>
              <a:spLocks noChangeShapeType="1"/>
            </p:cNvSpPr>
            <p:nvPr/>
          </p:nvSpPr>
          <p:spPr bwMode="auto">
            <a:xfrm flipH="1" flipV="1">
              <a:off x="4355976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58" name="Line 19"/>
            <p:cNvSpPr>
              <a:spLocks noChangeShapeType="1"/>
            </p:cNvSpPr>
            <p:nvPr/>
          </p:nvSpPr>
          <p:spPr bwMode="auto">
            <a:xfrm>
              <a:off x="4484086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59" name="Line 20"/>
            <p:cNvSpPr>
              <a:spLocks noChangeShapeType="1"/>
            </p:cNvSpPr>
            <p:nvPr/>
          </p:nvSpPr>
          <p:spPr bwMode="auto">
            <a:xfrm>
              <a:off x="4491924" y="339502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60" name="Line 21"/>
            <p:cNvSpPr>
              <a:spLocks noChangeShapeType="1"/>
            </p:cNvSpPr>
            <p:nvPr/>
          </p:nvSpPr>
          <p:spPr bwMode="auto">
            <a:xfrm flipH="1" flipV="1">
              <a:off x="4771399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61" name="Text Box 22"/>
            <p:cNvSpPr txBox="1">
              <a:spLocks noChangeArrowheads="1"/>
            </p:cNvSpPr>
            <p:nvPr/>
          </p:nvSpPr>
          <p:spPr bwMode="auto">
            <a:xfrm>
              <a:off x="3816350" y="-15044"/>
              <a:ext cx="755650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offset</a:t>
              </a:r>
              <a:endParaRPr lang="en-US" altLang="zh-CN" sz="1800" b="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62" name="Text Box 26"/>
            <p:cNvSpPr txBox="1">
              <a:spLocks noChangeArrowheads="1"/>
            </p:cNvSpPr>
            <p:nvPr/>
          </p:nvSpPr>
          <p:spPr bwMode="auto">
            <a:xfrm>
              <a:off x="4390827" y="-3398"/>
              <a:ext cx="757237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tblptr</a:t>
              </a:r>
              <a:endParaRPr lang="en-US" altLang="zh-CN" sz="1800" b="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63" name="Line 20"/>
            <p:cNvSpPr>
              <a:spLocks noChangeShapeType="1"/>
            </p:cNvSpPr>
            <p:nvPr/>
          </p:nvSpPr>
          <p:spPr bwMode="auto">
            <a:xfrm flipV="1">
              <a:off x="3908022" y="334865"/>
              <a:ext cx="434883" cy="46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2346" name="Line 20"/>
          <p:cNvSpPr>
            <a:spLocks noChangeShapeType="1"/>
          </p:cNvSpPr>
          <p:nvPr/>
        </p:nvSpPr>
        <p:spPr bwMode="auto">
          <a:xfrm flipV="1">
            <a:off x="1296988" y="268288"/>
            <a:ext cx="142557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42347" name="Line 20"/>
          <p:cNvSpPr>
            <a:spLocks noChangeShapeType="1"/>
          </p:cNvSpPr>
          <p:nvPr/>
        </p:nvSpPr>
        <p:spPr bwMode="auto">
          <a:xfrm flipV="1">
            <a:off x="1633538" y="523875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48" name="组合 180224"/>
          <p:cNvGrpSpPr/>
          <p:nvPr/>
        </p:nvGrpSpPr>
        <p:grpSpPr bwMode="auto">
          <a:xfrm>
            <a:off x="4881563" y="1639888"/>
            <a:ext cx="2038350" cy="361950"/>
            <a:chOff x="4880918" y="1639665"/>
            <a:chExt cx="2038349" cy="361950"/>
          </a:xfrm>
        </p:grpSpPr>
        <p:sp>
          <p:nvSpPr>
            <p:cNvPr id="142454" name="Rectangle 25"/>
            <p:cNvSpPr>
              <a:spLocks noChangeArrowheads="1"/>
            </p:cNvSpPr>
            <p:nvPr/>
          </p:nvSpPr>
          <p:spPr bwMode="auto">
            <a:xfrm>
              <a:off x="4880918" y="1639665"/>
              <a:ext cx="2038349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   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array  0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55" name="Line 8"/>
            <p:cNvSpPr>
              <a:spLocks noChangeShapeType="1"/>
            </p:cNvSpPr>
            <p:nvPr/>
          </p:nvSpPr>
          <p:spPr bwMode="auto">
            <a:xfrm>
              <a:off x="4898381" y="1990502"/>
              <a:ext cx="2020886" cy="15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2349" name="Line 20"/>
          <p:cNvSpPr>
            <a:spLocks noChangeShapeType="1"/>
          </p:cNvSpPr>
          <p:nvPr/>
        </p:nvSpPr>
        <p:spPr bwMode="auto">
          <a:xfrm>
            <a:off x="2982913" y="555625"/>
            <a:ext cx="37782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50" name="组合 180236"/>
          <p:cNvGrpSpPr/>
          <p:nvPr/>
        </p:nvGrpSpPr>
        <p:grpSpPr bwMode="auto">
          <a:xfrm>
            <a:off x="3913188" y="311150"/>
            <a:ext cx="1266825" cy="315913"/>
            <a:chOff x="3913756" y="310816"/>
            <a:chExt cx="1266106" cy="316804"/>
          </a:xfrm>
        </p:grpSpPr>
        <p:sp>
          <p:nvSpPr>
            <p:cNvPr id="142451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24" name="直接箭头连接符 123"/>
            <p:cNvCxnSpPr/>
            <p:nvPr/>
          </p:nvCxnSpPr>
          <p:spPr>
            <a:xfrm flipV="1">
              <a:off x="4616619" y="310816"/>
              <a:ext cx="563243" cy="165566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矩形 150"/>
            <p:cNvSpPr/>
            <p:nvPr/>
          </p:nvSpPr>
          <p:spPr>
            <a:xfrm>
              <a:off x="3913756" y="334696"/>
              <a:ext cx="439487" cy="292924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42351" name="组合 180238"/>
          <p:cNvGrpSpPr/>
          <p:nvPr/>
        </p:nvGrpSpPr>
        <p:grpSpPr bwMode="auto">
          <a:xfrm>
            <a:off x="3908425" y="636588"/>
            <a:ext cx="990600" cy="769937"/>
            <a:chOff x="3907724" y="637094"/>
            <a:chExt cx="990625" cy="769481"/>
          </a:xfrm>
        </p:grpSpPr>
        <p:sp>
          <p:nvSpPr>
            <p:cNvPr id="142448" name="Line 20"/>
            <p:cNvSpPr>
              <a:spLocks noChangeShapeType="1"/>
            </p:cNvSpPr>
            <p:nvPr/>
          </p:nvSpPr>
          <p:spPr bwMode="auto">
            <a:xfrm>
              <a:off x="4499992" y="926397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33" name="直接箭头连接符 132"/>
            <p:cNvCxnSpPr/>
            <p:nvPr/>
          </p:nvCxnSpPr>
          <p:spPr>
            <a:xfrm>
              <a:off x="4617355" y="771951"/>
              <a:ext cx="280994" cy="634624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矩形 152"/>
            <p:cNvSpPr/>
            <p:nvPr/>
          </p:nvSpPr>
          <p:spPr>
            <a:xfrm>
              <a:off x="3907724" y="637094"/>
              <a:ext cx="439749" cy="291927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0232" name="矩形 180231"/>
          <p:cNvSpPr/>
          <p:nvPr/>
        </p:nvSpPr>
        <p:spPr>
          <a:xfrm>
            <a:off x="3916363" y="622300"/>
            <a:ext cx="439737" cy="293688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2353" name="组合 180240"/>
          <p:cNvGrpSpPr/>
          <p:nvPr/>
        </p:nvGrpSpPr>
        <p:grpSpPr bwMode="auto">
          <a:xfrm>
            <a:off x="4897438" y="1943100"/>
            <a:ext cx="2071687" cy="363538"/>
            <a:chOff x="4897836" y="1942382"/>
            <a:chExt cx="2070694" cy="363537"/>
          </a:xfrm>
        </p:grpSpPr>
        <p:sp>
          <p:nvSpPr>
            <p:cNvPr id="142446" name="Line 7"/>
            <p:cNvSpPr>
              <a:spLocks noChangeShapeType="1"/>
            </p:cNvSpPr>
            <p:nvPr/>
          </p:nvSpPr>
          <p:spPr bwMode="auto">
            <a:xfrm flipV="1">
              <a:off x="4899968" y="2282602"/>
              <a:ext cx="201771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47" name="Rectangle 26"/>
            <p:cNvSpPr>
              <a:spLocks noChangeArrowheads="1"/>
            </p:cNvSpPr>
            <p:nvPr/>
          </p:nvSpPr>
          <p:spPr bwMode="auto">
            <a:xfrm>
              <a:off x="4897836" y="1942382"/>
              <a:ext cx="2070694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x    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44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42354" name="Line 20"/>
          <p:cNvSpPr>
            <a:spLocks noChangeShapeType="1"/>
          </p:cNvSpPr>
          <p:nvPr/>
        </p:nvSpPr>
        <p:spPr bwMode="auto">
          <a:xfrm>
            <a:off x="1633538" y="700088"/>
            <a:ext cx="14271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42355" name="Line 20"/>
          <p:cNvSpPr>
            <a:spLocks noChangeShapeType="1"/>
          </p:cNvSpPr>
          <p:nvPr/>
        </p:nvSpPr>
        <p:spPr bwMode="auto">
          <a:xfrm flipV="1">
            <a:off x="1785938" y="922338"/>
            <a:ext cx="842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56" name="组合 180243"/>
          <p:cNvGrpSpPr/>
          <p:nvPr/>
        </p:nvGrpSpPr>
        <p:grpSpPr bwMode="auto">
          <a:xfrm>
            <a:off x="7491922" y="539750"/>
            <a:ext cx="1296527" cy="361950"/>
            <a:chOff x="7491972" y="539279"/>
            <a:chExt cx="1296166" cy="361950"/>
          </a:xfrm>
        </p:grpSpPr>
        <p:sp>
          <p:nvSpPr>
            <p:cNvPr id="142444" name="Line 19"/>
            <p:cNvSpPr>
              <a:spLocks noChangeShapeType="1"/>
            </p:cNvSpPr>
            <p:nvPr/>
          </p:nvSpPr>
          <p:spPr bwMode="auto">
            <a:xfrm flipV="1">
              <a:off x="7491972" y="875829"/>
              <a:ext cx="129616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45" name="Rectangle 40"/>
            <p:cNvSpPr>
              <a:spLocks noChangeArrowheads="1"/>
            </p:cNvSpPr>
            <p:nvPr/>
          </p:nvSpPr>
          <p:spPr bwMode="auto">
            <a:xfrm>
              <a:off x="7523211" y="539279"/>
              <a:ext cx="122044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0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42357" name="Line 20"/>
          <p:cNvSpPr>
            <a:spLocks noChangeShapeType="1"/>
          </p:cNvSpPr>
          <p:nvPr/>
        </p:nvSpPr>
        <p:spPr bwMode="auto">
          <a:xfrm flipV="1">
            <a:off x="2773363" y="9159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8509000" y="298450"/>
            <a:ext cx="271463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2359" name="组合 180244"/>
          <p:cNvGrpSpPr/>
          <p:nvPr/>
        </p:nvGrpSpPr>
        <p:grpSpPr bwMode="auto">
          <a:xfrm>
            <a:off x="4862513" y="739775"/>
            <a:ext cx="2640012" cy="1817688"/>
            <a:chOff x="4861992" y="739181"/>
            <a:chExt cx="2640954" cy="1818058"/>
          </a:xfrm>
        </p:grpSpPr>
        <p:sp>
          <p:nvSpPr>
            <p:cNvPr id="84" name="Line 95"/>
            <p:cNvSpPr>
              <a:spLocks noChangeShapeType="1"/>
            </p:cNvSpPr>
            <p:nvPr/>
          </p:nvSpPr>
          <p:spPr bwMode="auto">
            <a:xfrm>
              <a:off x="7018586" y="739181"/>
              <a:ext cx="3176" cy="1722789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6" name="Line 43"/>
            <p:cNvSpPr>
              <a:spLocks noChangeShapeType="1"/>
            </p:cNvSpPr>
            <p:nvPr/>
          </p:nvSpPr>
          <p:spPr bwMode="auto">
            <a:xfrm>
              <a:off x="7031291" y="750296"/>
              <a:ext cx="471655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42442" name="Line 6"/>
            <p:cNvSpPr>
              <a:spLocks noChangeShapeType="1"/>
            </p:cNvSpPr>
            <p:nvPr/>
          </p:nvSpPr>
          <p:spPr bwMode="auto">
            <a:xfrm flipV="1">
              <a:off x="4874568" y="2557239"/>
              <a:ext cx="204389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43" name="Rectangle 28"/>
            <p:cNvSpPr>
              <a:spLocks noChangeArrowheads="1"/>
            </p:cNvSpPr>
            <p:nvPr/>
          </p:nvSpPr>
          <p:spPr bwMode="auto">
            <a:xfrm>
              <a:off x="4861992" y="2192115"/>
              <a:ext cx="1314450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readarray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42360" name="Line 20"/>
          <p:cNvSpPr>
            <a:spLocks noChangeShapeType="1"/>
          </p:cNvSpPr>
          <p:nvPr/>
        </p:nvSpPr>
        <p:spPr bwMode="auto">
          <a:xfrm>
            <a:off x="1619250" y="1131888"/>
            <a:ext cx="1427163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61" name="组合 1"/>
          <p:cNvGrpSpPr/>
          <p:nvPr/>
        </p:nvGrpSpPr>
        <p:grpSpPr bwMode="auto">
          <a:xfrm>
            <a:off x="6861175" y="893763"/>
            <a:ext cx="1976438" cy="727075"/>
            <a:chOff x="6861077" y="893664"/>
            <a:chExt cx="1976561" cy="727596"/>
          </a:xfrm>
        </p:grpSpPr>
        <p:sp>
          <p:nvSpPr>
            <p:cNvPr id="142431" name="Rectangle 31"/>
            <p:cNvSpPr>
              <a:spLocks noChangeArrowheads="1"/>
            </p:cNvSpPr>
            <p:nvPr/>
          </p:nvSpPr>
          <p:spPr bwMode="auto">
            <a:xfrm>
              <a:off x="7566050" y="893664"/>
              <a:ext cx="1271588" cy="403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32" name="Line 32"/>
            <p:cNvSpPr>
              <a:spLocks noChangeShapeType="1"/>
            </p:cNvSpPr>
            <p:nvPr/>
          </p:nvSpPr>
          <p:spPr bwMode="auto">
            <a:xfrm>
              <a:off x="7486725" y="1298998"/>
              <a:ext cx="0" cy="3095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33" name="Line 33"/>
            <p:cNvSpPr>
              <a:spLocks noChangeShapeType="1"/>
            </p:cNvSpPr>
            <p:nvPr/>
          </p:nvSpPr>
          <p:spPr bwMode="auto">
            <a:xfrm>
              <a:off x="8742563" y="1298998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34" name="Line 34"/>
            <p:cNvSpPr>
              <a:spLocks noChangeShapeType="1"/>
            </p:cNvSpPr>
            <p:nvPr/>
          </p:nvSpPr>
          <p:spPr bwMode="auto">
            <a:xfrm>
              <a:off x="7476119" y="1608559"/>
              <a:ext cx="127283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35" name="Rectangle 35"/>
            <p:cNvSpPr>
              <a:spLocks noChangeArrowheads="1"/>
            </p:cNvSpPr>
            <p:nvPr/>
          </p:nvSpPr>
          <p:spPr bwMode="auto">
            <a:xfrm>
              <a:off x="7710066" y="1246610"/>
              <a:ext cx="107840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36" name="Line 36"/>
            <p:cNvSpPr>
              <a:spLocks noChangeShapeType="1"/>
            </p:cNvSpPr>
            <p:nvPr/>
          </p:nvSpPr>
          <p:spPr bwMode="auto">
            <a:xfrm flipV="1">
              <a:off x="7476627" y="1298998"/>
              <a:ext cx="127232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37" name="Line 37"/>
            <p:cNvSpPr>
              <a:spLocks noChangeShapeType="1"/>
            </p:cNvSpPr>
            <p:nvPr/>
          </p:nvSpPr>
          <p:spPr bwMode="auto">
            <a:xfrm>
              <a:off x="7710066" y="1313285"/>
              <a:ext cx="0" cy="2841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38" name="Line 33"/>
            <p:cNvSpPr>
              <a:spLocks noChangeShapeType="1"/>
            </p:cNvSpPr>
            <p:nvPr/>
          </p:nvSpPr>
          <p:spPr bwMode="auto">
            <a:xfrm>
              <a:off x="8502154" y="1294235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39" name="Line 51"/>
            <p:cNvSpPr>
              <a:spLocks noChangeShapeType="1"/>
            </p:cNvSpPr>
            <p:nvPr/>
          </p:nvSpPr>
          <p:spPr bwMode="auto">
            <a:xfrm flipH="1">
              <a:off x="6861077" y="1533301"/>
              <a:ext cx="736822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2362" name="Line 20"/>
          <p:cNvSpPr>
            <a:spLocks noChangeShapeType="1"/>
          </p:cNvSpPr>
          <p:nvPr/>
        </p:nvSpPr>
        <p:spPr bwMode="auto">
          <a:xfrm flipV="1">
            <a:off x="3157538" y="11318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22" name="矩形 121"/>
          <p:cNvSpPr/>
          <p:nvPr/>
        </p:nvSpPr>
        <p:spPr>
          <a:xfrm>
            <a:off x="8505088" y="1296127"/>
            <a:ext cx="238125" cy="315614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2364" name="组合 3"/>
          <p:cNvGrpSpPr/>
          <p:nvPr/>
        </p:nvGrpSpPr>
        <p:grpSpPr bwMode="auto">
          <a:xfrm>
            <a:off x="4862513" y="1423988"/>
            <a:ext cx="2551112" cy="1428750"/>
            <a:chOff x="4861992" y="1423765"/>
            <a:chExt cx="2551631" cy="1428750"/>
          </a:xfrm>
        </p:grpSpPr>
        <p:sp>
          <p:nvSpPr>
            <p:cNvPr id="142426" name="Line 5"/>
            <p:cNvSpPr>
              <a:spLocks noChangeShapeType="1"/>
            </p:cNvSpPr>
            <p:nvPr/>
          </p:nvSpPr>
          <p:spPr bwMode="auto">
            <a:xfrm>
              <a:off x="4887268" y="2846735"/>
              <a:ext cx="202806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27" name="Rectangle 39"/>
            <p:cNvSpPr>
              <a:spLocks noChangeArrowheads="1"/>
            </p:cNvSpPr>
            <p:nvPr/>
          </p:nvSpPr>
          <p:spPr bwMode="auto">
            <a:xfrm>
              <a:off x="4861992" y="2488977"/>
              <a:ext cx="1260475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0" name="Line 103"/>
            <p:cNvSpPr>
              <a:spLocks noChangeShapeType="1"/>
            </p:cNvSpPr>
            <p:nvPr/>
          </p:nvSpPr>
          <p:spPr bwMode="auto">
            <a:xfrm flipH="1">
              <a:off x="6753088" y="2738215"/>
              <a:ext cx="396956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1" name="Line 95"/>
            <p:cNvSpPr>
              <a:spLocks noChangeShapeType="1"/>
            </p:cNvSpPr>
            <p:nvPr/>
          </p:nvSpPr>
          <p:spPr bwMode="auto">
            <a:xfrm flipH="1">
              <a:off x="7150044" y="1423765"/>
              <a:ext cx="0" cy="13303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2" name="Line 43"/>
            <p:cNvSpPr>
              <a:spLocks noChangeShapeType="1"/>
            </p:cNvSpPr>
            <p:nvPr/>
          </p:nvSpPr>
          <p:spPr bwMode="auto">
            <a:xfrm flipV="1">
              <a:off x="7129403" y="1436465"/>
              <a:ext cx="284220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42365" name="Line 20"/>
          <p:cNvSpPr>
            <a:spLocks noChangeShapeType="1"/>
          </p:cNvSpPr>
          <p:nvPr/>
        </p:nvSpPr>
        <p:spPr bwMode="auto">
          <a:xfrm>
            <a:off x="1619250" y="1347788"/>
            <a:ext cx="1427163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66" name="组合 2"/>
          <p:cNvGrpSpPr/>
          <p:nvPr/>
        </p:nvGrpSpPr>
        <p:grpSpPr bwMode="auto">
          <a:xfrm>
            <a:off x="6896100" y="1582738"/>
            <a:ext cx="2354263" cy="1533525"/>
            <a:chOff x="6895356" y="1582537"/>
            <a:chExt cx="2355402" cy="1533525"/>
          </a:xfrm>
        </p:grpSpPr>
        <p:sp>
          <p:nvSpPr>
            <p:cNvPr id="142416" name="Line 42"/>
            <p:cNvSpPr>
              <a:spLocks noChangeShapeType="1"/>
            </p:cNvSpPr>
            <p:nvPr/>
          </p:nvSpPr>
          <p:spPr bwMode="auto">
            <a:xfrm>
              <a:off x="7454577" y="1920674"/>
              <a:ext cx="1587" cy="11795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17" name="Line 43"/>
            <p:cNvSpPr>
              <a:spLocks noChangeShapeType="1"/>
            </p:cNvSpPr>
            <p:nvPr/>
          </p:nvSpPr>
          <p:spPr bwMode="auto">
            <a:xfrm flipH="1">
              <a:off x="9091289" y="1919087"/>
              <a:ext cx="4763" cy="11969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18" name="Line 47"/>
            <p:cNvSpPr>
              <a:spLocks noChangeShapeType="1"/>
            </p:cNvSpPr>
            <p:nvPr/>
          </p:nvSpPr>
          <p:spPr bwMode="auto">
            <a:xfrm flipV="1">
              <a:off x="7456164" y="2230237"/>
              <a:ext cx="163988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19" name="Rectangle 48"/>
            <p:cNvSpPr>
              <a:spLocks noChangeArrowheads="1"/>
            </p:cNvSpPr>
            <p:nvPr/>
          </p:nvSpPr>
          <p:spPr bwMode="auto">
            <a:xfrm>
              <a:off x="7946702" y="1868287"/>
              <a:ext cx="1304056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20" name="Rectangle 49"/>
            <p:cNvSpPr>
              <a:spLocks noChangeArrowheads="1"/>
            </p:cNvSpPr>
            <p:nvPr/>
          </p:nvSpPr>
          <p:spPr bwMode="auto">
            <a:xfrm>
              <a:off x="7666582" y="1582537"/>
              <a:ext cx="1350963" cy="387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21" name="Line 50"/>
            <p:cNvSpPr>
              <a:spLocks noChangeShapeType="1"/>
            </p:cNvSpPr>
            <p:nvPr/>
          </p:nvSpPr>
          <p:spPr bwMode="auto">
            <a:xfrm flipV="1">
              <a:off x="7467277" y="1919087"/>
              <a:ext cx="1639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22" name="Line 51"/>
            <p:cNvSpPr>
              <a:spLocks noChangeShapeType="1"/>
            </p:cNvSpPr>
            <p:nvPr/>
          </p:nvSpPr>
          <p:spPr bwMode="auto">
            <a:xfrm>
              <a:off x="7832402" y="1934962"/>
              <a:ext cx="1587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23" name="Line 52"/>
            <p:cNvSpPr>
              <a:spLocks noChangeShapeType="1"/>
            </p:cNvSpPr>
            <p:nvPr/>
          </p:nvSpPr>
          <p:spPr bwMode="auto">
            <a:xfrm>
              <a:off x="8386662" y="2254049"/>
              <a:ext cx="0" cy="86042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24" name="Line 51"/>
            <p:cNvSpPr>
              <a:spLocks noChangeShapeType="1"/>
            </p:cNvSpPr>
            <p:nvPr/>
          </p:nvSpPr>
          <p:spPr bwMode="auto">
            <a:xfrm flipH="1" flipV="1">
              <a:off x="6895356" y="2122287"/>
              <a:ext cx="821434" cy="43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25" name="Line 43"/>
            <p:cNvSpPr>
              <a:spLocks noChangeShapeType="1"/>
            </p:cNvSpPr>
            <p:nvPr/>
          </p:nvSpPr>
          <p:spPr bwMode="auto">
            <a:xfrm flipH="1">
              <a:off x="8746702" y="1903881"/>
              <a:ext cx="4763" cy="11969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5" name="组合 154"/>
          <p:cNvGrpSpPr/>
          <p:nvPr/>
        </p:nvGrpSpPr>
        <p:grpSpPr bwMode="auto">
          <a:xfrm>
            <a:off x="3912869" y="911225"/>
            <a:ext cx="3542031" cy="992188"/>
            <a:chOff x="3902325" y="335024"/>
            <a:chExt cx="3542080" cy="992879"/>
          </a:xfrm>
        </p:grpSpPr>
        <p:sp>
          <p:nvSpPr>
            <p:cNvPr id="142413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57" name="直接箭头连接符 156"/>
            <p:cNvCxnSpPr/>
            <p:nvPr/>
          </p:nvCxnSpPr>
          <p:spPr>
            <a:xfrm>
              <a:off x="4617029" y="476410"/>
              <a:ext cx="2827376" cy="851493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矩形 157"/>
            <p:cNvSpPr/>
            <p:nvPr/>
          </p:nvSpPr>
          <p:spPr>
            <a:xfrm>
              <a:off x="3902325" y="335024"/>
              <a:ext cx="442841" cy="292303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2368" name="Line 20"/>
          <p:cNvSpPr>
            <a:spLocks noChangeShapeType="1"/>
          </p:cNvSpPr>
          <p:nvPr/>
        </p:nvSpPr>
        <p:spPr bwMode="auto">
          <a:xfrm flipV="1">
            <a:off x="1785938" y="1563688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69" name="组合 6"/>
          <p:cNvGrpSpPr/>
          <p:nvPr/>
        </p:nvGrpSpPr>
        <p:grpSpPr bwMode="auto">
          <a:xfrm>
            <a:off x="7467600" y="2201863"/>
            <a:ext cx="1676400" cy="361950"/>
            <a:chOff x="7467277" y="2201662"/>
            <a:chExt cx="1676723" cy="361950"/>
          </a:xfrm>
        </p:grpSpPr>
        <p:sp>
          <p:nvSpPr>
            <p:cNvPr id="142411" name="Rectangle 54"/>
            <p:cNvSpPr>
              <a:spLocks noChangeArrowheads="1"/>
            </p:cNvSpPr>
            <p:nvPr/>
          </p:nvSpPr>
          <p:spPr bwMode="auto">
            <a:xfrm>
              <a:off x="7505377" y="2201662"/>
              <a:ext cx="163862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k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0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12" name="Line 46"/>
            <p:cNvSpPr>
              <a:spLocks noChangeShapeType="1"/>
            </p:cNvSpPr>
            <p:nvPr/>
          </p:nvSpPr>
          <p:spPr bwMode="auto">
            <a:xfrm flipV="1">
              <a:off x="7467277" y="2525512"/>
              <a:ext cx="1639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67" name="矩形 166"/>
          <p:cNvSpPr/>
          <p:nvPr/>
        </p:nvSpPr>
        <p:spPr>
          <a:xfrm>
            <a:off x="3908395" y="912019"/>
            <a:ext cx="448308" cy="29210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2371" name="组合 7"/>
          <p:cNvGrpSpPr/>
          <p:nvPr/>
        </p:nvGrpSpPr>
        <p:grpSpPr bwMode="auto">
          <a:xfrm>
            <a:off x="7467600" y="2486025"/>
            <a:ext cx="1643063" cy="390525"/>
            <a:chOff x="7467277" y="2485824"/>
            <a:chExt cx="1643062" cy="390526"/>
          </a:xfrm>
        </p:grpSpPr>
        <p:sp>
          <p:nvSpPr>
            <p:cNvPr id="142409" name="Rectangle 55"/>
            <p:cNvSpPr>
              <a:spLocks noChangeArrowheads="1"/>
            </p:cNvSpPr>
            <p:nvPr/>
          </p:nvSpPr>
          <p:spPr bwMode="auto">
            <a:xfrm>
              <a:off x="7505376" y="2485824"/>
              <a:ext cx="1585913" cy="3905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v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4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10" name="Line 45"/>
            <p:cNvSpPr>
              <a:spLocks noChangeShapeType="1"/>
            </p:cNvSpPr>
            <p:nvPr/>
          </p:nvSpPr>
          <p:spPr bwMode="auto">
            <a:xfrm flipV="1">
              <a:off x="7467277" y="2819199"/>
              <a:ext cx="1643062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70" name="矩形 169"/>
          <p:cNvSpPr/>
          <p:nvPr/>
        </p:nvSpPr>
        <p:spPr>
          <a:xfrm>
            <a:off x="3913188" y="906463"/>
            <a:ext cx="442516" cy="303318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373" name="Line 20"/>
          <p:cNvSpPr>
            <a:spLocks noChangeShapeType="1"/>
          </p:cNvSpPr>
          <p:nvPr/>
        </p:nvSpPr>
        <p:spPr bwMode="auto">
          <a:xfrm flipV="1">
            <a:off x="1938338" y="1779588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74" name="组合 8"/>
          <p:cNvGrpSpPr/>
          <p:nvPr/>
        </p:nvGrpSpPr>
        <p:grpSpPr bwMode="auto">
          <a:xfrm>
            <a:off x="7597950" y="3176588"/>
            <a:ext cx="1530174" cy="1260475"/>
            <a:chOff x="7597752" y="3176042"/>
            <a:chExt cx="1530076" cy="1261690"/>
          </a:xfrm>
        </p:grpSpPr>
        <p:sp>
          <p:nvSpPr>
            <p:cNvPr id="142399" name="Line 56"/>
            <p:cNvSpPr>
              <a:spLocks noChangeShapeType="1"/>
            </p:cNvSpPr>
            <p:nvPr/>
          </p:nvSpPr>
          <p:spPr bwMode="auto">
            <a:xfrm flipH="1">
              <a:off x="7603925" y="3513385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00" name="Line 57"/>
            <p:cNvSpPr>
              <a:spLocks noChangeShapeType="1"/>
            </p:cNvSpPr>
            <p:nvPr/>
          </p:nvSpPr>
          <p:spPr bwMode="auto">
            <a:xfrm flipH="1">
              <a:off x="8917735" y="3513385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2401" name="Line 60"/>
            <p:cNvSpPr>
              <a:spLocks noChangeShapeType="1"/>
            </p:cNvSpPr>
            <p:nvPr/>
          </p:nvSpPr>
          <p:spPr bwMode="auto">
            <a:xfrm flipV="1">
              <a:off x="7616626" y="3807495"/>
              <a:ext cx="129076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02" name="Rectangle 61"/>
            <p:cNvSpPr>
              <a:spLocks noChangeArrowheads="1"/>
            </p:cNvSpPr>
            <p:nvPr/>
          </p:nvSpPr>
          <p:spPr bwMode="auto">
            <a:xfrm>
              <a:off x="7891337" y="3460998"/>
              <a:ext cx="1188964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03" name="Rectangle 62"/>
            <p:cNvSpPr>
              <a:spLocks noChangeArrowheads="1"/>
            </p:cNvSpPr>
            <p:nvPr/>
          </p:nvSpPr>
          <p:spPr bwMode="auto">
            <a:xfrm>
              <a:off x="7776865" y="3176042"/>
              <a:ext cx="1350963" cy="387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  <a:endParaRPr lang="en-US" altLang="zh-CN" sz="21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04" name="Line 63"/>
            <p:cNvSpPr>
              <a:spLocks noChangeShapeType="1"/>
            </p:cNvSpPr>
            <p:nvPr/>
          </p:nvSpPr>
          <p:spPr bwMode="auto">
            <a:xfrm>
              <a:off x="7597752" y="3514597"/>
              <a:ext cx="1333238" cy="1666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05" name="Line 64"/>
            <p:cNvSpPr>
              <a:spLocks noChangeShapeType="1"/>
            </p:cNvSpPr>
            <p:nvPr/>
          </p:nvSpPr>
          <p:spPr bwMode="auto">
            <a:xfrm>
              <a:off x="7891337" y="3527673"/>
              <a:ext cx="1587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06" name="Line 65"/>
            <p:cNvSpPr>
              <a:spLocks noChangeShapeType="1"/>
            </p:cNvSpPr>
            <p:nvPr/>
          </p:nvSpPr>
          <p:spPr bwMode="auto">
            <a:xfrm flipH="1">
              <a:off x="7897687" y="3826123"/>
              <a:ext cx="0" cy="5778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07" name="Line 57"/>
            <p:cNvSpPr>
              <a:spLocks noChangeShapeType="1"/>
            </p:cNvSpPr>
            <p:nvPr/>
          </p:nvSpPr>
          <p:spPr bwMode="auto">
            <a:xfrm flipH="1">
              <a:off x="8683425" y="3534444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08" name="Line 51"/>
            <p:cNvSpPr>
              <a:spLocks noChangeShapeType="1"/>
            </p:cNvSpPr>
            <p:nvPr/>
          </p:nvSpPr>
          <p:spPr bwMode="auto">
            <a:xfrm flipV="1">
              <a:off x="7666581" y="3201492"/>
              <a:ext cx="1" cy="384689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2375" name="Line 20"/>
          <p:cNvSpPr>
            <a:spLocks noChangeShapeType="1"/>
          </p:cNvSpPr>
          <p:nvPr/>
        </p:nvSpPr>
        <p:spPr bwMode="auto">
          <a:xfrm flipV="1">
            <a:off x="2138363" y="1995488"/>
            <a:ext cx="1138237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76" name="组合 9"/>
          <p:cNvGrpSpPr/>
          <p:nvPr/>
        </p:nvGrpSpPr>
        <p:grpSpPr bwMode="auto">
          <a:xfrm>
            <a:off x="7627938" y="3783013"/>
            <a:ext cx="1303337" cy="363537"/>
            <a:chOff x="7627739" y="3783260"/>
            <a:chExt cx="1303462" cy="363538"/>
          </a:xfrm>
        </p:grpSpPr>
        <p:sp>
          <p:nvSpPr>
            <p:cNvPr id="142397" name="Rectangle 67"/>
            <p:cNvSpPr>
              <a:spLocks noChangeArrowheads="1"/>
            </p:cNvSpPr>
            <p:nvPr/>
          </p:nvSpPr>
          <p:spPr bwMode="auto">
            <a:xfrm>
              <a:off x="7656313" y="3783260"/>
              <a:ext cx="127488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0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398" name="Line 59"/>
            <p:cNvSpPr>
              <a:spLocks noChangeShapeType="1"/>
            </p:cNvSpPr>
            <p:nvPr/>
          </p:nvSpPr>
          <p:spPr bwMode="auto">
            <a:xfrm flipV="1">
              <a:off x="7627739" y="4099596"/>
              <a:ext cx="127965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42377" name="组合 11"/>
          <p:cNvGrpSpPr/>
          <p:nvPr/>
        </p:nvGrpSpPr>
        <p:grpSpPr bwMode="auto">
          <a:xfrm>
            <a:off x="7597950" y="4092575"/>
            <a:ext cx="1361900" cy="363538"/>
            <a:chOff x="7597747" y="4092823"/>
            <a:chExt cx="1362029" cy="363537"/>
          </a:xfrm>
        </p:grpSpPr>
        <p:sp>
          <p:nvSpPr>
            <p:cNvPr id="142395" name="Rectangle 68"/>
            <p:cNvSpPr>
              <a:spLocks noChangeArrowheads="1"/>
            </p:cNvSpPr>
            <p:nvPr/>
          </p:nvSpPr>
          <p:spPr bwMode="auto">
            <a:xfrm>
              <a:off x="7656314" y="4092823"/>
              <a:ext cx="130346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j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4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396" name="Line 58"/>
            <p:cNvSpPr>
              <a:spLocks noChangeShapeType="1"/>
            </p:cNvSpPr>
            <p:nvPr/>
          </p:nvSpPr>
          <p:spPr bwMode="auto">
            <a:xfrm>
              <a:off x="7597747" y="4413498"/>
              <a:ext cx="133344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2378" name="Line 20"/>
          <p:cNvSpPr>
            <a:spLocks noChangeShapeType="1"/>
          </p:cNvSpPr>
          <p:nvPr/>
        </p:nvSpPr>
        <p:spPr bwMode="auto">
          <a:xfrm flipV="1">
            <a:off x="3309938" y="19954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06" name="矩形 205"/>
          <p:cNvSpPr/>
          <p:nvPr/>
        </p:nvSpPr>
        <p:spPr>
          <a:xfrm>
            <a:off x="8677275" y="3509963"/>
            <a:ext cx="230188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2380" name="组合 208"/>
          <p:cNvGrpSpPr/>
          <p:nvPr/>
        </p:nvGrpSpPr>
        <p:grpSpPr bwMode="auto">
          <a:xfrm>
            <a:off x="7443788" y="2741613"/>
            <a:ext cx="1639887" cy="725488"/>
            <a:chOff x="7443464" y="2741412"/>
            <a:chExt cx="1639888" cy="726360"/>
          </a:xfrm>
        </p:grpSpPr>
        <p:sp>
          <p:nvSpPr>
            <p:cNvPr id="142390" name="Line 44"/>
            <p:cNvSpPr>
              <a:spLocks noChangeShapeType="1"/>
            </p:cNvSpPr>
            <p:nvPr/>
          </p:nvSpPr>
          <p:spPr bwMode="auto">
            <a:xfrm flipV="1">
              <a:off x="7443464" y="3101774"/>
              <a:ext cx="1639888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391" name="Rectangle 69"/>
            <p:cNvSpPr>
              <a:spLocks noChangeArrowheads="1"/>
            </p:cNvSpPr>
            <p:nvPr/>
          </p:nvSpPr>
          <p:spPr bwMode="auto">
            <a:xfrm>
              <a:off x="7451402" y="2741412"/>
              <a:ext cx="1166812" cy="4175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12" name="Line 95"/>
            <p:cNvSpPr>
              <a:spLocks noChangeShapeType="1"/>
            </p:cNvSpPr>
            <p:nvPr/>
          </p:nvSpPr>
          <p:spPr bwMode="auto">
            <a:xfrm flipH="1">
              <a:off x="8837290" y="2954393"/>
              <a:ext cx="0" cy="21616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13" name="Line 43"/>
            <p:cNvSpPr>
              <a:spLocks noChangeShapeType="1"/>
            </p:cNvSpPr>
            <p:nvPr/>
          </p:nvSpPr>
          <p:spPr bwMode="auto">
            <a:xfrm>
              <a:off x="7886376" y="3158925"/>
              <a:ext cx="0" cy="308847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14" name="Line 103"/>
            <p:cNvSpPr>
              <a:spLocks noChangeShapeType="1"/>
            </p:cNvSpPr>
            <p:nvPr/>
          </p:nvSpPr>
          <p:spPr bwMode="auto">
            <a:xfrm flipH="1" flipV="1">
              <a:off x="7886376" y="3170552"/>
              <a:ext cx="947739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59" name="Line 20"/>
          <p:cNvSpPr>
            <a:spLocks noChangeShapeType="1"/>
          </p:cNvSpPr>
          <p:nvPr/>
        </p:nvSpPr>
        <p:spPr bwMode="auto">
          <a:xfrm flipV="1">
            <a:off x="1789113" y="22113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75" name="矩形 174"/>
          <p:cNvSpPr/>
          <p:nvPr/>
        </p:nvSpPr>
        <p:spPr>
          <a:xfrm>
            <a:off x="8748713" y="1924050"/>
            <a:ext cx="327025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2" name="组合 4"/>
          <p:cNvGrpSpPr/>
          <p:nvPr/>
        </p:nvGrpSpPr>
        <p:grpSpPr bwMode="auto">
          <a:xfrm>
            <a:off x="4862513" y="2570163"/>
            <a:ext cx="2632075" cy="593725"/>
            <a:chOff x="4861992" y="2569673"/>
            <a:chExt cx="2632273" cy="593992"/>
          </a:xfrm>
        </p:grpSpPr>
        <p:sp>
          <p:nvSpPr>
            <p:cNvPr id="142385" name="Line 4"/>
            <p:cNvSpPr>
              <a:spLocks noChangeShapeType="1"/>
            </p:cNvSpPr>
            <p:nvPr/>
          </p:nvSpPr>
          <p:spPr bwMode="auto">
            <a:xfrm flipV="1">
              <a:off x="4887268" y="3142010"/>
              <a:ext cx="202780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386" name="Rectangle 72"/>
            <p:cNvSpPr>
              <a:spLocks noChangeArrowheads="1"/>
            </p:cNvSpPr>
            <p:nvPr/>
          </p:nvSpPr>
          <p:spPr bwMode="auto">
            <a:xfrm>
              <a:off x="4861992" y="2774727"/>
              <a:ext cx="1243012" cy="388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82" name="Line 95"/>
            <p:cNvSpPr>
              <a:spLocks noChangeShapeType="1"/>
            </p:cNvSpPr>
            <p:nvPr/>
          </p:nvSpPr>
          <p:spPr bwMode="auto">
            <a:xfrm>
              <a:off x="7248183" y="2569673"/>
              <a:ext cx="0" cy="485993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96" name="Line 43"/>
            <p:cNvSpPr>
              <a:spLocks noChangeShapeType="1"/>
            </p:cNvSpPr>
            <p:nvPr/>
          </p:nvSpPr>
          <p:spPr bwMode="auto">
            <a:xfrm>
              <a:off x="7248183" y="2572849"/>
              <a:ext cx="246082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07" name="Line 103"/>
            <p:cNvSpPr>
              <a:spLocks noChangeShapeType="1"/>
            </p:cNvSpPr>
            <p:nvPr/>
          </p:nvSpPr>
          <p:spPr bwMode="auto">
            <a:xfrm flipH="1" flipV="1">
              <a:off x="6773486" y="3049314"/>
              <a:ext cx="481048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60" name="矩形 159"/>
          <p:cNvSpPr/>
          <p:nvPr/>
        </p:nvSpPr>
        <p:spPr>
          <a:xfrm>
            <a:off x="3909216" y="616529"/>
            <a:ext cx="445921" cy="293687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4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9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0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1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7" dur="500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7" grpId="0" animBg="1"/>
      <p:bldP spid="170" grpId="0" animBg="1"/>
      <p:bldP spid="159" grpId="0" animBg="1"/>
      <p:bldP spid="17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386" name="组合 180223"/>
          <p:cNvGrpSpPr/>
          <p:nvPr/>
        </p:nvGrpSpPr>
        <p:grpSpPr bwMode="auto">
          <a:xfrm>
            <a:off x="4886325" y="842963"/>
            <a:ext cx="2362200" cy="2327275"/>
            <a:chOff x="4885681" y="843558"/>
            <a:chExt cx="2362199" cy="2326457"/>
          </a:xfrm>
        </p:grpSpPr>
        <p:sp>
          <p:nvSpPr>
            <p:cNvPr id="144532" name="Line 2"/>
            <p:cNvSpPr>
              <a:spLocks noChangeShapeType="1"/>
            </p:cNvSpPr>
            <p:nvPr/>
          </p:nvSpPr>
          <p:spPr bwMode="auto">
            <a:xfrm>
              <a:off x="4885681" y="1384077"/>
              <a:ext cx="1587" cy="17859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33" name="Line 3"/>
            <p:cNvSpPr>
              <a:spLocks noChangeShapeType="1"/>
            </p:cNvSpPr>
            <p:nvPr/>
          </p:nvSpPr>
          <p:spPr bwMode="auto">
            <a:xfrm>
              <a:off x="6536482" y="1384077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34" name="Line 9"/>
            <p:cNvSpPr>
              <a:spLocks noChangeShapeType="1"/>
            </p:cNvSpPr>
            <p:nvPr/>
          </p:nvSpPr>
          <p:spPr bwMode="auto">
            <a:xfrm flipV="1">
              <a:off x="4887268" y="1695227"/>
              <a:ext cx="200925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35" name="Rectangle 10"/>
            <p:cNvSpPr>
              <a:spLocks noChangeArrowheads="1"/>
            </p:cNvSpPr>
            <p:nvPr/>
          </p:nvSpPr>
          <p:spPr bwMode="auto">
            <a:xfrm>
              <a:off x="5312717" y="1333277"/>
              <a:ext cx="193516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536" name="Rectangle 11"/>
            <p:cNvSpPr>
              <a:spLocks noChangeArrowheads="1"/>
            </p:cNvSpPr>
            <p:nvPr/>
          </p:nvSpPr>
          <p:spPr bwMode="auto">
            <a:xfrm>
              <a:off x="5220072" y="1060227"/>
              <a:ext cx="1168400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537" name="Line 12"/>
            <p:cNvSpPr>
              <a:spLocks noChangeShapeType="1"/>
            </p:cNvSpPr>
            <p:nvPr/>
          </p:nvSpPr>
          <p:spPr bwMode="auto">
            <a:xfrm flipV="1">
              <a:off x="4898380" y="1382490"/>
              <a:ext cx="2020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38" name="Line 13"/>
            <p:cNvSpPr>
              <a:spLocks noChangeShapeType="1"/>
            </p:cNvSpPr>
            <p:nvPr/>
          </p:nvSpPr>
          <p:spPr bwMode="auto">
            <a:xfrm>
              <a:off x="5263506" y="1398365"/>
              <a:ext cx="0" cy="2841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39" name="Line 14"/>
            <p:cNvSpPr>
              <a:spLocks noChangeShapeType="1"/>
            </p:cNvSpPr>
            <p:nvPr/>
          </p:nvSpPr>
          <p:spPr bwMode="auto">
            <a:xfrm>
              <a:off x="5960418" y="1671092"/>
              <a:ext cx="0" cy="14636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40" name="Line 3"/>
            <p:cNvSpPr>
              <a:spLocks noChangeShapeType="1"/>
            </p:cNvSpPr>
            <p:nvPr/>
          </p:nvSpPr>
          <p:spPr bwMode="auto">
            <a:xfrm>
              <a:off x="6908696" y="1406575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41" name="Line 95"/>
            <p:cNvSpPr>
              <a:spLocks noChangeShapeType="1"/>
            </p:cNvSpPr>
            <p:nvPr/>
          </p:nvSpPr>
          <p:spPr bwMode="auto">
            <a:xfrm>
              <a:off x="4957428" y="847725"/>
              <a:ext cx="0" cy="666377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42" name="Line 43"/>
            <p:cNvSpPr>
              <a:spLocks noChangeShapeType="1"/>
            </p:cNvSpPr>
            <p:nvPr/>
          </p:nvSpPr>
          <p:spPr bwMode="auto">
            <a:xfrm>
              <a:off x="4966140" y="843558"/>
              <a:ext cx="181924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80226" name="Rectangle 3"/>
          <p:cNvSpPr>
            <a:spLocks noGrp="1" noChangeArrowheads="1"/>
          </p:cNvSpPr>
          <p:nvPr>
            <p:ph idx="1"/>
          </p:nvPr>
        </p:nvSpPr>
        <p:spPr>
          <a:xfrm>
            <a:off x="107950" y="2441575"/>
            <a:ext cx="7088188" cy="2651125"/>
          </a:xfrm>
        </p:spPr>
        <p:txBody>
          <a:bodyPr/>
          <a:lstStyle/>
          <a:p>
            <a:pPr>
              <a:lnSpc>
                <a:spcPts val="18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nil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2</a:t>
            </a:r>
            <a:endParaRPr lang="en-US" altLang="zh-CN" sz="1800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proc id ;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  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enterproc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id: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;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T.type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       	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）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+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; }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 </a:t>
            </a:r>
            <a:endParaRPr lang="zh-CN" altLang="en-US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144388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 i="1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63" name="Line 103"/>
          <p:cNvSpPr>
            <a:spLocks noChangeShapeType="1"/>
          </p:cNvSpPr>
          <p:nvPr/>
        </p:nvSpPr>
        <p:spPr bwMode="auto">
          <a:xfrm flipH="1" flipV="1">
            <a:off x="6761163" y="2449513"/>
            <a:ext cx="269875" cy="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144390" name="组合 180241"/>
          <p:cNvGrpSpPr/>
          <p:nvPr/>
        </p:nvGrpSpPr>
        <p:grpSpPr bwMode="auto">
          <a:xfrm>
            <a:off x="6678613" y="-92075"/>
            <a:ext cx="2238375" cy="1449388"/>
            <a:chOff x="6678686" y="-92546"/>
            <a:chExt cx="2238896" cy="1449933"/>
          </a:xfrm>
        </p:grpSpPr>
        <p:sp>
          <p:nvSpPr>
            <p:cNvPr id="144522" name="Rectangle 15"/>
            <p:cNvSpPr>
              <a:spLocks noChangeArrowheads="1"/>
            </p:cNvSpPr>
            <p:nvPr/>
          </p:nvSpPr>
          <p:spPr bwMode="auto">
            <a:xfrm>
              <a:off x="7488832" y="-92546"/>
              <a:ext cx="1428750" cy="428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readarrary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523" name="Line 17"/>
            <p:cNvSpPr>
              <a:spLocks noChangeShapeType="1"/>
            </p:cNvSpPr>
            <p:nvPr/>
          </p:nvSpPr>
          <p:spPr bwMode="auto">
            <a:xfrm>
              <a:off x="7491461" y="283691"/>
              <a:ext cx="0" cy="5921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24" name="Line 18"/>
            <p:cNvSpPr>
              <a:spLocks noChangeShapeType="1"/>
            </p:cNvSpPr>
            <p:nvPr/>
          </p:nvSpPr>
          <p:spPr bwMode="auto">
            <a:xfrm>
              <a:off x="8783140" y="283691"/>
              <a:ext cx="1587" cy="620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25" name="Line 20"/>
            <p:cNvSpPr>
              <a:spLocks noChangeShapeType="1"/>
            </p:cNvSpPr>
            <p:nvPr/>
          </p:nvSpPr>
          <p:spPr bwMode="auto">
            <a:xfrm flipV="1">
              <a:off x="7493048" y="577380"/>
              <a:ext cx="128587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26" name="Rectangle 21"/>
            <p:cNvSpPr>
              <a:spLocks noChangeArrowheads="1"/>
            </p:cNvSpPr>
            <p:nvPr/>
          </p:nvSpPr>
          <p:spPr bwMode="auto">
            <a:xfrm>
              <a:off x="7735936" y="210840"/>
              <a:ext cx="111921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527" name="Line 22"/>
            <p:cNvSpPr>
              <a:spLocks noChangeShapeType="1"/>
            </p:cNvSpPr>
            <p:nvPr/>
          </p:nvSpPr>
          <p:spPr bwMode="auto">
            <a:xfrm>
              <a:off x="7504162" y="283691"/>
              <a:ext cx="125412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28" name="Line 24"/>
            <p:cNvSpPr>
              <a:spLocks noChangeShapeType="1"/>
            </p:cNvSpPr>
            <p:nvPr/>
          </p:nvSpPr>
          <p:spPr bwMode="auto">
            <a:xfrm flipH="1">
              <a:off x="7775028" y="286867"/>
              <a:ext cx="0" cy="6032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29" name="Line 18"/>
            <p:cNvSpPr>
              <a:spLocks noChangeShapeType="1"/>
            </p:cNvSpPr>
            <p:nvPr/>
          </p:nvSpPr>
          <p:spPr bwMode="auto">
            <a:xfrm>
              <a:off x="8495108" y="286345"/>
              <a:ext cx="1587" cy="620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30" name="Line 103"/>
            <p:cNvSpPr>
              <a:spLocks noChangeShapeType="1"/>
            </p:cNvSpPr>
            <p:nvPr/>
          </p:nvSpPr>
          <p:spPr bwMode="auto">
            <a:xfrm flipH="1" flipV="1">
              <a:off x="6678686" y="480117"/>
              <a:ext cx="96852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31" name="Line 51"/>
            <p:cNvSpPr>
              <a:spLocks noChangeShapeType="1"/>
            </p:cNvSpPr>
            <p:nvPr/>
          </p:nvSpPr>
          <p:spPr bwMode="auto">
            <a:xfrm>
              <a:off x="6684144" y="480116"/>
              <a:ext cx="12946" cy="87727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94" name="Rectangle 3"/>
          <p:cNvSpPr txBox="1">
            <a:spLocks noChangeArrowheads="1"/>
          </p:cNvSpPr>
          <p:nvPr/>
        </p:nvSpPr>
        <p:spPr bwMode="auto">
          <a:xfrm>
            <a:off x="1296988" y="71438"/>
            <a:ext cx="2482850" cy="23907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144392" name="组合 5"/>
          <p:cNvGrpSpPr/>
          <p:nvPr/>
        </p:nvGrpSpPr>
        <p:grpSpPr bwMode="auto">
          <a:xfrm>
            <a:off x="5070475" y="79375"/>
            <a:ext cx="1517650" cy="969963"/>
            <a:chOff x="5069755" y="79300"/>
            <a:chExt cx="1518468" cy="970576"/>
          </a:xfrm>
        </p:grpSpPr>
        <p:sp>
          <p:nvSpPr>
            <p:cNvPr id="144513" name="Rectangle 78"/>
            <p:cNvSpPr>
              <a:spLocks noChangeArrowheads="1"/>
            </p:cNvSpPr>
            <p:nvPr/>
          </p:nvSpPr>
          <p:spPr bwMode="auto">
            <a:xfrm>
              <a:off x="5573811" y="79300"/>
              <a:ext cx="101441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r>
                <a:rPr lang="zh-CN" altLang="en-US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514" name="Line 30"/>
            <p:cNvSpPr>
              <a:spLocks noChangeShapeType="1"/>
            </p:cNvSpPr>
            <p:nvPr/>
          </p:nvSpPr>
          <p:spPr bwMode="auto">
            <a:xfrm>
              <a:off x="5175270" y="149876"/>
              <a:ext cx="0" cy="900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15" name="Line 37"/>
            <p:cNvSpPr>
              <a:spLocks noChangeShapeType="1"/>
            </p:cNvSpPr>
            <p:nvPr/>
          </p:nvSpPr>
          <p:spPr bwMode="auto">
            <a:xfrm flipV="1">
              <a:off x="5166098" y="452784"/>
              <a:ext cx="141582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16" name="Rectangle 39"/>
            <p:cNvSpPr>
              <a:spLocks noChangeArrowheads="1"/>
            </p:cNvSpPr>
            <p:nvPr/>
          </p:nvSpPr>
          <p:spPr bwMode="auto">
            <a:xfrm>
              <a:off x="5069755" y="112637"/>
              <a:ext cx="51593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nil</a:t>
              </a:r>
              <a:endParaRPr lang="zh-CN" altLang="en-US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517" name="Line 41"/>
            <p:cNvSpPr>
              <a:spLocks noChangeShapeType="1"/>
            </p:cNvSpPr>
            <p:nvPr/>
          </p:nvSpPr>
          <p:spPr bwMode="auto">
            <a:xfrm>
              <a:off x="5175622" y="165025"/>
              <a:ext cx="140000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18" name="Line 42"/>
            <p:cNvSpPr>
              <a:spLocks noChangeShapeType="1"/>
            </p:cNvSpPr>
            <p:nvPr/>
          </p:nvSpPr>
          <p:spPr bwMode="auto">
            <a:xfrm>
              <a:off x="5573811" y="180900"/>
              <a:ext cx="0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19" name="Line 43"/>
            <p:cNvSpPr>
              <a:spLocks noChangeShapeType="1"/>
            </p:cNvSpPr>
            <p:nvPr/>
          </p:nvSpPr>
          <p:spPr bwMode="auto">
            <a:xfrm>
              <a:off x="5573811" y="471412"/>
              <a:ext cx="0" cy="5762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20" name="Line 44"/>
            <p:cNvSpPr>
              <a:spLocks noChangeShapeType="1"/>
            </p:cNvSpPr>
            <p:nvPr/>
          </p:nvSpPr>
          <p:spPr bwMode="auto">
            <a:xfrm>
              <a:off x="6318882" y="161552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21" name="Line 44"/>
            <p:cNvSpPr>
              <a:spLocks noChangeShapeType="1"/>
            </p:cNvSpPr>
            <p:nvPr/>
          </p:nvSpPr>
          <p:spPr bwMode="auto">
            <a:xfrm>
              <a:off x="6581923" y="164231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44393" name="组合 180235"/>
          <p:cNvGrpSpPr/>
          <p:nvPr/>
        </p:nvGrpSpPr>
        <p:grpSpPr bwMode="auto">
          <a:xfrm>
            <a:off x="3816350" y="-14288"/>
            <a:ext cx="1331913" cy="1649413"/>
            <a:chOff x="3816350" y="-15044"/>
            <a:chExt cx="1331714" cy="1649918"/>
          </a:xfrm>
        </p:grpSpPr>
        <p:sp>
          <p:nvSpPr>
            <p:cNvPr id="144505" name="Line 16"/>
            <p:cNvSpPr>
              <a:spLocks noChangeShapeType="1"/>
            </p:cNvSpPr>
            <p:nvPr/>
          </p:nvSpPr>
          <p:spPr bwMode="auto">
            <a:xfrm>
              <a:off x="3908022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06" name="Line 18"/>
            <p:cNvSpPr>
              <a:spLocks noChangeShapeType="1"/>
            </p:cNvSpPr>
            <p:nvPr/>
          </p:nvSpPr>
          <p:spPr bwMode="auto">
            <a:xfrm flipH="1" flipV="1">
              <a:off x="4355976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07" name="Line 19"/>
            <p:cNvSpPr>
              <a:spLocks noChangeShapeType="1"/>
            </p:cNvSpPr>
            <p:nvPr/>
          </p:nvSpPr>
          <p:spPr bwMode="auto">
            <a:xfrm>
              <a:off x="4484086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08" name="Line 20"/>
            <p:cNvSpPr>
              <a:spLocks noChangeShapeType="1"/>
            </p:cNvSpPr>
            <p:nvPr/>
          </p:nvSpPr>
          <p:spPr bwMode="auto">
            <a:xfrm>
              <a:off x="4491924" y="339502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09" name="Line 21"/>
            <p:cNvSpPr>
              <a:spLocks noChangeShapeType="1"/>
            </p:cNvSpPr>
            <p:nvPr/>
          </p:nvSpPr>
          <p:spPr bwMode="auto">
            <a:xfrm flipH="1" flipV="1">
              <a:off x="4771399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10" name="Text Box 22"/>
            <p:cNvSpPr txBox="1">
              <a:spLocks noChangeArrowheads="1"/>
            </p:cNvSpPr>
            <p:nvPr/>
          </p:nvSpPr>
          <p:spPr bwMode="auto">
            <a:xfrm>
              <a:off x="3816350" y="-15044"/>
              <a:ext cx="755650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offset</a:t>
              </a:r>
              <a:endParaRPr lang="en-US" altLang="zh-CN" sz="1800" b="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511" name="Text Box 26"/>
            <p:cNvSpPr txBox="1">
              <a:spLocks noChangeArrowheads="1"/>
            </p:cNvSpPr>
            <p:nvPr/>
          </p:nvSpPr>
          <p:spPr bwMode="auto">
            <a:xfrm>
              <a:off x="4390827" y="-3398"/>
              <a:ext cx="757237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tblptr</a:t>
              </a:r>
              <a:endParaRPr lang="en-US" altLang="zh-CN" sz="1800" b="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512" name="Line 20"/>
            <p:cNvSpPr>
              <a:spLocks noChangeShapeType="1"/>
            </p:cNvSpPr>
            <p:nvPr/>
          </p:nvSpPr>
          <p:spPr bwMode="auto">
            <a:xfrm flipV="1">
              <a:off x="3908022" y="334865"/>
              <a:ext cx="434883" cy="46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4394" name="Line 20"/>
          <p:cNvSpPr>
            <a:spLocks noChangeShapeType="1"/>
          </p:cNvSpPr>
          <p:nvPr/>
        </p:nvSpPr>
        <p:spPr bwMode="auto">
          <a:xfrm flipV="1">
            <a:off x="1296988" y="268288"/>
            <a:ext cx="142557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44395" name="Line 20"/>
          <p:cNvSpPr>
            <a:spLocks noChangeShapeType="1"/>
          </p:cNvSpPr>
          <p:nvPr/>
        </p:nvSpPr>
        <p:spPr bwMode="auto">
          <a:xfrm flipV="1">
            <a:off x="1633538" y="523875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4396" name="组合 180224"/>
          <p:cNvGrpSpPr/>
          <p:nvPr/>
        </p:nvGrpSpPr>
        <p:grpSpPr bwMode="auto">
          <a:xfrm>
            <a:off x="4881563" y="1639888"/>
            <a:ext cx="2038350" cy="361950"/>
            <a:chOff x="4880918" y="1639665"/>
            <a:chExt cx="2038349" cy="361950"/>
          </a:xfrm>
        </p:grpSpPr>
        <p:sp>
          <p:nvSpPr>
            <p:cNvPr id="144503" name="Rectangle 25"/>
            <p:cNvSpPr>
              <a:spLocks noChangeArrowheads="1"/>
            </p:cNvSpPr>
            <p:nvPr/>
          </p:nvSpPr>
          <p:spPr bwMode="auto">
            <a:xfrm>
              <a:off x="4880918" y="1639665"/>
              <a:ext cx="2038349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array  0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504" name="Line 8"/>
            <p:cNvSpPr>
              <a:spLocks noChangeShapeType="1"/>
            </p:cNvSpPr>
            <p:nvPr/>
          </p:nvSpPr>
          <p:spPr bwMode="auto">
            <a:xfrm>
              <a:off x="4898381" y="1990502"/>
              <a:ext cx="2020886" cy="15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4397" name="Line 20"/>
          <p:cNvSpPr>
            <a:spLocks noChangeShapeType="1"/>
          </p:cNvSpPr>
          <p:nvPr/>
        </p:nvSpPr>
        <p:spPr bwMode="auto">
          <a:xfrm>
            <a:off x="2982913" y="555625"/>
            <a:ext cx="37782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7" name="组合 180236"/>
          <p:cNvGrpSpPr/>
          <p:nvPr/>
        </p:nvGrpSpPr>
        <p:grpSpPr bwMode="auto">
          <a:xfrm>
            <a:off x="3913188" y="311150"/>
            <a:ext cx="1266825" cy="315913"/>
            <a:chOff x="3913756" y="310816"/>
            <a:chExt cx="1266106" cy="316804"/>
          </a:xfrm>
        </p:grpSpPr>
        <p:sp>
          <p:nvSpPr>
            <p:cNvPr id="144500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24" name="直接箭头连接符 123"/>
            <p:cNvCxnSpPr/>
            <p:nvPr/>
          </p:nvCxnSpPr>
          <p:spPr>
            <a:xfrm flipV="1">
              <a:off x="4616619" y="310816"/>
              <a:ext cx="563243" cy="165566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矩形 150"/>
            <p:cNvSpPr/>
            <p:nvPr/>
          </p:nvSpPr>
          <p:spPr>
            <a:xfrm>
              <a:off x="3913756" y="334696"/>
              <a:ext cx="439487" cy="292924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组合 180238"/>
          <p:cNvGrpSpPr/>
          <p:nvPr/>
        </p:nvGrpSpPr>
        <p:grpSpPr bwMode="auto">
          <a:xfrm>
            <a:off x="3908690" y="617166"/>
            <a:ext cx="990601" cy="769937"/>
            <a:chOff x="3907723" y="637094"/>
            <a:chExt cx="990626" cy="769481"/>
          </a:xfrm>
        </p:grpSpPr>
        <p:sp>
          <p:nvSpPr>
            <p:cNvPr id="144497" name="Line 20"/>
            <p:cNvSpPr>
              <a:spLocks noChangeShapeType="1"/>
            </p:cNvSpPr>
            <p:nvPr/>
          </p:nvSpPr>
          <p:spPr bwMode="auto">
            <a:xfrm>
              <a:off x="4499992" y="926397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33" name="直接箭头连接符 132"/>
            <p:cNvCxnSpPr/>
            <p:nvPr/>
          </p:nvCxnSpPr>
          <p:spPr>
            <a:xfrm>
              <a:off x="4617355" y="771951"/>
              <a:ext cx="280994" cy="634624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矩形 152"/>
            <p:cNvSpPr/>
            <p:nvPr/>
          </p:nvSpPr>
          <p:spPr>
            <a:xfrm>
              <a:off x="3907723" y="637094"/>
              <a:ext cx="446726" cy="291927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0232" name="矩形 180231"/>
          <p:cNvSpPr/>
          <p:nvPr/>
        </p:nvSpPr>
        <p:spPr>
          <a:xfrm>
            <a:off x="3911603" y="610812"/>
            <a:ext cx="439737" cy="300537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4401" name="组合 180240"/>
          <p:cNvGrpSpPr/>
          <p:nvPr/>
        </p:nvGrpSpPr>
        <p:grpSpPr bwMode="auto">
          <a:xfrm>
            <a:off x="4897438" y="1943100"/>
            <a:ext cx="2071687" cy="363538"/>
            <a:chOff x="4897836" y="1942382"/>
            <a:chExt cx="2070694" cy="363537"/>
          </a:xfrm>
        </p:grpSpPr>
        <p:sp>
          <p:nvSpPr>
            <p:cNvPr id="144495" name="Line 7"/>
            <p:cNvSpPr>
              <a:spLocks noChangeShapeType="1"/>
            </p:cNvSpPr>
            <p:nvPr/>
          </p:nvSpPr>
          <p:spPr bwMode="auto">
            <a:xfrm flipV="1">
              <a:off x="4899967" y="2282602"/>
              <a:ext cx="201610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4496" name="Rectangle 26"/>
            <p:cNvSpPr>
              <a:spLocks noChangeArrowheads="1"/>
            </p:cNvSpPr>
            <p:nvPr/>
          </p:nvSpPr>
          <p:spPr bwMode="auto">
            <a:xfrm>
              <a:off x="4897836" y="1942382"/>
              <a:ext cx="2070694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x 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44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44402" name="Line 20"/>
          <p:cNvSpPr>
            <a:spLocks noChangeShapeType="1"/>
          </p:cNvSpPr>
          <p:nvPr/>
        </p:nvSpPr>
        <p:spPr bwMode="auto">
          <a:xfrm>
            <a:off x="1633538" y="700088"/>
            <a:ext cx="14271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44403" name="Line 20"/>
          <p:cNvSpPr>
            <a:spLocks noChangeShapeType="1"/>
          </p:cNvSpPr>
          <p:nvPr/>
        </p:nvSpPr>
        <p:spPr bwMode="auto">
          <a:xfrm flipV="1">
            <a:off x="1785938" y="922338"/>
            <a:ext cx="842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4404" name="组合 180243"/>
          <p:cNvGrpSpPr/>
          <p:nvPr/>
        </p:nvGrpSpPr>
        <p:grpSpPr bwMode="auto">
          <a:xfrm>
            <a:off x="7504112" y="539750"/>
            <a:ext cx="1276350" cy="361950"/>
            <a:chOff x="7504161" y="539279"/>
            <a:chExt cx="1275995" cy="361950"/>
          </a:xfrm>
        </p:grpSpPr>
        <p:sp>
          <p:nvSpPr>
            <p:cNvPr id="144493" name="Line 19"/>
            <p:cNvSpPr>
              <a:spLocks noChangeShapeType="1"/>
            </p:cNvSpPr>
            <p:nvPr/>
          </p:nvSpPr>
          <p:spPr bwMode="auto">
            <a:xfrm flipV="1">
              <a:off x="7504161" y="875829"/>
              <a:ext cx="127599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4494" name="Rectangle 40"/>
            <p:cNvSpPr>
              <a:spLocks noChangeArrowheads="1"/>
            </p:cNvSpPr>
            <p:nvPr/>
          </p:nvSpPr>
          <p:spPr bwMode="auto">
            <a:xfrm>
              <a:off x="7523211" y="539279"/>
              <a:ext cx="122044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0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44405" name="Line 20"/>
          <p:cNvSpPr>
            <a:spLocks noChangeShapeType="1"/>
          </p:cNvSpPr>
          <p:nvPr/>
        </p:nvSpPr>
        <p:spPr bwMode="auto">
          <a:xfrm flipV="1">
            <a:off x="2773363" y="9159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8509000" y="298450"/>
            <a:ext cx="271463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4407" name="组合 180244"/>
          <p:cNvGrpSpPr/>
          <p:nvPr/>
        </p:nvGrpSpPr>
        <p:grpSpPr bwMode="auto">
          <a:xfrm>
            <a:off x="4862513" y="739775"/>
            <a:ext cx="2640012" cy="1817688"/>
            <a:chOff x="4861992" y="739181"/>
            <a:chExt cx="2640954" cy="1818058"/>
          </a:xfrm>
        </p:grpSpPr>
        <p:sp>
          <p:nvSpPr>
            <p:cNvPr id="84" name="Line 95"/>
            <p:cNvSpPr>
              <a:spLocks noChangeShapeType="1"/>
            </p:cNvSpPr>
            <p:nvPr/>
          </p:nvSpPr>
          <p:spPr bwMode="auto">
            <a:xfrm>
              <a:off x="7018586" y="739181"/>
              <a:ext cx="3176" cy="1722789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6" name="Line 43"/>
            <p:cNvSpPr>
              <a:spLocks noChangeShapeType="1"/>
            </p:cNvSpPr>
            <p:nvPr/>
          </p:nvSpPr>
          <p:spPr bwMode="auto">
            <a:xfrm>
              <a:off x="7031291" y="750296"/>
              <a:ext cx="471655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44491" name="Line 6"/>
            <p:cNvSpPr>
              <a:spLocks noChangeShapeType="1"/>
            </p:cNvSpPr>
            <p:nvPr/>
          </p:nvSpPr>
          <p:spPr bwMode="auto">
            <a:xfrm flipV="1">
              <a:off x="4874568" y="2557239"/>
              <a:ext cx="203498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4492" name="Rectangle 28"/>
            <p:cNvSpPr>
              <a:spLocks noChangeArrowheads="1"/>
            </p:cNvSpPr>
            <p:nvPr/>
          </p:nvSpPr>
          <p:spPr bwMode="auto">
            <a:xfrm>
              <a:off x="4861992" y="2192115"/>
              <a:ext cx="1314450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readarray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44408" name="Line 20"/>
          <p:cNvSpPr>
            <a:spLocks noChangeShapeType="1"/>
          </p:cNvSpPr>
          <p:nvPr/>
        </p:nvSpPr>
        <p:spPr bwMode="auto">
          <a:xfrm>
            <a:off x="1619250" y="1131888"/>
            <a:ext cx="1427163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4409" name="组合 1"/>
          <p:cNvGrpSpPr/>
          <p:nvPr/>
        </p:nvGrpSpPr>
        <p:grpSpPr bwMode="auto">
          <a:xfrm>
            <a:off x="6861175" y="893763"/>
            <a:ext cx="1976438" cy="727075"/>
            <a:chOff x="6861077" y="893664"/>
            <a:chExt cx="1976561" cy="727596"/>
          </a:xfrm>
        </p:grpSpPr>
        <p:sp>
          <p:nvSpPr>
            <p:cNvPr id="144480" name="Rectangle 31"/>
            <p:cNvSpPr>
              <a:spLocks noChangeArrowheads="1"/>
            </p:cNvSpPr>
            <p:nvPr/>
          </p:nvSpPr>
          <p:spPr bwMode="auto">
            <a:xfrm>
              <a:off x="7566050" y="893664"/>
              <a:ext cx="1271588" cy="403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481" name="Line 32"/>
            <p:cNvSpPr>
              <a:spLocks noChangeShapeType="1"/>
            </p:cNvSpPr>
            <p:nvPr/>
          </p:nvSpPr>
          <p:spPr bwMode="auto">
            <a:xfrm>
              <a:off x="7486725" y="1298998"/>
              <a:ext cx="0" cy="2921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82" name="Line 33"/>
            <p:cNvSpPr>
              <a:spLocks noChangeShapeType="1"/>
            </p:cNvSpPr>
            <p:nvPr/>
          </p:nvSpPr>
          <p:spPr bwMode="auto">
            <a:xfrm>
              <a:off x="8718178" y="1298998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83" name="Line 34"/>
            <p:cNvSpPr>
              <a:spLocks noChangeShapeType="1"/>
            </p:cNvSpPr>
            <p:nvPr/>
          </p:nvSpPr>
          <p:spPr bwMode="auto">
            <a:xfrm>
              <a:off x="7488312" y="1608559"/>
              <a:ext cx="119538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84" name="Rectangle 35"/>
            <p:cNvSpPr>
              <a:spLocks noChangeArrowheads="1"/>
            </p:cNvSpPr>
            <p:nvPr/>
          </p:nvSpPr>
          <p:spPr bwMode="auto">
            <a:xfrm>
              <a:off x="7710066" y="1246610"/>
              <a:ext cx="107840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485" name="Line 36"/>
            <p:cNvSpPr>
              <a:spLocks noChangeShapeType="1"/>
            </p:cNvSpPr>
            <p:nvPr/>
          </p:nvSpPr>
          <p:spPr bwMode="auto">
            <a:xfrm flipV="1">
              <a:off x="7501013" y="1297409"/>
              <a:ext cx="1217166" cy="158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86" name="Line 37"/>
            <p:cNvSpPr>
              <a:spLocks noChangeShapeType="1"/>
            </p:cNvSpPr>
            <p:nvPr/>
          </p:nvSpPr>
          <p:spPr bwMode="auto">
            <a:xfrm>
              <a:off x="7710066" y="1313285"/>
              <a:ext cx="0" cy="2841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87" name="Line 33"/>
            <p:cNvSpPr>
              <a:spLocks noChangeShapeType="1"/>
            </p:cNvSpPr>
            <p:nvPr/>
          </p:nvSpPr>
          <p:spPr bwMode="auto">
            <a:xfrm>
              <a:off x="8502154" y="1294235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88" name="Line 51"/>
            <p:cNvSpPr>
              <a:spLocks noChangeShapeType="1"/>
            </p:cNvSpPr>
            <p:nvPr/>
          </p:nvSpPr>
          <p:spPr bwMode="auto">
            <a:xfrm flipH="1">
              <a:off x="6861077" y="1533301"/>
              <a:ext cx="736822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4410" name="Line 20"/>
          <p:cNvSpPr>
            <a:spLocks noChangeShapeType="1"/>
          </p:cNvSpPr>
          <p:nvPr/>
        </p:nvSpPr>
        <p:spPr bwMode="auto">
          <a:xfrm flipV="1">
            <a:off x="3157538" y="11318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22" name="矩形 121"/>
          <p:cNvSpPr/>
          <p:nvPr/>
        </p:nvSpPr>
        <p:spPr>
          <a:xfrm>
            <a:off x="8510588" y="1303338"/>
            <a:ext cx="238125" cy="29210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4412" name="组合 3"/>
          <p:cNvGrpSpPr/>
          <p:nvPr/>
        </p:nvGrpSpPr>
        <p:grpSpPr bwMode="auto">
          <a:xfrm>
            <a:off x="4862513" y="1423988"/>
            <a:ext cx="2551112" cy="1428750"/>
            <a:chOff x="4861992" y="1423765"/>
            <a:chExt cx="2551631" cy="1428750"/>
          </a:xfrm>
        </p:grpSpPr>
        <p:sp>
          <p:nvSpPr>
            <p:cNvPr id="144475" name="Line 5"/>
            <p:cNvSpPr>
              <a:spLocks noChangeShapeType="1"/>
            </p:cNvSpPr>
            <p:nvPr/>
          </p:nvSpPr>
          <p:spPr bwMode="auto">
            <a:xfrm>
              <a:off x="4887267" y="2846735"/>
              <a:ext cx="202196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76" name="Rectangle 39"/>
            <p:cNvSpPr>
              <a:spLocks noChangeArrowheads="1"/>
            </p:cNvSpPr>
            <p:nvPr/>
          </p:nvSpPr>
          <p:spPr bwMode="auto">
            <a:xfrm>
              <a:off x="4861992" y="2488977"/>
              <a:ext cx="1260475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0" name="Line 103"/>
            <p:cNvSpPr>
              <a:spLocks noChangeShapeType="1"/>
            </p:cNvSpPr>
            <p:nvPr/>
          </p:nvSpPr>
          <p:spPr bwMode="auto">
            <a:xfrm flipH="1">
              <a:off x="6753088" y="2738215"/>
              <a:ext cx="396956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1" name="Line 95"/>
            <p:cNvSpPr>
              <a:spLocks noChangeShapeType="1"/>
            </p:cNvSpPr>
            <p:nvPr/>
          </p:nvSpPr>
          <p:spPr bwMode="auto">
            <a:xfrm flipH="1">
              <a:off x="7150044" y="1423765"/>
              <a:ext cx="0" cy="13303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2" name="Line 43"/>
            <p:cNvSpPr>
              <a:spLocks noChangeShapeType="1"/>
            </p:cNvSpPr>
            <p:nvPr/>
          </p:nvSpPr>
          <p:spPr bwMode="auto">
            <a:xfrm flipV="1">
              <a:off x="7129403" y="1436465"/>
              <a:ext cx="284220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44413" name="Line 20"/>
          <p:cNvSpPr>
            <a:spLocks noChangeShapeType="1"/>
          </p:cNvSpPr>
          <p:nvPr/>
        </p:nvSpPr>
        <p:spPr bwMode="auto">
          <a:xfrm>
            <a:off x="1619250" y="1347788"/>
            <a:ext cx="1427163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4414" name="组合 2"/>
          <p:cNvGrpSpPr/>
          <p:nvPr/>
        </p:nvGrpSpPr>
        <p:grpSpPr bwMode="auto">
          <a:xfrm>
            <a:off x="6896100" y="1582738"/>
            <a:ext cx="2354263" cy="1533525"/>
            <a:chOff x="6895356" y="1582537"/>
            <a:chExt cx="2355402" cy="1533525"/>
          </a:xfrm>
        </p:grpSpPr>
        <p:sp>
          <p:nvSpPr>
            <p:cNvPr id="144465" name="Line 42"/>
            <p:cNvSpPr>
              <a:spLocks noChangeShapeType="1"/>
            </p:cNvSpPr>
            <p:nvPr/>
          </p:nvSpPr>
          <p:spPr bwMode="auto">
            <a:xfrm>
              <a:off x="7454577" y="1920674"/>
              <a:ext cx="1587" cy="11795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66" name="Line 43"/>
            <p:cNvSpPr>
              <a:spLocks noChangeShapeType="1"/>
            </p:cNvSpPr>
            <p:nvPr/>
          </p:nvSpPr>
          <p:spPr bwMode="auto">
            <a:xfrm flipH="1">
              <a:off x="9091289" y="1919087"/>
              <a:ext cx="4763" cy="11969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67" name="Line 47"/>
            <p:cNvSpPr>
              <a:spLocks noChangeShapeType="1"/>
            </p:cNvSpPr>
            <p:nvPr/>
          </p:nvSpPr>
          <p:spPr bwMode="auto">
            <a:xfrm flipV="1">
              <a:off x="7456164" y="2230237"/>
              <a:ext cx="163988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68" name="Rectangle 48"/>
            <p:cNvSpPr>
              <a:spLocks noChangeArrowheads="1"/>
            </p:cNvSpPr>
            <p:nvPr/>
          </p:nvSpPr>
          <p:spPr bwMode="auto">
            <a:xfrm>
              <a:off x="7946702" y="1868287"/>
              <a:ext cx="1304056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469" name="Rectangle 49"/>
            <p:cNvSpPr>
              <a:spLocks noChangeArrowheads="1"/>
            </p:cNvSpPr>
            <p:nvPr/>
          </p:nvSpPr>
          <p:spPr bwMode="auto">
            <a:xfrm>
              <a:off x="7666582" y="1582537"/>
              <a:ext cx="1350963" cy="387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470" name="Line 50"/>
            <p:cNvSpPr>
              <a:spLocks noChangeShapeType="1"/>
            </p:cNvSpPr>
            <p:nvPr/>
          </p:nvSpPr>
          <p:spPr bwMode="auto">
            <a:xfrm flipV="1">
              <a:off x="7467277" y="1919087"/>
              <a:ext cx="1639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71" name="Line 51"/>
            <p:cNvSpPr>
              <a:spLocks noChangeShapeType="1"/>
            </p:cNvSpPr>
            <p:nvPr/>
          </p:nvSpPr>
          <p:spPr bwMode="auto">
            <a:xfrm>
              <a:off x="7832402" y="1934962"/>
              <a:ext cx="1587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72" name="Line 52"/>
            <p:cNvSpPr>
              <a:spLocks noChangeShapeType="1"/>
            </p:cNvSpPr>
            <p:nvPr/>
          </p:nvSpPr>
          <p:spPr bwMode="auto">
            <a:xfrm>
              <a:off x="8386662" y="2254049"/>
              <a:ext cx="0" cy="86042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73" name="Line 51"/>
            <p:cNvSpPr>
              <a:spLocks noChangeShapeType="1"/>
            </p:cNvSpPr>
            <p:nvPr/>
          </p:nvSpPr>
          <p:spPr bwMode="auto">
            <a:xfrm flipH="1" flipV="1">
              <a:off x="6895356" y="2122287"/>
              <a:ext cx="821434" cy="43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74" name="Line 43"/>
            <p:cNvSpPr>
              <a:spLocks noChangeShapeType="1"/>
            </p:cNvSpPr>
            <p:nvPr/>
          </p:nvSpPr>
          <p:spPr bwMode="auto">
            <a:xfrm flipH="1">
              <a:off x="8746702" y="1903881"/>
              <a:ext cx="4763" cy="11969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4415" name="Line 20"/>
          <p:cNvSpPr>
            <a:spLocks noChangeShapeType="1"/>
          </p:cNvSpPr>
          <p:nvPr/>
        </p:nvSpPr>
        <p:spPr bwMode="auto">
          <a:xfrm flipV="1">
            <a:off x="1785938" y="1563688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4416" name="组合 6"/>
          <p:cNvGrpSpPr/>
          <p:nvPr/>
        </p:nvGrpSpPr>
        <p:grpSpPr bwMode="auto">
          <a:xfrm>
            <a:off x="7467600" y="2201863"/>
            <a:ext cx="1676400" cy="361950"/>
            <a:chOff x="7467277" y="2201662"/>
            <a:chExt cx="1676723" cy="361950"/>
          </a:xfrm>
        </p:grpSpPr>
        <p:sp>
          <p:nvSpPr>
            <p:cNvPr id="144463" name="Rectangle 54"/>
            <p:cNvSpPr>
              <a:spLocks noChangeArrowheads="1"/>
            </p:cNvSpPr>
            <p:nvPr/>
          </p:nvSpPr>
          <p:spPr bwMode="auto">
            <a:xfrm>
              <a:off x="7505377" y="2201662"/>
              <a:ext cx="163862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k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0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464" name="Line 46"/>
            <p:cNvSpPr>
              <a:spLocks noChangeShapeType="1"/>
            </p:cNvSpPr>
            <p:nvPr/>
          </p:nvSpPr>
          <p:spPr bwMode="auto">
            <a:xfrm flipV="1">
              <a:off x="7467277" y="2525512"/>
              <a:ext cx="1639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44417" name="组合 7"/>
          <p:cNvGrpSpPr/>
          <p:nvPr/>
        </p:nvGrpSpPr>
        <p:grpSpPr bwMode="auto">
          <a:xfrm>
            <a:off x="7467600" y="2486025"/>
            <a:ext cx="1643063" cy="390525"/>
            <a:chOff x="7467277" y="2485824"/>
            <a:chExt cx="1643062" cy="390526"/>
          </a:xfrm>
        </p:grpSpPr>
        <p:sp>
          <p:nvSpPr>
            <p:cNvPr id="144461" name="Rectangle 55"/>
            <p:cNvSpPr>
              <a:spLocks noChangeArrowheads="1"/>
            </p:cNvSpPr>
            <p:nvPr/>
          </p:nvSpPr>
          <p:spPr bwMode="auto">
            <a:xfrm>
              <a:off x="7505376" y="2485824"/>
              <a:ext cx="1585913" cy="3905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v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4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462" name="Line 45"/>
            <p:cNvSpPr>
              <a:spLocks noChangeShapeType="1"/>
            </p:cNvSpPr>
            <p:nvPr/>
          </p:nvSpPr>
          <p:spPr bwMode="auto">
            <a:xfrm flipV="1">
              <a:off x="7467277" y="2819199"/>
              <a:ext cx="1643062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4418" name="Line 20"/>
          <p:cNvSpPr>
            <a:spLocks noChangeShapeType="1"/>
          </p:cNvSpPr>
          <p:nvPr/>
        </p:nvSpPr>
        <p:spPr bwMode="auto">
          <a:xfrm flipV="1">
            <a:off x="1938338" y="1779588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4419" name="组合 8"/>
          <p:cNvGrpSpPr/>
          <p:nvPr/>
        </p:nvGrpSpPr>
        <p:grpSpPr bwMode="auto">
          <a:xfrm>
            <a:off x="7597456" y="3176587"/>
            <a:ext cx="1530666" cy="1239436"/>
            <a:chOff x="7597259" y="3176042"/>
            <a:chExt cx="1530568" cy="1240631"/>
          </a:xfrm>
        </p:grpSpPr>
        <p:sp>
          <p:nvSpPr>
            <p:cNvPr id="144451" name="Line 56"/>
            <p:cNvSpPr>
              <a:spLocks noChangeShapeType="1"/>
            </p:cNvSpPr>
            <p:nvPr/>
          </p:nvSpPr>
          <p:spPr bwMode="auto">
            <a:xfrm flipH="1">
              <a:off x="7603925" y="3513385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52" name="Line 57"/>
            <p:cNvSpPr>
              <a:spLocks noChangeShapeType="1"/>
            </p:cNvSpPr>
            <p:nvPr/>
          </p:nvSpPr>
          <p:spPr bwMode="auto">
            <a:xfrm flipH="1">
              <a:off x="8929927" y="3513385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4453" name="Line 60"/>
            <p:cNvSpPr>
              <a:spLocks noChangeShapeType="1"/>
            </p:cNvSpPr>
            <p:nvPr/>
          </p:nvSpPr>
          <p:spPr bwMode="auto">
            <a:xfrm flipV="1">
              <a:off x="7616626" y="3807495"/>
              <a:ext cx="131921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54" name="Rectangle 61"/>
            <p:cNvSpPr>
              <a:spLocks noChangeArrowheads="1"/>
            </p:cNvSpPr>
            <p:nvPr/>
          </p:nvSpPr>
          <p:spPr bwMode="auto">
            <a:xfrm>
              <a:off x="7891337" y="3460998"/>
              <a:ext cx="1188964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455" name="Rectangle 62"/>
            <p:cNvSpPr>
              <a:spLocks noChangeArrowheads="1"/>
            </p:cNvSpPr>
            <p:nvPr/>
          </p:nvSpPr>
          <p:spPr bwMode="auto">
            <a:xfrm>
              <a:off x="7776864" y="3176042"/>
              <a:ext cx="1350963" cy="387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  <a:endParaRPr lang="en-US" altLang="zh-CN" sz="21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456" name="Line 63"/>
            <p:cNvSpPr>
              <a:spLocks noChangeShapeType="1"/>
            </p:cNvSpPr>
            <p:nvPr/>
          </p:nvSpPr>
          <p:spPr bwMode="auto">
            <a:xfrm>
              <a:off x="7597259" y="3514972"/>
              <a:ext cx="1349377" cy="277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4457" name="Line 64"/>
            <p:cNvSpPr>
              <a:spLocks noChangeShapeType="1"/>
            </p:cNvSpPr>
            <p:nvPr/>
          </p:nvSpPr>
          <p:spPr bwMode="auto">
            <a:xfrm>
              <a:off x="7891337" y="3527673"/>
              <a:ext cx="1587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58" name="Line 65"/>
            <p:cNvSpPr>
              <a:spLocks noChangeShapeType="1"/>
            </p:cNvSpPr>
            <p:nvPr/>
          </p:nvSpPr>
          <p:spPr bwMode="auto">
            <a:xfrm flipH="1">
              <a:off x="7897687" y="3826123"/>
              <a:ext cx="0" cy="5778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59" name="Line 57"/>
            <p:cNvSpPr>
              <a:spLocks noChangeShapeType="1"/>
            </p:cNvSpPr>
            <p:nvPr/>
          </p:nvSpPr>
          <p:spPr bwMode="auto">
            <a:xfrm flipH="1">
              <a:off x="8683425" y="3534444"/>
              <a:ext cx="0" cy="88095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60" name="Line 51"/>
            <p:cNvSpPr>
              <a:spLocks noChangeShapeType="1"/>
            </p:cNvSpPr>
            <p:nvPr/>
          </p:nvSpPr>
          <p:spPr bwMode="auto">
            <a:xfrm flipV="1">
              <a:off x="7666581" y="3201492"/>
              <a:ext cx="1" cy="384689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4420" name="Line 20"/>
          <p:cNvSpPr>
            <a:spLocks noChangeShapeType="1"/>
          </p:cNvSpPr>
          <p:nvPr/>
        </p:nvSpPr>
        <p:spPr bwMode="auto">
          <a:xfrm flipV="1">
            <a:off x="2138363" y="1995488"/>
            <a:ext cx="1138237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4421" name="组合 9"/>
          <p:cNvGrpSpPr/>
          <p:nvPr/>
        </p:nvGrpSpPr>
        <p:grpSpPr bwMode="auto">
          <a:xfrm>
            <a:off x="7606489" y="3783013"/>
            <a:ext cx="1324780" cy="363537"/>
            <a:chOff x="7606293" y="3783260"/>
            <a:chExt cx="1324908" cy="363538"/>
          </a:xfrm>
        </p:grpSpPr>
        <p:sp>
          <p:nvSpPr>
            <p:cNvPr id="144449" name="Rectangle 67"/>
            <p:cNvSpPr>
              <a:spLocks noChangeArrowheads="1"/>
            </p:cNvSpPr>
            <p:nvPr/>
          </p:nvSpPr>
          <p:spPr bwMode="auto">
            <a:xfrm>
              <a:off x="7656313" y="3783260"/>
              <a:ext cx="127488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0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450" name="Line 59"/>
            <p:cNvSpPr>
              <a:spLocks noChangeShapeType="1"/>
            </p:cNvSpPr>
            <p:nvPr/>
          </p:nvSpPr>
          <p:spPr bwMode="auto">
            <a:xfrm flipV="1">
              <a:off x="7606293" y="4099596"/>
              <a:ext cx="132384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44422" name="组合 11"/>
          <p:cNvGrpSpPr/>
          <p:nvPr/>
        </p:nvGrpSpPr>
        <p:grpSpPr bwMode="auto">
          <a:xfrm>
            <a:off x="7597456" y="4092575"/>
            <a:ext cx="1362394" cy="363538"/>
            <a:chOff x="7597253" y="4092823"/>
            <a:chExt cx="1362523" cy="363537"/>
          </a:xfrm>
        </p:grpSpPr>
        <p:sp>
          <p:nvSpPr>
            <p:cNvPr id="144447" name="Rectangle 68"/>
            <p:cNvSpPr>
              <a:spLocks noChangeArrowheads="1"/>
            </p:cNvSpPr>
            <p:nvPr/>
          </p:nvSpPr>
          <p:spPr bwMode="auto">
            <a:xfrm>
              <a:off x="7656314" y="4092823"/>
              <a:ext cx="130346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j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4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448" name="Line 58"/>
            <p:cNvSpPr>
              <a:spLocks noChangeShapeType="1"/>
            </p:cNvSpPr>
            <p:nvPr/>
          </p:nvSpPr>
          <p:spPr bwMode="auto">
            <a:xfrm>
              <a:off x="7597253" y="4415002"/>
              <a:ext cx="134959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4423" name="Line 20"/>
          <p:cNvSpPr>
            <a:spLocks noChangeShapeType="1"/>
          </p:cNvSpPr>
          <p:nvPr/>
        </p:nvSpPr>
        <p:spPr bwMode="auto">
          <a:xfrm flipV="1">
            <a:off x="3309938" y="19954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06" name="矩形 205"/>
          <p:cNvSpPr/>
          <p:nvPr/>
        </p:nvSpPr>
        <p:spPr>
          <a:xfrm>
            <a:off x="8677275" y="3509963"/>
            <a:ext cx="230188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4425" name="组合 208"/>
          <p:cNvGrpSpPr/>
          <p:nvPr/>
        </p:nvGrpSpPr>
        <p:grpSpPr bwMode="auto">
          <a:xfrm>
            <a:off x="7443788" y="2741613"/>
            <a:ext cx="1639887" cy="725487"/>
            <a:chOff x="7443464" y="2741412"/>
            <a:chExt cx="1639888" cy="726359"/>
          </a:xfrm>
        </p:grpSpPr>
        <p:sp>
          <p:nvSpPr>
            <p:cNvPr id="144442" name="Line 44"/>
            <p:cNvSpPr>
              <a:spLocks noChangeShapeType="1"/>
            </p:cNvSpPr>
            <p:nvPr/>
          </p:nvSpPr>
          <p:spPr bwMode="auto">
            <a:xfrm flipV="1">
              <a:off x="7443464" y="3101774"/>
              <a:ext cx="1639888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43" name="Rectangle 69"/>
            <p:cNvSpPr>
              <a:spLocks noChangeArrowheads="1"/>
            </p:cNvSpPr>
            <p:nvPr/>
          </p:nvSpPr>
          <p:spPr bwMode="auto">
            <a:xfrm>
              <a:off x="7451402" y="2741412"/>
              <a:ext cx="1166812" cy="4175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12" name="Line 95"/>
            <p:cNvSpPr>
              <a:spLocks noChangeShapeType="1"/>
            </p:cNvSpPr>
            <p:nvPr/>
          </p:nvSpPr>
          <p:spPr bwMode="auto">
            <a:xfrm flipH="1">
              <a:off x="8837290" y="2954393"/>
              <a:ext cx="0" cy="21616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13" name="Line 43"/>
            <p:cNvSpPr>
              <a:spLocks noChangeShapeType="1"/>
            </p:cNvSpPr>
            <p:nvPr/>
          </p:nvSpPr>
          <p:spPr bwMode="auto">
            <a:xfrm>
              <a:off x="7886376" y="3186446"/>
              <a:ext cx="0" cy="2813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14" name="Line 103"/>
            <p:cNvSpPr>
              <a:spLocks noChangeShapeType="1"/>
            </p:cNvSpPr>
            <p:nvPr/>
          </p:nvSpPr>
          <p:spPr bwMode="auto">
            <a:xfrm flipH="1" flipV="1">
              <a:off x="7897489" y="3170552"/>
              <a:ext cx="936626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44426" name="Line 20"/>
          <p:cNvSpPr>
            <a:spLocks noChangeShapeType="1"/>
          </p:cNvSpPr>
          <p:nvPr/>
        </p:nvSpPr>
        <p:spPr bwMode="auto">
          <a:xfrm flipV="1">
            <a:off x="1789113" y="22113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75" name="矩形 174"/>
          <p:cNvSpPr/>
          <p:nvPr/>
        </p:nvSpPr>
        <p:spPr>
          <a:xfrm>
            <a:off x="8781479" y="1924050"/>
            <a:ext cx="327025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4428" name="组合 4"/>
          <p:cNvGrpSpPr/>
          <p:nvPr/>
        </p:nvGrpSpPr>
        <p:grpSpPr bwMode="auto">
          <a:xfrm>
            <a:off x="4862513" y="2570163"/>
            <a:ext cx="2632075" cy="593725"/>
            <a:chOff x="4861992" y="2569673"/>
            <a:chExt cx="2632273" cy="593992"/>
          </a:xfrm>
        </p:grpSpPr>
        <p:sp>
          <p:nvSpPr>
            <p:cNvPr id="144437" name="Line 4"/>
            <p:cNvSpPr>
              <a:spLocks noChangeShapeType="1"/>
            </p:cNvSpPr>
            <p:nvPr/>
          </p:nvSpPr>
          <p:spPr bwMode="auto">
            <a:xfrm flipV="1">
              <a:off x="4887268" y="3142010"/>
              <a:ext cx="202900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4438" name="Rectangle 72"/>
            <p:cNvSpPr>
              <a:spLocks noChangeArrowheads="1"/>
            </p:cNvSpPr>
            <p:nvPr/>
          </p:nvSpPr>
          <p:spPr bwMode="auto">
            <a:xfrm>
              <a:off x="4861992" y="2774727"/>
              <a:ext cx="1243012" cy="388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82" name="Line 95"/>
            <p:cNvSpPr>
              <a:spLocks noChangeShapeType="1"/>
            </p:cNvSpPr>
            <p:nvPr/>
          </p:nvSpPr>
          <p:spPr bwMode="auto">
            <a:xfrm>
              <a:off x="7248183" y="2569673"/>
              <a:ext cx="0" cy="485993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96" name="Line 43"/>
            <p:cNvSpPr>
              <a:spLocks noChangeShapeType="1"/>
            </p:cNvSpPr>
            <p:nvPr/>
          </p:nvSpPr>
          <p:spPr bwMode="auto">
            <a:xfrm>
              <a:off x="7248183" y="2572849"/>
              <a:ext cx="246082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07" name="Line 103"/>
            <p:cNvSpPr>
              <a:spLocks noChangeShapeType="1"/>
            </p:cNvSpPr>
            <p:nvPr/>
          </p:nvSpPr>
          <p:spPr bwMode="auto">
            <a:xfrm flipH="1" flipV="1">
              <a:off x="6773486" y="3049314"/>
              <a:ext cx="481048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200" name="Line 20"/>
          <p:cNvSpPr>
            <a:spLocks noChangeShapeType="1"/>
          </p:cNvSpPr>
          <p:nvPr/>
        </p:nvSpPr>
        <p:spPr bwMode="auto">
          <a:xfrm flipV="1">
            <a:off x="1692275" y="2427288"/>
            <a:ext cx="33337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01" name="矩形 200"/>
          <p:cNvSpPr/>
          <p:nvPr/>
        </p:nvSpPr>
        <p:spPr>
          <a:xfrm>
            <a:off x="6508750" y="1385888"/>
            <a:ext cx="409575" cy="307975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</a:t>
            </a:r>
            <a:endParaRPr lang="zh-CN" altLang="en-US" sz="16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2" name="组合 10"/>
          <p:cNvGrpSpPr/>
          <p:nvPr/>
        </p:nvGrpSpPr>
        <p:grpSpPr bwMode="auto">
          <a:xfrm>
            <a:off x="5122863" y="449263"/>
            <a:ext cx="1452562" cy="935037"/>
            <a:chOff x="5123234" y="448766"/>
            <a:chExt cx="1452390" cy="935311"/>
          </a:xfrm>
        </p:grpSpPr>
        <p:sp>
          <p:nvSpPr>
            <p:cNvPr id="144434" name="Rectangle 100"/>
            <p:cNvSpPr>
              <a:spLocks noChangeArrowheads="1"/>
            </p:cNvSpPr>
            <p:nvPr/>
          </p:nvSpPr>
          <p:spPr bwMode="auto">
            <a:xfrm>
              <a:off x="5123234" y="448766"/>
              <a:ext cx="1168400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5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  <a:endParaRPr lang="en-US" altLang="zh-CN" sz="15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435" name="Line 36"/>
            <p:cNvSpPr>
              <a:spLocks noChangeShapeType="1"/>
            </p:cNvSpPr>
            <p:nvPr/>
          </p:nvSpPr>
          <p:spPr bwMode="auto">
            <a:xfrm flipV="1">
              <a:off x="5175622" y="757484"/>
              <a:ext cx="140000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204" name="Line 43"/>
            <p:cNvSpPr>
              <a:spLocks noChangeShapeType="1"/>
            </p:cNvSpPr>
            <p:nvPr/>
          </p:nvSpPr>
          <p:spPr bwMode="auto">
            <a:xfrm>
              <a:off x="6443878" y="593270"/>
              <a:ext cx="0" cy="790807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205" name="矩形 204"/>
          <p:cNvSpPr/>
          <p:nvPr/>
        </p:nvSpPr>
        <p:spPr>
          <a:xfrm>
            <a:off x="6339523" y="161608"/>
            <a:ext cx="238125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矩形 158"/>
          <p:cNvSpPr/>
          <p:nvPr/>
        </p:nvSpPr>
        <p:spPr>
          <a:xfrm>
            <a:off x="3909297" y="604037"/>
            <a:ext cx="446107" cy="30731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4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9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0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1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53" presetClass="exit" presetSubtype="16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7" dur="500"/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/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80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53" presetClass="exit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7" dur="500"/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/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80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250" autoRev="1" fill="remove"/>
                                        <p:tgtEl>
                                          <p:spTgt spid="180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62" dur="250" autoRev="1" fill="remove"/>
                                        <p:tgtEl>
                                          <p:spTgt spid="180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63" dur="250" autoRev="1" fill="remove"/>
                                        <p:tgtEl>
                                          <p:spTgt spid="180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250" autoRev="1" fill="remove"/>
                                        <p:tgtEl>
                                          <p:spTgt spid="180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50" autoRev="1" fill="remove"/>
                                        <p:tgtEl>
                                          <p:spTgt spid="180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67" dur="250" autoRev="1" fill="remove"/>
                                        <p:tgtEl>
                                          <p:spTgt spid="180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68" dur="250" autoRev="1" fill="remove"/>
                                        <p:tgtEl>
                                          <p:spTgt spid="180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9" dur="250" autoRev="1" fill="remove"/>
                                        <p:tgtEl>
                                          <p:spTgt spid="180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0232" grpId="0" animBg="1"/>
      <p:bldP spid="180232" grpId="1" animBg="1"/>
      <p:bldP spid="200" grpId="0" animBg="1"/>
      <p:bldP spid="201" grpId="0" animBg="1"/>
      <p:bldP spid="205" grpId="0" animBg="1"/>
      <p:bldP spid="159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内容占位符 2"/>
          <p:cNvSpPr>
            <a:spLocks noGrp="1"/>
          </p:cNvSpPr>
          <p:nvPr>
            <p:ph idx="1"/>
          </p:nvPr>
        </p:nvSpPr>
        <p:spPr>
          <a:xfrm>
            <a:off x="323850" y="857250"/>
            <a:ext cx="8713788" cy="4213225"/>
          </a:xfrm>
        </p:spPr>
        <p:txBody>
          <a:bodyPr/>
          <a:lstStyle/>
          <a:p>
            <a:pPr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当在某一层的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声明语句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中识别出一个标识符</a:t>
            </a:r>
            <a:r>
              <a:rPr lang="en-US" altLang="zh-CN" sz="28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id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定义性出现</a:t>
            </a:r>
            <a:r>
              <a:rPr lang="en-US" altLang="zh-CN" sz="28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时，以此标识符查找相应于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本层的符号表</a:t>
            </a:r>
            <a:endParaRPr lang="en-US" altLang="zh-CN" sz="2500" b="1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如果查到，则报错并发出诊断信息“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id</a:t>
            </a:r>
            <a:r>
              <a:rPr lang="zh-CN" altLang="en-US" sz="24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重复声明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”</a:t>
            </a:r>
            <a:endParaRPr lang="en-US" altLang="zh-CN" sz="24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否则，在符号表中加入新登记项，将标识符及有关信息填入</a:t>
            </a:r>
            <a:endParaRPr lang="en-US" altLang="zh-CN" sz="24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当在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可执行语句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部分扫视到标识符时</a:t>
            </a:r>
            <a:r>
              <a:rPr lang="en-US" altLang="zh-CN" sz="28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 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id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应用性出现</a:t>
            </a:r>
            <a:r>
              <a:rPr lang="en-US" altLang="zh-CN" sz="28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首先在</a:t>
            </a:r>
            <a:r>
              <a:rPr lang="zh-CN" altLang="en-US" sz="24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该层符号表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中查找该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id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，如果找不到，则到</a:t>
            </a:r>
            <a:r>
              <a:rPr lang="zh-CN" altLang="en-US" sz="24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直接外层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符号表中去查，如此等等，一旦找到，则在表中取出有关信息并作相应处理</a:t>
            </a:r>
            <a:endParaRPr lang="en-US" altLang="zh-CN" sz="24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如果查遍所有外层符号表均未找到该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id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，则报错并发出诊断信息“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id</a:t>
            </a:r>
            <a:r>
              <a:rPr lang="zh-CN" altLang="en-US" sz="24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未声明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”</a:t>
            </a:r>
            <a:endParaRPr lang="zh-CN" altLang="en-US" sz="24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129027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标识符的基本处理方法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203848" y="3723878"/>
            <a:ext cx="56477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800" dirty="0">
                <a:solidFill>
                  <a:srgbClr val="0000FF"/>
                </a:solidFill>
                <a:ea typeface="方正楷体_GB2312" charset="0"/>
              </a:rPr>
              <a:t>将层号</a:t>
            </a:r>
            <a:r>
              <a:rPr lang="en-US" altLang="zh-CN" sz="1800" dirty="0">
                <a:solidFill>
                  <a:srgbClr val="0000FF"/>
                </a:solidFill>
                <a:ea typeface="方正楷体_GB2312" charset="0"/>
              </a:rPr>
              <a:t>(</a:t>
            </a:r>
            <a:r>
              <a:rPr lang="zh-CN" altLang="en-US" sz="1800" dirty="0">
                <a:solidFill>
                  <a:srgbClr val="0000FF"/>
                </a:solidFill>
                <a:ea typeface="方正楷体_GB2312" charset="0"/>
              </a:rPr>
              <a:t>或嵌套深度之差</a:t>
            </a:r>
            <a:r>
              <a:rPr lang="en-US" altLang="zh-CN" sz="1800" dirty="0">
                <a:solidFill>
                  <a:srgbClr val="0000FF"/>
                </a:solidFill>
                <a:ea typeface="方正楷体_GB2312" charset="0"/>
              </a:rPr>
              <a:t>)</a:t>
            </a:r>
            <a:r>
              <a:rPr lang="zh-CN" altLang="en-US" sz="1800" dirty="0">
                <a:solidFill>
                  <a:srgbClr val="0000FF"/>
                </a:solidFill>
                <a:ea typeface="方正楷体_GB2312" charset="0"/>
              </a:rPr>
              <a:t>作为中间代码中地址的一部分</a:t>
            </a:r>
            <a:endParaRPr lang="zh-CN" altLang="en-US" sz="1800" dirty="0">
              <a:solidFill>
                <a:srgbClr val="0000FF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2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2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2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2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2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2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92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2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2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92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92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2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92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92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2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92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92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2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矩形 88"/>
          <p:cNvSpPr/>
          <p:nvPr/>
        </p:nvSpPr>
        <p:spPr>
          <a:xfrm>
            <a:off x="155575" y="828675"/>
            <a:ext cx="8177213" cy="4716463"/>
          </a:xfrm>
          <a:prstGeom prst="rect">
            <a:avLst/>
          </a:prstGeom>
          <a:noFill/>
          <a:ln>
            <a:noFill/>
          </a:ln>
        </p:spPr>
        <p:txBody>
          <a:bodyPr lIns="68580" tIns="34290" rIns="68580" bIns="34290">
            <a:spAutoFit/>
          </a:bodyPr>
          <a:lstStyle/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program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sort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(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output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);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[0..10]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of 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           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  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FF0000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zh-CN" altLang="en-US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exchang</a:t>
            </a:r>
            <a:r>
              <a:rPr lang="en-US" altLang="zh-CN" sz="2000" kern="0" dirty="0">
                <a:solidFill>
                  <a:srgbClr val="FF0000"/>
                </a:solidFill>
                <a:ea typeface="方正楷体_GB2312" charset="0"/>
              </a:rPr>
              <a:t>e</a:t>
            </a:r>
            <a:r>
              <a:rPr lang="en-US" altLang="zh-CN" sz="2000" kern="0" dirty="0">
                <a:solidFill>
                  <a:prstClr val="black"/>
                </a:solidFill>
                <a:ea typeface="方正楷体_GB2312" charset="0"/>
              </a:rPr>
              <a:t>(</a:t>
            </a:r>
            <a:r>
              <a:rPr lang="en-US" altLang="zh-CN" sz="2000" i="1" kern="0" dirty="0" err="1">
                <a:solidFill>
                  <a:prstClr val="black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prstClr val="black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exchang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zh-CN" altLang="en-US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prstClr val="black"/>
                </a:solidFill>
                <a:ea typeface="方正楷体_GB2312" charset="0"/>
              </a:rPr>
              <a:t>(</a:t>
            </a:r>
            <a:r>
              <a:rPr lang="en-US" altLang="zh-CN" sz="2000" i="1" kern="0" dirty="0">
                <a:solidFill>
                  <a:prstClr val="black"/>
                </a:solidFill>
                <a:ea typeface="方正楷体_GB2312" charset="0"/>
              </a:rPr>
              <a:t>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k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v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function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prstClr val="black"/>
                </a:solidFill>
                <a:ea typeface="方正楷体_GB2312" charset="0"/>
              </a:rPr>
              <a:t>(</a:t>
            </a:r>
            <a:r>
              <a:rPr lang="en-US" altLang="zh-CN" sz="2000" i="1" kern="0" dirty="0">
                <a:solidFill>
                  <a:prstClr val="black"/>
                </a:solidFill>
                <a:ea typeface="方正楷体_GB2312" charset="0"/>
              </a:rPr>
              <a:t>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z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r;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exchange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(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};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zh-CN" altLang="en-US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sort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</p:txBody>
      </p:sp>
      <p:sp>
        <p:nvSpPr>
          <p:cNvPr id="12288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2" name="组合 2"/>
          <p:cNvGrpSpPr/>
          <p:nvPr/>
        </p:nvGrpSpPr>
        <p:grpSpPr bwMode="auto">
          <a:xfrm>
            <a:off x="4465638" y="-15875"/>
            <a:ext cx="4714875" cy="4548188"/>
            <a:chOff x="4465638" y="-15875"/>
            <a:chExt cx="4714874" cy="4548188"/>
          </a:xfrm>
        </p:grpSpPr>
        <p:sp>
          <p:nvSpPr>
            <p:cNvPr id="122885" name="Rectangle 54"/>
            <p:cNvSpPr>
              <a:spLocks noChangeArrowheads="1"/>
            </p:cNvSpPr>
            <p:nvPr/>
          </p:nvSpPr>
          <p:spPr bwMode="auto">
            <a:xfrm>
              <a:off x="7108911" y="2277971"/>
              <a:ext cx="2035089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k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0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886" name="Rectangle 55"/>
            <p:cNvSpPr>
              <a:spLocks noChangeArrowheads="1"/>
            </p:cNvSpPr>
            <p:nvPr/>
          </p:nvSpPr>
          <p:spPr bwMode="auto">
            <a:xfrm>
              <a:off x="7108910" y="2562088"/>
              <a:ext cx="2035089" cy="390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v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4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887" name="Rectangle 68"/>
            <p:cNvSpPr>
              <a:spLocks noChangeArrowheads="1"/>
            </p:cNvSpPr>
            <p:nvPr/>
          </p:nvSpPr>
          <p:spPr bwMode="auto">
            <a:xfrm>
              <a:off x="7559744" y="4168833"/>
              <a:ext cx="1620768" cy="363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j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4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888" name="Rectangle 67"/>
            <p:cNvSpPr>
              <a:spLocks noChangeArrowheads="1"/>
            </p:cNvSpPr>
            <p:nvPr/>
          </p:nvSpPr>
          <p:spPr bwMode="auto">
            <a:xfrm>
              <a:off x="7559744" y="3859319"/>
              <a:ext cx="1458850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0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889" name="Line 2"/>
            <p:cNvSpPr>
              <a:spLocks noChangeShapeType="1"/>
            </p:cNvSpPr>
            <p:nvPr/>
          </p:nvSpPr>
          <p:spPr bwMode="auto">
            <a:xfrm>
              <a:off x="4489326" y="1027296"/>
              <a:ext cx="1587" cy="17856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0" name="Line 3"/>
            <p:cNvSpPr>
              <a:spLocks noChangeShapeType="1"/>
            </p:cNvSpPr>
            <p:nvPr/>
          </p:nvSpPr>
          <p:spPr bwMode="auto">
            <a:xfrm>
              <a:off x="6140057" y="1027296"/>
              <a:ext cx="0" cy="176026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1" name="Line 4"/>
            <p:cNvSpPr>
              <a:spLocks noChangeShapeType="1"/>
            </p:cNvSpPr>
            <p:nvPr/>
          </p:nvSpPr>
          <p:spPr bwMode="auto">
            <a:xfrm flipV="1">
              <a:off x="4490913" y="2784951"/>
              <a:ext cx="202896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2" name="Line 5"/>
            <p:cNvSpPr>
              <a:spLocks noChangeShapeType="1"/>
            </p:cNvSpPr>
            <p:nvPr/>
          </p:nvSpPr>
          <p:spPr bwMode="auto">
            <a:xfrm>
              <a:off x="4490913" y="2489723"/>
              <a:ext cx="202896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3" name="Line 6"/>
            <p:cNvSpPr>
              <a:spLocks noChangeShapeType="1"/>
            </p:cNvSpPr>
            <p:nvPr/>
          </p:nvSpPr>
          <p:spPr bwMode="auto">
            <a:xfrm flipV="1">
              <a:off x="4478213" y="2200273"/>
              <a:ext cx="204166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4" name="Line 7"/>
            <p:cNvSpPr>
              <a:spLocks noChangeShapeType="1"/>
            </p:cNvSpPr>
            <p:nvPr/>
          </p:nvSpPr>
          <p:spPr bwMode="auto">
            <a:xfrm flipV="1">
              <a:off x="4503612" y="1925679"/>
              <a:ext cx="201626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5" name="Line 8"/>
            <p:cNvSpPr>
              <a:spLocks noChangeShapeType="1"/>
            </p:cNvSpPr>
            <p:nvPr/>
          </p:nvSpPr>
          <p:spPr bwMode="auto">
            <a:xfrm>
              <a:off x="4502025" y="1633625"/>
              <a:ext cx="2020800" cy="15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6" name="Line 9"/>
            <p:cNvSpPr>
              <a:spLocks noChangeShapeType="1"/>
            </p:cNvSpPr>
            <p:nvPr/>
          </p:nvSpPr>
          <p:spPr bwMode="auto">
            <a:xfrm flipV="1">
              <a:off x="4490913" y="1338397"/>
              <a:ext cx="202896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7" name="Rectangle 10"/>
            <p:cNvSpPr>
              <a:spLocks noChangeArrowheads="1"/>
            </p:cNvSpPr>
            <p:nvPr/>
          </p:nvSpPr>
          <p:spPr bwMode="auto">
            <a:xfrm>
              <a:off x="4916344" y="976504"/>
              <a:ext cx="1738457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48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898" name="Rectangle 11"/>
            <p:cNvSpPr>
              <a:spLocks noChangeArrowheads="1"/>
            </p:cNvSpPr>
            <p:nvPr/>
          </p:nvSpPr>
          <p:spPr bwMode="auto">
            <a:xfrm>
              <a:off x="4860213" y="703497"/>
              <a:ext cx="1168351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899" name="Line 12"/>
            <p:cNvSpPr>
              <a:spLocks noChangeShapeType="1"/>
            </p:cNvSpPr>
            <p:nvPr/>
          </p:nvSpPr>
          <p:spPr bwMode="auto">
            <a:xfrm flipV="1">
              <a:off x="4502024" y="1025709"/>
              <a:ext cx="2020801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00" name="Line 13"/>
            <p:cNvSpPr>
              <a:spLocks noChangeShapeType="1"/>
            </p:cNvSpPr>
            <p:nvPr/>
          </p:nvSpPr>
          <p:spPr bwMode="auto">
            <a:xfrm>
              <a:off x="4867135" y="1041582"/>
              <a:ext cx="0" cy="28411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01" name="Line 14"/>
            <p:cNvSpPr>
              <a:spLocks noChangeShapeType="1"/>
            </p:cNvSpPr>
            <p:nvPr/>
          </p:nvSpPr>
          <p:spPr bwMode="auto">
            <a:xfrm>
              <a:off x="5564018" y="1314266"/>
              <a:ext cx="0" cy="146344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02" name="Rectangle 15"/>
            <p:cNvSpPr>
              <a:spLocks noChangeArrowheads="1"/>
            </p:cNvSpPr>
            <p:nvPr/>
          </p:nvSpPr>
          <p:spPr bwMode="auto">
            <a:xfrm>
              <a:off x="7092367" y="-15875"/>
              <a:ext cx="1428690" cy="4285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readarrary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03" name="Rectangle 25"/>
            <p:cNvSpPr>
              <a:spLocks noChangeArrowheads="1"/>
            </p:cNvSpPr>
            <p:nvPr/>
          </p:nvSpPr>
          <p:spPr bwMode="auto">
            <a:xfrm>
              <a:off x="4484563" y="1282844"/>
              <a:ext cx="2038263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   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array  0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04" name="Rectangle 26"/>
            <p:cNvSpPr>
              <a:spLocks noChangeArrowheads="1"/>
            </p:cNvSpPr>
            <p:nvPr/>
          </p:nvSpPr>
          <p:spPr bwMode="auto">
            <a:xfrm>
              <a:off x="4501480" y="1585513"/>
              <a:ext cx="2070606" cy="363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x 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44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05" name="Rectangle 28"/>
            <p:cNvSpPr>
              <a:spLocks noChangeArrowheads="1"/>
            </p:cNvSpPr>
            <p:nvPr/>
          </p:nvSpPr>
          <p:spPr bwMode="auto">
            <a:xfrm>
              <a:off x="4465638" y="1835206"/>
              <a:ext cx="1314394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readarray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06" name="Rectangle 31"/>
            <p:cNvSpPr>
              <a:spLocks noChangeArrowheads="1"/>
            </p:cNvSpPr>
            <p:nvPr/>
          </p:nvSpPr>
          <p:spPr bwMode="auto">
            <a:xfrm>
              <a:off x="7169582" y="970179"/>
              <a:ext cx="1271534" cy="403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  <a:endParaRPr lang="en-US" altLang="zh-CN" sz="21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07" name="Line 32"/>
            <p:cNvSpPr>
              <a:spLocks noChangeShapeType="1"/>
            </p:cNvSpPr>
            <p:nvPr/>
          </p:nvSpPr>
          <p:spPr bwMode="auto">
            <a:xfrm>
              <a:off x="7090260" y="1375449"/>
              <a:ext cx="0" cy="29205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08" name="Line 33"/>
            <p:cNvSpPr>
              <a:spLocks noChangeShapeType="1"/>
            </p:cNvSpPr>
            <p:nvPr/>
          </p:nvSpPr>
          <p:spPr bwMode="auto">
            <a:xfrm>
              <a:off x="8321661" y="1375449"/>
              <a:ext cx="0" cy="32221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09" name="Line 34"/>
            <p:cNvSpPr>
              <a:spLocks noChangeShapeType="1"/>
            </p:cNvSpPr>
            <p:nvPr/>
          </p:nvSpPr>
          <p:spPr bwMode="auto">
            <a:xfrm>
              <a:off x="7076607" y="1684961"/>
              <a:ext cx="125618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0" name="Rectangle 35"/>
            <p:cNvSpPr>
              <a:spLocks noChangeArrowheads="1"/>
            </p:cNvSpPr>
            <p:nvPr/>
          </p:nvSpPr>
          <p:spPr bwMode="auto">
            <a:xfrm>
              <a:off x="7313591" y="1323070"/>
              <a:ext cx="1078362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0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11" name="Line 36"/>
            <p:cNvSpPr>
              <a:spLocks noChangeShapeType="1"/>
            </p:cNvSpPr>
            <p:nvPr/>
          </p:nvSpPr>
          <p:spPr bwMode="auto">
            <a:xfrm flipV="1">
              <a:off x="7081687" y="1375449"/>
              <a:ext cx="125110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2" name="Line 37"/>
            <p:cNvSpPr>
              <a:spLocks noChangeShapeType="1"/>
            </p:cNvSpPr>
            <p:nvPr/>
          </p:nvSpPr>
          <p:spPr bwMode="auto">
            <a:xfrm>
              <a:off x="7313591" y="1389734"/>
              <a:ext cx="0" cy="28411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3" name="Rectangle 39"/>
            <p:cNvSpPr>
              <a:spLocks noChangeArrowheads="1"/>
            </p:cNvSpPr>
            <p:nvPr/>
          </p:nvSpPr>
          <p:spPr bwMode="auto">
            <a:xfrm>
              <a:off x="4465638" y="2132022"/>
              <a:ext cx="1260422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14" name="Line 42"/>
            <p:cNvSpPr>
              <a:spLocks noChangeShapeType="1"/>
            </p:cNvSpPr>
            <p:nvPr/>
          </p:nvSpPr>
          <p:spPr bwMode="auto">
            <a:xfrm>
              <a:off x="7058113" y="1997027"/>
              <a:ext cx="1587" cy="117932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5" name="Line 43"/>
            <p:cNvSpPr>
              <a:spLocks noChangeShapeType="1"/>
            </p:cNvSpPr>
            <p:nvPr/>
          </p:nvSpPr>
          <p:spPr bwMode="auto">
            <a:xfrm flipH="1">
              <a:off x="8694756" y="1995440"/>
              <a:ext cx="4763" cy="11967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6" name="Line 44"/>
            <p:cNvSpPr>
              <a:spLocks noChangeShapeType="1"/>
            </p:cNvSpPr>
            <p:nvPr/>
          </p:nvSpPr>
          <p:spPr bwMode="auto">
            <a:xfrm flipV="1">
              <a:off x="7047001" y="3177941"/>
              <a:ext cx="1639819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7" name="Line 45"/>
            <p:cNvSpPr>
              <a:spLocks noChangeShapeType="1"/>
            </p:cNvSpPr>
            <p:nvPr/>
          </p:nvSpPr>
          <p:spPr bwMode="auto">
            <a:xfrm flipV="1">
              <a:off x="7070813" y="2895410"/>
              <a:ext cx="1642992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8" name="Line 46"/>
            <p:cNvSpPr>
              <a:spLocks noChangeShapeType="1"/>
            </p:cNvSpPr>
            <p:nvPr/>
          </p:nvSpPr>
          <p:spPr bwMode="auto">
            <a:xfrm flipV="1">
              <a:off x="7070813" y="2601770"/>
              <a:ext cx="1639818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9" name="Line 47"/>
            <p:cNvSpPr>
              <a:spLocks noChangeShapeType="1"/>
            </p:cNvSpPr>
            <p:nvPr/>
          </p:nvSpPr>
          <p:spPr bwMode="auto">
            <a:xfrm flipV="1">
              <a:off x="7059700" y="2306541"/>
              <a:ext cx="163981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0" name="Rectangle 48"/>
            <p:cNvSpPr>
              <a:spLocks noChangeArrowheads="1"/>
            </p:cNvSpPr>
            <p:nvPr/>
          </p:nvSpPr>
          <p:spPr bwMode="auto">
            <a:xfrm>
              <a:off x="7550217" y="1944649"/>
              <a:ext cx="1304001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8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21" name="Rectangle 49"/>
            <p:cNvSpPr>
              <a:spLocks noChangeArrowheads="1"/>
            </p:cNvSpPr>
            <p:nvPr/>
          </p:nvSpPr>
          <p:spPr bwMode="auto">
            <a:xfrm>
              <a:off x="7270109" y="1658944"/>
              <a:ext cx="1350906" cy="387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  <a:endParaRPr lang="en-US" altLang="zh-CN" sz="21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22" name="Line 50"/>
            <p:cNvSpPr>
              <a:spLocks noChangeShapeType="1"/>
            </p:cNvSpPr>
            <p:nvPr/>
          </p:nvSpPr>
          <p:spPr bwMode="auto">
            <a:xfrm flipV="1">
              <a:off x="7070813" y="1995440"/>
              <a:ext cx="1639818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3" name="Line 51"/>
            <p:cNvSpPr>
              <a:spLocks noChangeShapeType="1"/>
            </p:cNvSpPr>
            <p:nvPr/>
          </p:nvSpPr>
          <p:spPr bwMode="auto">
            <a:xfrm>
              <a:off x="7435922" y="2011313"/>
              <a:ext cx="1587" cy="28253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4" name="Line 52"/>
            <p:cNvSpPr>
              <a:spLocks noChangeShapeType="1"/>
            </p:cNvSpPr>
            <p:nvPr/>
          </p:nvSpPr>
          <p:spPr bwMode="auto">
            <a:xfrm>
              <a:off x="7990159" y="2330350"/>
              <a:ext cx="0" cy="86028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5" name="Line 56"/>
            <p:cNvSpPr>
              <a:spLocks noChangeShapeType="1"/>
            </p:cNvSpPr>
            <p:nvPr/>
          </p:nvSpPr>
          <p:spPr bwMode="auto">
            <a:xfrm flipH="1">
              <a:off x="7507358" y="3589487"/>
              <a:ext cx="0" cy="9031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6" name="Line 57"/>
            <p:cNvSpPr>
              <a:spLocks noChangeShapeType="1"/>
            </p:cNvSpPr>
            <p:nvPr/>
          </p:nvSpPr>
          <p:spPr bwMode="auto">
            <a:xfrm flipH="1">
              <a:off x="8802827" y="3589487"/>
              <a:ext cx="0" cy="9031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7" name="Line 58"/>
            <p:cNvSpPr>
              <a:spLocks noChangeShapeType="1"/>
            </p:cNvSpPr>
            <p:nvPr/>
          </p:nvSpPr>
          <p:spPr bwMode="auto">
            <a:xfrm>
              <a:off x="7532757" y="4489458"/>
              <a:ext cx="127800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8" name="Line 59"/>
            <p:cNvSpPr>
              <a:spLocks noChangeShapeType="1"/>
            </p:cNvSpPr>
            <p:nvPr/>
          </p:nvSpPr>
          <p:spPr bwMode="auto">
            <a:xfrm flipV="1">
              <a:off x="7531171" y="4175605"/>
              <a:ext cx="127959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9" name="Line 60"/>
            <p:cNvSpPr>
              <a:spLocks noChangeShapeType="1"/>
            </p:cNvSpPr>
            <p:nvPr/>
          </p:nvSpPr>
          <p:spPr bwMode="auto">
            <a:xfrm flipV="1">
              <a:off x="7520058" y="3883550"/>
              <a:ext cx="129070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30" name="Rectangle 61"/>
            <p:cNvSpPr>
              <a:spLocks noChangeArrowheads="1"/>
            </p:cNvSpPr>
            <p:nvPr/>
          </p:nvSpPr>
          <p:spPr bwMode="auto">
            <a:xfrm>
              <a:off x="7794758" y="3537108"/>
              <a:ext cx="1188914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8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31" name="Rectangle 62"/>
            <p:cNvSpPr>
              <a:spLocks noChangeArrowheads="1"/>
            </p:cNvSpPr>
            <p:nvPr/>
          </p:nvSpPr>
          <p:spPr bwMode="auto">
            <a:xfrm>
              <a:off x="7680290" y="3252197"/>
              <a:ext cx="1350906" cy="387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32" name="Line 63"/>
            <p:cNvSpPr>
              <a:spLocks noChangeShapeType="1"/>
            </p:cNvSpPr>
            <p:nvPr/>
          </p:nvSpPr>
          <p:spPr bwMode="auto">
            <a:xfrm>
              <a:off x="7531170" y="3591074"/>
              <a:ext cx="1269945" cy="158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33" name="Line 64"/>
            <p:cNvSpPr>
              <a:spLocks noChangeShapeType="1"/>
            </p:cNvSpPr>
            <p:nvPr/>
          </p:nvSpPr>
          <p:spPr bwMode="auto">
            <a:xfrm>
              <a:off x="7794758" y="3603773"/>
              <a:ext cx="1587" cy="28253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34" name="Line 65"/>
            <p:cNvSpPr>
              <a:spLocks noChangeShapeType="1"/>
            </p:cNvSpPr>
            <p:nvPr/>
          </p:nvSpPr>
          <p:spPr bwMode="auto">
            <a:xfrm flipH="1">
              <a:off x="7801108" y="3902175"/>
              <a:ext cx="0" cy="57775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35" name="Rectangle 69"/>
            <p:cNvSpPr>
              <a:spLocks noChangeArrowheads="1"/>
            </p:cNvSpPr>
            <p:nvPr/>
          </p:nvSpPr>
          <p:spPr bwMode="auto">
            <a:xfrm>
              <a:off x="7054938" y="2817636"/>
              <a:ext cx="1166763" cy="4174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36" name="Rectangle 72"/>
            <p:cNvSpPr>
              <a:spLocks noChangeArrowheads="1"/>
            </p:cNvSpPr>
            <p:nvPr/>
          </p:nvSpPr>
          <p:spPr bwMode="auto">
            <a:xfrm>
              <a:off x="4465638" y="2417726"/>
              <a:ext cx="1242959" cy="3888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  <a:endPara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39" name="Line 103"/>
            <p:cNvSpPr>
              <a:spLocks noChangeShapeType="1"/>
            </p:cNvSpPr>
            <p:nvPr/>
          </p:nvSpPr>
          <p:spPr bwMode="auto">
            <a:xfrm flipH="1" flipV="1">
              <a:off x="6365875" y="2092325"/>
              <a:ext cx="269875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38" name="Line 17"/>
            <p:cNvSpPr>
              <a:spLocks noChangeShapeType="1"/>
            </p:cNvSpPr>
            <p:nvPr/>
          </p:nvSpPr>
          <p:spPr bwMode="auto">
            <a:xfrm>
              <a:off x="7094996" y="360303"/>
              <a:ext cx="0" cy="5920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39" name="Line 18"/>
            <p:cNvSpPr>
              <a:spLocks noChangeShapeType="1"/>
            </p:cNvSpPr>
            <p:nvPr/>
          </p:nvSpPr>
          <p:spPr bwMode="auto">
            <a:xfrm flipH="1">
              <a:off x="8386619" y="360303"/>
              <a:ext cx="0" cy="5929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40" name="Line 19"/>
            <p:cNvSpPr>
              <a:spLocks noChangeShapeType="1"/>
            </p:cNvSpPr>
            <p:nvPr/>
          </p:nvSpPr>
          <p:spPr bwMode="auto">
            <a:xfrm flipV="1">
              <a:off x="7084835" y="952347"/>
              <a:ext cx="130711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41" name="Line 20"/>
            <p:cNvSpPr>
              <a:spLocks noChangeShapeType="1"/>
            </p:cNvSpPr>
            <p:nvPr/>
          </p:nvSpPr>
          <p:spPr bwMode="auto">
            <a:xfrm flipV="1">
              <a:off x="7096583" y="653945"/>
              <a:ext cx="128582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42" name="Rectangle 21"/>
            <p:cNvSpPr>
              <a:spLocks noChangeArrowheads="1"/>
            </p:cNvSpPr>
            <p:nvPr/>
          </p:nvSpPr>
          <p:spPr bwMode="auto">
            <a:xfrm>
              <a:off x="7339460" y="287463"/>
              <a:ext cx="1119165" cy="363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43" name="Line 22"/>
            <p:cNvSpPr>
              <a:spLocks noChangeShapeType="1"/>
            </p:cNvSpPr>
            <p:nvPr/>
          </p:nvSpPr>
          <p:spPr bwMode="auto">
            <a:xfrm>
              <a:off x="7092456" y="360303"/>
              <a:ext cx="129949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44" name="Line 23"/>
            <p:cNvSpPr>
              <a:spLocks noChangeShapeType="1"/>
            </p:cNvSpPr>
            <p:nvPr/>
          </p:nvSpPr>
          <p:spPr bwMode="auto">
            <a:xfrm>
              <a:off x="7378551" y="374588"/>
              <a:ext cx="0" cy="28411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45" name="Rectangle 40"/>
            <p:cNvSpPr>
              <a:spLocks noChangeArrowheads="1"/>
            </p:cNvSpPr>
            <p:nvPr/>
          </p:nvSpPr>
          <p:spPr bwMode="auto">
            <a:xfrm>
              <a:off x="7126744" y="615850"/>
              <a:ext cx="1220390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0</a:t>
              </a:r>
              <a:endPara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2946" name="Line 24"/>
            <p:cNvSpPr>
              <a:spLocks noChangeShapeType="1"/>
            </p:cNvSpPr>
            <p:nvPr/>
          </p:nvSpPr>
          <p:spPr bwMode="auto">
            <a:xfrm>
              <a:off x="7378550" y="650943"/>
              <a:ext cx="2869" cy="30140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49" name="Line 95"/>
            <p:cNvSpPr>
              <a:spLocks noChangeShapeType="1"/>
            </p:cNvSpPr>
            <p:nvPr/>
          </p:nvSpPr>
          <p:spPr bwMode="auto">
            <a:xfrm>
              <a:off x="6819900" y="2066925"/>
              <a:ext cx="0" cy="6318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0" name="Line 43"/>
            <p:cNvSpPr>
              <a:spLocks noChangeShapeType="1"/>
            </p:cNvSpPr>
            <p:nvPr/>
          </p:nvSpPr>
          <p:spPr bwMode="auto">
            <a:xfrm>
              <a:off x="6804025" y="2066925"/>
              <a:ext cx="246063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49" name="Line 51"/>
            <p:cNvSpPr>
              <a:spLocks noChangeShapeType="1"/>
            </p:cNvSpPr>
            <p:nvPr/>
          </p:nvSpPr>
          <p:spPr bwMode="auto">
            <a:xfrm flipH="1" flipV="1">
              <a:off x="6498916" y="2198608"/>
              <a:ext cx="821399" cy="43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50" name="Line 3"/>
            <p:cNvSpPr>
              <a:spLocks noChangeShapeType="1"/>
            </p:cNvSpPr>
            <p:nvPr/>
          </p:nvSpPr>
          <p:spPr bwMode="auto">
            <a:xfrm>
              <a:off x="6519877" y="1026930"/>
              <a:ext cx="0" cy="176026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51" name="Line 18"/>
            <p:cNvSpPr>
              <a:spLocks noChangeShapeType="1"/>
            </p:cNvSpPr>
            <p:nvPr/>
          </p:nvSpPr>
          <p:spPr bwMode="auto">
            <a:xfrm>
              <a:off x="8098600" y="362956"/>
              <a:ext cx="1587" cy="62061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52" name="Line 33"/>
            <p:cNvSpPr>
              <a:spLocks noChangeShapeType="1"/>
            </p:cNvSpPr>
            <p:nvPr/>
          </p:nvSpPr>
          <p:spPr bwMode="auto">
            <a:xfrm>
              <a:off x="8105646" y="1370687"/>
              <a:ext cx="0" cy="32221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53" name="Line 57"/>
            <p:cNvSpPr>
              <a:spLocks noChangeShapeType="1"/>
            </p:cNvSpPr>
            <p:nvPr/>
          </p:nvSpPr>
          <p:spPr bwMode="auto">
            <a:xfrm flipH="1">
              <a:off x="8586812" y="3610543"/>
              <a:ext cx="0" cy="9031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54" name="Line 43"/>
            <p:cNvSpPr>
              <a:spLocks noChangeShapeType="1"/>
            </p:cNvSpPr>
            <p:nvPr/>
          </p:nvSpPr>
          <p:spPr bwMode="auto">
            <a:xfrm flipH="1">
              <a:off x="8350184" y="1980237"/>
              <a:ext cx="4763" cy="11967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8" name="Line 103"/>
            <p:cNvSpPr>
              <a:spLocks noChangeShapeType="1"/>
            </p:cNvSpPr>
            <p:nvPr/>
          </p:nvSpPr>
          <p:spPr bwMode="auto">
            <a:xfrm flipH="1">
              <a:off x="6356350" y="2381250"/>
              <a:ext cx="374650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9" name="Line 103"/>
            <p:cNvSpPr>
              <a:spLocks noChangeShapeType="1"/>
            </p:cNvSpPr>
            <p:nvPr/>
          </p:nvSpPr>
          <p:spPr bwMode="auto">
            <a:xfrm flipH="1" flipV="1">
              <a:off x="6376988" y="2692400"/>
              <a:ext cx="431800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0" name="Line 95"/>
            <p:cNvSpPr>
              <a:spLocks noChangeShapeType="1"/>
            </p:cNvSpPr>
            <p:nvPr/>
          </p:nvSpPr>
          <p:spPr bwMode="auto">
            <a:xfrm flipH="1">
              <a:off x="6732588" y="1511300"/>
              <a:ext cx="0" cy="865188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1" name="Line 95"/>
            <p:cNvSpPr>
              <a:spLocks noChangeShapeType="1"/>
            </p:cNvSpPr>
            <p:nvPr/>
          </p:nvSpPr>
          <p:spPr bwMode="auto">
            <a:xfrm flipH="1">
              <a:off x="6626225" y="852488"/>
              <a:ext cx="0" cy="1252537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2" name="Line 43"/>
            <p:cNvSpPr>
              <a:spLocks noChangeShapeType="1"/>
            </p:cNvSpPr>
            <p:nvPr/>
          </p:nvSpPr>
          <p:spPr bwMode="auto">
            <a:xfrm flipV="1">
              <a:off x="6732588" y="1511300"/>
              <a:ext cx="284162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3" name="Line 43"/>
            <p:cNvSpPr>
              <a:spLocks noChangeShapeType="1"/>
            </p:cNvSpPr>
            <p:nvPr/>
          </p:nvSpPr>
          <p:spPr bwMode="auto">
            <a:xfrm>
              <a:off x="6635750" y="825500"/>
              <a:ext cx="471488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4" name="Line 95"/>
            <p:cNvSpPr>
              <a:spLocks noChangeShapeType="1"/>
            </p:cNvSpPr>
            <p:nvPr/>
          </p:nvSpPr>
          <p:spPr bwMode="auto">
            <a:xfrm flipH="1">
              <a:off x="8440737" y="3030538"/>
              <a:ext cx="0" cy="21590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5" name="Line 43"/>
            <p:cNvSpPr>
              <a:spLocks noChangeShapeType="1"/>
            </p:cNvSpPr>
            <p:nvPr/>
          </p:nvSpPr>
          <p:spPr bwMode="auto">
            <a:xfrm>
              <a:off x="7740649" y="3262313"/>
              <a:ext cx="0" cy="280987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6" name="Line 103"/>
            <p:cNvSpPr>
              <a:spLocks noChangeShapeType="1"/>
            </p:cNvSpPr>
            <p:nvPr/>
          </p:nvSpPr>
          <p:spPr bwMode="auto">
            <a:xfrm flipH="1" flipV="1">
              <a:off x="7740649" y="3233738"/>
              <a:ext cx="696913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64" name="Line 51"/>
            <p:cNvSpPr>
              <a:spLocks noChangeShapeType="1"/>
            </p:cNvSpPr>
            <p:nvPr/>
          </p:nvSpPr>
          <p:spPr bwMode="auto">
            <a:xfrm flipV="1">
              <a:off x="7570011" y="3277643"/>
              <a:ext cx="1" cy="38462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65" name="Line 51"/>
            <p:cNvSpPr>
              <a:spLocks noChangeShapeType="1"/>
            </p:cNvSpPr>
            <p:nvPr/>
          </p:nvSpPr>
          <p:spPr bwMode="auto">
            <a:xfrm flipH="1">
              <a:off x="6464638" y="1609715"/>
              <a:ext cx="736791" cy="1659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66" name="Line 103"/>
            <p:cNvSpPr>
              <a:spLocks noChangeShapeType="1"/>
            </p:cNvSpPr>
            <p:nvPr/>
          </p:nvSpPr>
          <p:spPr bwMode="auto">
            <a:xfrm flipH="1" flipV="1">
              <a:off x="6282255" y="556698"/>
              <a:ext cx="968484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67" name="Line 51"/>
            <p:cNvSpPr>
              <a:spLocks noChangeShapeType="1"/>
            </p:cNvSpPr>
            <p:nvPr/>
          </p:nvSpPr>
          <p:spPr bwMode="auto">
            <a:xfrm flipH="1">
              <a:off x="6300658" y="542412"/>
              <a:ext cx="0" cy="458199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3" name="线形标注 2 2"/>
          <p:cNvSpPr/>
          <p:nvPr/>
        </p:nvSpPr>
        <p:spPr>
          <a:xfrm>
            <a:off x="899592" y="4259702"/>
            <a:ext cx="864096" cy="181741"/>
          </a:xfrm>
          <a:prstGeom prst="borderCallout2">
            <a:avLst>
              <a:gd name="adj1" fmla="val 74653"/>
              <a:gd name="adj2" fmla="val 100428"/>
              <a:gd name="adj3" fmla="val 123569"/>
              <a:gd name="adj4" fmla="val 125898"/>
              <a:gd name="adj5" fmla="val 91537"/>
              <a:gd name="adj6" fmla="val 245813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1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sz="1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(1,0)]</a:t>
            </a:r>
            <a:endParaRPr lang="zh-CN" altLang="en-US" sz="14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线形标注 2 89"/>
          <p:cNvSpPr/>
          <p:nvPr/>
        </p:nvSpPr>
        <p:spPr>
          <a:xfrm>
            <a:off x="4069432" y="3950188"/>
            <a:ext cx="864096" cy="181741"/>
          </a:xfrm>
          <a:prstGeom prst="borderCallout2">
            <a:avLst>
              <a:gd name="adj1" fmla="val 88629"/>
              <a:gd name="adj2" fmla="val -984"/>
              <a:gd name="adj3" fmla="val 102605"/>
              <a:gd name="adj4" fmla="val -26955"/>
              <a:gd name="adj5" fmla="val 161417"/>
              <a:gd name="adj6" fmla="val -40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1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altLang="zh-CN" sz="1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(2,4)]</a:t>
            </a:r>
            <a:endParaRPr lang="zh-CN" altLang="en-US" sz="14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0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内容占位符 2"/>
          <p:cNvSpPr>
            <a:spLocks noGrp="1"/>
          </p:cNvSpPr>
          <p:nvPr>
            <p:ph idx="1"/>
          </p:nvPr>
        </p:nvSpPr>
        <p:spPr>
          <a:xfrm>
            <a:off x="357189" y="842964"/>
            <a:ext cx="8501062" cy="3889027"/>
          </a:xfrm>
        </p:spPr>
        <p:txBody>
          <a:bodyPr/>
          <a:lstStyle/>
          <a:p>
            <a:pPr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将所有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+mn-ea"/>
              </a:rPr>
              <a:t>块</a:t>
            </a:r>
            <a:r>
              <a:rPr lang="zh-CN" altLang="en-US" b="1" dirty="0">
                <a:solidFill>
                  <a:schemeClr val="tx1"/>
                </a:solidFill>
                <a:latin typeface="+mn-ea"/>
              </a:rPr>
              <a:t>的符号表放在一个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+mn-ea"/>
              </a:rPr>
              <a:t>大数组</a:t>
            </a:r>
            <a:r>
              <a:rPr lang="zh-CN" altLang="en-US" b="1" dirty="0">
                <a:solidFill>
                  <a:schemeClr val="tx1"/>
                </a:solidFill>
                <a:latin typeface="+mn-ea"/>
              </a:rPr>
              <a:t>中，然后再引入一个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+mn-ea"/>
              </a:rPr>
              <a:t>块表</a:t>
            </a:r>
            <a:r>
              <a:rPr lang="zh-CN" altLang="en-US" b="1" dirty="0">
                <a:solidFill>
                  <a:schemeClr val="tx1"/>
                </a:solidFill>
                <a:latin typeface="+mn-ea"/>
              </a:rPr>
              <a:t>来描述各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+mn-ea"/>
              </a:rPr>
              <a:t>块</a:t>
            </a:r>
            <a:r>
              <a:rPr lang="zh-CN" altLang="en-US" b="1" dirty="0">
                <a:solidFill>
                  <a:schemeClr val="tx1"/>
                </a:solidFill>
                <a:latin typeface="+mn-ea"/>
              </a:rPr>
              <a:t>的符号表在大数组中的位置及其相互关系</a:t>
            </a:r>
            <a:endParaRPr lang="en-US" altLang="zh-CN" b="1" dirty="0">
              <a:solidFill>
                <a:schemeClr val="tx1"/>
              </a:solidFill>
              <a:latin typeface="+mn-ea"/>
            </a:endParaRPr>
          </a:p>
          <a:p>
            <a:pPr lvl="1"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一个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过程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可以看作是一个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块</a:t>
            </a:r>
            <a:endParaRPr lang="en-US" altLang="zh-CN" sz="1300" b="1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endParaRPr lang="en-US" altLang="zh-CN" b="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2468" name="标题 1"/>
          <p:cNvSpPr>
            <a:spLocks noGrp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>
              <a:defRPr/>
            </a:pPr>
            <a:r>
              <a:rPr lang="zh-CN" altLang="en-US" sz="3000" spc="3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符号表的另一种组织方式</a:t>
            </a:r>
            <a:r>
              <a:rPr lang="en-US" altLang="zh-CN" sz="3000" spc="3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endParaRPr lang="zh-CN" altLang="en-US" sz="3000" spc="3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46436" name="组合 44"/>
          <p:cNvGrpSpPr/>
          <p:nvPr/>
        </p:nvGrpSpPr>
        <p:grpSpPr bwMode="auto">
          <a:xfrm>
            <a:off x="0" y="195264"/>
            <a:ext cx="755650" cy="431800"/>
            <a:chOff x="-786" y="195486"/>
            <a:chExt cx="756363" cy="432048"/>
          </a:xfrm>
        </p:grpSpPr>
        <p:sp>
          <p:nvSpPr>
            <p:cNvPr id="6" name="五边形 5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defTabSz="914400" eaLnBrk="1" hangingPunct="1">
                <a:defRPr/>
              </a:pPr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46438" name="五边形 46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 defTabSz="914400" eaLnBrk="1" hangingPunct="1"/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93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93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93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93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93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93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199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3107557" y="-102117"/>
            <a:ext cx="5980527" cy="5201676"/>
            <a:chOff x="3107556" y="-102117"/>
            <a:chExt cx="5980527" cy="5201676"/>
          </a:xfrm>
        </p:grpSpPr>
        <p:grpSp>
          <p:nvGrpSpPr>
            <p:cNvPr id="34" name="Group 12"/>
            <p:cNvGrpSpPr/>
            <p:nvPr/>
          </p:nvGrpSpPr>
          <p:grpSpPr bwMode="auto">
            <a:xfrm>
              <a:off x="3107556" y="542577"/>
              <a:ext cx="889000" cy="476250"/>
              <a:chOff x="1504" y="489"/>
              <a:chExt cx="560" cy="300"/>
            </a:xfrm>
          </p:grpSpPr>
          <p:sp>
            <p:nvSpPr>
              <p:cNvPr id="214" name="Rectangle 13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15" name="Text Box 14"/>
              <p:cNvSpPr txBox="1">
                <a:spLocks noChangeArrowheads="1"/>
              </p:cNvSpPr>
              <p:nvPr/>
            </p:nvSpPr>
            <p:spPr bwMode="auto">
              <a:xfrm>
                <a:off x="1504" y="489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35" name="Text Box 15"/>
            <p:cNvSpPr txBox="1">
              <a:spLocks noChangeArrowheads="1"/>
            </p:cNvSpPr>
            <p:nvPr/>
          </p:nvSpPr>
          <p:spPr bwMode="auto">
            <a:xfrm>
              <a:off x="3236936" y="123478"/>
              <a:ext cx="1144865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ea typeface="宋体" panose="02010600030101010101" pitchFamily="2" charset="-122"/>
                </a:rPr>
                <a:t>display</a:t>
              </a:r>
              <a:endPara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36" name="Freeform 16"/>
            <p:cNvSpPr/>
            <p:nvPr/>
          </p:nvSpPr>
          <p:spPr bwMode="auto">
            <a:xfrm>
              <a:off x="3471482" y="583852"/>
              <a:ext cx="525074" cy="2160588"/>
            </a:xfrm>
            <a:custGeom>
              <a:avLst/>
              <a:gdLst>
                <a:gd name="T0" fmla="*/ 0 w 726"/>
                <a:gd name="T1" fmla="*/ 1361 h 1361"/>
                <a:gd name="T2" fmla="*/ 0 w 726"/>
                <a:gd name="T3" fmla="*/ 0 h 1361"/>
                <a:gd name="T4" fmla="*/ 726 w 726"/>
                <a:gd name="T5" fmla="*/ 0 h 1361"/>
                <a:gd name="T6" fmla="*/ 726 w 726"/>
                <a:gd name="T7" fmla="*/ 1361 h 136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6"/>
                <a:gd name="T13" fmla="*/ 0 h 1361"/>
                <a:gd name="T14" fmla="*/ 726 w 726"/>
                <a:gd name="T15" fmla="*/ 1361 h 136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6" h="1361">
                  <a:moveTo>
                    <a:pt x="0" y="1361"/>
                  </a:moveTo>
                  <a:lnTo>
                    <a:pt x="0" y="0"/>
                  </a:lnTo>
                  <a:lnTo>
                    <a:pt x="726" y="0"/>
                  </a:lnTo>
                  <a:lnTo>
                    <a:pt x="726" y="1361"/>
                  </a:lnTo>
                </a:path>
              </a:pathLst>
            </a:custGeom>
            <a:noFill/>
            <a:ln w="22225" cap="flat" cmpd="sng">
              <a:solidFill>
                <a:sysClr val="windowText" lastClr="000000"/>
              </a:solidFill>
              <a:prstDash val="solid"/>
              <a:round/>
              <a:headEnd type="none" w="med" len="med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37" name="Freeform 17"/>
            <p:cNvSpPr/>
            <p:nvPr/>
          </p:nvSpPr>
          <p:spPr bwMode="auto">
            <a:xfrm>
              <a:off x="5098127" y="602903"/>
              <a:ext cx="533400" cy="4496656"/>
            </a:xfrm>
            <a:custGeom>
              <a:avLst/>
              <a:gdLst>
                <a:gd name="T0" fmla="*/ 0 w 726"/>
                <a:gd name="T1" fmla="*/ 339297 h 1361"/>
                <a:gd name="T2" fmla="*/ 0 w 726"/>
                <a:gd name="T3" fmla="*/ 0 h 1361"/>
                <a:gd name="T4" fmla="*/ 726 w 726"/>
                <a:gd name="T5" fmla="*/ 0 h 1361"/>
                <a:gd name="T6" fmla="*/ 726 w 726"/>
                <a:gd name="T7" fmla="*/ 339297 h 136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6"/>
                <a:gd name="T13" fmla="*/ 0 h 1361"/>
                <a:gd name="T14" fmla="*/ 726 w 726"/>
                <a:gd name="T15" fmla="*/ 1361 h 136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6" h="1361">
                  <a:moveTo>
                    <a:pt x="0" y="1361"/>
                  </a:moveTo>
                  <a:lnTo>
                    <a:pt x="0" y="0"/>
                  </a:lnTo>
                  <a:lnTo>
                    <a:pt x="726" y="0"/>
                  </a:lnTo>
                  <a:lnTo>
                    <a:pt x="726" y="1361"/>
                  </a:lnTo>
                </a:path>
              </a:pathLst>
            </a:custGeom>
            <a:noFill/>
            <a:ln w="22225" cap="flat" cmpd="sng">
              <a:solidFill>
                <a:sysClr val="windowText" lastClr="000000"/>
              </a:solidFill>
              <a:prstDash val="solid"/>
              <a:round/>
              <a:headEnd type="none" w="med" len="med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38" name="Freeform 18"/>
            <p:cNvSpPr/>
            <p:nvPr/>
          </p:nvSpPr>
          <p:spPr bwMode="auto">
            <a:xfrm>
              <a:off x="6926927" y="287561"/>
              <a:ext cx="2160588" cy="4513114"/>
            </a:xfrm>
            <a:custGeom>
              <a:avLst/>
              <a:gdLst>
                <a:gd name="T0" fmla="*/ 0 w 726"/>
                <a:gd name="T1" fmla="*/ 6490397 h 1361"/>
                <a:gd name="T2" fmla="*/ 0 w 726"/>
                <a:gd name="T3" fmla="*/ 0 h 1361"/>
                <a:gd name="T4" fmla="*/ 59061 w 726"/>
                <a:gd name="T5" fmla="*/ 0 h 1361"/>
                <a:gd name="T6" fmla="*/ 59061 w 726"/>
                <a:gd name="T7" fmla="*/ 6490397 h 136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6"/>
                <a:gd name="T13" fmla="*/ 0 h 1361"/>
                <a:gd name="T14" fmla="*/ 726 w 726"/>
                <a:gd name="T15" fmla="*/ 1361 h 136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6" h="1361">
                  <a:moveTo>
                    <a:pt x="0" y="1361"/>
                  </a:moveTo>
                  <a:lnTo>
                    <a:pt x="0" y="0"/>
                  </a:lnTo>
                  <a:lnTo>
                    <a:pt x="726" y="0"/>
                  </a:lnTo>
                  <a:lnTo>
                    <a:pt x="726" y="1361"/>
                  </a:lnTo>
                </a:path>
              </a:pathLst>
            </a:custGeom>
            <a:noFill/>
            <a:ln w="22225" cap="flat" cmpd="sng">
              <a:solidFill>
                <a:sysClr val="windowText" lastClr="000000"/>
              </a:solidFill>
              <a:prstDash val="solid"/>
              <a:round/>
              <a:headEnd type="none" w="med" len="med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40" name="Text Box 25"/>
            <p:cNvSpPr txBox="1">
              <a:spLocks noChangeArrowheads="1"/>
            </p:cNvSpPr>
            <p:nvPr/>
          </p:nvSpPr>
          <p:spPr bwMode="auto">
            <a:xfrm>
              <a:off x="4977479" y="146179"/>
              <a:ext cx="784189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 err="1">
                  <a:solidFill>
                    <a:prstClr val="black"/>
                  </a:solidFill>
                  <a:ea typeface="宋体" panose="02010600030101010101" pitchFamily="2" charset="-122"/>
                </a:rPr>
                <a:t>btab</a:t>
              </a:r>
              <a:endPara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41" name="Text Box 26"/>
            <p:cNvSpPr txBox="1">
              <a:spLocks noChangeArrowheads="1"/>
            </p:cNvSpPr>
            <p:nvPr/>
          </p:nvSpPr>
          <p:spPr bwMode="auto">
            <a:xfrm>
              <a:off x="7314480" y="-102117"/>
              <a:ext cx="1383712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 err="1">
                  <a:solidFill>
                    <a:prstClr val="black"/>
                  </a:solidFill>
                  <a:ea typeface="宋体" panose="02010600030101010101" pitchFamily="2" charset="-122"/>
                </a:rPr>
                <a:t>nametab</a:t>
              </a:r>
              <a:endPara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endParaRPr>
            </a:p>
          </p:txBody>
        </p:sp>
        <p:grpSp>
          <p:nvGrpSpPr>
            <p:cNvPr id="42" name="Group 27"/>
            <p:cNvGrpSpPr/>
            <p:nvPr/>
          </p:nvGrpSpPr>
          <p:grpSpPr bwMode="auto">
            <a:xfrm>
              <a:off x="6584029" y="282800"/>
              <a:ext cx="2503488" cy="296863"/>
              <a:chOff x="4025" y="529"/>
              <a:chExt cx="1577" cy="187"/>
            </a:xfrm>
          </p:grpSpPr>
          <p:sp>
            <p:nvSpPr>
              <p:cNvPr id="206" name="Rectangle 28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80"/>
              </a:xfrm>
              <a:prstGeom prst="rect">
                <a:avLst/>
              </a:prstGeom>
              <a:solidFill>
                <a:sysClr val="window" lastClr="FFFFFF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US" altLang="zh-CN" sz="1600" b="0" kern="0" dirty="0">
                    <a:solidFill>
                      <a:srgbClr val="FF3300"/>
                    </a:solidFill>
                    <a:ea typeface="宋体" panose="02010600030101010101" pitchFamily="2" charset="-122"/>
                  </a:rPr>
                  <a:t>name</a:t>
                </a:r>
                <a:endParaRPr lang="en-GB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207" name="Text Box 29"/>
              <p:cNvSpPr txBox="1">
                <a:spLocks noChangeArrowheads="1"/>
              </p:cNvSpPr>
              <p:nvPr/>
            </p:nvSpPr>
            <p:spPr bwMode="auto">
              <a:xfrm>
                <a:off x="4025" y="529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08" name="Rectangle 30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80"/>
              </a:xfrm>
              <a:prstGeom prst="rect">
                <a:avLst/>
              </a:prstGeom>
              <a:solidFill>
                <a:sysClr val="window" lastClr="FFFFFF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US" altLang="zh-CN" sz="1600" b="0" kern="0" dirty="0">
                    <a:solidFill>
                      <a:srgbClr val="FF3300"/>
                    </a:solidFill>
                    <a:ea typeface="宋体" panose="02010600030101010101" pitchFamily="2" charset="-122"/>
                  </a:rPr>
                  <a:t>link</a:t>
                </a:r>
                <a:endParaRPr lang="en-GB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3" name="Group 31"/>
            <p:cNvGrpSpPr/>
            <p:nvPr/>
          </p:nvGrpSpPr>
          <p:grpSpPr bwMode="auto">
            <a:xfrm>
              <a:off x="6588794" y="557436"/>
              <a:ext cx="2497139" cy="285750"/>
              <a:chOff x="4029" y="527"/>
              <a:chExt cx="1573" cy="180"/>
            </a:xfrm>
          </p:grpSpPr>
          <p:sp>
            <p:nvSpPr>
              <p:cNvPr id="203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sort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04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05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7" name="Line 168"/>
            <p:cNvSpPr>
              <a:spLocks noChangeShapeType="1"/>
            </p:cNvSpPr>
            <p:nvPr/>
          </p:nvSpPr>
          <p:spPr bwMode="auto">
            <a:xfrm>
              <a:off x="3996556" y="818802"/>
              <a:ext cx="1079500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grpSp>
          <p:nvGrpSpPr>
            <p:cNvPr id="44" name="Group 31"/>
            <p:cNvGrpSpPr/>
            <p:nvPr/>
          </p:nvGrpSpPr>
          <p:grpSpPr bwMode="auto">
            <a:xfrm>
              <a:off x="6584029" y="795562"/>
              <a:ext cx="2497139" cy="285750"/>
              <a:chOff x="4029" y="527"/>
              <a:chExt cx="1573" cy="180"/>
            </a:xfrm>
          </p:grpSpPr>
          <p:sp>
            <p:nvSpPr>
              <p:cNvPr id="4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a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54" name="Group 147"/>
            <p:cNvGrpSpPr/>
            <p:nvPr/>
          </p:nvGrpSpPr>
          <p:grpSpPr bwMode="auto">
            <a:xfrm>
              <a:off x="3107556" y="987077"/>
              <a:ext cx="889000" cy="466725"/>
              <a:chOff x="1504" y="495"/>
              <a:chExt cx="560" cy="294"/>
            </a:xfrm>
          </p:grpSpPr>
          <p:sp>
            <p:nvSpPr>
              <p:cNvPr id="55" name="Rectangle 148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rgbClr val="99CC00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Text Box 149"/>
              <p:cNvSpPr txBox="1">
                <a:spLocks noChangeArrowheads="1"/>
              </p:cNvSpPr>
              <p:nvPr/>
            </p:nvSpPr>
            <p:spPr bwMode="auto">
              <a:xfrm>
                <a:off x="1504" y="495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60" name="Group 31"/>
            <p:cNvGrpSpPr/>
            <p:nvPr/>
          </p:nvGrpSpPr>
          <p:grpSpPr bwMode="auto">
            <a:xfrm>
              <a:off x="6588224" y="1033114"/>
              <a:ext cx="2497139" cy="285750"/>
              <a:chOff x="4029" y="527"/>
              <a:chExt cx="1573" cy="180"/>
            </a:xfrm>
          </p:grpSpPr>
          <p:sp>
            <p:nvSpPr>
              <p:cNvPr id="61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x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64" name="Group 31"/>
            <p:cNvGrpSpPr/>
            <p:nvPr/>
          </p:nvGrpSpPr>
          <p:grpSpPr bwMode="auto">
            <a:xfrm>
              <a:off x="6584029" y="1270896"/>
              <a:ext cx="2497139" cy="285750"/>
              <a:chOff x="4029" y="527"/>
              <a:chExt cx="1573" cy="180"/>
            </a:xfrm>
          </p:grpSpPr>
          <p:sp>
            <p:nvSpPr>
              <p:cNvPr id="6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readarray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66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6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81" name="Group 31"/>
            <p:cNvGrpSpPr/>
            <p:nvPr/>
          </p:nvGrpSpPr>
          <p:grpSpPr bwMode="auto">
            <a:xfrm>
              <a:off x="6584029" y="1506660"/>
              <a:ext cx="2497139" cy="285750"/>
              <a:chOff x="4029" y="527"/>
              <a:chExt cx="1573" cy="180"/>
            </a:xfrm>
          </p:grpSpPr>
          <p:sp>
            <p:nvSpPr>
              <p:cNvPr id="82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E0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i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83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84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E0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90" name="Group 31"/>
            <p:cNvGrpSpPr/>
            <p:nvPr/>
          </p:nvGrpSpPr>
          <p:grpSpPr bwMode="auto">
            <a:xfrm>
              <a:off x="6588224" y="1739687"/>
              <a:ext cx="2497139" cy="285750"/>
              <a:chOff x="4029" y="527"/>
              <a:chExt cx="1573" cy="180"/>
            </a:xfrm>
          </p:grpSpPr>
          <p:sp>
            <p:nvSpPr>
              <p:cNvPr id="91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exchange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92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6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93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77" name="组合 76"/>
            <p:cNvGrpSpPr/>
            <p:nvPr/>
          </p:nvGrpSpPr>
          <p:grpSpPr>
            <a:xfrm>
              <a:off x="4754584" y="586159"/>
              <a:ext cx="874713" cy="669925"/>
              <a:chOff x="4756817" y="602902"/>
              <a:chExt cx="874713" cy="669925"/>
            </a:xfrm>
          </p:grpSpPr>
          <p:grpSp>
            <p:nvGrpSpPr>
              <p:cNvPr id="78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86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89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4" y="890"/>
                    <a:ext cx="334" cy="211"/>
                  </a:xfrm>
                  <a:prstGeom prst="rect">
                    <a:avLst/>
                  </a:prstGeom>
                  <a:solidFill>
                    <a:srgbClr val="4F81BD">
                      <a:alpha val="59999"/>
                    </a:srgbClr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94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88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0</a:t>
                  </a:r>
                  <a:endPara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5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5" name="Text Box 156"/>
            <p:cNvSpPr txBox="1">
              <a:spLocks noChangeArrowheads="1"/>
            </p:cNvSpPr>
            <p:nvPr/>
          </p:nvSpPr>
          <p:spPr bwMode="auto">
            <a:xfrm>
              <a:off x="5200674" y="903080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6" name="Text Box 157"/>
            <p:cNvSpPr txBox="1">
              <a:spLocks noChangeArrowheads="1"/>
            </p:cNvSpPr>
            <p:nvPr/>
          </p:nvSpPr>
          <p:spPr bwMode="auto">
            <a:xfrm>
              <a:off x="5200675" y="546204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97" name="组合 96"/>
            <p:cNvGrpSpPr/>
            <p:nvPr/>
          </p:nvGrpSpPr>
          <p:grpSpPr>
            <a:xfrm>
              <a:off x="4752992" y="1259838"/>
              <a:ext cx="874713" cy="669925"/>
              <a:chOff x="4756817" y="602902"/>
              <a:chExt cx="874713" cy="669925"/>
            </a:xfrm>
          </p:grpSpPr>
          <p:grpSp>
            <p:nvGrpSpPr>
              <p:cNvPr id="98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100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102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4" y="890"/>
                    <a:ext cx="334" cy="211"/>
                  </a:xfrm>
                  <a:prstGeom prst="rect">
                    <a:avLst/>
                  </a:prstGeom>
                  <a:solidFill>
                    <a:schemeClr val="accent4">
                      <a:alpha val="60000"/>
                    </a:schemeClr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03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101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  <a:endPara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9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104" name="Text Box 156"/>
            <p:cNvSpPr txBox="1">
              <a:spLocks noChangeArrowheads="1"/>
            </p:cNvSpPr>
            <p:nvPr/>
          </p:nvSpPr>
          <p:spPr bwMode="auto">
            <a:xfrm>
              <a:off x="5199082" y="1576759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5" name="Text Box 157"/>
            <p:cNvSpPr txBox="1">
              <a:spLocks noChangeArrowheads="1"/>
            </p:cNvSpPr>
            <p:nvPr/>
          </p:nvSpPr>
          <p:spPr bwMode="auto">
            <a:xfrm>
              <a:off x="5199082" y="1219883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5" name="Freeform 169"/>
            <p:cNvSpPr/>
            <p:nvPr/>
          </p:nvSpPr>
          <p:spPr bwMode="auto">
            <a:xfrm>
              <a:off x="3996556" y="1250602"/>
              <a:ext cx="1079500" cy="168275"/>
            </a:xfrm>
            <a:custGeom>
              <a:avLst/>
              <a:gdLst>
                <a:gd name="T0" fmla="*/ 0 w 680"/>
                <a:gd name="T1" fmla="*/ 0 h 227"/>
                <a:gd name="T2" fmla="*/ 453 w 680"/>
                <a:gd name="T3" fmla="*/ 0 h 227"/>
                <a:gd name="T4" fmla="*/ 453 w 680"/>
                <a:gd name="T5" fmla="*/ 227 h 227"/>
                <a:gd name="T6" fmla="*/ 680 w 680"/>
                <a:gd name="T7" fmla="*/ 227 h 22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80"/>
                <a:gd name="T13" fmla="*/ 0 h 227"/>
                <a:gd name="T14" fmla="*/ 680 w 680"/>
                <a:gd name="T15" fmla="*/ 227 h 22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80" h="227">
                  <a:moveTo>
                    <a:pt x="0" y="0"/>
                  </a:moveTo>
                  <a:lnTo>
                    <a:pt x="453" y="0"/>
                  </a:lnTo>
                  <a:lnTo>
                    <a:pt x="453" y="227"/>
                  </a:lnTo>
                  <a:lnTo>
                    <a:pt x="680" y="227"/>
                  </a:lnTo>
                </a:path>
              </a:pathLst>
            </a:custGeom>
            <a:noFill/>
            <a:ln w="19050" cap="flat" cmpd="sng">
              <a:solidFill>
                <a:srgbClr val="339933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grpSp>
          <p:nvGrpSpPr>
            <p:cNvPr id="138" name="Group 31"/>
            <p:cNvGrpSpPr/>
            <p:nvPr/>
          </p:nvGrpSpPr>
          <p:grpSpPr bwMode="auto">
            <a:xfrm>
              <a:off x="6590941" y="1975420"/>
              <a:ext cx="2497139" cy="285750"/>
              <a:chOff x="4029" y="527"/>
              <a:chExt cx="1573" cy="180"/>
            </a:xfrm>
          </p:grpSpPr>
          <p:sp>
            <p:nvSpPr>
              <p:cNvPr id="139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i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40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7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41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142" name="Text Box 178"/>
            <p:cNvSpPr txBox="1">
              <a:spLocks noChangeArrowheads="1"/>
            </p:cNvSpPr>
            <p:nvPr/>
          </p:nvSpPr>
          <p:spPr bwMode="auto">
            <a:xfrm>
              <a:off x="5617711" y="516503"/>
              <a:ext cx="1008063" cy="818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lnSpc>
                  <a:spcPts val="3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800" b="0" dirty="0">
                  <a:solidFill>
                    <a:srgbClr val="9900CC"/>
                  </a:solidFill>
                  <a:ea typeface="宋体" panose="02010600030101010101" pitchFamily="2" charset="-122"/>
                </a:rPr>
                <a:t>lastpar</a:t>
              </a:r>
              <a:endPara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endParaRPr>
            </a:p>
            <a:p>
              <a:pPr defTabSz="457200" eaLnBrk="1" fontAlgn="auto" hangingPunct="1">
                <a:lnSpc>
                  <a:spcPts val="3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800" b="0" dirty="0">
                  <a:solidFill>
                    <a:srgbClr val="9900CC"/>
                  </a:solidFill>
                  <a:ea typeface="宋体" panose="02010600030101010101" pitchFamily="2" charset="-122"/>
                </a:rPr>
                <a:t>last</a:t>
              </a:r>
              <a:endParaRPr lang="en-GB" altLang="zh-CN" sz="1800" b="0" dirty="0">
                <a:solidFill>
                  <a:srgbClr val="9900CC"/>
                </a:solidFill>
                <a:ea typeface="宋体" panose="02010600030101010101" pitchFamily="2" charset="-122"/>
              </a:endParaRPr>
            </a:p>
          </p:txBody>
        </p:sp>
        <p:grpSp>
          <p:nvGrpSpPr>
            <p:cNvPr id="143" name="组合 142"/>
            <p:cNvGrpSpPr/>
            <p:nvPr/>
          </p:nvGrpSpPr>
          <p:grpSpPr>
            <a:xfrm>
              <a:off x="4752992" y="1929762"/>
              <a:ext cx="874713" cy="669925"/>
              <a:chOff x="4756817" y="602902"/>
              <a:chExt cx="874713" cy="669925"/>
            </a:xfrm>
          </p:grpSpPr>
          <p:sp>
            <p:nvSpPr>
              <p:cNvPr id="144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FFE066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145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146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148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rgbClr val="FFE066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49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147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  <a:endPara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50" name="Text Box 156"/>
            <p:cNvSpPr txBox="1">
              <a:spLocks noChangeArrowheads="1"/>
            </p:cNvSpPr>
            <p:nvPr/>
          </p:nvSpPr>
          <p:spPr bwMode="auto">
            <a:xfrm>
              <a:off x="5196895" y="2250437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1" name="Text Box 157"/>
            <p:cNvSpPr txBox="1">
              <a:spLocks noChangeArrowheads="1"/>
            </p:cNvSpPr>
            <p:nvPr/>
          </p:nvSpPr>
          <p:spPr bwMode="auto">
            <a:xfrm>
              <a:off x="5196895" y="1893561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1" name="组合 160"/>
            <p:cNvGrpSpPr/>
            <p:nvPr/>
          </p:nvGrpSpPr>
          <p:grpSpPr>
            <a:xfrm>
              <a:off x="4752992" y="2594013"/>
              <a:ext cx="874713" cy="669925"/>
              <a:chOff x="4756817" y="602902"/>
              <a:chExt cx="874713" cy="669925"/>
            </a:xfrm>
          </p:grpSpPr>
          <p:sp>
            <p:nvSpPr>
              <p:cNvPr id="162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CC99CC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163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164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166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rgbClr val="CC99CC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67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165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3</a:t>
                  </a:r>
                  <a:endPara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68" name="Text Box 156"/>
            <p:cNvSpPr txBox="1">
              <a:spLocks noChangeArrowheads="1"/>
            </p:cNvSpPr>
            <p:nvPr/>
          </p:nvSpPr>
          <p:spPr bwMode="auto">
            <a:xfrm>
              <a:off x="5196895" y="2914688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9" name="Text Box 157"/>
            <p:cNvSpPr txBox="1">
              <a:spLocks noChangeArrowheads="1"/>
            </p:cNvSpPr>
            <p:nvPr/>
          </p:nvSpPr>
          <p:spPr bwMode="auto">
            <a:xfrm>
              <a:off x="5196895" y="2557812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6" name="Group 31"/>
            <p:cNvGrpSpPr/>
            <p:nvPr/>
          </p:nvGrpSpPr>
          <p:grpSpPr bwMode="auto">
            <a:xfrm>
              <a:off x="6584029" y="2212351"/>
              <a:ext cx="2497139" cy="285750"/>
              <a:chOff x="4029" y="527"/>
              <a:chExt cx="1573" cy="180"/>
            </a:xfrm>
          </p:grpSpPr>
          <p:sp>
            <p:nvSpPr>
              <p:cNvPr id="107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j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08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8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09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7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10" name="Group 31"/>
            <p:cNvGrpSpPr/>
            <p:nvPr/>
          </p:nvGrpSpPr>
          <p:grpSpPr bwMode="auto">
            <a:xfrm>
              <a:off x="6584029" y="2443159"/>
              <a:ext cx="2497139" cy="285750"/>
              <a:chOff x="4029" y="527"/>
              <a:chExt cx="1573" cy="180"/>
            </a:xfrm>
          </p:grpSpPr>
          <p:sp>
            <p:nvSpPr>
              <p:cNvPr id="111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quicksort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12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9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13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6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14" name="Group 153"/>
            <p:cNvGrpSpPr/>
            <p:nvPr/>
          </p:nvGrpSpPr>
          <p:grpSpPr bwMode="auto">
            <a:xfrm>
              <a:off x="3118669" y="1464060"/>
              <a:ext cx="877888" cy="434975"/>
              <a:chOff x="1511" y="516"/>
              <a:chExt cx="553" cy="274"/>
            </a:xfrm>
          </p:grpSpPr>
          <p:sp>
            <p:nvSpPr>
              <p:cNvPr id="116" name="Rectangle 154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rgbClr val="FF0000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17" name="Text Box 155"/>
              <p:cNvSpPr txBox="1">
                <a:spLocks noChangeArrowheads="1"/>
              </p:cNvSpPr>
              <p:nvPr/>
            </p:nvSpPr>
            <p:spPr bwMode="auto">
              <a:xfrm>
                <a:off x="1511" y="518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19" name="组合 118"/>
            <p:cNvGrpSpPr/>
            <p:nvPr/>
          </p:nvGrpSpPr>
          <p:grpSpPr>
            <a:xfrm>
              <a:off x="4748719" y="3278127"/>
              <a:ext cx="874713" cy="669925"/>
              <a:chOff x="4756817" y="602902"/>
              <a:chExt cx="874713" cy="669925"/>
            </a:xfrm>
          </p:grpSpPr>
          <p:sp>
            <p:nvSpPr>
              <p:cNvPr id="120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121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122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124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rgbClr val="FF6666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25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123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  <a:endPara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26" name="Text Box 156"/>
            <p:cNvSpPr txBox="1">
              <a:spLocks noChangeArrowheads="1"/>
            </p:cNvSpPr>
            <p:nvPr/>
          </p:nvSpPr>
          <p:spPr bwMode="auto">
            <a:xfrm>
              <a:off x="5100345" y="3561529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27" name="Text Box 157"/>
            <p:cNvSpPr txBox="1">
              <a:spLocks noChangeArrowheads="1"/>
            </p:cNvSpPr>
            <p:nvPr/>
          </p:nvSpPr>
          <p:spPr bwMode="auto">
            <a:xfrm>
              <a:off x="5103543" y="3229308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8" name="Group 31"/>
            <p:cNvGrpSpPr/>
            <p:nvPr/>
          </p:nvGrpSpPr>
          <p:grpSpPr bwMode="auto">
            <a:xfrm>
              <a:off x="6516330" y="2680941"/>
              <a:ext cx="2571752" cy="285750"/>
              <a:chOff x="3982" y="527"/>
              <a:chExt cx="1620" cy="180"/>
            </a:xfrm>
          </p:grpSpPr>
          <p:sp>
            <p:nvSpPr>
              <p:cNvPr id="129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m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30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10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31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32" name="Group 31"/>
            <p:cNvGrpSpPr/>
            <p:nvPr/>
          </p:nvGrpSpPr>
          <p:grpSpPr bwMode="auto">
            <a:xfrm>
              <a:off x="6509416" y="2894633"/>
              <a:ext cx="2571752" cy="285750"/>
              <a:chOff x="3982" y="527"/>
              <a:chExt cx="1620" cy="180"/>
            </a:xfrm>
          </p:grpSpPr>
          <p:sp>
            <p:nvSpPr>
              <p:cNvPr id="133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n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34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11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35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10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36" name="Group 31"/>
            <p:cNvGrpSpPr/>
            <p:nvPr/>
          </p:nvGrpSpPr>
          <p:grpSpPr bwMode="auto">
            <a:xfrm>
              <a:off x="6516328" y="3120577"/>
              <a:ext cx="2571752" cy="285750"/>
              <a:chOff x="3982" y="527"/>
              <a:chExt cx="1620" cy="180"/>
            </a:xfrm>
          </p:grpSpPr>
          <p:sp>
            <p:nvSpPr>
              <p:cNvPr id="137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k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52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12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53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11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54" name="Group 31"/>
            <p:cNvGrpSpPr/>
            <p:nvPr/>
          </p:nvGrpSpPr>
          <p:grpSpPr bwMode="auto">
            <a:xfrm>
              <a:off x="6509416" y="3335795"/>
              <a:ext cx="2571752" cy="285750"/>
              <a:chOff x="3982" y="527"/>
              <a:chExt cx="1620" cy="180"/>
            </a:xfrm>
          </p:grpSpPr>
          <p:sp>
            <p:nvSpPr>
              <p:cNvPr id="15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v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56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13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5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12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58" name="Group 31"/>
            <p:cNvGrpSpPr/>
            <p:nvPr/>
          </p:nvGrpSpPr>
          <p:grpSpPr bwMode="auto">
            <a:xfrm>
              <a:off x="6516328" y="3560370"/>
              <a:ext cx="2571752" cy="285750"/>
              <a:chOff x="3982" y="527"/>
              <a:chExt cx="1620" cy="180"/>
            </a:xfrm>
          </p:grpSpPr>
          <p:sp>
            <p:nvSpPr>
              <p:cNvPr id="159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partition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60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14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70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13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200" name="组合 199"/>
            <p:cNvGrpSpPr/>
            <p:nvPr/>
          </p:nvGrpSpPr>
          <p:grpSpPr>
            <a:xfrm>
              <a:off x="3996557" y="1670908"/>
              <a:ext cx="1109520" cy="1685897"/>
              <a:chOff x="3996557" y="1670908"/>
              <a:chExt cx="1109520" cy="1685897"/>
            </a:xfrm>
          </p:grpSpPr>
          <p:cxnSp>
            <p:nvCxnSpPr>
              <p:cNvPr id="201" name="直接连接符 200"/>
              <p:cNvCxnSpPr/>
              <p:nvPr/>
            </p:nvCxnSpPr>
            <p:spPr>
              <a:xfrm>
                <a:off x="3996557" y="1680754"/>
                <a:ext cx="567348" cy="0"/>
              </a:xfrm>
              <a:prstGeom prst="line">
                <a:avLst/>
              </a:prstGeom>
              <a:ln w="19050">
                <a:solidFill>
                  <a:srgbClr val="FF666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直接连接符 201"/>
              <p:cNvCxnSpPr/>
              <p:nvPr/>
            </p:nvCxnSpPr>
            <p:spPr>
              <a:xfrm>
                <a:off x="4572000" y="1670908"/>
                <a:ext cx="0" cy="1685103"/>
              </a:xfrm>
              <a:prstGeom prst="line">
                <a:avLst/>
              </a:prstGeom>
              <a:ln w="19050">
                <a:solidFill>
                  <a:srgbClr val="FF666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9" name="直接连接符 208"/>
              <p:cNvCxnSpPr/>
              <p:nvPr/>
            </p:nvCxnSpPr>
            <p:spPr>
              <a:xfrm flipV="1">
                <a:off x="4563905" y="3356805"/>
                <a:ext cx="542172" cy="0"/>
              </a:xfrm>
              <a:prstGeom prst="line">
                <a:avLst/>
              </a:prstGeom>
              <a:ln w="19050">
                <a:solidFill>
                  <a:srgbClr val="FF6666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1" name="Group 153"/>
            <p:cNvGrpSpPr/>
            <p:nvPr/>
          </p:nvGrpSpPr>
          <p:grpSpPr bwMode="auto">
            <a:xfrm>
              <a:off x="3125209" y="1907705"/>
              <a:ext cx="877888" cy="434975"/>
              <a:chOff x="1511" y="516"/>
              <a:chExt cx="553" cy="274"/>
            </a:xfrm>
          </p:grpSpPr>
          <p:sp>
            <p:nvSpPr>
              <p:cNvPr id="212" name="Rectangle 154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chemeClr val="accent1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13" name="Text Box 155"/>
              <p:cNvSpPr txBox="1">
                <a:spLocks noChangeArrowheads="1"/>
              </p:cNvSpPr>
              <p:nvPr/>
            </p:nvSpPr>
            <p:spPr bwMode="auto">
              <a:xfrm>
                <a:off x="1511" y="518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216" name="Freeform 171"/>
            <p:cNvSpPr/>
            <p:nvPr/>
          </p:nvSpPr>
          <p:spPr bwMode="auto">
            <a:xfrm>
              <a:off x="4009445" y="2179019"/>
              <a:ext cx="1079500" cy="1966558"/>
            </a:xfrm>
            <a:custGeom>
              <a:avLst/>
              <a:gdLst>
                <a:gd name="T0" fmla="*/ 0 w 725"/>
                <a:gd name="T1" fmla="*/ 0 h 1360"/>
                <a:gd name="T2" fmla="*/ 115 w 725"/>
                <a:gd name="T3" fmla="*/ 0 h 1360"/>
                <a:gd name="T4" fmla="*/ 115 w 725"/>
                <a:gd name="T5" fmla="*/ 1360 h 1360"/>
                <a:gd name="T6" fmla="*/ 462 w 725"/>
                <a:gd name="T7" fmla="*/ 1360 h 13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5"/>
                <a:gd name="T13" fmla="*/ 0 h 1360"/>
                <a:gd name="T14" fmla="*/ 725 w 725"/>
                <a:gd name="T15" fmla="*/ 1360 h 13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5" h="1360">
                  <a:moveTo>
                    <a:pt x="0" y="0"/>
                  </a:moveTo>
                  <a:lnTo>
                    <a:pt x="181" y="0"/>
                  </a:lnTo>
                  <a:lnTo>
                    <a:pt x="181" y="1360"/>
                  </a:lnTo>
                  <a:lnTo>
                    <a:pt x="725" y="1360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grpSp>
          <p:nvGrpSpPr>
            <p:cNvPr id="217" name="组合 216"/>
            <p:cNvGrpSpPr/>
            <p:nvPr/>
          </p:nvGrpSpPr>
          <p:grpSpPr>
            <a:xfrm>
              <a:off x="4756309" y="3945400"/>
              <a:ext cx="874713" cy="669925"/>
              <a:chOff x="4756817" y="602902"/>
              <a:chExt cx="874713" cy="669925"/>
            </a:xfrm>
          </p:grpSpPr>
          <p:sp>
            <p:nvSpPr>
              <p:cNvPr id="218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219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220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222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chemeClr val="accent1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23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221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5</a:t>
                  </a:r>
                  <a:endPara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224" name="Text Box 156"/>
            <p:cNvSpPr txBox="1">
              <a:spLocks noChangeArrowheads="1"/>
            </p:cNvSpPr>
            <p:nvPr/>
          </p:nvSpPr>
          <p:spPr bwMode="auto">
            <a:xfrm>
              <a:off x="5100795" y="4242710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18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25" name="Text Box 157"/>
            <p:cNvSpPr txBox="1">
              <a:spLocks noChangeArrowheads="1"/>
            </p:cNvSpPr>
            <p:nvPr/>
          </p:nvSpPr>
          <p:spPr bwMode="auto">
            <a:xfrm>
              <a:off x="5095743" y="3903206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226" name="Group 31"/>
            <p:cNvGrpSpPr/>
            <p:nvPr/>
          </p:nvGrpSpPr>
          <p:grpSpPr bwMode="auto">
            <a:xfrm>
              <a:off x="6516330" y="4236016"/>
              <a:ext cx="2571753" cy="285750"/>
              <a:chOff x="3982" y="535"/>
              <a:chExt cx="1620" cy="180"/>
            </a:xfrm>
          </p:grpSpPr>
          <p:sp>
            <p:nvSpPr>
              <p:cNvPr id="227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i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28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35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17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29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16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230" name="Group 31"/>
            <p:cNvGrpSpPr/>
            <p:nvPr/>
          </p:nvGrpSpPr>
          <p:grpSpPr bwMode="auto">
            <a:xfrm>
              <a:off x="6516328" y="3785945"/>
              <a:ext cx="2571752" cy="285750"/>
              <a:chOff x="3982" y="527"/>
              <a:chExt cx="1620" cy="180"/>
            </a:xfrm>
          </p:grpSpPr>
          <p:sp>
            <p:nvSpPr>
              <p:cNvPr id="231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y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32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15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33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234" name="Group 31"/>
            <p:cNvGrpSpPr/>
            <p:nvPr/>
          </p:nvGrpSpPr>
          <p:grpSpPr bwMode="auto">
            <a:xfrm>
              <a:off x="6509416" y="4010717"/>
              <a:ext cx="2571752" cy="285750"/>
              <a:chOff x="3982" y="527"/>
              <a:chExt cx="1620" cy="180"/>
            </a:xfrm>
          </p:grpSpPr>
          <p:sp>
            <p:nvSpPr>
              <p:cNvPr id="23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z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36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16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3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15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238" name="Group 31"/>
            <p:cNvGrpSpPr/>
            <p:nvPr/>
          </p:nvGrpSpPr>
          <p:grpSpPr bwMode="auto">
            <a:xfrm>
              <a:off x="6509415" y="4460788"/>
              <a:ext cx="2571753" cy="285750"/>
              <a:chOff x="3982" y="535"/>
              <a:chExt cx="1620" cy="180"/>
            </a:xfrm>
          </p:grpSpPr>
          <p:sp>
            <p:nvSpPr>
              <p:cNvPr id="239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j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40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35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18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41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17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171" name="Freeform 172"/>
            <p:cNvSpPr/>
            <p:nvPr/>
          </p:nvSpPr>
          <p:spPr bwMode="auto">
            <a:xfrm flipV="1">
              <a:off x="5651355" y="3738439"/>
              <a:ext cx="935038" cy="45719"/>
            </a:xfrm>
            <a:custGeom>
              <a:avLst/>
              <a:gdLst>
                <a:gd name="T0" fmla="*/ 0 w 725"/>
                <a:gd name="T1" fmla="*/ 0 h 1360"/>
                <a:gd name="T2" fmla="*/ 42 w 725"/>
                <a:gd name="T3" fmla="*/ 0 h 1360"/>
                <a:gd name="T4" fmla="*/ 42 w 725"/>
                <a:gd name="T5" fmla="*/ 79 h 1360"/>
                <a:gd name="T6" fmla="*/ 170 w 725"/>
                <a:gd name="T7" fmla="*/ 79 h 13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5"/>
                <a:gd name="T13" fmla="*/ 0 h 1360"/>
                <a:gd name="T14" fmla="*/ 725 w 725"/>
                <a:gd name="T15" fmla="*/ 1360 h 13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5" h="1360">
                  <a:moveTo>
                    <a:pt x="0" y="0"/>
                  </a:moveTo>
                  <a:lnTo>
                    <a:pt x="181" y="0"/>
                  </a:lnTo>
                  <a:lnTo>
                    <a:pt x="181" y="1360"/>
                  </a:lnTo>
                  <a:lnTo>
                    <a:pt x="725" y="136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172" name="Freeform 176"/>
            <p:cNvSpPr/>
            <p:nvPr/>
          </p:nvSpPr>
          <p:spPr bwMode="auto">
            <a:xfrm flipV="1">
              <a:off x="5642191" y="719410"/>
              <a:ext cx="1008063" cy="309701"/>
            </a:xfrm>
            <a:custGeom>
              <a:avLst/>
              <a:gdLst>
                <a:gd name="T0" fmla="*/ 0 w 635"/>
                <a:gd name="T1" fmla="*/ 0 h 454"/>
                <a:gd name="T2" fmla="*/ 499 w 635"/>
                <a:gd name="T3" fmla="*/ 0 h 454"/>
                <a:gd name="T4" fmla="*/ 499 w 635"/>
                <a:gd name="T5" fmla="*/ 454 h 454"/>
                <a:gd name="T6" fmla="*/ 635 w 635"/>
                <a:gd name="T7" fmla="*/ 454 h 45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35"/>
                <a:gd name="T13" fmla="*/ 0 h 454"/>
                <a:gd name="T14" fmla="*/ 635 w 635"/>
                <a:gd name="T15" fmla="*/ 454 h 45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35" h="454">
                  <a:moveTo>
                    <a:pt x="0" y="0"/>
                  </a:moveTo>
                  <a:lnTo>
                    <a:pt x="499" y="0"/>
                  </a:lnTo>
                  <a:lnTo>
                    <a:pt x="499" y="454"/>
                  </a:lnTo>
                  <a:lnTo>
                    <a:pt x="635" y="454"/>
                  </a:lnTo>
                </a:path>
              </a:pathLst>
            </a:custGeom>
            <a:noFill/>
            <a:ln w="19050" cap="flat" cmpd="sng">
              <a:solidFill>
                <a:schemeClr val="accent2">
                  <a:lumMod val="75000"/>
                </a:schemeClr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173" name="Freeform 174"/>
            <p:cNvSpPr/>
            <p:nvPr/>
          </p:nvSpPr>
          <p:spPr bwMode="auto">
            <a:xfrm>
              <a:off x="5651361" y="1784115"/>
              <a:ext cx="1008063" cy="837413"/>
            </a:xfrm>
            <a:custGeom>
              <a:avLst/>
              <a:gdLst>
                <a:gd name="T0" fmla="*/ 0 w 680"/>
                <a:gd name="T1" fmla="*/ 0 h 227"/>
                <a:gd name="T2" fmla="*/ 281 w 680"/>
                <a:gd name="T3" fmla="*/ 0 h 227"/>
                <a:gd name="T4" fmla="*/ 281 w 680"/>
                <a:gd name="T5" fmla="*/ 38944729 h 227"/>
                <a:gd name="T6" fmla="*/ 421 w 680"/>
                <a:gd name="T7" fmla="*/ 38944729 h 22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80"/>
                <a:gd name="T13" fmla="*/ 0 h 227"/>
                <a:gd name="T14" fmla="*/ 680 w 680"/>
                <a:gd name="T15" fmla="*/ 227 h 22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80" h="227">
                  <a:moveTo>
                    <a:pt x="0" y="0"/>
                  </a:moveTo>
                  <a:lnTo>
                    <a:pt x="453" y="0"/>
                  </a:lnTo>
                  <a:lnTo>
                    <a:pt x="453" y="227"/>
                  </a:lnTo>
                  <a:lnTo>
                    <a:pt x="680" y="227"/>
                  </a:lnTo>
                </a:path>
              </a:pathLst>
            </a:custGeom>
            <a:noFill/>
            <a:ln w="19050" cap="flat" cmpd="sng">
              <a:solidFill>
                <a:srgbClr val="339933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174" name="Freeform 173"/>
            <p:cNvSpPr/>
            <p:nvPr/>
          </p:nvSpPr>
          <p:spPr bwMode="auto">
            <a:xfrm flipV="1">
              <a:off x="5653186" y="2415055"/>
              <a:ext cx="935038" cy="699525"/>
            </a:xfrm>
            <a:custGeom>
              <a:avLst/>
              <a:gdLst>
                <a:gd name="T0" fmla="*/ 0 w 680"/>
                <a:gd name="T1" fmla="*/ 0 h 1044"/>
                <a:gd name="T2" fmla="*/ 149 w 680"/>
                <a:gd name="T3" fmla="*/ 0 h 1044"/>
                <a:gd name="T4" fmla="*/ 149 w 680"/>
                <a:gd name="T5" fmla="*/ 187 h 1044"/>
                <a:gd name="T6" fmla="*/ 249 w 680"/>
                <a:gd name="T7" fmla="*/ 187 h 104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80"/>
                <a:gd name="T13" fmla="*/ 0 h 1044"/>
                <a:gd name="T14" fmla="*/ 680 w 680"/>
                <a:gd name="T15" fmla="*/ 1044 h 104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80" h="1044">
                  <a:moveTo>
                    <a:pt x="0" y="0"/>
                  </a:moveTo>
                  <a:lnTo>
                    <a:pt x="408" y="0"/>
                  </a:lnTo>
                  <a:lnTo>
                    <a:pt x="408" y="1044"/>
                  </a:lnTo>
                  <a:lnTo>
                    <a:pt x="680" y="1044"/>
                  </a:lnTo>
                </a:path>
              </a:pathLst>
            </a:custGeom>
            <a:noFill/>
            <a:ln w="19050" cap="flat" cmpd="sng">
              <a:solidFill>
                <a:srgbClr val="9900CC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175" name="Freeform 175"/>
            <p:cNvSpPr/>
            <p:nvPr/>
          </p:nvSpPr>
          <p:spPr bwMode="auto">
            <a:xfrm>
              <a:off x="5688012" y="4514574"/>
              <a:ext cx="935038" cy="171513"/>
            </a:xfrm>
            <a:custGeom>
              <a:avLst/>
              <a:gdLst>
                <a:gd name="T0" fmla="*/ 0 w 589"/>
                <a:gd name="T1" fmla="*/ 0 h 1089"/>
                <a:gd name="T2" fmla="*/ 226 w 589"/>
                <a:gd name="T3" fmla="*/ 0 h 1089"/>
                <a:gd name="T4" fmla="*/ 226 w 589"/>
                <a:gd name="T5" fmla="*/ 1089 h 1089"/>
                <a:gd name="T6" fmla="*/ 589 w 589"/>
                <a:gd name="T7" fmla="*/ 1089 h 108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89"/>
                <a:gd name="T13" fmla="*/ 0 h 1089"/>
                <a:gd name="T14" fmla="*/ 589 w 589"/>
                <a:gd name="T15" fmla="*/ 1089 h 108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89" h="1089">
                  <a:moveTo>
                    <a:pt x="0" y="0"/>
                  </a:moveTo>
                  <a:lnTo>
                    <a:pt x="226" y="0"/>
                  </a:lnTo>
                  <a:lnTo>
                    <a:pt x="226" y="1089"/>
                  </a:lnTo>
                  <a:lnTo>
                    <a:pt x="589" y="1089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</p:grpSp>
      <p:sp>
        <p:nvSpPr>
          <p:cNvPr id="176" name="矩形 175"/>
          <p:cNvSpPr/>
          <p:nvPr/>
        </p:nvSpPr>
        <p:spPr>
          <a:xfrm>
            <a:off x="38776" y="1028001"/>
            <a:ext cx="3085076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defTabSz="914400">
              <a:buClr>
                <a:srgbClr val="3B3418"/>
              </a:buClr>
              <a:buFont typeface="Wingdings" panose="05000000000000000000" pitchFamily="2" charset="2"/>
              <a:buChar char="Ø"/>
            </a:pPr>
            <a:r>
              <a:rPr lang="en-US" altLang="zh-CN" sz="1800" dirty="0">
                <a:solidFill>
                  <a:srgbClr val="9900C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lastpar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指向本过程体中</a:t>
            </a:r>
            <a:r>
              <a:rPr lang="zh-CN" altLang="en-US" sz="1800" dirty="0">
                <a:solidFill>
                  <a:srgbClr val="073E87">
                    <a:lumMod val="60000"/>
                    <a:lumOff val="4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最后一个形参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在</a:t>
            </a:r>
            <a:r>
              <a:rPr lang="en-US" altLang="zh-CN" sz="1800" dirty="0" err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nametab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中的位置</a:t>
            </a:r>
            <a:endParaRPr lang="zh-CN" altLang="en-US" sz="1800" dirty="0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285750" indent="-285750" algn="just" defTabSz="914400">
              <a:buClr>
                <a:srgbClr val="3B3418"/>
              </a:buClr>
              <a:buFont typeface="Wingdings" panose="05000000000000000000" pitchFamily="2" charset="2"/>
              <a:buChar char="Ø"/>
            </a:pPr>
            <a:r>
              <a:rPr lang="en-US" altLang="zh-CN" sz="1800" dirty="0">
                <a:solidFill>
                  <a:srgbClr val="9900C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last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指向本过程体中</a:t>
            </a:r>
            <a:r>
              <a:rPr lang="zh-CN" altLang="en-US" sz="1800" dirty="0">
                <a:solidFill>
                  <a:srgbClr val="073E87">
                    <a:lumMod val="60000"/>
                    <a:lumOff val="4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最后一个名字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在</a:t>
            </a:r>
            <a:r>
              <a:rPr lang="en-US" altLang="zh-CN" sz="1800" dirty="0" err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nametab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中的位置</a:t>
            </a:r>
            <a:endParaRPr lang="en-US" altLang="zh-CN" sz="1800" dirty="0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285750" indent="-285750" defTabSz="914400">
              <a:buClr>
                <a:srgbClr val="3B3418"/>
              </a:buClr>
              <a:buFont typeface="Wingdings" panose="05000000000000000000" pitchFamily="2" charset="2"/>
              <a:buChar char="Ø"/>
            </a:pPr>
            <a:endParaRPr lang="zh-CN" altLang="en-US" sz="1800" dirty="0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grpSp>
        <p:nvGrpSpPr>
          <p:cNvPr id="9" name="组合 8"/>
          <p:cNvGrpSpPr/>
          <p:nvPr/>
        </p:nvGrpSpPr>
        <p:grpSpPr>
          <a:xfrm>
            <a:off x="4374178" y="1673826"/>
            <a:ext cx="795411" cy="2984099"/>
            <a:chOff x="4374177" y="1673825"/>
            <a:chExt cx="795411" cy="2984099"/>
          </a:xfrm>
        </p:grpSpPr>
        <p:sp>
          <p:nvSpPr>
            <p:cNvPr id="3" name="矩形 2"/>
            <p:cNvSpPr/>
            <p:nvPr/>
          </p:nvSpPr>
          <p:spPr>
            <a:xfrm>
              <a:off x="4708436" y="1673825"/>
              <a:ext cx="418704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sort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4374177" y="2356682"/>
              <a:ext cx="795411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 err="1">
                  <a:solidFill>
                    <a:prstClr val="black"/>
                  </a:solidFill>
                  <a:ea typeface="方正楷体_GB2312" charset="0"/>
                </a:rPr>
                <a:t>readarray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4390582" y="3029750"/>
              <a:ext cx="740908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exchange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394214" y="3681217"/>
              <a:ext cx="755335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quicksort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4403406" y="4396314"/>
              <a:ext cx="715260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partition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199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sp>
        <p:nvSpPr>
          <p:cNvPr id="176" name="矩形 175"/>
          <p:cNvSpPr/>
          <p:nvPr/>
        </p:nvSpPr>
        <p:spPr>
          <a:xfrm>
            <a:off x="159335" y="1025976"/>
            <a:ext cx="287361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defTabSz="914400">
              <a:buClr>
                <a:srgbClr val="3B3418"/>
              </a:buClr>
              <a:buFont typeface="Wingdings" panose="05000000000000000000" pitchFamily="2" charset="2"/>
              <a:buChar char="Ø"/>
            </a:pPr>
            <a:r>
              <a:rPr lang="en-US" altLang="zh-CN" sz="1800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link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指向同一过程体中定义的</a:t>
            </a:r>
            <a:r>
              <a:rPr lang="zh-CN" altLang="en-US" sz="1800" dirty="0">
                <a:solidFill>
                  <a:srgbClr val="073E87">
                    <a:lumMod val="60000"/>
                    <a:lumOff val="4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上一个名字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在</a:t>
            </a:r>
            <a:r>
              <a:rPr lang="en-US" altLang="zh-CN" sz="1800" dirty="0" err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nametab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中的位置，每个过程体在</a:t>
            </a:r>
            <a:r>
              <a:rPr lang="en-US" altLang="zh-CN" sz="1800" dirty="0" err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nametab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中登记的</a:t>
            </a:r>
            <a:r>
              <a:rPr lang="zh-CN" altLang="en-US" sz="1800" dirty="0">
                <a:solidFill>
                  <a:srgbClr val="073E87">
                    <a:lumMod val="60000"/>
                    <a:lumOff val="4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第一个名字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的</a:t>
            </a:r>
            <a:r>
              <a:rPr lang="en-US" altLang="zh-CN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link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为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0</a:t>
            </a:r>
            <a:endParaRPr lang="en-US" altLang="zh-CN" sz="1800" dirty="0">
              <a:solidFill>
                <a:srgbClr val="073E87">
                  <a:lumMod val="60000"/>
                  <a:lumOff val="40000"/>
                </a:srgbClr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grpSp>
        <p:nvGrpSpPr>
          <p:cNvPr id="381" name="组合 380"/>
          <p:cNvGrpSpPr/>
          <p:nvPr/>
        </p:nvGrpSpPr>
        <p:grpSpPr>
          <a:xfrm>
            <a:off x="3107557" y="-102117"/>
            <a:ext cx="5980527" cy="5201676"/>
            <a:chOff x="3107556" y="-102117"/>
            <a:chExt cx="5980527" cy="5201676"/>
          </a:xfrm>
        </p:grpSpPr>
        <p:grpSp>
          <p:nvGrpSpPr>
            <p:cNvPr id="382" name="Group 12"/>
            <p:cNvGrpSpPr/>
            <p:nvPr/>
          </p:nvGrpSpPr>
          <p:grpSpPr bwMode="auto">
            <a:xfrm>
              <a:off x="3107556" y="542577"/>
              <a:ext cx="889000" cy="476250"/>
              <a:chOff x="1504" y="489"/>
              <a:chExt cx="560" cy="300"/>
            </a:xfrm>
          </p:grpSpPr>
          <p:sp>
            <p:nvSpPr>
              <p:cNvPr id="541" name="Rectangle 13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42" name="Text Box 14"/>
              <p:cNvSpPr txBox="1">
                <a:spLocks noChangeArrowheads="1"/>
              </p:cNvSpPr>
              <p:nvPr/>
            </p:nvSpPr>
            <p:spPr bwMode="auto">
              <a:xfrm>
                <a:off x="1504" y="489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383" name="Text Box 15"/>
            <p:cNvSpPr txBox="1">
              <a:spLocks noChangeArrowheads="1"/>
            </p:cNvSpPr>
            <p:nvPr/>
          </p:nvSpPr>
          <p:spPr bwMode="auto">
            <a:xfrm>
              <a:off x="3236936" y="123478"/>
              <a:ext cx="1144865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ea typeface="宋体" panose="02010600030101010101" pitchFamily="2" charset="-122"/>
                </a:rPr>
                <a:t>display</a:t>
              </a:r>
              <a:endPara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384" name="Freeform 16"/>
            <p:cNvSpPr/>
            <p:nvPr/>
          </p:nvSpPr>
          <p:spPr bwMode="auto">
            <a:xfrm>
              <a:off x="3471482" y="583852"/>
              <a:ext cx="525074" cy="2160588"/>
            </a:xfrm>
            <a:custGeom>
              <a:avLst/>
              <a:gdLst>
                <a:gd name="T0" fmla="*/ 0 w 726"/>
                <a:gd name="T1" fmla="*/ 1361 h 1361"/>
                <a:gd name="T2" fmla="*/ 0 w 726"/>
                <a:gd name="T3" fmla="*/ 0 h 1361"/>
                <a:gd name="T4" fmla="*/ 726 w 726"/>
                <a:gd name="T5" fmla="*/ 0 h 1361"/>
                <a:gd name="T6" fmla="*/ 726 w 726"/>
                <a:gd name="T7" fmla="*/ 1361 h 136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6"/>
                <a:gd name="T13" fmla="*/ 0 h 1361"/>
                <a:gd name="T14" fmla="*/ 726 w 726"/>
                <a:gd name="T15" fmla="*/ 1361 h 136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6" h="1361">
                  <a:moveTo>
                    <a:pt x="0" y="1361"/>
                  </a:moveTo>
                  <a:lnTo>
                    <a:pt x="0" y="0"/>
                  </a:lnTo>
                  <a:lnTo>
                    <a:pt x="726" y="0"/>
                  </a:lnTo>
                  <a:lnTo>
                    <a:pt x="726" y="1361"/>
                  </a:lnTo>
                </a:path>
              </a:pathLst>
            </a:custGeom>
            <a:noFill/>
            <a:ln w="22225" cap="flat" cmpd="sng">
              <a:solidFill>
                <a:sysClr val="windowText" lastClr="000000"/>
              </a:solidFill>
              <a:prstDash val="solid"/>
              <a:round/>
              <a:headEnd type="none" w="med" len="med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385" name="Freeform 17"/>
            <p:cNvSpPr/>
            <p:nvPr/>
          </p:nvSpPr>
          <p:spPr bwMode="auto">
            <a:xfrm>
              <a:off x="5098127" y="602903"/>
              <a:ext cx="533400" cy="4496656"/>
            </a:xfrm>
            <a:custGeom>
              <a:avLst/>
              <a:gdLst>
                <a:gd name="T0" fmla="*/ 0 w 726"/>
                <a:gd name="T1" fmla="*/ 339297 h 1361"/>
                <a:gd name="T2" fmla="*/ 0 w 726"/>
                <a:gd name="T3" fmla="*/ 0 h 1361"/>
                <a:gd name="T4" fmla="*/ 726 w 726"/>
                <a:gd name="T5" fmla="*/ 0 h 1361"/>
                <a:gd name="T6" fmla="*/ 726 w 726"/>
                <a:gd name="T7" fmla="*/ 339297 h 136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6"/>
                <a:gd name="T13" fmla="*/ 0 h 1361"/>
                <a:gd name="T14" fmla="*/ 726 w 726"/>
                <a:gd name="T15" fmla="*/ 1361 h 136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6" h="1361">
                  <a:moveTo>
                    <a:pt x="0" y="1361"/>
                  </a:moveTo>
                  <a:lnTo>
                    <a:pt x="0" y="0"/>
                  </a:lnTo>
                  <a:lnTo>
                    <a:pt x="726" y="0"/>
                  </a:lnTo>
                  <a:lnTo>
                    <a:pt x="726" y="1361"/>
                  </a:lnTo>
                </a:path>
              </a:pathLst>
            </a:custGeom>
            <a:noFill/>
            <a:ln w="22225" cap="flat" cmpd="sng">
              <a:solidFill>
                <a:sysClr val="windowText" lastClr="000000"/>
              </a:solidFill>
              <a:prstDash val="solid"/>
              <a:round/>
              <a:headEnd type="none" w="med" len="med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386" name="Freeform 18"/>
            <p:cNvSpPr/>
            <p:nvPr/>
          </p:nvSpPr>
          <p:spPr bwMode="auto">
            <a:xfrm>
              <a:off x="6926927" y="287561"/>
              <a:ext cx="2160588" cy="4513114"/>
            </a:xfrm>
            <a:custGeom>
              <a:avLst/>
              <a:gdLst>
                <a:gd name="T0" fmla="*/ 0 w 726"/>
                <a:gd name="T1" fmla="*/ 6490397 h 1361"/>
                <a:gd name="T2" fmla="*/ 0 w 726"/>
                <a:gd name="T3" fmla="*/ 0 h 1361"/>
                <a:gd name="T4" fmla="*/ 59061 w 726"/>
                <a:gd name="T5" fmla="*/ 0 h 1361"/>
                <a:gd name="T6" fmla="*/ 59061 w 726"/>
                <a:gd name="T7" fmla="*/ 6490397 h 136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6"/>
                <a:gd name="T13" fmla="*/ 0 h 1361"/>
                <a:gd name="T14" fmla="*/ 726 w 726"/>
                <a:gd name="T15" fmla="*/ 1361 h 136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6" h="1361">
                  <a:moveTo>
                    <a:pt x="0" y="1361"/>
                  </a:moveTo>
                  <a:lnTo>
                    <a:pt x="0" y="0"/>
                  </a:lnTo>
                  <a:lnTo>
                    <a:pt x="726" y="0"/>
                  </a:lnTo>
                  <a:lnTo>
                    <a:pt x="726" y="1361"/>
                  </a:lnTo>
                </a:path>
              </a:pathLst>
            </a:custGeom>
            <a:noFill/>
            <a:ln w="22225" cap="flat" cmpd="sng">
              <a:solidFill>
                <a:sysClr val="windowText" lastClr="000000"/>
              </a:solidFill>
              <a:prstDash val="solid"/>
              <a:round/>
              <a:headEnd type="none" w="med" len="med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387" name="Text Box 25"/>
            <p:cNvSpPr txBox="1">
              <a:spLocks noChangeArrowheads="1"/>
            </p:cNvSpPr>
            <p:nvPr/>
          </p:nvSpPr>
          <p:spPr bwMode="auto">
            <a:xfrm>
              <a:off x="4977479" y="146179"/>
              <a:ext cx="784189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 err="1">
                  <a:solidFill>
                    <a:prstClr val="black"/>
                  </a:solidFill>
                  <a:ea typeface="宋体" panose="02010600030101010101" pitchFamily="2" charset="-122"/>
                </a:rPr>
                <a:t>btab</a:t>
              </a:r>
              <a:endPara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388" name="Text Box 26"/>
            <p:cNvSpPr txBox="1">
              <a:spLocks noChangeArrowheads="1"/>
            </p:cNvSpPr>
            <p:nvPr/>
          </p:nvSpPr>
          <p:spPr bwMode="auto">
            <a:xfrm>
              <a:off x="7314480" y="-102117"/>
              <a:ext cx="1383712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 err="1">
                  <a:solidFill>
                    <a:prstClr val="black"/>
                  </a:solidFill>
                  <a:ea typeface="宋体" panose="02010600030101010101" pitchFamily="2" charset="-122"/>
                </a:rPr>
                <a:t>nametab</a:t>
              </a:r>
              <a:endPara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endParaRPr>
            </a:p>
          </p:txBody>
        </p:sp>
        <p:grpSp>
          <p:nvGrpSpPr>
            <p:cNvPr id="389" name="Group 27"/>
            <p:cNvGrpSpPr/>
            <p:nvPr/>
          </p:nvGrpSpPr>
          <p:grpSpPr bwMode="auto">
            <a:xfrm>
              <a:off x="6584029" y="282800"/>
              <a:ext cx="2503488" cy="296863"/>
              <a:chOff x="4025" y="529"/>
              <a:chExt cx="1577" cy="187"/>
            </a:xfrm>
          </p:grpSpPr>
          <p:sp>
            <p:nvSpPr>
              <p:cNvPr id="538" name="Rectangle 28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80"/>
              </a:xfrm>
              <a:prstGeom prst="rect">
                <a:avLst/>
              </a:prstGeom>
              <a:solidFill>
                <a:sysClr val="window" lastClr="FFFFFF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US" altLang="zh-CN" sz="1600" b="0" kern="0" dirty="0">
                    <a:solidFill>
                      <a:srgbClr val="FF3300"/>
                    </a:solidFill>
                    <a:ea typeface="宋体" panose="02010600030101010101" pitchFamily="2" charset="-122"/>
                  </a:rPr>
                  <a:t>name</a:t>
                </a:r>
                <a:endParaRPr lang="en-GB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539" name="Text Box 29"/>
              <p:cNvSpPr txBox="1">
                <a:spLocks noChangeArrowheads="1"/>
              </p:cNvSpPr>
              <p:nvPr/>
            </p:nvSpPr>
            <p:spPr bwMode="auto">
              <a:xfrm>
                <a:off x="4025" y="529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40" name="Rectangle 30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80"/>
              </a:xfrm>
              <a:prstGeom prst="rect">
                <a:avLst/>
              </a:prstGeom>
              <a:solidFill>
                <a:sysClr val="window" lastClr="FFFFFF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US" altLang="zh-CN" sz="1600" b="0" kern="0" dirty="0">
                    <a:solidFill>
                      <a:srgbClr val="FF3300"/>
                    </a:solidFill>
                    <a:ea typeface="宋体" panose="02010600030101010101" pitchFamily="2" charset="-122"/>
                  </a:rPr>
                  <a:t>link</a:t>
                </a:r>
                <a:endParaRPr lang="en-GB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390" name="Group 31"/>
            <p:cNvGrpSpPr/>
            <p:nvPr/>
          </p:nvGrpSpPr>
          <p:grpSpPr bwMode="auto">
            <a:xfrm>
              <a:off x="6588794" y="557436"/>
              <a:ext cx="2497139" cy="285750"/>
              <a:chOff x="4029" y="527"/>
              <a:chExt cx="1573" cy="180"/>
            </a:xfrm>
          </p:grpSpPr>
          <p:sp>
            <p:nvSpPr>
              <p:cNvPr id="53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sort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36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3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391" name="Line 168"/>
            <p:cNvSpPr>
              <a:spLocks noChangeShapeType="1"/>
            </p:cNvSpPr>
            <p:nvPr/>
          </p:nvSpPr>
          <p:spPr bwMode="auto">
            <a:xfrm>
              <a:off x="3996556" y="818802"/>
              <a:ext cx="1079500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grpSp>
          <p:nvGrpSpPr>
            <p:cNvPr id="392" name="Group 31"/>
            <p:cNvGrpSpPr/>
            <p:nvPr/>
          </p:nvGrpSpPr>
          <p:grpSpPr bwMode="auto">
            <a:xfrm>
              <a:off x="6584029" y="795562"/>
              <a:ext cx="2497139" cy="285750"/>
              <a:chOff x="4029" y="527"/>
              <a:chExt cx="1573" cy="180"/>
            </a:xfrm>
          </p:grpSpPr>
          <p:sp>
            <p:nvSpPr>
              <p:cNvPr id="532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a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33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34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393" name="Group 147"/>
            <p:cNvGrpSpPr/>
            <p:nvPr/>
          </p:nvGrpSpPr>
          <p:grpSpPr bwMode="auto">
            <a:xfrm>
              <a:off x="3107556" y="987077"/>
              <a:ext cx="889000" cy="466725"/>
              <a:chOff x="1504" y="495"/>
              <a:chExt cx="560" cy="294"/>
            </a:xfrm>
          </p:grpSpPr>
          <p:sp>
            <p:nvSpPr>
              <p:cNvPr id="530" name="Rectangle 148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rgbClr val="99CC00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31" name="Text Box 149"/>
              <p:cNvSpPr txBox="1">
                <a:spLocks noChangeArrowheads="1"/>
              </p:cNvSpPr>
              <p:nvPr/>
            </p:nvSpPr>
            <p:spPr bwMode="auto">
              <a:xfrm>
                <a:off x="1504" y="495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394" name="Group 31"/>
            <p:cNvGrpSpPr/>
            <p:nvPr/>
          </p:nvGrpSpPr>
          <p:grpSpPr bwMode="auto">
            <a:xfrm>
              <a:off x="6588224" y="1033114"/>
              <a:ext cx="2497139" cy="285750"/>
              <a:chOff x="4029" y="527"/>
              <a:chExt cx="1573" cy="180"/>
            </a:xfrm>
          </p:grpSpPr>
          <p:sp>
            <p:nvSpPr>
              <p:cNvPr id="527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x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28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29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395" name="Group 31"/>
            <p:cNvGrpSpPr/>
            <p:nvPr/>
          </p:nvGrpSpPr>
          <p:grpSpPr bwMode="auto">
            <a:xfrm>
              <a:off x="6584029" y="1270896"/>
              <a:ext cx="2497139" cy="285750"/>
              <a:chOff x="4029" y="527"/>
              <a:chExt cx="1573" cy="180"/>
            </a:xfrm>
          </p:grpSpPr>
          <p:sp>
            <p:nvSpPr>
              <p:cNvPr id="524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readarray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25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26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396" name="Group 31"/>
            <p:cNvGrpSpPr/>
            <p:nvPr/>
          </p:nvGrpSpPr>
          <p:grpSpPr bwMode="auto">
            <a:xfrm>
              <a:off x="6584029" y="1506660"/>
              <a:ext cx="2497139" cy="285750"/>
              <a:chOff x="4029" y="527"/>
              <a:chExt cx="1573" cy="180"/>
            </a:xfrm>
          </p:grpSpPr>
          <p:sp>
            <p:nvSpPr>
              <p:cNvPr id="521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E0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i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22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23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E0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397" name="Group 31"/>
            <p:cNvGrpSpPr/>
            <p:nvPr/>
          </p:nvGrpSpPr>
          <p:grpSpPr bwMode="auto">
            <a:xfrm>
              <a:off x="6588224" y="1739687"/>
              <a:ext cx="2497139" cy="285750"/>
              <a:chOff x="4029" y="527"/>
              <a:chExt cx="1573" cy="180"/>
            </a:xfrm>
          </p:grpSpPr>
          <p:sp>
            <p:nvSpPr>
              <p:cNvPr id="518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exchange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19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6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20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398" name="组合 397"/>
            <p:cNvGrpSpPr/>
            <p:nvPr/>
          </p:nvGrpSpPr>
          <p:grpSpPr>
            <a:xfrm>
              <a:off x="4754584" y="586159"/>
              <a:ext cx="874713" cy="669925"/>
              <a:chOff x="4756817" y="602902"/>
              <a:chExt cx="874713" cy="669925"/>
            </a:xfrm>
          </p:grpSpPr>
          <p:grpSp>
            <p:nvGrpSpPr>
              <p:cNvPr id="512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514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516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4" y="890"/>
                    <a:ext cx="334" cy="211"/>
                  </a:xfrm>
                  <a:prstGeom prst="rect">
                    <a:avLst/>
                  </a:prstGeom>
                  <a:solidFill>
                    <a:srgbClr val="4F81BD">
                      <a:alpha val="59999"/>
                    </a:srgbClr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517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515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0</a:t>
                  </a:r>
                  <a:endPara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513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399" name="Text Box 156"/>
            <p:cNvSpPr txBox="1">
              <a:spLocks noChangeArrowheads="1"/>
            </p:cNvSpPr>
            <p:nvPr/>
          </p:nvSpPr>
          <p:spPr bwMode="auto">
            <a:xfrm>
              <a:off x="5200674" y="903080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00" name="Text Box 157"/>
            <p:cNvSpPr txBox="1">
              <a:spLocks noChangeArrowheads="1"/>
            </p:cNvSpPr>
            <p:nvPr/>
          </p:nvSpPr>
          <p:spPr bwMode="auto">
            <a:xfrm>
              <a:off x="5200675" y="546204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01" name="组合 400"/>
            <p:cNvGrpSpPr/>
            <p:nvPr/>
          </p:nvGrpSpPr>
          <p:grpSpPr>
            <a:xfrm>
              <a:off x="4752992" y="1259838"/>
              <a:ext cx="874713" cy="669925"/>
              <a:chOff x="4756817" y="602902"/>
              <a:chExt cx="874713" cy="669925"/>
            </a:xfrm>
          </p:grpSpPr>
          <p:grpSp>
            <p:nvGrpSpPr>
              <p:cNvPr id="506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508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510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4" y="890"/>
                    <a:ext cx="334" cy="211"/>
                  </a:xfrm>
                  <a:prstGeom prst="rect">
                    <a:avLst/>
                  </a:prstGeom>
                  <a:solidFill>
                    <a:schemeClr val="accent4">
                      <a:alpha val="60000"/>
                    </a:schemeClr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511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509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  <a:endPara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507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402" name="Text Box 156"/>
            <p:cNvSpPr txBox="1">
              <a:spLocks noChangeArrowheads="1"/>
            </p:cNvSpPr>
            <p:nvPr/>
          </p:nvSpPr>
          <p:spPr bwMode="auto">
            <a:xfrm>
              <a:off x="5199082" y="1576759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03" name="Text Box 157"/>
            <p:cNvSpPr txBox="1">
              <a:spLocks noChangeArrowheads="1"/>
            </p:cNvSpPr>
            <p:nvPr/>
          </p:nvSpPr>
          <p:spPr bwMode="auto">
            <a:xfrm>
              <a:off x="5199082" y="1219883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04" name="Freeform 169"/>
            <p:cNvSpPr/>
            <p:nvPr/>
          </p:nvSpPr>
          <p:spPr bwMode="auto">
            <a:xfrm>
              <a:off x="3996556" y="1250602"/>
              <a:ext cx="1079500" cy="168275"/>
            </a:xfrm>
            <a:custGeom>
              <a:avLst/>
              <a:gdLst>
                <a:gd name="T0" fmla="*/ 0 w 680"/>
                <a:gd name="T1" fmla="*/ 0 h 227"/>
                <a:gd name="T2" fmla="*/ 453 w 680"/>
                <a:gd name="T3" fmla="*/ 0 h 227"/>
                <a:gd name="T4" fmla="*/ 453 w 680"/>
                <a:gd name="T5" fmla="*/ 227 h 227"/>
                <a:gd name="T6" fmla="*/ 680 w 680"/>
                <a:gd name="T7" fmla="*/ 227 h 22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80"/>
                <a:gd name="T13" fmla="*/ 0 h 227"/>
                <a:gd name="T14" fmla="*/ 680 w 680"/>
                <a:gd name="T15" fmla="*/ 227 h 22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80" h="227">
                  <a:moveTo>
                    <a:pt x="0" y="0"/>
                  </a:moveTo>
                  <a:lnTo>
                    <a:pt x="453" y="0"/>
                  </a:lnTo>
                  <a:lnTo>
                    <a:pt x="453" y="227"/>
                  </a:lnTo>
                  <a:lnTo>
                    <a:pt x="680" y="227"/>
                  </a:lnTo>
                </a:path>
              </a:pathLst>
            </a:custGeom>
            <a:noFill/>
            <a:ln w="19050" cap="flat" cmpd="sng">
              <a:solidFill>
                <a:srgbClr val="339933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grpSp>
          <p:nvGrpSpPr>
            <p:cNvPr id="405" name="Group 31"/>
            <p:cNvGrpSpPr/>
            <p:nvPr/>
          </p:nvGrpSpPr>
          <p:grpSpPr bwMode="auto">
            <a:xfrm>
              <a:off x="6590941" y="1975420"/>
              <a:ext cx="2497139" cy="285750"/>
              <a:chOff x="4029" y="527"/>
              <a:chExt cx="1573" cy="180"/>
            </a:xfrm>
          </p:grpSpPr>
          <p:sp>
            <p:nvSpPr>
              <p:cNvPr id="503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i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04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7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05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406" name="Text Box 178"/>
            <p:cNvSpPr txBox="1">
              <a:spLocks noChangeArrowheads="1"/>
            </p:cNvSpPr>
            <p:nvPr/>
          </p:nvSpPr>
          <p:spPr bwMode="auto">
            <a:xfrm>
              <a:off x="5617711" y="516503"/>
              <a:ext cx="1008063" cy="818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lnSpc>
                  <a:spcPts val="3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800" b="0" dirty="0">
                  <a:solidFill>
                    <a:srgbClr val="9900CC"/>
                  </a:solidFill>
                  <a:ea typeface="宋体" panose="02010600030101010101" pitchFamily="2" charset="-122"/>
                </a:rPr>
                <a:t>lastpar</a:t>
              </a:r>
              <a:endPara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endParaRPr>
            </a:p>
            <a:p>
              <a:pPr defTabSz="457200" eaLnBrk="1" fontAlgn="auto" hangingPunct="1">
                <a:lnSpc>
                  <a:spcPts val="3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800" b="0" dirty="0">
                  <a:solidFill>
                    <a:srgbClr val="9900CC"/>
                  </a:solidFill>
                  <a:ea typeface="宋体" panose="02010600030101010101" pitchFamily="2" charset="-122"/>
                </a:rPr>
                <a:t>last</a:t>
              </a:r>
              <a:endParaRPr lang="en-GB" altLang="zh-CN" sz="1800" b="0" dirty="0">
                <a:solidFill>
                  <a:srgbClr val="9900CC"/>
                </a:solidFill>
                <a:ea typeface="宋体" panose="02010600030101010101" pitchFamily="2" charset="-122"/>
              </a:endParaRPr>
            </a:p>
          </p:txBody>
        </p:sp>
        <p:grpSp>
          <p:nvGrpSpPr>
            <p:cNvPr id="407" name="组合 406"/>
            <p:cNvGrpSpPr/>
            <p:nvPr/>
          </p:nvGrpSpPr>
          <p:grpSpPr>
            <a:xfrm>
              <a:off x="4752992" y="1929762"/>
              <a:ext cx="874713" cy="669925"/>
              <a:chOff x="4756817" y="602902"/>
              <a:chExt cx="874713" cy="669925"/>
            </a:xfrm>
          </p:grpSpPr>
          <p:sp>
            <p:nvSpPr>
              <p:cNvPr id="497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FFE066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498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499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501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rgbClr val="FFE066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502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500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  <a:endPara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408" name="Text Box 156"/>
            <p:cNvSpPr txBox="1">
              <a:spLocks noChangeArrowheads="1"/>
            </p:cNvSpPr>
            <p:nvPr/>
          </p:nvSpPr>
          <p:spPr bwMode="auto">
            <a:xfrm>
              <a:off x="5196895" y="2250437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09" name="Text Box 157"/>
            <p:cNvSpPr txBox="1">
              <a:spLocks noChangeArrowheads="1"/>
            </p:cNvSpPr>
            <p:nvPr/>
          </p:nvSpPr>
          <p:spPr bwMode="auto">
            <a:xfrm>
              <a:off x="5196895" y="1893561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10" name="组合 409"/>
            <p:cNvGrpSpPr/>
            <p:nvPr/>
          </p:nvGrpSpPr>
          <p:grpSpPr>
            <a:xfrm>
              <a:off x="4752992" y="2594013"/>
              <a:ext cx="874713" cy="669925"/>
              <a:chOff x="4756817" y="602902"/>
              <a:chExt cx="874713" cy="669925"/>
            </a:xfrm>
          </p:grpSpPr>
          <p:sp>
            <p:nvSpPr>
              <p:cNvPr id="491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CC99CC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492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493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495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rgbClr val="CC99CC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496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494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3</a:t>
                  </a:r>
                  <a:endPara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411" name="Text Box 156"/>
            <p:cNvSpPr txBox="1">
              <a:spLocks noChangeArrowheads="1"/>
            </p:cNvSpPr>
            <p:nvPr/>
          </p:nvSpPr>
          <p:spPr bwMode="auto">
            <a:xfrm>
              <a:off x="5196895" y="2914688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12" name="Text Box 157"/>
            <p:cNvSpPr txBox="1">
              <a:spLocks noChangeArrowheads="1"/>
            </p:cNvSpPr>
            <p:nvPr/>
          </p:nvSpPr>
          <p:spPr bwMode="auto">
            <a:xfrm>
              <a:off x="5196895" y="2557812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13" name="Group 31"/>
            <p:cNvGrpSpPr/>
            <p:nvPr/>
          </p:nvGrpSpPr>
          <p:grpSpPr bwMode="auto">
            <a:xfrm>
              <a:off x="6584029" y="2212351"/>
              <a:ext cx="2497139" cy="285750"/>
              <a:chOff x="4029" y="527"/>
              <a:chExt cx="1573" cy="180"/>
            </a:xfrm>
          </p:grpSpPr>
          <p:sp>
            <p:nvSpPr>
              <p:cNvPr id="488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j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89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8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90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7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14" name="Group 31"/>
            <p:cNvGrpSpPr/>
            <p:nvPr/>
          </p:nvGrpSpPr>
          <p:grpSpPr bwMode="auto">
            <a:xfrm>
              <a:off x="6584029" y="2443159"/>
              <a:ext cx="2497139" cy="285750"/>
              <a:chOff x="4029" y="527"/>
              <a:chExt cx="1573" cy="180"/>
            </a:xfrm>
          </p:grpSpPr>
          <p:sp>
            <p:nvSpPr>
              <p:cNvPr id="48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quicksort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86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9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8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6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15" name="Group 153"/>
            <p:cNvGrpSpPr/>
            <p:nvPr/>
          </p:nvGrpSpPr>
          <p:grpSpPr bwMode="auto">
            <a:xfrm>
              <a:off x="3118669" y="1464060"/>
              <a:ext cx="877888" cy="434975"/>
              <a:chOff x="1511" y="516"/>
              <a:chExt cx="553" cy="274"/>
            </a:xfrm>
          </p:grpSpPr>
          <p:sp>
            <p:nvSpPr>
              <p:cNvPr id="483" name="Rectangle 154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rgbClr val="FF0000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84" name="Text Box 155"/>
              <p:cNvSpPr txBox="1">
                <a:spLocks noChangeArrowheads="1"/>
              </p:cNvSpPr>
              <p:nvPr/>
            </p:nvSpPr>
            <p:spPr bwMode="auto">
              <a:xfrm>
                <a:off x="1511" y="518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16" name="组合 415"/>
            <p:cNvGrpSpPr/>
            <p:nvPr/>
          </p:nvGrpSpPr>
          <p:grpSpPr>
            <a:xfrm>
              <a:off x="4748719" y="3278127"/>
              <a:ext cx="874713" cy="669925"/>
              <a:chOff x="4756817" y="602902"/>
              <a:chExt cx="874713" cy="669925"/>
            </a:xfrm>
          </p:grpSpPr>
          <p:sp>
            <p:nvSpPr>
              <p:cNvPr id="477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478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479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481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rgbClr val="FF6666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482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480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  <a:endPara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417" name="Text Box 156"/>
            <p:cNvSpPr txBox="1">
              <a:spLocks noChangeArrowheads="1"/>
            </p:cNvSpPr>
            <p:nvPr/>
          </p:nvSpPr>
          <p:spPr bwMode="auto">
            <a:xfrm>
              <a:off x="5100345" y="3561529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18" name="Text Box 157"/>
            <p:cNvSpPr txBox="1">
              <a:spLocks noChangeArrowheads="1"/>
            </p:cNvSpPr>
            <p:nvPr/>
          </p:nvSpPr>
          <p:spPr bwMode="auto">
            <a:xfrm>
              <a:off x="5103543" y="3229308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19" name="Group 31"/>
            <p:cNvGrpSpPr/>
            <p:nvPr/>
          </p:nvGrpSpPr>
          <p:grpSpPr bwMode="auto">
            <a:xfrm>
              <a:off x="6516330" y="2680941"/>
              <a:ext cx="2571752" cy="285750"/>
              <a:chOff x="3982" y="527"/>
              <a:chExt cx="1620" cy="180"/>
            </a:xfrm>
          </p:grpSpPr>
          <p:sp>
            <p:nvSpPr>
              <p:cNvPr id="474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m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75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10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76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20" name="Group 31"/>
            <p:cNvGrpSpPr/>
            <p:nvPr/>
          </p:nvGrpSpPr>
          <p:grpSpPr bwMode="auto">
            <a:xfrm>
              <a:off x="6509416" y="2894633"/>
              <a:ext cx="2571752" cy="285750"/>
              <a:chOff x="3982" y="527"/>
              <a:chExt cx="1620" cy="180"/>
            </a:xfrm>
          </p:grpSpPr>
          <p:sp>
            <p:nvSpPr>
              <p:cNvPr id="471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n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72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11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73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10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21" name="Group 31"/>
            <p:cNvGrpSpPr/>
            <p:nvPr/>
          </p:nvGrpSpPr>
          <p:grpSpPr bwMode="auto">
            <a:xfrm>
              <a:off x="6516328" y="3120577"/>
              <a:ext cx="2571752" cy="285750"/>
              <a:chOff x="3982" y="527"/>
              <a:chExt cx="1620" cy="180"/>
            </a:xfrm>
          </p:grpSpPr>
          <p:sp>
            <p:nvSpPr>
              <p:cNvPr id="468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k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69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12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70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11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22" name="Group 31"/>
            <p:cNvGrpSpPr/>
            <p:nvPr/>
          </p:nvGrpSpPr>
          <p:grpSpPr bwMode="auto">
            <a:xfrm>
              <a:off x="6509416" y="3335795"/>
              <a:ext cx="2571752" cy="285750"/>
              <a:chOff x="3982" y="527"/>
              <a:chExt cx="1620" cy="180"/>
            </a:xfrm>
          </p:grpSpPr>
          <p:sp>
            <p:nvSpPr>
              <p:cNvPr id="46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v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66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13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6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12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23" name="Group 31"/>
            <p:cNvGrpSpPr/>
            <p:nvPr/>
          </p:nvGrpSpPr>
          <p:grpSpPr bwMode="auto">
            <a:xfrm>
              <a:off x="6516328" y="3560370"/>
              <a:ext cx="2571752" cy="285750"/>
              <a:chOff x="3982" y="527"/>
              <a:chExt cx="1620" cy="180"/>
            </a:xfrm>
          </p:grpSpPr>
          <p:sp>
            <p:nvSpPr>
              <p:cNvPr id="462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partition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63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14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64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13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24" name="组合 423"/>
            <p:cNvGrpSpPr/>
            <p:nvPr/>
          </p:nvGrpSpPr>
          <p:grpSpPr>
            <a:xfrm>
              <a:off x="3996557" y="1670908"/>
              <a:ext cx="1109520" cy="1685897"/>
              <a:chOff x="3996557" y="1670908"/>
              <a:chExt cx="1109520" cy="1685897"/>
            </a:xfrm>
          </p:grpSpPr>
          <p:cxnSp>
            <p:nvCxnSpPr>
              <p:cNvPr id="459" name="直接连接符 458"/>
              <p:cNvCxnSpPr/>
              <p:nvPr/>
            </p:nvCxnSpPr>
            <p:spPr>
              <a:xfrm>
                <a:off x="3996557" y="1680754"/>
                <a:ext cx="567348" cy="0"/>
              </a:xfrm>
              <a:prstGeom prst="line">
                <a:avLst/>
              </a:prstGeom>
              <a:ln w="19050">
                <a:solidFill>
                  <a:srgbClr val="FF666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0" name="直接连接符 459"/>
              <p:cNvCxnSpPr/>
              <p:nvPr/>
            </p:nvCxnSpPr>
            <p:spPr>
              <a:xfrm>
                <a:off x="4572000" y="1670908"/>
                <a:ext cx="0" cy="1685103"/>
              </a:xfrm>
              <a:prstGeom prst="line">
                <a:avLst/>
              </a:prstGeom>
              <a:ln w="19050">
                <a:solidFill>
                  <a:srgbClr val="FF666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1" name="直接连接符 460"/>
              <p:cNvCxnSpPr/>
              <p:nvPr/>
            </p:nvCxnSpPr>
            <p:spPr>
              <a:xfrm flipV="1">
                <a:off x="4563905" y="3356805"/>
                <a:ext cx="542172" cy="0"/>
              </a:xfrm>
              <a:prstGeom prst="line">
                <a:avLst/>
              </a:prstGeom>
              <a:ln w="19050">
                <a:solidFill>
                  <a:srgbClr val="FF6666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5" name="Group 153"/>
            <p:cNvGrpSpPr/>
            <p:nvPr/>
          </p:nvGrpSpPr>
          <p:grpSpPr bwMode="auto">
            <a:xfrm>
              <a:off x="3125209" y="1907705"/>
              <a:ext cx="877888" cy="434975"/>
              <a:chOff x="1511" y="516"/>
              <a:chExt cx="553" cy="274"/>
            </a:xfrm>
          </p:grpSpPr>
          <p:sp>
            <p:nvSpPr>
              <p:cNvPr id="457" name="Rectangle 154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chemeClr val="accent1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58" name="Text Box 155"/>
              <p:cNvSpPr txBox="1">
                <a:spLocks noChangeArrowheads="1"/>
              </p:cNvSpPr>
              <p:nvPr/>
            </p:nvSpPr>
            <p:spPr bwMode="auto">
              <a:xfrm>
                <a:off x="1511" y="518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426" name="Freeform 171"/>
            <p:cNvSpPr/>
            <p:nvPr/>
          </p:nvSpPr>
          <p:spPr bwMode="auto">
            <a:xfrm>
              <a:off x="4009445" y="2179019"/>
              <a:ext cx="1079500" cy="1966558"/>
            </a:xfrm>
            <a:custGeom>
              <a:avLst/>
              <a:gdLst>
                <a:gd name="T0" fmla="*/ 0 w 725"/>
                <a:gd name="T1" fmla="*/ 0 h 1360"/>
                <a:gd name="T2" fmla="*/ 115 w 725"/>
                <a:gd name="T3" fmla="*/ 0 h 1360"/>
                <a:gd name="T4" fmla="*/ 115 w 725"/>
                <a:gd name="T5" fmla="*/ 1360 h 1360"/>
                <a:gd name="T6" fmla="*/ 462 w 725"/>
                <a:gd name="T7" fmla="*/ 1360 h 13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5"/>
                <a:gd name="T13" fmla="*/ 0 h 1360"/>
                <a:gd name="T14" fmla="*/ 725 w 725"/>
                <a:gd name="T15" fmla="*/ 1360 h 13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5" h="1360">
                  <a:moveTo>
                    <a:pt x="0" y="0"/>
                  </a:moveTo>
                  <a:lnTo>
                    <a:pt x="181" y="0"/>
                  </a:lnTo>
                  <a:lnTo>
                    <a:pt x="181" y="1360"/>
                  </a:lnTo>
                  <a:lnTo>
                    <a:pt x="725" y="1360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grpSp>
          <p:nvGrpSpPr>
            <p:cNvPr id="427" name="组合 426"/>
            <p:cNvGrpSpPr/>
            <p:nvPr/>
          </p:nvGrpSpPr>
          <p:grpSpPr>
            <a:xfrm>
              <a:off x="4756309" y="3945400"/>
              <a:ext cx="874713" cy="669925"/>
              <a:chOff x="4756817" y="602902"/>
              <a:chExt cx="874713" cy="669925"/>
            </a:xfrm>
          </p:grpSpPr>
          <p:sp>
            <p:nvSpPr>
              <p:cNvPr id="451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452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453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455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chemeClr val="accent1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456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454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5</a:t>
                  </a:r>
                  <a:endPara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428" name="Text Box 156"/>
            <p:cNvSpPr txBox="1">
              <a:spLocks noChangeArrowheads="1"/>
            </p:cNvSpPr>
            <p:nvPr/>
          </p:nvSpPr>
          <p:spPr bwMode="auto">
            <a:xfrm>
              <a:off x="5100795" y="4242710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18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29" name="Text Box 157"/>
            <p:cNvSpPr txBox="1">
              <a:spLocks noChangeArrowheads="1"/>
            </p:cNvSpPr>
            <p:nvPr/>
          </p:nvSpPr>
          <p:spPr bwMode="auto">
            <a:xfrm>
              <a:off x="5095743" y="3903206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30" name="Group 31"/>
            <p:cNvGrpSpPr/>
            <p:nvPr/>
          </p:nvGrpSpPr>
          <p:grpSpPr bwMode="auto">
            <a:xfrm>
              <a:off x="6516330" y="4236016"/>
              <a:ext cx="2571753" cy="285750"/>
              <a:chOff x="3982" y="535"/>
              <a:chExt cx="1620" cy="180"/>
            </a:xfrm>
          </p:grpSpPr>
          <p:sp>
            <p:nvSpPr>
              <p:cNvPr id="448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i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49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35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17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50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16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31" name="Group 31"/>
            <p:cNvGrpSpPr/>
            <p:nvPr/>
          </p:nvGrpSpPr>
          <p:grpSpPr bwMode="auto">
            <a:xfrm>
              <a:off x="6516328" y="3785945"/>
              <a:ext cx="2571752" cy="285750"/>
              <a:chOff x="3982" y="527"/>
              <a:chExt cx="1620" cy="180"/>
            </a:xfrm>
          </p:grpSpPr>
          <p:sp>
            <p:nvSpPr>
              <p:cNvPr id="44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y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46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15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4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32" name="Group 31"/>
            <p:cNvGrpSpPr/>
            <p:nvPr/>
          </p:nvGrpSpPr>
          <p:grpSpPr bwMode="auto">
            <a:xfrm>
              <a:off x="6509416" y="4010717"/>
              <a:ext cx="2571752" cy="285750"/>
              <a:chOff x="3982" y="527"/>
              <a:chExt cx="1620" cy="180"/>
            </a:xfrm>
          </p:grpSpPr>
          <p:sp>
            <p:nvSpPr>
              <p:cNvPr id="442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z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43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16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44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15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33" name="Group 31"/>
            <p:cNvGrpSpPr/>
            <p:nvPr/>
          </p:nvGrpSpPr>
          <p:grpSpPr bwMode="auto">
            <a:xfrm>
              <a:off x="6509415" y="4460788"/>
              <a:ext cx="2571753" cy="285750"/>
              <a:chOff x="3982" y="535"/>
              <a:chExt cx="1620" cy="180"/>
            </a:xfrm>
          </p:grpSpPr>
          <p:sp>
            <p:nvSpPr>
              <p:cNvPr id="439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j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40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35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18</a:t>
                </a:r>
                <a:endPara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41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17</a:t>
                </a:r>
                <a:endPara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434" name="Freeform 172"/>
            <p:cNvSpPr/>
            <p:nvPr/>
          </p:nvSpPr>
          <p:spPr bwMode="auto">
            <a:xfrm flipV="1">
              <a:off x="5651355" y="3738439"/>
              <a:ext cx="935038" cy="45719"/>
            </a:xfrm>
            <a:custGeom>
              <a:avLst/>
              <a:gdLst>
                <a:gd name="T0" fmla="*/ 0 w 725"/>
                <a:gd name="T1" fmla="*/ 0 h 1360"/>
                <a:gd name="T2" fmla="*/ 42 w 725"/>
                <a:gd name="T3" fmla="*/ 0 h 1360"/>
                <a:gd name="T4" fmla="*/ 42 w 725"/>
                <a:gd name="T5" fmla="*/ 79 h 1360"/>
                <a:gd name="T6" fmla="*/ 170 w 725"/>
                <a:gd name="T7" fmla="*/ 79 h 13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5"/>
                <a:gd name="T13" fmla="*/ 0 h 1360"/>
                <a:gd name="T14" fmla="*/ 725 w 725"/>
                <a:gd name="T15" fmla="*/ 1360 h 13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5" h="1360">
                  <a:moveTo>
                    <a:pt x="0" y="0"/>
                  </a:moveTo>
                  <a:lnTo>
                    <a:pt x="181" y="0"/>
                  </a:lnTo>
                  <a:lnTo>
                    <a:pt x="181" y="1360"/>
                  </a:lnTo>
                  <a:lnTo>
                    <a:pt x="725" y="136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435" name="Freeform 176"/>
            <p:cNvSpPr/>
            <p:nvPr/>
          </p:nvSpPr>
          <p:spPr bwMode="auto">
            <a:xfrm flipV="1">
              <a:off x="5642191" y="719410"/>
              <a:ext cx="1008063" cy="309701"/>
            </a:xfrm>
            <a:custGeom>
              <a:avLst/>
              <a:gdLst>
                <a:gd name="T0" fmla="*/ 0 w 635"/>
                <a:gd name="T1" fmla="*/ 0 h 454"/>
                <a:gd name="T2" fmla="*/ 499 w 635"/>
                <a:gd name="T3" fmla="*/ 0 h 454"/>
                <a:gd name="T4" fmla="*/ 499 w 635"/>
                <a:gd name="T5" fmla="*/ 454 h 454"/>
                <a:gd name="T6" fmla="*/ 635 w 635"/>
                <a:gd name="T7" fmla="*/ 454 h 45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35"/>
                <a:gd name="T13" fmla="*/ 0 h 454"/>
                <a:gd name="T14" fmla="*/ 635 w 635"/>
                <a:gd name="T15" fmla="*/ 454 h 45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35" h="454">
                  <a:moveTo>
                    <a:pt x="0" y="0"/>
                  </a:moveTo>
                  <a:lnTo>
                    <a:pt x="499" y="0"/>
                  </a:lnTo>
                  <a:lnTo>
                    <a:pt x="499" y="454"/>
                  </a:lnTo>
                  <a:lnTo>
                    <a:pt x="635" y="454"/>
                  </a:lnTo>
                </a:path>
              </a:pathLst>
            </a:custGeom>
            <a:noFill/>
            <a:ln w="19050" cap="flat" cmpd="sng">
              <a:solidFill>
                <a:schemeClr val="accent2">
                  <a:lumMod val="75000"/>
                </a:schemeClr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436" name="Freeform 174"/>
            <p:cNvSpPr/>
            <p:nvPr/>
          </p:nvSpPr>
          <p:spPr bwMode="auto">
            <a:xfrm>
              <a:off x="5651361" y="1784115"/>
              <a:ext cx="1008063" cy="837413"/>
            </a:xfrm>
            <a:custGeom>
              <a:avLst/>
              <a:gdLst>
                <a:gd name="T0" fmla="*/ 0 w 680"/>
                <a:gd name="T1" fmla="*/ 0 h 227"/>
                <a:gd name="T2" fmla="*/ 281 w 680"/>
                <a:gd name="T3" fmla="*/ 0 h 227"/>
                <a:gd name="T4" fmla="*/ 281 w 680"/>
                <a:gd name="T5" fmla="*/ 38944729 h 227"/>
                <a:gd name="T6" fmla="*/ 421 w 680"/>
                <a:gd name="T7" fmla="*/ 38944729 h 22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80"/>
                <a:gd name="T13" fmla="*/ 0 h 227"/>
                <a:gd name="T14" fmla="*/ 680 w 680"/>
                <a:gd name="T15" fmla="*/ 227 h 22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80" h="227">
                  <a:moveTo>
                    <a:pt x="0" y="0"/>
                  </a:moveTo>
                  <a:lnTo>
                    <a:pt x="453" y="0"/>
                  </a:lnTo>
                  <a:lnTo>
                    <a:pt x="453" y="227"/>
                  </a:lnTo>
                  <a:lnTo>
                    <a:pt x="680" y="227"/>
                  </a:lnTo>
                </a:path>
              </a:pathLst>
            </a:custGeom>
            <a:noFill/>
            <a:ln w="19050" cap="flat" cmpd="sng">
              <a:solidFill>
                <a:srgbClr val="339933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437" name="Freeform 173"/>
            <p:cNvSpPr/>
            <p:nvPr/>
          </p:nvSpPr>
          <p:spPr bwMode="auto">
            <a:xfrm flipV="1">
              <a:off x="5653186" y="2415055"/>
              <a:ext cx="935038" cy="699525"/>
            </a:xfrm>
            <a:custGeom>
              <a:avLst/>
              <a:gdLst>
                <a:gd name="T0" fmla="*/ 0 w 680"/>
                <a:gd name="T1" fmla="*/ 0 h 1044"/>
                <a:gd name="T2" fmla="*/ 149 w 680"/>
                <a:gd name="T3" fmla="*/ 0 h 1044"/>
                <a:gd name="T4" fmla="*/ 149 w 680"/>
                <a:gd name="T5" fmla="*/ 187 h 1044"/>
                <a:gd name="T6" fmla="*/ 249 w 680"/>
                <a:gd name="T7" fmla="*/ 187 h 104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80"/>
                <a:gd name="T13" fmla="*/ 0 h 1044"/>
                <a:gd name="T14" fmla="*/ 680 w 680"/>
                <a:gd name="T15" fmla="*/ 1044 h 104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80" h="1044">
                  <a:moveTo>
                    <a:pt x="0" y="0"/>
                  </a:moveTo>
                  <a:lnTo>
                    <a:pt x="408" y="0"/>
                  </a:lnTo>
                  <a:lnTo>
                    <a:pt x="408" y="1044"/>
                  </a:lnTo>
                  <a:lnTo>
                    <a:pt x="680" y="1044"/>
                  </a:lnTo>
                </a:path>
              </a:pathLst>
            </a:custGeom>
            <a:noFill/>
            <a:ln w="19050" cap="flat" cmpd="sng">
              <a:solidFill>
                <a:srgbClr val="9900CC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438" name="Freeform 175"/>
            <p:cNvSpPr/>
            <p:nvPr/>
          </p:nvSpPr>
          <p:spPr bwMode="auto">
            <a:xfrm>
              <a:off x="5688012" y="4514574"/>
              <a:ext cx="935038" cy="171513"/>
            </a:xfrm>
            <a:custGeom>
              <a:avLst/>
              <a:gdLst>
                <a:gd name="T0" fmla="*/ 0 w 589"/>
                <a:gd name="T1" fmla="*/ 0 h 1089"/>
                <a:gd name="T2" fmla="*/ 226 w 589"/>
                <a:gd name="T3" fmla="*/ 0 h 1089"/>
                <a:gd name="T4" fmla="*/ 226 w 589"/>
                <a:gd name="T5" fmla="*/ 1089 h 1089"/>
                <a:gd name="T6" fmla="*/ 589 w 589"/>
                <a:gd name="T7" fmla="*/ 1089 h 108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89"/>
                <a:gd name="T13" fmla="*/ 0 h 1089"/>
                <a:gd name="T14" fmla="*/ 589 w 589"/>
                <a:gd name="T15" fmla="*/ 1089 h 108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89" h="1089">
                  <a:moveTo>
                    <a:pt x="0" y="0"/>
                  </a:moveTo>
                  <a:lnTo>
                    <a:pt x="226" y="0"/>
                  </a:lnTo>
                  <a:lnTo>
                    <a:pt x="226" y="1089"/>
                  </a:lnTo>
                  <a:lnTo>
                    <a:pt x="589" y="1089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</p:grpSp>
      <p:grpSp>
        <p:nvGrpSpPr>
          <p:cNvPr id="169" name="组合 168"/>
          <p:cNvGrpSpPr/>
          <p:nvPr/>
        </p:nvGrpSpPr>
        <p:grpSpPr>
          <a:xfrm>
            <a:off x="4374178" y="1673826"/>
            <a:ext cx="795411" cy="2984099"/>
            <a:chOff x="4374177" y="1673825"/>
            <a:chExt cx="795411" cy="2984099"/>
          </a:xfrm>
        </p:grpSpPr>
        <p:sp>
          <p:nvSpPr>
            <p:cNvPr id="170" name="矩形 169"/>
            <p:cNvSpPr/>
            <p:nvPr/>
          </p:nvSpPr>
          <p:spPr>
            <a:xfrm>
              <a:off x="4708436" y="1673825"/>
              <a:ext cx="418704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sort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71" name="矩形 170"/>
            <p:cNvSpPr/>
            <p:nvPr/>
          </p:nvSpPr>
          <p:spPr>
            <a:xfrm>
              <a:off x="4374177" y="2356682"/>
              <a:ext cx="795411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 err="1">
                  <a:solidFill>
                    <a:prstClr val="black"/>
                  </a:solidFill>
                  <a:ea typeface="方正楷体_GB2312" charset="0"/>
                </a:rPr>
                <a:t>readarray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72" name="矩形 171"/>
            <p:cNvSpPr/>
            <p:nvPr/>
          </p:nvSpPr>
          <p:spPr>
            <a:xfrm>
              <a:off x="4390582" y="3029750"/>
              <a:ext cx="740908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exchange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73" name="矩形 172"/>
            <p:cNvSpPr/>
            <p:nvPr/>
          </p:nvSpPr>
          <p:spPr>
            <a:xfrm>
              <a:off x="4394214" y="3681217"/>
              <a:ext cx="755335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quicksort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74" name="矩形 173"/>
            <p:cNvSpPr/>
            <p:nvPr/>
          </p:nvSpPr>
          <p:spPr>
            <a:xfrm>
              <a:off x="4403406" y="4396314"/>
              <a:ext cx="715260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partition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60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76" name="组合 75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7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79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1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82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0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7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1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 animBg="1"/>
      <p:bldP spid="37" grpId="0" animBg="1"/>
      <p:bldP spid="38" grpId="0" animBg="1"/>
      <p:bldP spid="40" grpId="0"/>
      <p:bldP spid="41" grpId="0"/>
      <p:bldP spid="87" grpId="0" animBg="1"/>
      <p:bldP spid="91" grpId="0"/>
      <p:bldP spid="92" grpId="0"/>
      <p:bldP spid="51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57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76" name="组合 75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7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79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1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82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0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7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1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3" name="组合 92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4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9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9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0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sp>
        <p:nvSpPr>
          <p:cNvPr id="52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91" grpId="0"/>
      <p:bldP spid="100" grpId="0"/>
      <p:bldP spid="101" grpId="0"/>
      <p:bldP spid="53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6" name="组合 65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67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69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71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70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6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73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76" name="组合 75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77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79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1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82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0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7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3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86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sp>
        <p:nvSpPr>
          <p:cNvPr id="88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0" name="组合 69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73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7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74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7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78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9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80" name="组合 79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8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3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5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86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4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8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91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sp>
        <p:nvSpPr>
          <p:cNvPr id="92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4" name="Group 150"/>
          <p:cNvGrpSpPr/>
          <p:nvPr/>
        </p:nvGrpSpPr>
        <p:grpSpPr bwMode="auto">
          <a:xfrm>
            <a:off x="3120257" y="1428403"/>
            <a:ext cx="869950" cy="454025"/>
            <a:chOff x="1512" y="503"/>
            <a:chExt cx="548" cy="286"/>
          </a:xfrm>
        </p:grpSpPr>
        <p:sp>
          <p:nvSpPr>
            <p:cNvPr id="76" name="Rectangle 151"/>
            <p:cNvSpPr>
              <a:spLocks noChangeArrowheads="1"/>
            </p:cNvSpPr>
            <p:nvPr/>
          </p:nvSpPr>
          <p:spPr bwMode="auto">
            <a:xfrm>
              <a:off x="1733" y="516"/>
              <a:ext cx="327" cy="27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77" name="Text Box 152"/>
            <p:cNvSpPr txBox="1">
              <a:spLocks noChangeArrowheads="1"/>
            </p:cNvSpPr>
            <p:nvPr/>
          </p:nvSpPr>
          <p:spPr bwMode="auto">
            <a:xfrm>
              <a:off x="1512" y="503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78" name="Freeform 170"/>
          <p:cNvSpPr/>
          <p:nvPr/>
        </p:nvSpPr>
        <p:spPr bwMode="auto">
          <a:xfrm>
            <a:off x="3996557" y="1682402"/>
            <a:ext cx="1079500" cy="442914"/>
          </a:xfrm>
          <a:custGeom>
            <a:avLst/>
            <a:gdLst>
              <a:gd name="T0" fmla="*/ 0 w 680"/>
              <a:gd name="T1" fmla="*/ 0 h 1044"/>
              <a:gd name="T2" fmla="*/ 408 w 680"/>
              <a:gd name="T3" fmla="*/ 0 h 1044"/>
              <a:gd name="T4" fmla="*/ 408 w 680"/>
              <a:gd name="T5" fmla="*/ 1044 h 1044"/>
              <a:gd name="T6" fmla="*/ 680 w 680"/>
              <a:gd name="T7" fmla="*/ 1044 h 1044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1044"/>
              <a:gd name="T14" fmla="*/ 680 w 680"/>
              <a:gd name="T15" fmla="*/ 1044 h 10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1044">
                <a:moveTo>
                  <a:pt x="0" y="0"/>
                </a:moveTo>
                <a:lnTo>
                  <a:pt x="408" y="0"/>
                </a:lnTo>
                <a:lnTo>
                  <a:pt x="408" y="1044"/>
                </a:lnTo>
                <a:lnTo>
                  <a:pt x="680" y="1044"/>
                </a:lnTo>
              </a:path>
            </a:pathLst>
          </a:custGeom>
          <a:noFill/>
          <a:ln w="19050" cap="flat" cmpd="sng">
            <a:solidFill>
              <a:schemeClr val="accent5">
                <a:lumMod val="75000"/>
              </a:schemeClr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8" name="组合 87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89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91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93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2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16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26" name="组合 125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2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7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9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31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32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30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33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4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5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  <p:bldP spid="104" grpId="0"/>
      <p:bldP spid="133" grpId="0"/>
      <p:bldP spid="134" grpId="0"/>
      <p:bldP spid="80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4" name="Group 150"/>
          <p:cNvGrpSpPr/>
          <p:nvPr/>
        </p:nvGrpSpPr>
        <p:grpSpPr bwMode="auto">
          <a:xfrm>
            <a:off x="3120257" y="1428403"/>
            <a:ext cx="869950" cy="454025"/>
            <a:chOff x="1512" y="503"/>
            <a:chExt cx="548" cy="286"/>
          </a:xfrm>
        </p:grpSpPr>
        <p:sp>
          <p:nvSpPr>
            <p:cNvPr id="76" name="Rectangle 151"/>
            <p:cNvSpPr>
              <a:spLocks noChangeArrowheads="1"/>
            </p:cNvSpPr>
            <p:nvPr/>
          </p:nvSpPr>
          <p:spPr bwMode="auto">
            <a:xfrm>
              <a:off x="1733" y="516"/>
              <a:ext cx="327" cy="27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77" name="Text Box 152"/>
            <p:cNvSpPr txBox="1">
              <a:spLocks noChangeArrowheads="1"/>
            </p:cNvSpPr>
            <p:nvPr/>
          </p:nvSpPr>
          <p:spPr bwMode="auto">
            <a:xfrm>
              <a:off x="1512" y="503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8" name="组合 87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89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91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93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2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6" name="Freeform 170"/>
          <p:cNvSpPr/>
          <p:nvPr/>
        </p:nvSpPr>
        <p:spPr bwMode="auto">
          <a:xfrm>
            <a:off x="3996557" y="1682402"/>
            <a:ext cx="1079500" cy="442914"/>
          </a:xfrm>
          <a:custGeom>
            <a:avLst/>
            <a:gdLst>
              <a:gd name="T0" fmla="*/ 0 w 680"/>
              <a:gd name="T1" fmla="*/ 0 h 1044"/>
              <a:gd name="T2" fmla="*/ 408 w 680"/>
              <a:gd name="T3" fmla="*/ 0 h 1044"/>
              <a:gd name="T4" fmla="*/ 408 w 680"/>
              <a:gd name="T5" fmla="*/ 1044 h 1044"/>
              <a:gd name="T6" fmla="*/ 680 w 680"/>
              <a:gd name="T7" fmla="*/ 1044 h 1044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1044"/>
              <a:gd name="T14" fmla="*/ 680 w 680"/>
              <a:gd name="T15" fmla="*/ 1044 h 10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1044">
                <a:moveTo>
                  <a:pt x="0" y="0"/>
                </a:moveTo>
                <a:lnTo>
                  <a:pt x="408" y="0"/>
                </a:lnTo>
                <a:lnTo>
                  <a:pt x="408" y="1044"/>
                </a:lnTo>
                <a:lnTo>
                  <a:pt x="680" y="1044"/>
                </a:lnTo>
              </a:path>
            </a:pathLst>
          </a:custGeom>
          <a:noFill/>
          <a:ln w="19050" cap="flat" cmpd="sng">
            <a:solidFill>
              <a:schemeClr val="accent5">
                <a:lumMod val="75000"/>
              </a:schemeClr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17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18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19" name="组合 118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8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" grpId="0" animBg="1"/>
      <p:bldP spid="126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16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17" name="组合 116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1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19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24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5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4" name="Group 150"/>
          <p:cNvGrpSpPr/>
          <p:nvPr/>
        </p:nvGrpSpPr>
        <p:grpSpPr bwMode="auto">
          <a:xfrm>
            <a:off x="3117082" y="1439537"/>
            <a:ext cx="876300" cy="454025"/>
            <a:chOff x="1512" y="503"/>
            <a:chExt cx="552" cy="286"/>
          </a:xfrm>
        </p:grpSpPr>
        <p:sp>
          <p:nvSpPr>
            <p:cNvPr id="135" name="Rectangle 151"/>
            <p:cNvSpPr>
              <a:spLocks noChangeArrowheads="1"/>
            </p:cNvSpPr>
            <p:nvPr/>
          </p:nvSpPr>
          <p:spPr bwMode="auto">
            <a:xfrm>
              <a:off x="1741" y="516"/>
              <a:ext cx="323" cy="273"/>
            </a:xfrm>
            <a:prstGeom prst="rect">
              <a:avLst/>
            </a:prstGeom>
            <a:solidFill>
              <a:srgbClr val="800080">
                <a:alpha val="3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6" name="Text Box 152"/>
            <p:cNvSpPr txBox="1">
              <a:spLocks noChangeArrowheads="1"/>
            </p:cNvSpPr>
            <p:nvPr/>
          </p:nvSpPr>
          <p:spPr bwMode="auto">
            <a:xfrm>
              <a:off x="1512" y="503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37" name="Freeform 170"/>
          <p:cNvSpPr/>
          <p:nvPr/>
        </p:nvSpPr>
        <p:spPr bwMode="auto">
          <a:xfrm>
            <a:off x="3996557" y="1682403"/>
            <a:ext cx="1079500" cy="1007906"/>
          </a:xfrm>
          <a:custGeom>
            <a:avLst/>
            <a:gdLst>
              <a:gd name="T0" fmla="*/ 0 w 680"/>
              <a:gd name="T1" fmla="*/ 0 h 1044"/>
              <a:gd name="T2" fmla="*/ 408 w 680"/>
              <a:gd name="T3" fmla="*/ 0 h 1044"/>
              <a:gd name="T4" fmla="*/ 408 w 680"/>
              <a:gd name="T5" fmla="*/ 1044 h 1044"/>
              <a:gd name="T6" fmla="*/ 680 w 680"/>
              <a:gd name="T7" fmla="*/ 1044 h 1044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1044"/>
              <a:gd name="T14" fmla="*/ 680 w 680"/>
              <a:gd name="T15" fmla="*/ 1044 h 10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1044">
                <a:moveTo>
                  <a:pt x="0" y="0"/>
                </a:moveTo>
                <a:lnTo>
                  <a:pt x="408" y="0"/>
                </a:lnTo>
                <a:lnTo>
                  <a:pt x="408" y="1044"/>
                </a:lnTo>
                <a:lnTo>
                  <a:pt x="680" y="1044"/>
                </a:lnTo>
              </a:path>
            </a:pathLst>
          </a:custGeom>
          <a:noFill/>
          <a:ln w="19050" cap="flat" cmpd="sng">
            <a:solidFill>
              <a:srgbClr val="9900CC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0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07" name="矩形 106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08" name="矩形 107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137" grpId="0" animBg="1"/>
      <p:bldP spid="168" grpId="0"/>
      <p:bldP spid="169" grpId="0"/>
      <p:bldP spid="108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4" name="Group 150"/>
          <p:cNvGrpSpPr/>
          <p:nvPr/>
        </p:nvGrpSpPr>
        <p:grpSpPr bwMode="auto">
          <a:xfrm>
            <a:off x="3117082" y="1439537"/>
            <a:ext cx="876300" cy="454025"/>
            <a:chOff x="1512" y="503"/>
            <a:chExt cx="552" cy="286"/>
          </a:xfrm>
        </p:grpSpPr>
        <p:sp>
          <p:nvSpPr>
            <p:cNvPr id="135" name="Rectangle 151"/>
            <p:cNvSpPr>
              <a:spLocks noChangeArrowheads="1"/>
            </p:cNvSpPr>
            <p:nvPr/>
          </p:nvSpPr>
          <p:spPr bwMode="auto">
            <a:xfrm>
              <a:off x="1741" y="516"/>
              <a:ext cx="323" cy="273"/>
            </a:xfrm>
            <a:prstGeom prst="rect">
              <a:avLst/>
            </a:prstGeom>
            <a:solidFill>
              <a:srgbClr val="800080">
                <a:alpha val="3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6" name="Text Box 152"/>
            <p:cNvSpPr txBox="1">
              <a:spLocks noChangeArrowheads="1"/>
            </p:cNvSpPr>
            <p:nvPr/>
          </p:nvSpPr>
          <p:spPr bwMode="auto">
            <a:xfrm>
              <a:off x="1512" y="503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37" name="Freeform 170"/>
          <p:cNvSpPr/>
          <p:nvPr/>
        </p:nvSpPr>
        <p:spPr bwMode="auto">
          <a:xfrm>
            <a:off x="3996557" y="1682403"/>
            <a:ext cx="1079500" cy="1007906"/>
          </a:xfrm>
          <a:custGeom>
            <a:avLst/>
            <a:gdLst>
              <a:gd name="T0" fmla="*/ 0 w 680"/>
              <a:gd name="T1" fmla="*/ 0 h 1044"/>
              <a:gd name="T2" fmla="*/ 408 w 680"/>
              <a:gd name="T3" fmla="*/ 0 h 1044"/>
              <a:gd name="T4" fmla="*/ 408 w 680"/>
              <a:gd name="T5" fmla="*/ 1044 h 1044"/>
              <a:gd name="T6" fmla="*/ 680 w 680"/>
              <a:gd name="T7" fmla="*/ 1044 h 1044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1044"/>
              <a:gd name="T14" fmla="*/ 680 w 680"/>
              <a:gd name="T15" fmla="*/ 1044 h 10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1044">
                <a:moveTo>
                  <a:pt x="0" y="0"/>
                </a:moveTo>
                <a:lnTo>
                  <a:pt x="408" y="0"/>
                </a:lnTo>
                <a:lnTo>
                  <a:pt x="408" y="1044"/>
                </a:lnTo>
                <a:lnTo>
                  <a:pt x="680" y="1044"/>
                </a:lnTo>
              </a:path>
            </a:pathLst>
          </a:custGeom>
          <a:noFill/>
          <a:ln w="19050" cap="flat" cmpd="sng">
            <a:solidFill>
              <a:srgbClr val="9900CC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10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" grpId="0"/>
      <p:bldP spid="169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4" name="Group 150"/>
          <p:cNvGrpSpPr/>
          <p:nvPr/>
        </p:nvGrpSpPr>
        <p:grpSpPr bwMode="auto">
          <a:xfrm>
            <a:off x="3117082" y="1439537"/>
            <a:ext cx="876300" cy="454025"/>
            <a:chOff x="1512" y="503"/>
            <a:chExt cx="552" cy="286"/>
          </a:xfrm>
        </p:grpSpPr>
        <p:sp>
          <p:nvSpPr>
            <p:cNvPr id="135" name="Rectangle 151"/>
            <p:cNvSpPr>
              <a:spLocks noChangeArrowheads="1"/>
            </p:cNvSpPr>
            <p:nvPr/>
          </p:nvSpPr>
          <p:spPr bwMode="auto">
            <a:xfrm>
              <a:off x="1741" y="516"/>
              <a:ext cx="323" cy="273"/>
            </a:xfrm>
            <a:prstGeom prst="rect">
              <a:avLst/>
            </a:prstGeom>
            <a:solidFill>
              <a:srgbClr val="800080">
                <a:alpha val="3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6" name="Text Box 152"/>
            <p:cNvSpPr txBox="1">
              <a:spLocks noChangeArrowheads="1"/>
            </p:cNvSpPr>
            <p:nvPr/>
          </p:nvSpPr>
          <p:spPr bwMode="auto">
            <a:xfrm>
              <a:off x="1512" y="503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37" name="Freeform 170"/>
          <p:cNvSpPr/>
          <p:nvPr/>
        </p:nvSpPr>
        <p:spPr bwMode="auto">
          <a:xfrm>
            <a:off x="3996557" y="1682403"/>
            <a:ext cx="1079500" cy="1007906"/>
          </a:xfrm>
          <a:custGeom>
            <a:avLst/>
            <a:gdLst>
              <a:gd name="T0" fmla="*/ 0 w 680"/>
              <a:gd name="T1" fmla="*/ 0 h 1044"/>
              <a:gd name="T2" fmla="*/ 408 w 680"/>
              <a:gd name="T3" fmla="*/ 0 h 1044"/>
              <a:gd name="T4" fmla="*/ 408 w 680"/>
              <a:gd name="T5" fmla="*/ 1044 h 1044"/>
              <a:gd name="T6" fmla="*/ 680 w 680"/>
              <a:gd name="T7" fmla="*/ 1044 h 1044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1044"/>
              <a:gd name="T14" fmla="*/ 680 w 680"/>
              <a:gd name="T15" fmla="*/ 1044 h 10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1044">
                <a:moveTo>
                  <a:pt x="0" y="0"/>
                </a:moveTo>
                <a:lnTo>
                  <a:pt x="408" y="0"/>
                </a:lnTo>
                <a:lnTo>
                  <a:pt x="408" y="1044"/>
                </a:lnTo>
                <a:lnTo>
                  <a:pt x="680" y="1044"/>
                </a:lnTo>
              </a:path>
            </a:pathLst>
          </a:custGeom>
          <a:noFill/>
          <a:ln w="19050" cap="flat" cmpd="sng">
            <a:solidFill>
              <a:srgbClr val="9900CC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10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7" grpId="0" animBg="1"/>
      <p:bldP spid="168" grpId="0"/>
      <p:bldP spid="169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14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8" name="矩形 117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92622" y="359880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92623" y="3241927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133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34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5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6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7" name="组合 136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152" name="直接连接符 151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接连接符 152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接连接符 153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矩形 117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126" grpId="0"/>
      <p:bldP spid="127" grpId="0"/>
      <p:bldP spid="130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0346" y="3240557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36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9" name="组合 8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3" name="直接连接符 2"/>
            <p:cNvCxnSpPr>
              <a:stCxn id="116" idx="3"/>
            </p:cNvCxnSpPr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连接符 136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接连接符 151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3" name="矩形 152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4" name="矩形 153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5" name="矩形 154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6" name="矩形 155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/>
      <p:bldP spid="127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54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155" name="组合 154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156" name="直接连接符 155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直接连接符 156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直接连接符 157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矩形 158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60" name="矩形 159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0" name="矩形 169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1" name="矩形 170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/>
      <p:bldP spid="127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12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58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159" name="组合 158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160" name="直接连接符 159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接连接符 169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直接连接符 170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2" name="矩形 171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3" name="矩形 172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4" name="矩形 173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5" name="矩形 174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13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8" name="Group 31"/>
          <p:cNvGrpSpPr/>
          <p:nvPr/>
        </p:nvGrpSpPr>
        <p:grpSpPr bwMode="auto">
          <a:xfrm>
            <a:off x="6516328" y="3560370"/>
            <a:ext cx="2571752" cy="285750"/>
            <a:chOff x="3982" y="527"/>
            <a:chExt cx="1620" cy="180"/>
          </a:xfrm>
        </p:grpSpPr>
        <p:sp>
          <p:nvSpPr>
            <p:cNvPr id="15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partition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7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71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172" name="组合 171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173" name="直接连接符 172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接连接符 173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接连接符 174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6" name="矩形 175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7" name="矩形 176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9" name="矩形 178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8" name="Group 31"/>
          <p:cNvGrpSpPr/>
          <p:nvPr/>
        </p:nvGrpSpPr>
        <p:grpSpPr bwMode="auto">
          <a:xfrm>
            <a:off x="6516328" y="3560370"/>
            <a:ext cx="2571752" cy="285750"/>
            <a:chOff x="3982" y="527"/>
            <a:chExt cx="1620" cy="180"/>
          </a:xfrm>
        </p:grpSpPr>
        <p:sp>
          <p:nvSpPr>
            <p:cNvPr id="15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partition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7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71" name="Group 153"/>
          <p:cNvGrpSpPr/>
          <p:nvPr/>
        </p:nvGrpSpPr>
        <p:grpSpPr bwMode="auto">
          <a:xfrm>
            <a:off x="3125210" y="1907706"/>
            <a:ext cx="877888" cy="434975"/>
            <a:chOff x="1511" y="516"/>
            <a:chExt cx="553" cy="274"/>
          </a:xfrm>
        </p:grpSpPr>
        <p:sp>
          <p:nvSpPr>
            <p:cNvPr id="172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73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74" name="组合 173"/>
          <p:cNvGrpSpPr/>
          <p:nvPr/>
        </p:nvGrpSpPr>
        <p:grpSpPr>
          <a:xfrm>
            <a:off x="4756310" y="3945400"/>
            <a:ext cx="874713" cy="669926"/>
            <a:chOff x="4756817" y="602902"/>
            <a:chExt cx="874713" cy="669925"/>
          </a:xfrm>
        </p:grpSpPr>
        <p:sp>
          <p:nvSpPr>
            <p:cNvPr id="17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76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77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7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chemeClr val="accent1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80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7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81" name="Text Box 156"/>
          <p:cNvSpPr txBox="1">
            <a:spLocks noChangeArrowheads="1"/>
          </p:cNvSpPr>
          <p:nvPr/>
        </p:nvSpPr>
        <p:spPr bwMode="auto">
          <a:xfrm>
            <a:off x="5207533" y="42311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2" name="Text Box 157"/>
          <p:cNvSpPr txBox="1">
            <a:spLocks noChangeArrowheads="1"/>
          </p:cNvSpPr>
          <p:nvPr/>
        </p:nvSpPr>
        <p:spPr bwMode="auto">
          <a:xfrm>
            <a:off x="5197274" y="387888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83" name="Group 31"/>
          <p:cNvGrpSpPr/>
          <p:nvPr/>
        </p:nvGrpSpPr>
        <p:grpSpPr bwMode="auto">
          <a:xfrm>
            <a:off x="6516328" y="3785945"/>
            <a:ext cx="2571752" cy="285750"/>
            <a:chOff x="3982" y="527"/>
            <a:chExt cx="1620" cy="180"/>
          </a:xfrm>
        </p:grpSpPr>
        <p:sp>
          <p:nvSpPr>
            <p:cNvPr id="184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5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6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87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188" name="组合 187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189" name="直接连接符 188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接连接符 189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接连接符 190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2" name="Freeform 171"/>
          <p:cNvSpPr/>
          <p:nvPr/>
        </p:nvSpPr>
        <p:spPr bwMode="auto">
          <a:xfrm>
            <a:off x="4009446" y="2179020"/>
            <a:ext cx="1079500" cy="1966558"/>
          </a:xfrm>
          <a:custGeom>
            <a:avLst/>
            <a:gdLst>
              <a:gd name="T0" fmla="*/ 0 w 725"/>
              <a:gd name="T1" fmla="*/ 0 h 1360"/>
              <a:gd name="T2" fmla="*/ 115 w 725"/>
              <a:gd name="T3" fmla="*/ 0 h 1360"/>
              <a:gd name="T4" fmla="*/ 115 w 725"/>
              <a:gd name="T5" fmla="*/ 1360 h 1360"/>
              <a:gd name="T6" fmla="*/ 462 w 725"/>
              <a:gd name="T7" fmla="*/ 1360 h 1360"/>
              <a:gd name="T8" fmla="*/ 0 60000 65536"/>
              <a:gd name="T9" fmla="*/ 0 60000 65536"/>
              <a:gd name="T10" fmla="*/ 0 60000 65536"/>
              <a:gd name="T11" fmla="*/ 0 60000 65536"/>
              <a:gd name="T12" fmla="*/ 0 w 725"/>
              <a:gd name="T13" fmla="*/ 0 h 1360"/>
              <a:gd name="T14" fmla="*/ 725 w 725"/>
              <a:gd name="T15" fmla="*/ 1360 h 13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5" h="1360">
                <a:moveTo>
                  <a:pt x="0" y="0"/>
                </a:moveTo>
                <a:lnTo>
                  <a:pt x="181" y="0"/>
                </a:lnTo>
                <a:lnTo>
                  <a:pt x="181" y="1360"/>
                </a:lnTo>
                <a:lnTo>
                  <a:pt x="725" y="136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93" name="矩形 192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4" name="矩形 193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5" name="矩形 194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6" name="矩形 195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7" name="矩形 196"/>
          <p:cNvSpPr/>
          <p:nvPr/>
        </p:nvSpPr>
        <p:spPr>
          <a:xfrm>
            <a:off x="4403407" y="4396314"/>
            <a:ext cx="71526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partition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/>
      <p:bldP spid="181" grpId="0"/>
      <p:bldP spid="182" grpId="0"/>
      <p:bldP spid="192" grpId="0" animBg="1"/>
      <p:bldP spid="197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8" name="Group 31"/>
          <p:cNvGrpSpPr/>
          <p:nvPr/>
        </p:nvGrpSpPr>
        <p:grpSpPr bwMode="auto">
          <a:xfrm>
            <a:off x="6516328" y="3560370"/>
            <a:ext cx="2571752" cy="285750"/>
            <a:chOff x="3982" y="527"/>
            <a:chExt cx="1620" cy="180"/>
          </a:xfrm>
        </p:grpSpPr>
        <p:sp>
          <p:nvSpPr>
            <p:cNvPr id="15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partition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7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71" name="Group 153"/>
          <p:cNvGrpSpPr/>
          <p:nvPr/>
        </p:nvGrpSpPr>
        <p:grpSpPr bwMode="auto">
          <a:xfrm>
            <a:off x="3125210" y="1907706"/>
            <a:ext cx="877888" cy="434975"/>
            <a:chOff x="1511" y="516"/>
            <a:chExt cx="553" cy="274"/>
          </a:xfrm>
        </p:grpSpPr>
        <p:sp>
          <p:nvSpPr>
            <p:cNvPr id="172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73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74" name="组合 173"/>
          <p:cNvGrpSpPr/>
          <p:nvPr/>
        </p:nvGrpSpPr>
        <p:grpSpPr>
          <a:xfrm>
            <a:off x="4756310" y="3945400"/>
            <a:ext cx="874713" cy="669926"/>
            <a:chOff x="4756817" y="602902"/>
            <a:chExt cx="874713" cy="669925"/>
          </a:xfrm>
        </p:grpSpPr>
        <p:sp>
          <p:nvSpPr>
            <p:cNvPr id="17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76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77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7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chemeClr val="accent1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80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7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81" name="Text Box 156"/>
          <p:cNvSpPr txBox="1">
            <a:spLocks noChangeArrowheads="1"/>
          </p:cNvSpPr>
          <p:nvPr/>
        </p:nvSpPr>
        <p:spPr bwMode="auto">
          <a:xfrm>
            <a:off x="5100796" y="4242711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2" name="Text Box 157"/>
          <p:cNvSpPr txBox="1">
            <a:spLocks noChangeArrowheads="1"/>
          </p:cNvSpPr>
          <p:nvPr/>
        </p:nvSpPr>
        <p:spPr bwMode="auto">
          <a:xfrm>
            <a:off x="5095744" y="3903207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83" name="Group 31"/>
          <p:cNvGrpSpPr/>
          <p:nvPr/>
        </p:nvGrpSpPr>
        <p:grpSpPr bwMode="auto">
          <a:xfrm>
            <a:off x="6516328" y="3785945"/>
            <a:ext cx="2571752" cy="285750"/>
            <a:chOff x="3982" y="527"/>
            <a:chExt cx="1620" cy="180"/>
          </a:xfrm>
        </p:grpSpPr>
        <p:sp>
          <p:nvSpPr>
            <p:cNvPr id="184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5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6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87" name="Group 31"/>
          <p:cNvGrpSpPr/>
          <p:nvPr/>
        </p:nvGrpSpPr>
        <p:grpSpPr bwMode="auto">
          <a:xfrm>
            <a:off x="6509416" y="4010717"/>
            <a:ext cx="2571752" cy="285750"/>
            <a:chOff x="3982" y="527"/>
            <a:chExt cx="1620" cy="180"/>
          </a:xfrm>
        </p:grpSpPr>
        <p:sp>
          <p:nvSpPr>
            <p:cNvPr id="188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z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9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9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91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192" name="组合 191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193" name="直接连接符 192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接连接符 193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接连接符 194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6" name="Freeform 171"/>
          <p:cNvSpPr/>
          <p:nvPr/>
        </p:nvSpPr>
        <p:spPr bwMode="auto">
          <a:xfrm>
            <a:off x="4009446" y="2179020"/>
            <a:ext cx="1079500" cy="1966558"/>
          </a:xfrm>
          <a:custGeom>
            <a:avLst/>
            <a:gdLst>
              <a:gd name="T0" fmla="*/ 0 w 725"/>
              <a:gd name="T1" fmla="*/ 0 h 1360"/>
              <a:gd name="T2" fmla="*/ 115 w 725"/>
              <a:gd name="T3" fmla="*/ 0 h 1360"/>
              <a:gd name="T4" fmla="*/ 115 w 725"/>
              <a:gd name="T5" fmla="*/ 1360 h 1360"/>
              <a:gd name="T6" fmla="*/ 462 w 725"/>
              <a:gd name="T7" fmla="*/ 1360 h 1360"/>
              <a:gd name="T8" fmla="*/ 0 60000 65536"/>
              <a:gd name="T9" fmla="*/ 0 60000 65536"/>
              <a:gd name="T10" fmla="*/ 0 60000 65536"/>
              <a:gd name="T11" fmla="*/ 0 60000 65536"/>
              <a:gd name="T12" fmla="*/ 0 w 725"/>
              <a:gd name="T13" fmla="*/ 0 h 1360"/>
              <a:gd name="T14" fmla="*/ 725 w 725"/>
              <a:gd name="T15" fmla="*/ 1360 h 13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5" h="1360">
                <a:moveTo>
                  <a:pt x="0" y="0"/>
                </a:moveTo>
                <a:lnTo>
                  <a:pt x="181" y="0"/>
                </a:lnTo>
                <a:lnTo>
                  <a:pt x="181" y="1360"/>
                </a:lnTo>
                <a:lnTo>
                  <a:pt x="725" y="136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97" name="矩形 196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8" name="矩形 197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9" name="矩形 198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00" name="矩形 199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01" name="矩形 200"/>
          <p:cNvSpPr/>
          <p:nvPr/>
        </p:nvSpPr>
        <p:spPr>
          <a:xfrm>
            <a:off x="4403407" y="4396314"/>
            <a:ext cx="71526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partition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/>
      <p:bldP spid="182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8" name="Group 31"/>
          <p:cNvGrpSpPr/>
          <p:nvPr/>
        </p:nvGrpSpPr>
        <p:grpSpPr bwMode="auto">
          <a:xfrm>
            <a:off x="6516328" y="3560370"/>
            <a:ext cx="2571752" cy="285750"/>
            <a:chOff x="3982" y="527"/>
            <a:chExt cx="1620" cy="180"/>
          </a:xfrm>
        </p:grpSpPr>
        <p:sp>
          <p:nvSpPr>
            <p:cNvPr id="15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partition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7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91" name="Group 31"/>
          <p:cNvGrpSpPr/>
          <p:nvPr/>
        </p:nvGrpSpPr>
        <p:grpSpPr bwMode="auto">
          <a:xfrm>
            <a:off x="6516331" y="4236016"/>
            <a:ext cx="2571753" cy="285750"/>
            <a:chOff x="3982" y="535"/>
            <a:chExt cx="1620" cy="180"/>
          </a:xfrm>
        </p:grpSpPr>
        <p:sp>
          <p:nvSpPr>
            <p:cNvPr id="19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93" name="Text Box 33"/>
            <p:cNvSpPr txBox="1">
              <a:spLocks noChangeArrowheads="1"/>
            </p:cNvSpPr>
            <p:nvPr/>
          </p:nvSpPr>
          <p:spPr bwMode="auto">
            <a:xfrm>
              <a:off x="3982" y="535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9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95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196" name="组合 195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197" name="直接连接符 196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接连接符 197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直接连接符 198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1" name="Group 153"/>
          <p:cNvGrpSpPr/>
          <p:nvPr/>
        </p:nvGrpSpPr>
        <p:grpSpPr bwMode="auto">
          <a:xfrm>
            <a:off x="3125210" y="1907706"/>
            <a:ext cx="877888" cy="434975"/>
            <a:chOff x="1511" y="516"/>
            <a:chExt cx="553" cy="274"/>
          </a:xfrm>
        </p:grpSpPr>
        <p:sp>
          <p:nvSpPr>
            <p:cNvPr id="202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9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210" name="Freeform 171"/>
          <p:cNvSpPr/>
          <p:nvPr/>
        </p:nvSpPr>
        <p:spPr bwMode="auto">
          <a:xfrm>
            <a:off x="4009446" y="2179020"/>
            <a:ext cx="1079500" cy="1966558"/>
          </a:xfrm>
          <a:custGeom>
            <a:avLst/>
            <a:gdLst>
              <a:gd name="T0" fmla="*/ 0 w 725"/>
              <a:gd name="T1" fmla="*/ 0 h 1360"/>
              <a:gd name="T2" fmla="*/ 115 w 725"/>
              <a:gd name="T3" fmla="*/ 0 h 1360"/>
              <a:gd name="T4" fmla="*/ 115 w 725"/>
              <a:gd name="T5" fmla="*/ 1360 h 1360"/>
              <a:gd name="T6" fmla="*/ 462 w 725"/>
              <a:gd name="T7" fmla="*/ 1360 h 1360"/>
              <a:gd name="T8" fmla="*/ 0 60000 65536"/>
              <a:gd name="T9" fmla="*/ 0 60000 65536"/>
              <a:gd name="T10" fmla="*/ 0 60000 65536"/>
              <a:gd name="T11" fmla="*/ 0 60000 65536"/>
              <a:gd name="T12" fmla="*/ 0 w 725"/>
              <a:gd name="T13" fmla="*/ 0 h 1360"/>
              <a:gd name="T14" fmla="*/ 725 w 725"/>
              <a:gd name="T15" fmla="*/ 1360 h 13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5" h="1360">
                <a:moveTo>
                  <a:pt x="0" y="0"/>
                </a:moveTo>
                <a:lnTo>
                  <a:pt x="181" y="0"/>
                </a:lnTo>
                <a:lnTo>
                  <a:pt x="181" y="1360"/>
                </a:lnTo>
                <a:lnTo>
                  <a:pt x="725" y="136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211" name="组合 210"/>
          <p:cNvGrpSpPr/>
          <p:nvPr/>
        </p:nvGrpSpPr>
        <p:grpSpPr>
          <a:xfrm>
            <a:off x="4756310" y="3945400"/>
            <a:ext cx="874713" cy="669926"/>
            <a:chOff x="4756817" y="602902"/>
            <a:chExt cx="874713" cy="669925"/>
          </a:xfrm>
        </p:grpSpPr>
        <p:sp>
          <p:nvSpPr>
            <p:cNvPr id="21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21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21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21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chemeClr val="accent1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1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21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220" name="Text Box 156"/>
          <p:cNvSpPr txBox="1">
            <a:spLocks noChangeArrowheads="1"/>
          </p:cNvSpPr>
          <p:nvPr/>
        </p:nvSpPr>
        <p:spPr bwMode="auto">
          <a:xfrm>
            <a:off x="5100796" y="4242711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21" name="Text Box 157"/>
          <p:cNvSpPr txBox="1">
            <a:spLocks noChangeArrowheads="1"/>
          </p:cNvSpPr>
          <p:nvPr/>
        </p:nvSpPr>
        <p:spPr bwMode="auto">
          <a:xfrm>
            <a:off x="5095744" y="3903207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222" name="Group 31"/>
          <p:cNvGrpSpPr/>
          <p:nvPr/>
        </p:nvGrpSpPr>
        <p:grpSpPr bwMode="auto">
          <a:xfrm>
            <a:off x="6516328" y="3785945"/>
            <a:ext cx="2571752" cy="285750"/>
            <a:chOff x="3982" y="527"/>
            <a:chExt cx="1620" cy="180"/>
          </a:xfrm>
        </p:grpSpPr>
        <p:sp>
          <p:nvSpPr>
            <p:cNvPr id="22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2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2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226" name="Group 31"/>
          <p:cNvGrpSpPr/>
          <p:nvPr/>
        </p:nvGrpSpPr>
        <p:grpSpPr bwMode="auto">
          <a:xfrm>
            <a:off x="6509416" y="4010717"/>
            <a:ext cx="2571752" cy="285750"/>
            <a:chOff x="3982" y="527"/>
            <a:chExt cx="1620" cy="180"/>
          </a:xfrm>
        </p:grpSpPr>
        <p:sp>
          <p:nvSpPr>
            <p:cNvPr id="22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z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28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2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71" name="矩形 170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2" name="矩形 171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3" name="矩形 172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4" name="矩形 173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5" name="矩形 174"/>
          <p:cNvSpPr/>
          <p:nvPr/>
        </p:nvSpPr>
        <p:spPr>
          <a:xfrm>
            <a:off x="4403407" y="4396314"/>
            <a:ext cx="71526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partition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0" grpId="0"/>
      <p:bldP spid="22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8" name="Group 31"/>
          <p:cNvGrpSpPr/>
          <p:nvPr/>
        </p:nvGrpSpPr>
        <p:grpSpPr bwMode="auto">
          <a:xfrm>
            <a:off x="6516328" y="3560370"/>
            <a:ext cx="2571752" cy="285750"/>
            <a:chOff x="3982" y="527"/>
            <a:chExt cx="1620" cy="180"/>
          </a:xfrm>
        </p:grpSpPr>
        <p:sp>
          <p:nvSpPr>
            <p:cNvPr id="15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partition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7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95" name="Group 31"/>
          <p:cNvGrpSpPr/>
          <p:nvPr/>
        </p:nvGrpSpPr>
        <p:grpSpPr bwMode="auto">
          <a:xfrm>
            <a:off x="6509416" y="4460788"/>
            <a:ext cx="2571753" cy="285750"/>
            <a:chOff x="3982" y="535"/>
            <a:chExt cx="1620" cy="180"/>
          </a:xfrm>
        </p:grpSpPr>
        <p:sp>
          <p:nvSpPr>
            <p:cNvPr id="196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97" name="Text Box 33"/>
            <p:cNvSpPr txBox="1">
              <a:spLocks noChangeArrowheads="1"/>
            </p:cNvSpPr>
            <p:nvPr/>
          </p:nvSpPr>
          <p:spPr bwMode="auto">
            <a:xfrm>
              <a:off x="3982" y="535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98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99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200" name="组合 199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201" name="直接连接符 200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接连接符 208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1" name="Group 153"/>
          <p:cNvGrpSpPr/>
          <p:nvPr/>
        </p:nvGrpSpPr>
        <p:grpSpPr bwMode="auto">
          <a:xfrm>
            <a:off x="3125210" y="1907706"/>
            <a:ext cx="877888" cy="434975"/>
            <a:chOff x="1511" y="516"/>
            <a:chExt cx="553" cy="274"/>
          </a:xfrm>
        </p:grpSpPr>
        <p:sp>
          <p:nvSpPr>
            <p:cNvPr id="212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3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216" name="Freeform 171"/>
          <p:cNvSpPr/>
          <p:nvPr/>
        </p:nvSpPr>
        <p:spPr bwMode="auto">
          <a:xfrm>
            <a:off x="4009446" y="2179020"/>
            <a:ext cx="1079500" cy="1966558"/>
          </a:xfrm>
          <a:custGeom>
            <a:avLst/>
            <a:gdLst>
              <a:gd name="T0" fmla="*/ 0 w 725"/>
              <a:gd name="T1" fmla="*/ 0 h 1360"/>
              <a:gd name="T2" fmla="*/ 115 w 725"/>
              <a:gd name="T3" fmla="*/ 0 h 1360"/>
              <a:gd name="T4" fmla="*/ 115 w 725"/>
              <a:gd name="T5" fmla="*/ 1360 h 1360"/>
              <a:gd name="T6" fmla="*/ 462 w 725"/>
              <a:gd name="T7" fmla="*/ 1360 h 1360"/>
              <a:gd name="T8" fmla="*/ 0 60000 65536"/>
              <a:gd name="T9" fmla="*/ 0 60000 65536"/>
              <a:gd name="T10" fmla="*/ 0 60000 65536"/>
              <a:gd name="T11" fmla="*/ 0 60000 65536"/>
              <a:gd name="T12" fmla="*/ 0 w 725"/>
              <a:gd name="T13" fmla="*/ 0 h 1360"/>
              <a:gd name="T14" fmla="*/ 725 w 725"/>
              <a:gd name="T15" fmla="*/ 1360 h 13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5" h="1360">
                <a:moveTo>
                  <a:pt x="0" y="0"/>
                </a:moveTo>
                <a:lnTo>
                  <a:pt x="181" y="0"/>
                </a:lnTo>
                <a:lnTo>
                  <a:pt x="181" y="1360"/>
                </a:lnTo>
                <a:lnTo>
                  <a:pt x="725" y="136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217" name="组合 216"/>
          <p:cNvGrpSpPr/>
          <p:nvPr/>
        </p:nvGrpSpPr>
        <p:grpSpPr>
          <a:xfrm>
            <a:off x="4756310" y="3945400"/>
            <a:ext cx="874713" cy="669926"/>
            <a:chOff x="4756817" y="602902"/>
            <a:chExt cx="874713" cy="669925"/>
          </a:xfrm>
        </p:grpSpPr>
        <p:sp>
          <p:nvSpPr>
            <p:cNvPr id="21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219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22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22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chemeClr val="accent1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2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22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224" name="Text Box 156"/>
          <p:cNvSpPr txBox="1">
            <a:spLocks noChangeArrowheads="1"/>
          </p:cNvSpPr>
          <p:nvPr/>
        </p:nvSpPr>
        <p:spPr bwMode="auto">
          <a:xfrm>
            <a:off x="5100796" y="4242711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17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25" name="Text Box 157"/>
          <p:cNvSpPr txBox="1">
            <a:spLocks noChangeArrowheads="1"/>
          </p:cNvSpPr>
          <p:nvPr/>
        </p:nvSpPr>
        <p:spPr bwMode="auto">
          <a:xfrm>
            <a:off x="5095744" y="3903207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226" name="Group 31"/>
          <p:cNvGrpSpPr/>
          <p:nvPr/>
        </p:nvGrpSpPr>
        <p:grpSpPr bwMode="auto">
          <a:xfrm>
            <a:off x="6516331" y="4236016"/>
            <a:ext cx="2571753" cy="285750"/>
            <a:chOff x="3982" y="535"/>
            <a:chExt cx="1620" cy="180"/>
          </a:xfrm>
        </p:grpSpPr>
        <p:sp>
          <p:nvSpPr>
            <p:cNvPr id="22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28" name="Text Box 33"/>
            <p:cNvSpPr txBox="1">
              <a:spLocks noChangeArrowheads="1"/>
            </p:cNvSpPr>
            <p:nvPr/>
          </p:nvSpPr>
          <p:spPr bwMode="auto">
            <a:xfrm>
              <a:off x="3982" y="535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2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230" name="Group 31"/>
          <p:cNvGrpSpPr/>
          <p:nvPr/>
        </p:nvGrpSpPr>
        <p:grpSpPr bwMode="auto">
          <a:xfrm>
            <a:off x="6516328" y="3785945"/>
            <a:ext cx="2571752" cy="285750"/>
            <a:chOff x="3982" y="527"/>
            <a:chExt cx="1620" cy="180"/>
          </a:xfrm>
        </p:grpSpPr>
        <p:sp>
          <p:nvSpPr>
            <p:cNvPr id="23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234" name="Group 31"/>
          <p:cNvGrpSpPr/>
          <p:nvPr/>
        </p:nvGrpSpPr>
        <p:grpSpPr bwMode="auto">
          <a:xfrm>
            <a:off x="6509416" y="4010717"/>
            <a:ext cx="2571752" cy="285750"/>
            <a:chOff x="3982" y="527"/>
            <a:chExt cx="1620" cy="180"/>
          </a:xfrm>
        </p:grpSpPr>
        <p:sp>
          <p:nvSpPr>
            <p:cNvPr id="23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z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71" name="矩形 170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2" name="矩形 171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3" name="矩形 172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4" name="矩形 173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5" name="矩形 174"/>
          <p:cNvSpPr/>
          <p:nvPr/>
        </p:nvSpPr>
        <p:spPr>
          <a:xfrm>
            <a:off x="4403407" y="4396314"/>
            <a:ext cx="71526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partition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4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8" name="Group 31"/>
          <p:cNvGrpSpPr/>
          <p:nvPr/>
        </p:nvGrpSpPr>
        <p:grpSpPr bwMode="auto">
          <a:xfrm>
            <a:off x="6516328" y="3560370"/>
            <a:ext cx="2571752" cy="285750"/>
            <a:chOff x="3982" y="527"/>
            <a:chExt cx="1620" cy="180"/>
          </a:xfrm>
        </p:grpSpPr>
        <p:sp>
          <p:nvSpPr>
            <p:cNvPr id="15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partition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7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99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200" name="组合 199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201" name="直接连接符 200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接连接符 208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1" name="Group 153"/>
          <p:cNvGrpSpPr/>
          <p:nvPr/>
        </p:nvGrpSpPr>
        <p:grpSpPr bwMode="auto">
          <a:xfrm>
            <a:off x="3125210" y="1907706"/>
            <a:ext cx="877888" cy="434975"/>
            <a:chOff x="1511" y="516"/>
            <a:chExt cx="553" cy="274"/>
          </a:xfrm>
        </p:grpSpPr>
        <p:sp>
          <p:nvSpPr>
            <p:cNvPr id="212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3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216" name="Freeform 171"/>
          <p:cNvSpPr/>
          <p:nvPr/>
        </p:nvSpPr>
        <p:spPr bwMode="auto">
          <a:xfrm>
            <a:off x="4009446" y="2179020"/>
            <a:ext cx="1079500" cy="1966558"/>
          </a:xfrm>
          <a:custGeom>
            <a:avLst/>
            <a:gdLst>
              <a:gd name="T0" fmla="*/ 0 w 725"/>
              <a:gd name="T1" fmla="*/ 0 h 1360"/>
              <a:gd name="T2" fmla="*/ 115 w 725"/>
              <a:gd name="T3" fmla="*/ 0 h 1360"/>
              <a:gd name="T4" fmla="*/ 115 w 725"/>
              <a:gd name="T5" fmla="*/ 1360 h 1360"/>
              <a:gd name="T6" fmla="*/ 462 w 725"/>
              <a:gd name="T7" fmla="*/ 1360 h 1360"/>
              <a:gd name="T8" fmla="*/ 0 60000 65536"/>
              <a:gd name="T9" fmla="*/ 0 60000 65536"/>
              <a:gd name="T10" fmla="*/ 0 60000 65536"/>
              <a:gd name="T11" fmla="*/ 0 60000 65536"/>
              <a:gd name="T12" fmla="*/ 0 w 725"/>
              <a:gd name="T13" fmla="*/ 0 h 1360"/>
              <a:gd name="T14" fmla="*/ 725 w 725"/>
              <a:gd name="T15" fmla="*/ 1360 h 13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5" h="1360">
                <a:moveTo>
                  <a:pt x="0" y="0"/>
                </a:moveTo>
                <a:lnTo>
                  <a:pt x="181" y="0"/>
                </a:lnTo>
                <a:lnTo>
                  <a:pt x="181" y="1360"/>
                </a:lnTo>
                <a:lnTo>
                  <a:pt x="725" y="136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217" name="组合 216"/>
          <p:cNvGrpSpPr/>
          <p:nvPr/>
        </p:nvGrpSpPr>
        <p:grpSpPr>
          <a:xfrm>
            <a:off x="4756310" y="3945400"/>
            <a:ext cx="874713" cy="669926"/>
            <a:chOff x="4756817" y="602902"/>
            <a:chExt cx="874713" cy="669925"/>
          </a:xfrm>
        </p:grpSpPr>
        <p:sp>
          <p:nvSpPr>
            <p:cNvPr id="21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219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22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22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chemeClr val="accent1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2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22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224" name="Text Box 156"/>
          <p:cNvSpPr txBox="1">
            <a:spLocks noChangeArrowheads="1"/>
          </p:cNvSpPr>
          <p:nvPr/>
        </p:nvSpPr>
        <p:spPr bwMode="auto">
          <a:xfrm>
            <a:off x="5100796" y="4242711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25" name="Text Box 157"/>
          <p:cNvSpPr txBox="1">
            <a:spLocks noChangeArrowheads="1"/>
          </p:cNvSpPr>
          <p:nvPr/>
        </p:nvSpPr>
        <p:spPr bwMode="auto">
          <a:xfrm>
            <a:off x="5095744" y="3903207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226" name="Group 31"/>
          <p:cNvGrpSpPr/>
          <p:nvPr/>
        </p:nvGrpSpPr>
        <p:grpSpPr bwMode="auto">
          <a:xfrm>
            <a:off x="6516331" y="4236016"/>
            <a:ext cx="2571753" cy="285750"/>
            <a:chOff x="3982" y="535"/>
            <a:chExt cx="1620" cy="180"/>
          </a:xfrm>
        </p:grpSpPr>
        <p:sp>
          <p:nvSpPr>
            <p:cNvPr id="22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28" name="Text Box 33"/>
            <p:cNvSpPr txBox="1">
              <a:spLocks noChangeArrowheads="1"/>
            </p:cNvSpPr>
            <p:nvPr/>
          </p:nvSpPr>
          <p:spPr bwMode="auto">
            <a:xfrm>
              <a:off x="3982" y="535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2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230" name="Group 31"/>
          <p:cNvGrpSpPr/>
          <p:nvPr/>
        </p:nvGrpSpPr>
        <p:grpSpPr bwMode="auto">
          <a:xfrm>
            <a:off x="6516328" y="3785945"/>
            <a:ext cx="2571752" cy="285750"/>
            <a:chOff x="3982" y="527"/>
            <a:chExt cx="1620" cy="180"/>
          </a:xfrm>
        </p:grpSpPr>
        <p:sp>
          <p:nvSpPr>
            <p:cNvPr id="23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234" name="Group 31"/>
          <p:cNvGrpSpPr/>
          <p:nvPr/>
        </p:nvGrpSpPr>
        <p:grpSpPr bwMode="auto">
          <a:xfrm>
            <a:off x="6509416" y="4010717"/>
            <a:ext cx="2571752" cy="285750"/>
            <a:chOff x="3982" y="527"/>
            <a:chExt cx="1620" cy="180"/>
          </a:xfrm>
        </p:grpSpPr>
        <p:sp>
          <p:nvSpPr>
            <p:cNvPr id="23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z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238" name="Group 31"/>
          <p:cNvGrpSpPr/>
          <p:nvPr/>
        </p:nvGrpSpPr>
        <p:grpSpPr bwMode="auto">
          <a:xfrm>
            <a:off x="6509416" y="4460788"/>
            <a:ext cx="2571753" cy="285750"/>
            <a:chOff x="3982" y="535"/>
            <a:chExt cx="1620" cy="180"/>
          </a:xfrm>
        </p:grpSpPr>
        <p:sp>
          <p:nvSpPr>
            <p:cNvPr id="2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40" name="Text Box 33"/>
            <p:cNvSpPr txBox="1">
              <a:spLocks noChangeArrowheads="1"/>
            </p:cNvSpPr>
            <p:nvPr/>
          </p:nvSpPr>
          <p:spPr bwMode="auto">
            <a:xfrm>
              <a:off x="3982" y="535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71" name="矩形 170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2" name="矩形 171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3" name="矩形 172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4" name="矩形 173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5" name="矩形 174"/>
          <p:cNvSpPr/>
          <p:nvPr/>
        </p:nvSpPr>
        <p:spPr>
          <a:xfrm>
            <a:off x="4403407" y="4396314"/>
            <a:ext cx="71526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partition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4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6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  <a:endParaRPr lang="en-US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58" name="Group 31"/>
          <p:cNvGrpSpPr/>
          <p:nvPr/>
        </p:nvGrpSpPr>
        <p:grpSpPr bwMode="auto">
          <a:xfrm>
            <a:off x="6516328" y="3560370"/>
            <a:ext cx="2571752" cy="285750"/>
            <a:chOff x="3982" y="527"/>
            <a:chExt cx="1620" cy="180"/>
          </a:xfrm>
        </p:grpSpPr>
        <p:sp>
          <p:nvSpPr>
            <p:cNvPr id="15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partition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7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99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  <a:endParaRPr lang="en-US" altLang="zh-CN" sz="180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grpSp>
        <p:nvGrpSpPr>
          <p:cNvPr id="200" name="组合 199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201" name="直接连接符 200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接连接符 208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1" name="Group 153"/>
          <p:cNvGrpSpPr/>
          <p:nvPr/>
        </p:nvGrpSpPr>
        <p:grpSpPr bwMode="auto">
          <a:xfrm>
            <a:off x="3125210" y="1907706"/>
            <a:ext cx="877888" cy="434975"/>
            <a:chOff x="1511" y="516"/>
            <a:chExt cx="553" cy="274"/>
          </a:xfrm>
        </p:grpSpPr>
        <p:sp>
          <p:nvSpPr>
            <p:cNvPr id="212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3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216" name="Freeform 171"/>
          <p:cNvSpPr/>
          <p:nvPr/>
        </p:nvSpPr>
        <p:spPr bwMode="auto">
          <a:xfrm>
            <a:off x="4009446" y="2179020"/>
            <a:ext cx="1079500" cy="1966558"/>
          </a:xfrm>
          <a:custGeom>
            <a:avLst/>
            <a:gdLst>
              <a:gd name="T0" fmla="*/ 0 w 725"/>
              <a:gd name="T1" fmla="*/ 0 h 1360"/>
              <a:gd name="T2" fmla="*/ 115 w 725"/>
              <a:gd name="T3" fmla="*/ 0 h 1360"/>
              <a:gd name="T4" fmla="*/ 115 w 725"/>
              <a:gd name="T5" fmla="*/ 1360 h 1360"/>
              <a:gd name="T6" fmla="*/ 462 w 725"/>
              <a:gd name="T7" fmla="*/ 1360 h 1360"/>
              <a:gd name="T8" fmla="*/ 0 60000 65536"/>
              <a:gd name="T9" fmla="*/ 0 60000 65536"/>
              <a:gd name="T10" fmla="*/ 0 60000 65536"/>
              <a:gd name="T11" fmla="*/ 0 60000 65536"/>
              <a:gd name="T12" fmla="*/ 0 w 725"/>
              <a:gd name="T13" fmla="*/ 0 h 1360"/>
              <a:gd name="T14" fmla="*/ 725 w 725"/>
              <a:gd name="T15" fmla="*/ 1360 h 13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5" h="1360">
                <a:moveTo>
                  <a:pt x="0" y="0"/>
                </a:moveTo>
                <a:lnTo>
                  <a:pt x="181" y="0"/>
                </a:lnTo>
                <a:lnTo>
                  <a:pt x="181" y="1360"/>
                </a:lnTo>
                <a:lnTo>
                  <a:pt x="725" y="136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217" name="组合 216"/>
          <p:cNvGrpSpPr/>
          <p:nvPr/>
        </p:nvGrpSpPr>
        <p:grpSpPr>
          <a:xfrm>
            <a:off x="4756310" y="3945400"/>
            <a:ext cx="874713" cy="669926"/>
            <a:chOff x="4756817" y="602902"/>
            <a:chExt cx="874713" cy="669925"/>
          </a:xfrm>
        </p:grpSpPr>
        <p:sp>
          <p:nvSpPr>
            <p:cNvPr id="21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219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22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22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chemeClr val="accent1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2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22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  <a:endPara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224" name="Text Box 156"/>
          <p:cNvSpPr txBox="1">
            <a:spLocks noChangeArrowheads="1"/>
          </p:cNvSpPr>
          <p:nvPr/>
        </p:nvSpPr>
        <p:spPr bwMode="auto">
          <a:xfrm>
            <a:off x="5100796" y="4242711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18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25" name="Text Box 157"/>
          <p:cNvSpPr txBox="1">
            <a:spLocks noChangeArrowheads="1"/>
          </p:cNvSpPr>
          <p:nvPr/>
        </p:nvSpPr>
        <p:spPr bwMode="auto">
          <a:xfrm>
            <a:off x="5095744" y="3903207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endParaRPr lang="en-GB" altLang="zh-CN" sz="24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226" name="Group 31"/>
          <p:cNvGrpSpPr/>
          <p:nvPr/>
        </p:nvGrpSpPr>
        <p:grpSpPr bwMode="auto">
          <a:xfrm>
            <a:off x="6516331" y="4236016"/>
            <a:ext cx="2571753" cy="285750"/>
            <a:chOff x="3982" y="535"/>
            <a:chExt cx="1620" cy="180"/>
          </a:xfrm>
        </p:grpSpPr>
        <p:sp>
          <p:nvSpPr>
            <p:cNvPr id="22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28" name="Text Box 33"/>
            <p:cNvSpPr txBox="1">
              <a:spLocks noChangeArrowheads="1"/>
            </p:cNvSpPr>
            <p:nvPr/>
          </p:nvSpPr>
          <p:spPr bwMode="auto">
            <a:xfrm>
              <a:off x="3982" y="535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17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2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230" name="Group 31"/>
          <p:cNvGrpSpPr/>
          <p:nvPr/>
        </p:nvGrpSpPr>
        <p:grpSpPr bwMode="auto">
          <a:xfrm>
            <a:off x="6516328" y="3785945"/>
            <a:ext cx="2571752" cy="285750"/>
            <a:chOff x="3982" y="527"/>
            <a:chExt cx="1620" cy="180"/>
          </a:xfrm>
        </p:grpSpPr>
        <p:sp>
          <p:nvSpPr>
            <p:cNvPr id="23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234" name="Group 31"/>
          <p:cNvGrpSpPr/>
          <p:nvPr/>
        </p:nvGrpSpPr>
        <p:grpSpPr bwMode="auto">
          <a:xfrm>
            <a:off x="6509416" y="4010717"/>
            <a:ext cx="2571752" cy="285750"/>
            <a:chOff x="3982" y="527"/>
            <a:chExt cx="1620" cy="180"/>
          </a:xfrm>
        </p:grpSpPr>
        <p:sp>
          <p:nvSpPr>
            <p:cNvPr id="23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z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238" name="Group 31"/>
          <p:cNvGrpSpPr/>
          <p:nvPr/>
        </p:nvGrpSpPr>
        <p:grpSpPr bwMode="auto">
          <a:xfrm>
            <a:off x="6509416" y="4460788"/>
            <a:ext cx="2571753" cy="285750"/>
            <a:chOff x="3982" y="535"/>
            <a:chExt cx="1620" cy="180"/>
          </a:xfrm>
        </p:grpSpPr>
        <p:sp>
          <p:nvSpPr>
            <p:cNvPr id="2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40" name="Text Box 33"/>
            <p:cNvSpPr txBox="1">
              <a:spLocks noChangeArrowheads="1"/>
            </p:cNvSpPr>
            <p:nvPr/>
          </p:nvSpPr>
          <p:spPr bwMode="auto">
            <a:xfrm>
              <a:off x="3982" y="535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18</a:t>
              </a:r>
              <a:endParaRPr lang="en-GB" altLang="zh-CN" sz="16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17</a:t>
              </a:r>
              <a:endParaRPr lang="en-GB" altLang="zh-CN" sz="18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71" name="Freeform 172"/>
          <p:cNvSpPr/>
          <p:nvPr/>
        </p:nvSpPr>
        <p:spPr bwMode="auto">
          <a:xfrm flipV="1">
            <a:off x="5651355" y="3738440"/>
            <a:ext cx="935038" cy="45719"/>
          </a:xfrm>
          <a:custGeom>
            <a:avLst/>
            <a:gdLst>
              <a:gd name="T0" fmla="*/ 0 w 725"/>
              <a:gd name="T1" fmla="*/ 0 h 1360"/>
              <a:gd name="T2" fmla="*/ 42 w 725"/>
              <a:gd name="T3" fmla="*/ 0 h 1360"/>
              <a:gd name="T4" fmla="*/ 42 w 725"/>
              <a:gd name="T5" fmla="*/ 79 h 1360"/>
              <a:gd name="T6" fmla="*/ 170 w 725"/>
              <a:gd name="T7" fmla="*/ 79 h 1360"/>
              <a:gd name="T8" fmla="*/ 0 60000 65536"/>
              <a:gd name="T9" fmla="*/ 0 60000 65536"/>
              <a:gd name="T10" fmla="*/ 0 60000 65536"/>
              <a:gd name="T11" fmla="*/ 0 60000 65536"/>
              <a:gd name="T12" fmla="*/ 0 w 725"/>
              <a:gd name="T13" fmla="*/ 0 h 1360"/>
              <a:gd name="T14" fmla="*/ 725 w 725"/>
              <a:gd name="T15" fmla="*/ 1360 h 13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5" h="1360">
                <a:moveTo>
                  <a:pt x="0" y="0"/>
                </a:moveTo>
                <a:lnTo>
                  <a:pt x="181" y="0"/>
                </a:lnTo>
                <a:lnTo>
                  <a:pt x="181" y="1360"/>
                </a:lnTo>
                <a:lnTo>
                  <a:pt x="725" y="1360"/>
                </a:lnTo>
              </a:path>
            </a:pathLst>
          </a:cu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72" name="Freeform 176"/>
          <p:cNvSpPr/>
          <p:nvPr/>
        </p:nvSpPr>
        <p:spPr bwMode="auto">
          <a:xfrm flipV="1">
            <a:off x="5642192" y="719410"/>
            <a:ext cx="1008063" cy="375299"/>
          </a:xfrm>
          <a:custGeom>
            <a:avLst/>
            <a:gdLst>
              <a:gd name="T0" fmla="*/ 0 w 635"/>
              <a:gd name="T1" fmla="*/ 0 h 454"/>
              <a:gd name="T2" fmla="*/ 499 w 635"/>
              <a:gd name="T3" fmla="*/ 0 h 454"/>
              <a:gd name="T4" fmla="*/ 499 w 635"/>
              <a:gd name="T5" fmla="*/ 454 h 454"/>
              <a:gd name="T6" fmla="*/ 635 w 635"/>
              <a:gd name="T7" fmla="*/ 454 h 454"/>
              <a:gd name="T8" fmla="*/ 0 60000 65536"/>
              <a:gd name="T9" fmla="*/ 0 60000 65536"/>
              <a:gd name="T10" fmla="*/ 0 60000 65536"/>
              <a:gd name="T11" fmla="*/ 0 60000 65536"/>
              <a:gd name="T12" fmla="*/ 0 w 635"/>
              <a:gd name="T13" fmla="*/ 0 h 454"/>
              <a:gd name="T14" fmla="*/ 635 w 635"/>
              <a:gd name="T15" fmla="*/ 454 h 45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35" h="454">
                <a:moveTo>
                  <a:pt x="0" y="0"/>
                </a:moveTo>
                <a:lnTo>
                  <a:pt x="499" y="0"/>
                </a:lnTo>
                <a:lnTo>
                  <a:pt x="499" y="454"/>
                </a:lnTo>
                <a:lnTo>
                  <a:pt x="635" y="454"/>
                </a:lnTo>
              </a:path>
            </a:pathLst>
          </a:custGeom>
          <a:noFill/>
          <a:ln w="19050" cap="flat" cmpd="sng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73" name="Freeform 174"/>
          <p:cNvSpPr/>
          <p:nvPr/>
        </p:nvSpPr>
        <p:spPr bwMode="auto">
          <a:xfrm>
            <a:off x="5651362" y="1746231"/>
            <a:ext cx="1008063" cy="875298"/>
          </a:xfrm>
          <a:custGeom>
            <a:avLst/>
            <a:gdLst>
              <a:gd name="T0" fmla="*/ 0 w 680"/>
              <a:gd name="T1" fmla="*/ 0 h 227"/>
              <a:gd name="T2" fmla="*/ 281 w 680"/>
              <a:gd name="T3" fmla="*/ 0 h 227"/>
              <a:gd name="T4" fmla="*/ 281 w 680"/>
              <a:gd name="T5" fmla="*/ 38944729 h 227"/>
              <a:gd name="T6" fmla="*/ 421 w 680"/>
              <a:gd name="T7" fmla="*/ 38944729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74" name="Freeform 173"/>
          <p:cNvSpPr/>
          <p:nvPr/>
        </p:nvSpPr>
        <p:spPr bwMode="auto">
          <a:xfrm flipV="1">
            <a:off x="5653187" y="2415056"/>
            <a:ext cx="935038" cy="699525"/>
          </a:xfrm>
          <a:custGeom>
            <a:avLst/>
            <a:gdLst>
              <a:gd name="T0" fmla="*/ 0 w 680"/>
              <a:gd name="T1" fmla="*/ 0 h 1044"/>
              <a:gd name="T2" fmla="*/ 149 w 680"/>
              <a:gd name="T3" fmla="*/ 0 h 1044"/>
              <a:gd name="T4" fmla="*/ 149 w 680"/>
              <a:gd name="T5" fmla="*/ 187 h 1044"/>
              <a:gd name="T6" fmla="*/ 249 w 680"/>
              <a:gd name="T7" fmla="*/ 187 h 1044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1044"/>
              <a:gd name="T14" fmla="*/ 680 w 680"/>
              <a:gd name="T15" fmla="*/ 1044 h 10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1044">
                <a:moveTo>
                  <a:pt x="0" y="0"/>
                </a:moveTo>
                <a:lnTo>
                  <a:pt x="408" y="0"/>
                </a:lnTo>
                <a:lnTo>
                  <a:pt x="408" y="1044"/>
                </a:lnTo>
                <a:lnTo>
                  <a:pt x="680" y="1044"/>
                </a:lnTo>
              </a:path>
            </a:pathLst>
          </a:custGeom>
          <a:noFill/>
          <a:ln w="19050" cap="flat" cmpd="sng">
            <a:solidFill>
              <a:srgbClr val="9900CC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75" name="Freeform 175"/>
          <p:cNvSpPr/>
          <p:nvPr/>
        </p:nvSpPr>
        <p:spPr bwMode="auto">
          <a:xfrm>
            <a:off x="5688012" y="4443959"/>
            <a:ext cx="935038" cy="171513"/>
          </a:xfrm>
          <a:custGeom>
            <a:avLst/>
            <a:gdLst>
              <a:gd name="T0" fmla="*/ 0 w 589"/>
              <a:gd name="T1" fmla="*/ 0 h 1089"/>
              <a:gd name="T2" fmla="*/ 226 w 589"/>
              <a:gd name="T3" fmla="*/ 0 h 1089"/>
              <a:gd name="T4" fmla="*/ 226 w 589"/>
              <a:gd name="T5" fmla="*/ 1089 h 1089"/>
              <a:gd name="T6" fmla="*/ 589 w 589"/>
              <a:gd name="T7" fmla="*/ 1089 h 1089"/>
              <a:gd name="T8" fmla="*/ 0 60000 65536"/>
              <a:gd name="T9" fmla="*/ 0 60000 65536"/>
              <a:gd name="T10" fmla="*/ 0 60000 65536"/>
              <a:gd name="T11" fmla="*/ 0 60000 65536"/>
              <a:gd name="T12" fmla="*/ 0 w 589"/>
              <a:gd name="T13" fmla="*/ 0 h 1089"/>
              <a:gd name="T14" fmla="*/ 589 w 589"/>
              <a:gd name="T15" fmla="*/ 1089 h 108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89" h="1089">
                <a:moveTo>
                  <a:pt x="0" y="0"/>
                </a:moveTo>
                <a:lnTo>
                  <a:pt x="226" y="0"/>
                </a:lnTo>
                <a:lnTo>
                  <a:pt x="226" y="1089"/>
                </a:lnTo>
                <a:lnTo>
                  <a:pt x="589" y="1089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2" name="矩形标注 1"/>
          <p:cNvSpPr/>
          <p:nvPr/>
        </p:nvSpPr>
        <p:spPr>
          <a:xfrm>
            <a:off x="1203899" y="4722519"/>
            <a:ext cx="3627745" cy="298631"/>
          </a:xfrm>
          <a:prstGeom prst="wedgeRectCallout">
            <a:avLst>
              <a:gd name="adj1" fmla="val -26541"/>
              <a:gd name="adj2" fmla="val -102991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r>
              <a:rPr lang="en-US" altLang="zh-CN" sz="2000" kern="0" dirty="0">
                <a:solidFill>
                  <a:srgbClr val="000000"/>
                </a:solidFill>
                <a:latin typeface="Times New Roman" panose="02020603050405020304" pitchFamily="18" charset="0"/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latin typeface="Times New Roman" panose="02020603050405020304" pitchFamily="18" charset="0"/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latin typeface="Times New Roman" panose="02020603050405020304" pitchFamily="18" charset="0"/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exchange</a:t>
            </a:r>
            <a:r>
              <a:rPr lang="en-US" altLang="zh-CN" sz="2000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2000" i="1" kern="0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) </a:t>
            </a:r>
            <a:r>
              <a:rPr lang="en-US" altLang="zh-CN" sz="2000" kern="0" dirty="0">
                <a:solidFill>
                  <a:srgbClr val="000000"/>
                </a:solidFill>
                <a:latin typeface="Times New Roman" panose="02020603050405020304" pitchFamily="18" charset="0"/>
                <a:ea typeface="方正楷体_GB2312" charset="0"/>
              </a:rPr>
              <a:t>…</a:t>
            </a:r>
            <a:endParaRPr lang="en-GB" altLang="zh-CN" sz="16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6" name="矩形 175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7" name="矩形 176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9" name="矩形 178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80" name="矩形 179"/>
          <p:cNvSpPr/>
          <p:nvPr/>
        </p:nvSpPr>
        <p:spPr>
          <a:xfrm>
            <a:off x="4403407" y="4396314"/>
            <a:ext cx="71526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partition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23951" y="1903867"/>
            <a:ext cx="1988026" cy="3077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defTabSz="914400"/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地址 </a:t>
            </a:r>
            <a:r>
              <a:rPr lang="en-US" altLang="zh-CN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=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层号 </a:t>
            </a:r>
            <a:r>
              <a:rPr lang="en-US" altLang="zh-CN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+ 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偏移地址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思想气泡: 云 4"/>
          <p:cNvSpPr/>
          <p:nvPr/>
        </p:nvSpPr>
        <p:spPr>
          <a:xfrm>
            <a:off x="34373" y="772196"/>
            <a:ext cx="3141915" cy="818900"/>
          </a:xfrm>
          <a:prstGeom prst="cloudCallout">
            <a:avLst>
              <a:gd name="adj1" fmla="val 42853"/>
              <a:gd name="adj2" fmla="val 71201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zh-CN" altLang="en-US" sz="135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如何根据</a:t>
            </a:r>
            <a:r>
              <a:rPr lang="zh-CN" altLang="en-US" sz="135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符号表</a:t>
            </a:r>
            <a:r>
              <a:rPr lang="zh-CN" altLang="en-US" sz="135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生成</a:t>
            </a:r>
            <a:r>
              <a:rPr lang="zh-CN" altLang="en-US" sz="135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中间代码</a:t>
            </a:r>
            <a:r>
              <a:rPr lang="zh-CN" altLang="en-US" sz="135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中的</a:t>
            </a:r>
            <a:r>
              <a:rPr lang="zh-CN" altLang="en-US" sz="135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地址</a:t>
            </a:r>
            <a:r>
              <a:rPr lang="zh-CN" altLang="en-US" sz="135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信息？</a:t>
            </a:r>
            <a:endParaRPr lang="zh-CN" altLang="en-US" sz="1350" dirty="0">
              <a:solidFill>
                <a:prstClr val="black"/>
              </a:solidFill>
              <a:latin typeface="Times New Roman" panose="02020603050405020304" pitchFamily="18" charset="0"/>
              <a:ea typeface="方正楷体_GB2312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705390" y="4570035"/>
            <a:ext cx="397866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500" i="1" dirty="0">
                <a:solidFill>
                  <a:srgbClr val="FF0000"/>
                </a:solidFill>
                <a:ea typeface="等线" panose="02010600030101010101" pitchFamily="2" charset="-122"/>
                <a:cs typeface="Times New Roman" panose="02020603050405020304" pitchFamily="18" charset="0"/>
              </a:rPr>
              <a:t>L1</a:t>
            </a:r>
            <a:endParaRPr lang="zh-CN" altLang="en-US" sz="2400" i="1" dirty="0">
              <a:solidFill>
                <a:srgbClr val="FF0000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82" name="矩形 181"/>
          <p:cNvSpPr/>
          <p:nvPr/>
        </p:nvSpPr>
        <p:spPr>
          <a:xfrm>
            <a:off x="2205306" y="4562891"/>
            <a:ext cx="397866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500" i="1" dirty="0">
                <a:solidFill>
                  <a:srgbClr val="FF0000"/>
                </a:solidFill>
                <a:ea typeface="等线" panose="02010600030101010101" pitchFamily="2" charset="-122"/>
                <a:cs typeface="Times New Roman" panose="02020603050405020304" pitchFamily="18" charset="0"/>
              </a:rPr>
              <a:t>L2</a:t>
            </a:r>
            <a:endParaRPr lang="zh-CN" altLang="en-US" sz="2400" i="1" dirty="0">
              <a:solidFill>
                <a:srgbClr val="FF0000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83" name="矩形 182"/>
          <p:cNvSpPr/>
          <p:nvPr/>
        </p:nvSpPr>
        <p:spPr>
          <a:xfrm>
            <a:off x="3127242" y="4562891"/>
            <a:ext cx="397866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500" i="1" dirty="0">
                <a:solidFill>
                  <a:srgbClr val="FF0000"/>
                </a:solidFill>
                <a:ea typeface="等线" panose="02010600030101010101" pitchFamily="2" charset="-122"/>
                <a:cs typeface="Times New Roman" panose="02020603050405020304" pitchFamily="18" charset="0"/>
              </a:rPr>
              <a:t>L1</a:t>
            </a:r>
            <a:endParaRPr lang="zh-CN" altLang="en-US" sz="2400" i="1" dirty="0">
              <a:solidFill>
                <a:srgbClr val="FF0000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6" grpId="0"/>
      <p:bldP spid="182" grpId="0"/>
      <p:bldP spid="183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内容占位符 2"/>
          <p:cNvSpPr>
            <a:spLocks noGrp="1"/>
          </p:cNvSpPr>
          <p:nvPr>
            <p:ph idx="1"/>
          </p:nvPr>
        </p:nvSpPr>
        <p:spPr>
          <a:xfrm>
            <a:off x="357188" y="842963"/>
            <a:ext cx="8501062" cy="2808287"/>
          </a:xfrm>
        </p:spPr>
        <p:txBody>
          <a:bodyPr/>
          <a:lstStyle/>
          <a:p>
            <a:pPr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存储组织</a:t>
            </a:r>
            <a:endParaRPr lang="zh-CN" altLang="en-US" b="1" dirty="0">
              <a:solidFill>
                <a:schemeClr val="tx1"/>
              </a:solidFill>
              <a:latin typeface="+mn-ea"/>
            </a:endParaRPr>
          </a:p>
          <a:p>
            <a:pPr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静态存储分配</a:t>
            </a:r>
            <a:endParaRPr lang="zh-CN" altLang="en-US" b="1" dirty="0">
              <a:solidFill>
                <a:schemeClr val="tx1"/>
              </a:solidFill>
              <a:latin typeface="+mn-ea"/>
            </a:endParaRPr>
          </a:p>
          <a:p>
            <a:pPr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栈式存储分配</a:t>
            </a:r>
            <a:endParaRPr lang="zh-CN" altLang="en-US" b="1" dirty="0">
              <a:solidFill>
                <a:schemeClr val="tx1"/>
              </a:solidFill>
              <a:latin typeface="+mn-ea"/>
            </a:endParaRPr>
          </a:p>
          <a:p>
            <a:pPr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非局部数据的访问</a:t>
            </a:r>
            <a:endParaRPr lang="zh-CN" altLang="en-US" b="1" dirty="0">
              <a:solidFill>
                <a:schemeClr val="tx1"/>
              </a:solidFill>
              <a:latin typeface="+mn-ea"/>
            </a:endParaRPr>
          </a:p>
          <a:p>
            <a:pPr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符号表</a:t>
            </a:r>
            <a:endParaRPr lang="zh-CN" altLang="en-US" b="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2468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>
              <a:defRPr/>
            </a:pPr>
            <a:r>
              <a:rPr lang="zh-CN" altLang="en-US" sz="3000" spc="3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本章小结</a:t>
            </a:r>
            <a:endParaRPr lang="zh-CN" altLang="en-US" sz="3000" spc="3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46436" name="组合 44"/>
          <p:cNvGrpSpPr/>
          <p:nvPr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6" name="五边形 5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defRPr/>
              </a:pPr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46438" name="五边形 46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 eaLnBrk="1" hangingPunct="1"/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</a:endParaRPr>
            </a:p>
          </p:txBody>
        </p:sp>
      </p:grp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3" name="内容占位符 2"/>
          <p:cNvSpPr>
            <a:spLocks noGrp="1"/>
          </p:cNvSpPr>
          <p:nvPr>
            <p:ph idx="1"/>
          </p:nvPr>
        </p:nvSpPr>
        <p:spPr>
          <a:xfrm>
            <a:off x="859007" y="1059989"/>
            <a:ext cx="7713521" cy="3888025"/>
          </a:xfrm>
        </p:spPr>
        <p:txBody>
          <a:bodyPr>
            <a:normAutofit/>
          </a:bodyPr>
          <a:lstStyle/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1</a:t>
            </a:r>
            <a:r>
              <a:rPr lang="zh-CN" altLang="en-US" b="1" dirty="0">
                <a:solidFill>
                  <a:schemeClr val="tx1"/>
                </a:solidFill>
              </a:rPr>
              <a:t>．绪论 			（</a:t>
            </a:r>
            <a:r>
              <a:rPr lang="en-US" altLang="zh-CN" b="1" dirty="0">
                <a:solidFill>
                  <a:schemeClr val="tx1"/>
                </a:solidFill>
              </a:rPr>
              <a:t>2</a:t>
            </a:r>
            <a:r>
              <a:rPr lang="zh-CN" altLang="en-US" b="1" dirty="0">
                <a:solidFill>
                  <a:schemeClr val="tx1"/>
                </a:solidFill>
              </a:rPr>
              <a:t>学时）</a:t>
            </a:r>
            <a:endParaRPr lang="zh-CN" altLang="en-US" b="1" dirty="0">
              <a:solidFill>
                <a:schemeClr val="tx1"/>
              </a:solidFill>
            </a:endParaRP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/>
              <a:t>2.   </a:t>
            </a:r>
            <a:r>
              <a:rPr lang="zh-CN" altLang="en-US" b="1" dirty="0"/>
              <a:t>语言及其文法		（</a:t>
            </a:r>
            <a:r>
              <a:rPr lang="en-US" altLang="zh-CN" b="1" dirty="0"/>
              <a:t>2</a:t>
            </a:r>
            <a:r>
              <a:rPr lang="zh-CN" altLang="en-US" b="1" dirty="0"/>
              <a:t>学时） </a:t>
            </a:r>
            <a:endParaRPr lang="zh-CN" altLang="en-US" b="1" dirty="0"/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3</a:t>
            </a:r>
            <a:r>
              <a:rPr lang="zh-CN" altLang="en-US" b="1" dirty="0">
                <a:solidFill>
                  <a:schemeClr val="tx1"/>
                </a:solidFill>
              </a:rPr>
              <a:t>．词法分析		</a:t>
            </a:r>
            <a:r>
              <a:rPr lang="en-US" altLang="zh-CN" b="1" dirty="0">
                <a:solidFill>
                  <a:schemeClr val="tx1"/>
                </a:solidFill>
              </a:rPr>
              <a:t>	</a:t>
            </a:r>
            <a:r>
              <a:rPr lang="zh-CN" altLang="en-US" b="1" dirty="0">
                <a:solidFill>
                  <a:schemeClr val="tx1"/>
                </a:solidFill>
              </a:rPr>
              <a:t>（</a:t>
            </a:r>
            <a:r>
              <a:rPr lang="en-US" altLang="zh-CN" b="1" dirty="0">
                <a:solidFill>
                  <a:schemeClr val="tx1"/>
                </a:solidFill>
              </a:rPr>
              <a:t>3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  <a:endParaRPr lang="zh-CN" altLang="en-US" b="1" dirty="0">
              <a:solidFill>
                <a:schemeClr val="tx1"/>
              </a:solidFill>
            </a:endParaRP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4</a:t>
            </a:r>
            <a:r>
              <a:rPr lang="zh-CN" altLang="en-US" b="1" dirty="0">
                <a:solidFill>
                  <a:schemeClr val="tx1"/>
                </a:solidFill>
              </a:rPr>
              <a:t>．语法分析		</a:t>
            </a:r>
            <a:r>
              <a:rPr lang="en-US" altLang="zh-CN" b="1" dirty="0">
                <a:solidFill>
                  <a:schemeClr val="tx1"/>
                </a:solidFill>
              </a:rPr>
              <a:t>	</a:t>
            </a:r>
            <a:r>
              <a:rPr lang="zh-CN" altLang="en-US" b="1" dirty="0">
                <a:solidFill>
                  <a:schemeClr val="tx1"/>
                </a:solidFill>
              </a:rPr>
              <a:t>（</a:t>
            </a:r>
            <a:r>
              <a:rPr lang="en-US" altLang="zh-CN" b="1" dirty="0">
                <a:solidFill>
                  <a:schemeClr val="tx1"/>
                </a:solidFill>
              </a:rPr>
              <a:t>9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  <a:endParaRPr lang="zh-CN" altLang="en-US" b="1" dirty="0">
              <a:solidFill>
                <a:schemeClr val="tx1"/>
              </a:solidFill>
            </a:endParaRP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5</a:t>
            </a:r>
            <a:r>
              <a:rPr lang="zh-CN" altLang="en-US" b="1" dirty="0">
                <a:solidFill>
                  <a:schemeClr val="tx1"/>
                </a:solidFill>
              </a:rPr>
              <a:t>．语法制导翻译		（</a:t>
            </a:r>
            <a:r>
              <a:rPr lang="en-US" altLang="zh-CN" b="1" dirty="0">
                <a:solidFill>
                  <a:schemeClr val="tx1"/>
                </a:solidFill>
              </a:rPr>
              <a:t>6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  <a:endParaRPr lang="zh-CN" altLang="en-US" b="1" dirty="0">
              <a:solidFill>
                <a:schemeClr val="tx1"/>
              </a:solidFill>
            </a:endParaRP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6</a:t>
            </a:r>
            <a:r>
              <a:rPr lang="zh-CN" altLang="en-US" b="1" dirty="0">
                <a:solidFill>
                  <a:schemeClr val="tx1"/>
                </a:solidFill>
              </a:rPr>
              <a:t>．中间代码生成		（</a:t>
            </a:r>
            <a:r>
              <a:rPr lang="en-US" altLang="zh-CN" b="1" dirty="0">
                <a:solidFill>
                  <a:schemeClr val="tx1"/>
                </a:solidFill>
              </a:rPr>
              <a:t>7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  <a:endParaRPr lang="zh-CN" altLang="en-US" b="1" dirty="0">
              <a:solidFill>
                <a:schemeClr val="tx1"/>
              </a:solidFill>
            </a:endParaRP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7</a:t>
            </a:r>
            <a:r>
              <a:rPr lang="zh-CN" altLang="en-US" b="1" dirty="0">
                <a:solidFill>
                  <a:schemeClr val="tx1"/>
                </a:solidFill>
              </a:rPr>
              <a:t>．运行时的存贮组织	（</a:t>
            </a:r>
            <a:r>
              <a:rPr lang="en-US" altLang="zh-CN" b="1" dirty="0">
                <a:solidFill>
                  <a:schemeClr val="tx1"/>
                </a:solidFill>
              </a:rPr>
              <a:t>3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  <a:endParaRPr lang="zh-CN" altLang="en-US" b="1" dirty="0">
              <a:solidFill>
                <a:schemeClr val="tx1"/>
              </a:solidFill>
            </a:endParaRP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8</a:t>
            </a:r>
            <a:r>
              <a:rPr lang="zh-CN" altLang="en-US" b="1" dirty="0">
                <a:solidFill>
                  <a:srgbClr val="FF0000"/>
                </a:solidFill>
              </a:rPr>
              <a:t>．代码优化       		（</a:t>
            </a:r>
            <a:r>
              <a:rPr lang="en-US" altLang="zh-CN" b="1" dirty="0">
                <a:solidFill>
                  <a:srgbClr val="FF0000"/>
                </a:solidFill>
              </a:rPr>
              <a:t>6</a:t>
            </a:r>
            <a:r>
              <a:rPr lang="zh-CN" altLang="en-US" b="1" dirty="0">
                <a:solidFill>
                  <a:srgbClr val="FF0000"/>
                </a:solidFill>
              </a:rPr>
              <a:t>学时） </a:t>
            </a:r>
            <a:endParaRPr lang="zh-CN" altLang="en-US" b="1" dirty="0">
              <a:solidFill>
                <a:srgbClr val="FF0000"/>
              </a:solidFill>
            </a:endParaRP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9</a:t>
            </a:r>
            <a:r>
              <a:rPr lang="zh-CN" altLang="en-US" b="1" dirty="0">
                <a:solidFill>
                  <a:schemeClr val="tx1"/>
                </a:solidFill>
              </a:rPr>
              <a:t>．代码生成       		（</a:t>
            </a:r>
            <a:r>
              <a:rPr lang="en-US" altLang="zh-CN" b="1" dirty="0">
                <a:solidFill>
                  <a:schemeClr val="tx1"/>
                </a:solidFill>
              </a:rPr>
              <a:t>2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5120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 sz="3000" spc="3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课程主要内容</a:t>
            </a:r>
            <a:endParaRPr lang="zh-CN" altLang="en-US" sz="3000" spc="3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" name="组合 14"/>
          <p:cNvGrpSpPr/>
          <p:nvPr/>
        </p:nvGrpSpPr>
        <p:grpSpPr>
          <a:xfrm>
            <a:off x="-786" y="195486"/>
            <a:ext cx="756363" cy="432048"/>
            <a:chOff x="-786" y="195486"/>
            <a:chExt cx="756363" cy="432048"/>
          </a:xfrm>
        </p:grpSpPr>
        <p:sp>
          <p:nvSpPr>
            <p:cNvPr id="6" name="五边形 5"/>
            <p:cNvSpPr/>
            <p:nvPr/>
          </p:nvSpPr>
          <p:spPr>
            <a:xfrm>
              <a:off x="1" y="195486"/>
              <a:ext cx="755576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7" name="五边形 6"/>
            <p:cNvSpPr/>
            <p:nvPr/>
          </p:nvSpPr>
          <p:spPr>
            <a:xfrm>
              <a:off x="-786" y="197101"/>
              <a:ext cx="755576" cy="88633"/>
            </a:xfrm>
            <a:prstGeom prst="homePlate">
              <a:avLst/>
            </a:prstGeom>
            <a:solidFill>
              <a:schemeClr val="bg1">
                <a:alpha val="3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482" name="Picture 3" descr="G:\QQ截图201607142012副本.jpg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51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5148263" y="1714500"/>
            <a:ext cx="2952750" cy="939800"/>
          </a:xfrm>
          <a:prstGeom prst="rect">
            <a:avLst/>
          </a:prstGeom>
        </p:spPr>
        <p:txBody>
          <a:bodyPr anchor="ctr"/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sz="3500" b="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结束</a:t>
            </a:r>
            <a:endParaRPr lang="en-US" altLang="zh-CN" sz="3500" b="0" spc="60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2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4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5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6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7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8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9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Blends</Template>
  <TotalTime>0</TotalTime>
  <Words>37323</Words>
  <Application>WPS 演示</Application>
  <PresentationFormat>全屏显示(16:9)</PresentationFormat>
  <Paragraphs>6912</Paragraphs>
  <Slides>136</Slides>
  <Notes>136</Notes>
  <HiddenSlides>0</HiddenSlides>
  <MMClips>0</MMClips>
  <ScaleCrop>false</ScaleCrop>
  <HeadingPairs>
    <vt:vector size="6" baseType="variant">
      <vt:variant>
        <vt:lpstr>已用的字体</vt:lpstr>
      </vt:variant>
      <vt:variant>
        <vt:i4>25</vt:i4>
      </vt:variant>
      <vt:variant>
        <vt:lpstr>主题</vt:lpstr>
      </vt:variant>
      <vt:variant>
        <vt:i4>8</vt:i4>
      </vt:variant>
      <vt:variant>
        <vt:lpstr>幻灯片标题</vt:lpstr>
      </vt:variant>
      <vt:variant>
        <vt:i4>136</vt:i4>
      </vt:variant>
    </vt:vector>
  </HeadingPairs>
  <TitlesOfParts>
    <vt:vector size="169" baseType="lpstr">
      <vt:lpstr>Arial</vt:lpstr>
      <vt:lpstr>宋体</vt:lpstr>
      <vt:lpstr>Wingdings</vt:lpstr>
      <vt:lpstr>Times New Roman</vt:lpstr>
      <vt:lpstr>楷体_GB2312</vt:lpstr>
      <vt:lpstr>新宋体</vt:lpstr>
      <vt:lpstr>方正楷体_GB2312</vt:lpstr>
      <vt:lpstr>Tahoma</vt:lpstr>
      <vt:lpstr>黑体</vt:lpstr>
      <vt:lpstr>Candara</vt:lpstr>
      <vt:lpstr>Symbol</vt:lpstr>
      <vt:lpstr>Calibri</vt:lpstr>
      <vt:lpstr>华文楷体</vt:lpstr>
      <vt:lpstr>微软雅黑</vt:lpstr>
      <vt:lpstr>Candara</vt:lpstr>
      <vt:lpstr>楷体</vt:lpstr>
      <vt:lpstr>Arial Unicode MS</vt:lpstr>
      <vt:lpstr>楷体_GB2312</vt:lpstr>
      <vt:lpstr>Wingdings</vt:lpstr>
      <vt:lpstr>Arial</vt:lpstr>
      <vt:lpstr>等线</vt:lpstr>
      <vt:lpstr>Calibri</vt:lpstr>
      <vt:lpstr>Symbol</vt:lpstr>
      <vt:lpstr>楷体_GB2312</vt:lpstr>
      <vt:lpstr>方正仿宋_GB2312</vt:lpstr>
      <vt:lpstr>2_波形</vt:lpstr>
      <vt:lpstr>3_波形</vt:lpstr>
      <vt:lpstr>4_波形</vt:lpstr>
      <vt:lpstr>5_波形</vt:lpstr>
      <vt:lpstr>6_波形</vt:lpstr>
      <vt:lpstr>7_波形</vt:lpstr>
      <vt:lpstr>8_波形</vt:lpstr>
      <vt:lpstr>9_波形</vt:lpstr>
      <vt:lpstr>PowerPoint 演示文稿</vt:lpstr>
      <vt:lpstr>PowerPoint 演示文稿</vt:lpstr>
      <vt:lpstr>7.1 存储组织</vt:lpstr>
      <vt:lpstr>存储分配策略</vt:lpstr>
      <vt:lpstr>运行时内存的划分</vt:lpstr>
      <vt:lpstr>活动记录</vt:lpstr>
      <vt:lpstr>活动记录的一般形式</vt:lpstr>
      <vt:lpstr>PowerPoint 演示文稿</vt:lpstr>
      <vt:lpstr>7.2 静态存储分配</vt:lpstr>
      <vt:lpstr>静态存储分配的限制条件</vt:lpstr>
      <vt:lpstr>常用的静态存储分配方法</vt:lpstr>
      <vt:lpstr>顺序分配法</vt:lpstr>
      <vt:lpstr>层次分配法</vt:lpstr>
      <vt:lpstr>层次分配算法</vt:lpstr>
      <vt:lpstr>层次分配算法</vt:lpstr>
      <vt:lpstr> Units[n]：过程所需内存数量 base[ i ]:第i个过程局部数据区的基地址 allocated[ i ]:第i个过程局部数据区是否分配的标志 </vt:lpstr>
      <vt:lpstr>PowerPoint 演示文稿</vt:lpstr>
      <vt:lpstr>PowerPoint 演示文稿</vt:lpstr>
      <vt:lpstr>7.3 栈式存储分配</vt:lpstr>
      <vt:lpstr>活动树</vt:lpstr>
      <vt:lpstr>例：一个快速排序程序的概要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设计活动记录的一些原则</vt:lpstr>
      <vt:lpstr>调用序列和返回序列</vt:lpstr>
      <vt:lpstr>调用序列</vt:lpstr>
      <vt:lpstr>调用序列</vt:lpstr>
      <vt:lpstr>返回序列</vt:lpstr>
      <vt:lpstr>调用者和被调用者之间的任务划分</vt:lpstr>
      <vt:lpstr>变长数据的存储分配</vt:lpstr>
      <vt:lpstr>访问动态分配的数组</vt:lpstr>
      <vt:lpstr>PowerPoint 演示文稿</vt:lpstr>
      <vt:lpstr>7.4 非局部数据的访问</vt:lpstr>
      <vt:lpstr>例：</vt:lpstr>
      <vt:lpstr>非局部数据的访问</vt:lpstr>
      <vt:lpstr>访问链 (Access Links)</vt:lpstr>
      <vt:lpstr>例：基于访问链的非局部数据访问</vt:lpstr>
      <vt:lpstr>基于访问链的 非局部数据访问</vt:lpstr>
      <vt:lpstr>PowerPoint 演示文稿</vt:lpstr>
      <vt:lpstr>PowerPoint 演示文稿</vt:lpstr>
      <vt:lpstr>PowerPoint 演示文稿</vt:lpstr>
      <vt:lpstr>访问链的建立</vt:lpstr>
      <vt:lpstr>访问链的建立</vt:lpstr>
      <vt:lpstr>访问链的建立</vt:lpstr>
      <vt:lpstr>访问链的建立</vt:lpstr>
      <vt:lpstr>访问链的建立</vt:lpstr>
      <vt:lpstr>访问链的建立</vt:lpstr>
      <vt:lpstr>访问链的建立</vt:lpstr>
      <vt:lpstr>display表（嵌套层次显示表）</vt:lpstr>
      <vt:lpstr>PowerPoint 演示文稿</vt:lpstr>
      <vt:lpstr>display表的维护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练习</vt:lpstr>
      <vt:lpstr>7.4 非局部数据的访问小结</vt:lpstr>
      <vt:lpstr>PowerPoint 演示文稿</vt:lpstr>
      <vt:lpstr>7.5 参数传递（自学）</vt:lpstr>
      <vt:lpstr>7.5.1 传值（Call- by-Value）</vt:lpstr>
      <vt:lpstr>例</vt:lpstr>
      <vt:lpstr>例</vt:lpstr>
      <vt:lpstr>例</vt:lpstr>
      <vt:lpstr>7.5.2 传地址（Call- by-Reference）</vt:lpstr>
      <vt:lpstr>例</vt:lpstr>
      <vt:lpstr>例</vt:lpstr>
      <vt:lpstr>例</vt:lpstr>
      <vt:lpstr>7.5.3 传值结果（Call- by-Value-Result）</vt:lpstr>
      <vt:lpstr>例</vt:lpstr>
      <vt:lpstr>例</vt:lpstr>
      <vt:lpstr>例</vt:lpstr>
      <vt:lpstr>例</vt:lpstr>
      <vt:lpstr>例</vt:lpstr>
      <vt:lpstr>例</vt:lpstr>
      <vt:lpstr>例</vt:lpstr>
      <vt:lpstr>7.5.4 传名（Call- by-Name）</vt:lpstr>
      <vt:lpstr>例</vt:lpstr>
      <vt:lpstr>例</vt:lpstr>
      <vt:lpstr>例</vt:lpstr>
      <vt:lpstr>例</vt:lpstr>
      <vt:lpstr>传名方式中的重命名问题</vt:lpstr>
      <vt:lpstr>参数传递方式对比</vt:lpstr>
      <vt:lpstr>PowerPoint 演示文稿</vt:lpstr>
      <vt:lpstr>7.6 符号表</vt:lpstr>
      <vt:lpstr>符号表上的主要操作</vt:lpstr>
      <vt:lpstr>单个过程符号表的组织</vt:lpstr>
      <vt:lpstr>单个过程符号表的组织</vt:lpstr>
      <vt:lpstr>例</vt:lpstr>
      <vt:lpstr>多个过程符号表的组织</vt:lpstr>
      <vt:lpstr>例</vt:lpstr>
      <vt:lpstr>符号表的建立</vt:lpstr>
      <vt:lpstr>嵌套过程声明语句的SDT</vt:lpstr>
      <vt:lpstr>例</vt:lpstr>
      <vt:lpstr>例</vt:lpstr>
      <vt:lpstr>例</vt:lpstr>
      <vt:lpstr>例</vt:lpstr>
      <vt:lpstr>例</vt:lpstr>
      <vt:lpstr>例</vt:lpstr>
      <vt:lpstr>标识符的基本处理方法</vt:lpstr>
      <vt:lpstr>例</vt:lpstr>
      <vt:lpstr>符号表的另一种组织方式*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本章小结</vt:lpstr>
      <vt:lpstr>课程主要内容</vt:lpstr>
      <vt:lpstr>PowerPoint 演示文稿</vt:lpstr>
    </vt:vector>
  </TitlesOfParts>
  <Company>HIT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编译原理</dc:title>
  <dc:creator>jsx</dc:creator>
  <cp:lastModifiedBy>单丽莉-哈工大</cp:lastModifiedBy>
  <cp:revision>1825</cp:revision>
  <cp:lastPrinted>2019-10-25T08:39:00Z</cp:lastPrinted>
  <dcterms:created xsi:type="dcterms:W3CDTF">2003-07-09T14:46:00Z</dcterms:created>
  <dcterms:modified xsi:type="dcterms:W3CDTF">2026-04-29T02:29:19Z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5</vt:i4>
  </property>
  <property fmtid="{D5CDD505-2E9C-101B-9397-08002B2CF9AE}" pid="3" name="KSOProductBuildVer">
    <vt:lpwstr>2052-12.1.0.25865</vt:lpwstr>
  </property>
  <property fmtid="{D5CDD505-2E9C-101B-9397-08002B2CF9AE}" pid="4" name="ICV">
    <vt:lpwstr>845C5C9D61FC48F6B09752FB9198E2BA_12</vt:lpwstr>
  </property>
</Properties>
</file>