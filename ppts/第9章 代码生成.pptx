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56"/>
  </p:notesMasterIdLst>
  <p:sldIdLst>
    <p:sldId id="439" r:id="rId2"/>
    <p:sldId id="542" r:id="rId3"/>
    <p:sldId id="1120" r:id="rId4"/>
    <p:sldId id="1129" r:id="rId5"/>
    <p:sldId id="340" r:id="rId6"/>
    <p:sldId id="421" r:id="rId7"/>
    <p:sldId id="420" r:id="rId8"/>
    <p:sldId id="1121" r:id="rId9"/>
    <p:sldId id="351" r:id="rId10"/>
    <p:sldId id="352" r:id="rId11"/>
    <p:sldId id="434" r:id="rId12"/>
    <p:sldId id="384" r:id="rId13"/>
    <p:sldId id="386" r:id="rId14"/>
    <p:sldId id="387" r:id="rId15"/>
    <p:sldId id="388" r:id="rId16"/>
    <p:sldId id="389" r:id="rId17"/>
    <p:sldId id="1122" r:id="rId18"/>
    <p:sldId id="354" r:id="rId19"/>
    <p:sldId id="355" r:id="rId20"/>
    <p:sldId id="356" r:id="rId21"/>
    <p:sldId id="357" r:id="rId22"/>
    <p:sldId id="358" r:id="rId23"/>
    <p:sldId id="359" r:id="rId24"/>
    <p:sldId id="1125" r:id="rId25"/>
    <p:sldId id="390" r:id="rId26"/>
    <p:sldId id="1126" r:id="rId27"/>
    <p:sldId id="391" r:id="rId28"/>
    <p:sldId id="1127" r:id="rId29"/>
    <p:sldId id="1123" r:id="rId30"/>
    <p:sldId id="372" r:id="rId31"/>
    <p:sldId id="375" r:id="rId32"/>
    <p:sldId id="317" r:id="rId33"/>
    <p:sldId id="376" r:id="rId34"/>
    <p:sldId id="377" r:id="rId35"/>
    <p:sldId id="378" r:id="rId36"/>
    <p:sldId id="1128" r:id="rId37"/>
    <p:sldId id="382" r:id="rId38"/>
    <p:sldId id="402" r:id="rId39"/>
    <p:sldId id="403" r:id="rId40"/>
    <p:sldId id="404" r:id="rId41"/>
    <p:sldId id="405" r:id="rId42"/>
    <p:sldId id="406" r:id="rId43"/>
    <p:sldId id="410" r:id="rId44"/>
    <p:sldId id="411" r:id="rId45"/>
    <p:sldId id="412" r:id="rId46"/>
    <p:sldId id="1124" r:id="rId47"/>
    <p:sldId id="318" r:id="rId48"/>
    <p:sldId id="416" r:id="rId49"/>
    <p:sldId id="319" r:id="rId50"/>
    <p:sldId id="415" r:id="rId51"/>
    <p:sldId id="418" r:id="rId52"/>
    <p:sldId id="324" r:id="rId53"/>
    <p:sldId id="325" r:id="rId54"/>
    <p:sldId id="432" r:id="rId55"/>
  </p:sldIdLst>
  <p:sldSz cx="9144000" cy="5143500" type="screen16x9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1pPr>
    <a:lvl2pPr marL="3429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2pPr>
    <a:lvl3pPr marL="685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3pPr>
    <a:lvl4pPr marL="10287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4pPr>
    <a:lvl5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5pPr>
    <a:lvl6pPr marL="1714500" algn="l" defTabSz="685800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6pPr>
    <a:lvl7pPr marL="2057400" algn="l" defTabSz="685800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7pPr>
    <a:lvl8pPr marL="2400300" algn="l" defTabSz="685800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8pPr>
    <a:lvl9pPr marL="2743200" algn="l" defTabSz="685800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99"/>
    <a:srgbClr val="0066FF"/>
    <a:srgbClr val="777777"/>
    <a:srgbClr val="0FF1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64" autoAdjust="0"/>
    <p:restoredTop sz="75580" autoAdjust="0"/>
  </p:normalViewPr>
  <p:slideViewPr>
    <p:cSldViewPr>
      <p:cViewPr varScale="1">
        <p:scale>
          <a:sx n="73" d="100"/>
          <a:sy n="73" d="100"/>
        </p:scale>
        <p:origin x="549" y="4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>
            <a:lvl1pPr defTabSz="990528">
              <a:defRPr sz="1300">
                <a:latin typeface="Arial" charset="0"/>
              </a:defRPr>
            </a:lvl1pPr>
          </a:lstStyle>
          <a:p>
            <a:endParaRPr lang="zh-CN" altLang="en-US"/>
          </a:p>
        </p:txBody>
      </p:sp>
      <p:sp>
        <p:nvSpPr>
          <p:cNvPr id="329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>
            <a:lvl1pPr algn="r" defTabSz="990528">
              <a:defRPr sz="13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3297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29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9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1851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1" tIns="49520" rIns="99041" bIns="49520" numCol="1" anchor="b" anchorCtr="0" compatLnSpc="1">
            <a:prstTxWarp prst="textNoShape">
              <a:avLst/>
            </a:prstTxWarp>
          </a:bodyPr>
          <a:lstStyle>
            <a:lvl1pPr defTabSz="990528">
              <a:defRPr sz="13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329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1851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1" tIns="49520" rIns="99041" bIns="49520" numCol="1" anchor="b" anchorCtr="0" compatLnSpc="1">
            <a:prstTxWarp prst="textNoShape">
              <a:avLst/>
            </a:prstTxWarp>
          </a:bodyPr>
          <a:lstStyle>
            <a:lvl1pPr algn="r" defTabSz="990528">
              <a:defRPr sz="1300">
                <a:latin typeface="Arial" charset="0"/>
              </a:defRPr>
            </a:lvl1pPr>
          </a:lstStyle>
          <a:p>
            <a:fld id="{57214CFA-32F9-4EE5-B147-1DBFFF29F43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19985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342900"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685800"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028700"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371600"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3174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3174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84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897" indent="-285730" defTabSz="95084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2918" indent="-228584" defTabSz="95084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085" indent="-228584" defTabSz="95084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252" indent="-228584" defTabSz="95084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419" indent="-228584" defTabSz="95084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585" indent="-228584" defTabSz="95084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8752" indent="-228584" defTabSz="95084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5919" indent="-228584" defTabSz="95084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6934C01-E294-4E42-9716-9C8601CAF70B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</a:t>
            </a:fld>
            <a:endParaRPr lang="zh-CN" altLang="en-US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539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8690" eaLnBrk="1" hangingPunct="1">
              <a:defRPr/>
            </a:pPr>
            <a:endParaRPr lang="zh-CN" altLang="en-US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70890" indent="-296545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6180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4870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609215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83560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58540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032885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EF96CD6-2BBB-4FDE-89B7-0087A1F4683F}" type="slidenum">
              <a:rPr lang="zh-CN" altLang="en-US">
                <a:latin typeface="Arial" panose="020B0604020202020204" pitchFamily="34" charset="0"/>
              </a:rPr>
              <a:t>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D84AD6CA-C48C-4C44-A83F-8FBBB39C0B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3E817611-E0A9-4EF3-9DF5-268CA7DE3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B805AC56-DCD4-497B-B81A-A6E913B06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98513" indent="-30638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230313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722438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212975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6701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1273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845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0417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4665BE2-CB49-4915-8F81-AEBE6E8CE2A9}" type="slidenum">
              <a:rPr lang="zh-CN" altLang="en-US" b="0">
                <a:solidFill>
                  <a:srgbClr val="000000"/>
                </a:solidFill>
                <a:latin typeface="Arial" panose="020B0604020202020204" pitchFamily="34" charset="0"/>
                <a:cs typeface="楷体_GB2312" charset="0"/>
              </a:rPr>
              <a:pPr/>
              <a:t>3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  <a:cs typeface="楷体_GB2312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3441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4863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34"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6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375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7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796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D84AD6CA-C48C-4C44-A83F-8FBBB39C0B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3E817611-E0A9-4EF3-9DF5-268CA7DE3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B805AC56-DCD4-497B-B81A-A6E913B06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98513" indent="-30638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230313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722438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212975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6701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1273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845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0417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4665BE2-CB49-4915-8F81-AEBE6E8CE2A9}" type="slidenum">
              <a:rPr lang="zh-CN" altLang="en-US" b="0">
                <a:solidFill>
                  <a:srgbClr val="000000"/>
                </a:solidFill>
                <a:latin typeface="Arial" panose="020B0604020202020204" pitchFamily="34" charset="0"/>
                <a:cs typeface="楷体_GB2312" charset="0"/>
              </a:rPr>
              <a:pPr/>
              <a:t>8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  <a:cs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8404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1857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1601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11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6988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2693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13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863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14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0554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i="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15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6596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16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3582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D84AD6CA-C48C-4C44-A83F-8FBBB39C0B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3E817611-E0A9-4EF3-9DF5-268CA7DE3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B805AC56-DCD4-497B-B81A-A6E913B06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98513" indent="-30638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230313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722438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212975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6701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1273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845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0417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4665BE2-CB49-4915-8F81-AEBE6E8CE2A9}" type="slidenum">
              <a:rPr lang="zh-CN" altLang="en-US" b="0">
                <a:solidFill>
                  <a:srgbClr val="000000"/>
                </a:solidFill>
                <a:latin typeface="Arial" panose="020B0604020202020204" pitchFamily="34" charset="0"/>
                <a:cs typeface="楷体_GB2312" charset="0"/>
              </a:rPr>
              <a:pPr/>
              <a:t>17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  <a:cs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9704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 typeface="Wingdings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08853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08853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08853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08853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08853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08853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34"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24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5412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34"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25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1731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34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26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32844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27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0395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28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4078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D84AD6CA-C48C-4C44-A83F-8FBBB39C0B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3E817611-E0A9-4EF3-9DF5-268CA7DE3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B805AC56-DCD4-497B-B81A-A6E913B06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98513" indent="-30638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230313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722438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212975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6701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1273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845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0417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4665BE2-CB49-4915-8F81-AEBE6E8CE2A9}" type="slidenum">
              <a:rPr lang="zh-CN" altLang="en-US" b="0">
                <a:solidFill>
                  <a:srgbClr val="000000"/>
                </a:solidFill>
                <a:latin typeface="Arial" panose="020B0604020202020204" pitchFamily="34" charset="0"/>
                <a:cs typeface="楷体_GB2312" charset="0"/>
              </a:rPr>
              <a:pPr/>
              <a:t>29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  <a:cs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3400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33356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03450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287AF7-4586-4ADD-8DA4-2F3B5B09020D}" type="slidenum">
              <a:rPr lang="zh-CN" altLang="en-US"/>
              <a:pPr/>
              <a:t>32</a:t>
            </a:fld>
            <a:endParaRPr lang="en-US" altLang="zh-CN"/>
          </a:p>
        </p:txBody>
      </p:sp>
      <p:sp>
        <p:nvSpPr>
          <p:cNvPr id="451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451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07942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defTabSz="914334"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34552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17806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08070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48879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2098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38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7972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39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8425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40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8239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41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4216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34"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42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0871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5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6463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44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99701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05885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D84AD6CA-C48C-4C44-A83F-8FBBB39C0B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3E817611-E0A9-4EF3-9DF5-268CA7DE3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B805AC56-DCD4-497B-B81A-A6E913B06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98513" indent="-30638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230313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722438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212975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6701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1273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845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0417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4665BE2-CB49-4915-8F81-AEBE6E8CE2A9}" type="slidenum">
              <a:rPr lang="zh-CN" altLang="en-US" b="0">
                <a:solidFill>
                  <a:srgbClr val="000000"/>
                </a:solidFill>
                <a:latin typeface="Arial" panose="020B0604020202020204" pitchFamily="34" charset="0"/>
                <a:cs typeface="楷体_GB2312" charset="0"/>
              </a:rPr>
              <a:pPr/>
              <a:t>46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  <a:cs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63636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026711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56852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1369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50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63688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zh-CN" altLang="en-US" sz="21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>
                <a:solidFill>
                  <a:srgbClr val="000000"/>
                </a:solidFill>
              </a:rPr>
              <a:pPr/>
              <a:t>51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87965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847787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14CFA-32F9-4EE5-B147-1DBFFF29F430}" type="slidenum">
              <a:rPr lang="zh-CN" altLang="en-US" smtClean="0"/>
              <a:pPr/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953324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31744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44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084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897" indent="-285730" defTabSz="95084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2918" indent="-228584" defTabSz="95084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085" indent="-228584" defTabSz="95084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252" indent="-228584" defTabSz="95084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419" indent="-228584" defTabSz="95084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585" indent="-228584" defTabSz="95084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8752" indent="-228584" defTabSz="95084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5919" indent="-228584" defTabSz="95084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6934C01-E294-4E42-9716-9C8601CAF70B}" type="slidenum">
              <a:rPr lang="zh-CN" altLang="en-US" b="0" smtClean="0">
                <a:solidFill>
                  <a:srgbClr val="000000"/>
                </a:solidFill>
                <a:latin typeface="Arial" panose="020B0604020202020204" pitchFamily="34" charset="0"/>
              </a:rPr>
              <a:pPr/>
              <a:t>54</a:t>
            </a:fld>
            <a:endParaRPr lang="zh-CN" altLang="en-US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490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240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/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4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6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958850"/>
            <a:ext cx="8100391" cy="3701132"/>
          </a:xfrm>
          <a:prstGeom prst="rect">
            <a:avLst/>
          </a:prstGeom>
        </p:spPr>
        <p:txBody>
          <a:bodyPr lIns="68580" tIns="34290" rIns="68580" bIns="34290"/>
          <a:lstStyle>
            <a:lvl1pPr marL="271463" indent="-271463">
              <a:buClrTx/>
              <a:buFont typeface="Wingdings" panose="05000000000000000000" pitchFamily="2" charset="2"/>
              <a:buChar char="Ø"/>
              <a:defRPr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4675" indent="-271463">
              <a:buClrTx/>
              <a:buFont typeface="Wingdings" panose="05000000000000000000" pitchFamily="2" charset="2"/>
              <a:buChar char="Ø"/>
              <a:defRPr baseline="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4075" indent="-227013">
              <a:buClrTx/>
              <a:buFont typeface="Wingdings" panose="05000000000000000000" pitchFamily="2" charset="2"/>
              <a:buChar char="Ø"/>
              <a:defRPr baseline="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141413" indent="-227013">
              <a:buClrTx/>
              <a:buFont typeface="Wingdings" panose="05000000000000000000" pitchFamily="2" charset="2"/>
              <a:buChar char="Ø"/>
              <a:defRPr baseline="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460500" indent="-227013">
              <a:buClrTx/>
              <a:buFont typeface="Wingdings" panose="05000000000000000000" pitchFamily="2" charset="2"/>
              <a:buChar char="Ø"/>
              <a:defRPr baseline="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sz="3000" b="1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39943" y="4870450"/>
            <a:ext cx="504057" cy="273050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4012E988-66C5-4E57-A7D6-82EEB641B95A}" type="slidenum">
              <a:rPr lang="zh-CN" altLang="en-US" b="1" smtClean="0">
                <a:solidFill>
                  <a:prstClr val="black"/>
                </a:solidFill>
                <a:ea typeface="宋体" panose="02010600030101010101" pitchFamily="2" charset="-122"/>
              </a:rPr>
              <a:pPr>
                <a:defRPr/>
              </a:pPr>
              <a:t>‹#›</a:t>
            </a:fld>
            <a:endParaRPr lang="en-US" altLang="zh-CN" b="1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206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grpSp>
        <p:nvGrpSpPr>
          <p:cNvPr id="1027" name="组合 5"/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6" name="五边形 15"/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Calibri" pitchFamily="34" charset="0"/>
                <a:ea typeface="楷体_GB2312"/>
                <a:cs typeface="楷体_GB2312"/>
              </a:endParaRPr>
            </a:p>
          </p:txBody>
        </p:sp>
        <p:sp>
          <p:nvSpPr>
            <p:cNvPr id="17" name="五边形 8"/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956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 txBox="1">
            <a:spLocks noChangeArrowheads="1"/>
          </p:cNvSpPr>
          <p:nvPr/>
        </p:nvSpPr>
        <p:spPr bwMode="auto">
          <a:xfrm>
            <a:off x="4786315" y="1928813"/>
            <a:ext cx="2880122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1435" tIns="25718" rIns="51435" bIns="25718" anchor="ctr"/>
          <a:lstStyle/>
          <a:p>
            <a:pPr>
              <a:defRPr/>
            </a:pPr>
            <a:r>
              <a:rPr lang="zh-CN" altLang="en-US" sz="2625" spc="225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代码生成器的主要任务</a:t>
            </a:r>
          </a:p>
        </p:txBody>
      </p:sp>
      <p:sp>
        <p:nvSpPr>
          <p:cNvPr id="316420" name="Rectangle 2"/>
          <p:cNvSpPr txBox="1">
            <a:spLocks noChangeArrowheads="1"/>
          </p:cNvSpPr>
          <p:nvPr/>
        </p:nvSpPr>
        <p:spPr bwMode="auto">
          <a:xfrm>
            <a:off x="5000625" y="1651399"/>
            <a:ext cx="2357438" cy="330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1435" tIns="25718" rIns="51435" bIns="25718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5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代码生成</a:t>
            </a:r>
          </a:p>
          <a:p>
            <a:endParaRPr lang="zh-CN" altLang="en-US" sz="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6421" name="Rectangle 2"/>
          <p:cNvSpPr txBox="1">
            <a:spLocks noChangeArrowheads="1"/>
          </p:cNvSpPr>
          <p:nvPr/>
        </p:nvSpPr>
        <p:spPr bwMode="auto">
          <a:xfrm>
            <a:off x="4786313" y="2464594"/>
            <a:ext cx="2582466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1435" tIns="25718" rIns="51435" bIns="25718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75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</a:t>
            </a:r>
            <a:r>
              <a:rPr lang="zh-CN" altLang="en-US" sz="150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哈尔滨工业大学  陈鄞</a:t>
            </a:r>
            <a:endParaRPr lang="zh-CN" altLang="en-US"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3" descr="G:\QQ截图201607142012副本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4643470" y="1500180"/>
            <a:ext cx="3022968" cy="939800"/>
          </a:xfrm>
          <a:prstGeom prst="rect">
            <a:avLst/>
          </a:prstGeom>
        </p:spPr>
        <p:txBody>
          <a:bodyPr lIns="68580" tIns="34290" rIns="68580" bIns="34290" anchor="ctr"/>
          <a:lstStyle/>
          <a:p>
            <a:pPr algn="ctr" eaLnBrk="1" hangingPunct="1"/>
            <a:r>
              <a:rPr lang="zh-CN" altLang="en-US" sz="36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第九章 </a:t>
            </a:r>
            <a:endParaRPr lang="en-US" altLang="zh-CN" sz="360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/>
            <a:r>
              <a:rPr lang="zh-CN" altLang="en-US" sz="36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代码生成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143504" y="1000115"/>
            <a:ext cx="1876768" cy="38220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68580" tIns="34290" rIns="68580" bIns="34290" anchor="ctr"/>
          <a:lstStyle/>
          <a:p>
            <a:pPr algn="ctr" eaLnBrk="1" hangingPunct="1"/>
            <a:r>
              <a:rPr lang="zh-CN" altLang="en-US" sz="20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编译原理</a:t>
            </a:r>
            <a:endParaRPr lang="zh-CN" altLang="en-US" sz="2000" b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/>
            <a:endParaRPr lang="zh-CN" altLang="en-US" sz="800" b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4601197" y="2498721"/>
            <a:ext cx="3443287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 anchor="ctr"/>
          <a:lstStyle/>
          <a:p>
            <a:pPr eaLnBrk="1" hangingPunct="1"/>
            <a:r>
              <a:rPr lang="en-US" altLang="zh-CN" sz="2500" dirty="0">
                <a:solidFill>
                  <a:srgbClr val="FFFFFF"/>
                </a:solidFill>
                <a:latin typeface="Candara" pitchFamily="34" charset="0"/>
                <a:ea typeface="楷体" pitchFamily="49" charset="-122"/>
              </a:rPr>
              <a:t> </a:t>
            </a:r>
            <a:r>
              <a:rPr lang="zh-CN" altLang="en-US" sz="2000" b="1" dirty="0">
                <a:solidFill>
                  <a:srgbClr val="FFFFFF"/>
                </a:solidFill>
                <a:latin typeface="Candara" pitchFamily="34" charset="0"/>
                <a:ea typeface="楷体" pitchFamily="49" charset="-122"/>
              </a:rPr>
              <a:t>哈尔滨工业大学  陈鄞 单丽莉</a:t>
            </a:r>
            <a:endParaRPr lang="zh-CN" altLang="en-US" sz="2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4370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" b="1640"/>
          <a:stretch>
            <a:fillRect/>
          </a:stretch>
        </p:blipFill>
        <p:spPr>
          <a:xfrm>
            <a:off x="3851920" y="1904"/>
            <a:ext cx="2221826" cy="5117606"/>
          </a:xfrm>
          <a:prstGeom prst="rect">
            <a:avLst/>
          </a:prstGeom>
        </p:spPr>
      </p:pic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编译器的结构</a:t>
            </a:r>
          </a:p>
        </p:txBody>
      </p:sp>
      <p:sp>
        <p:nvSpPr>
          <p:cNvPr id="19" name="五边形 18"/>
          <p:cNvSpPr/>
          <p:nvPr/>
        </p:nvSpPr>
        <p:spPr>
          <a:xfrm>
            <a:off x="1" y="195486"/>
            <a:ext cx="755576" cy="432048"/>
          </a:xfrm>
          <a:prstGeom prst="homePlat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22" name="五边形 21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五边形 22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3" name="组合 12"/>
          <p:cNvGrpSpPr/>
          <p:nvPr/>
        </p:nvGrpSpPr>
        <p:grpSpPr>
          <a:xfrm>
            <a:off x="1619672" y="392891"/>
            <a:ext cx="4454071" cy="2394883"/>
            <a:chOff x="2518423" y="40347"/>
            <a:chExt cx="4822579" cy="3193177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5" name="右箭头 34"/>
            <p:cNvSpPr/>
            <p:nvPr/>
          </p:nvSpPr>
          <p:spPr>
            <a:xfrm>
              <a:off x="2518423" y="562706"/>
              <a:ext cx="2183035" cy="2190765"/>
            </a:xfrm>
            <a:prstGeom prst="rightArrow">
              <a:avLst>
                <a:gd name="adj1" fmla="val 62576"/>
                <a:gd name="adj2" fmla="val 23562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分析部分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/</a:t>
              </a:r>
            </a:p>
            <a:p>
              <a:pPr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前端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(front end)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：</a:t>
              </a:r>
            </a:p>
            <a:p>
              <a:pPr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源语言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相关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42"/>
            <p:cNvSpPr>
              <a:spLocks noChangeArrowheads="1"/>
            </p:cNvSpPr>
            <p:nvPr/>
          </p:nvSpPr>
          <p:spPr bwMode="auto">
            <a:xfrm>
              <a:off x="4909165" y="40347"/>
              <a:ext cx="2431837" cy="3193177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99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547664" y="3304940"/>
            <a:ext cx="4589702" cy="1643074"/>
            <a:chOff x="1547664" y="3304940"/>
            <a:chExt cx="4589702" cy="1643074"/>
          </a:xfrm>
        </p:grpSpPr>
        <p:sp>
          <p:nvSpPr>
            <p:cNvPr id="37" name="Rectangle 43"/>
            <p:cNvSpPr>
              <a:spLocks noChangeArrowheads="1"/>
            </p:cNvSpPr>
            <p:nvPr/>
          </p:nvSpPr>
          <p:spPr bwMode="auto">
            <a:xfrm flipH="1">
              <a:off x="3779911" y="3714759"/>
              <a:ext cx="2357455" cy="1017231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99"/>
                </a:solidFill>
              </a:endParaRPr>
            </a:p>
          </p:txBody>
        </p:sp>
        <p:sp>
          <p:nvSpPr>
            <p:cNvPr id="40" name="右箭头 39"/>
            <p:cNvSpPr/>
            <p:nvPr/>
          </p:nvSpPr>
          <p:spPr>
            <a:xfrm>
              <a:off x="1547664" y="3304940"/>
              <a:ext cx="2072842" cy="1643074"/>
            </a:xfrm>
            <a:prstGeom prst="rightArrow">
              <a:avLst>
                <a:gd name="adj1" fmla="val 62576"/>
                <a:gd name="adj2" fmla="val 23562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综合部分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/</a:t>
              </a:r>
            </a:p>
            <a:p>
              <a:pPr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后端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(back end)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：</a:t>
              </a:r>
            </a:p>
            <a:p>
              <a:pPr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目标语言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相关</a:t>
              </a: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EDBC6957-DBF9-48FC-8B2B-3BB825DBCAC8}"/>
              </a:ext>
            </a:extLst>
          </p:cNvPr>
          <p:cNvSpPr/>
          <p:nvPr/>
        </p:nvSpPr>
        <p:spPr>
          <a:xfrm>
            <a:off x="6516216" y="2499742"/>
            <a:ext cx="2016224" cy="5760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目标代码生成器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183587D-7E86-48F5-AB9D-CD6C3E7C4CC7}"/>
              </a:ext>
            </a:extLst>
          </p:cNvPr>
          <p:cNvGrpSpPr/>
          <p:nvPr/>
        </p:nvGrpSpPr>
        <p:grpSpPr>
          <a:xfrm>
            <a:off x="6624228" y="908015"/>
            <a:ext cx="1800200" cy="1591727"/>
            <a:chOff x="6624228" y="908015"/>
            <a:chExt cx="1800200" cy="1591727"/>
          </a:xfrm>
        </p:grpSpPr>
        <p:sp>
          <p:nvSpPr>
            <p:cNvPr id="5" name="箭头: 下 4">
              <a:extLst>
                <a:ext uri="{FF2B5EF4-FFF2-40B4-BE49-F238E27FC236}">
                  <a16:creationId xmlns:a16="http://schemas.microsoft.com/office/drawing/2014/main" id="{D084DAB5-F5F0-47CB-BC64-3A42A13E8AB4}"/>
                </a:ext>
              </a:extLst>
            </p:cNvPr>
            <p:cNvSpPr/>
            <p:nvPr/>
          </p:nvSpPr>
          <p:spPr>
            <a:xfrm>
              <a:off x="6948264" y="1923678"/>
              <a:ext cx="1152128" cy="576064"/>
            </a:xfrm>
            <a:prstGeom prst="downArrow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A533DF5-DB8F-429A-9A81-BA93DD991153}"/>
                </a:ext>
              </a:extLst>
            </p:cNvPr>
            <p:cNvSpPr txBox="1"/>
            <p:nvPr/>
          </p:nvSpPr>
          <p:spPr>
            <a:xfrm>
              <a:off x="6624228" y="908015"/>
              <a:ext cx="18002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中间表示</a:t>
              </a:r>
              <a:r>
                <a:rPr lang="en-US" altLang="zh-CN" sz="2000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IR</a:t>
              </a:r>
            </a:p>
            <a:p>
              <a:pPr algn="ctr"/>
              <a:r>
                <a:rPr lang="zh-CN" altLang="en-US" sz="2000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符号表</a:t>
              </a:r>
              <a:endParaRPr lang="en-US" altLang="zh-CN" sz="2000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algn="ctr"/>
              <a:r>
                <a:rPr lang="zh-CN" altLang="en-US" sz="2000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数据流信息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27D5A72-90C7-4C69-9780-11A1CE924953}"/>
              </a:ext>
            </a:extLst>
          </p:cNvPr>
          <p:cNvGrpSpPr/>
          <p:nvPr/>
        </p:nvGrpSpPr>
        <p:grpSpPr>
          <a:xfrm>
            <a:off x="6716849" y="3147814"/>
            <a:ext cx="1625353" cy="1008112"/>
            <a:chOff x="6716849" y="3147814"/>
            <a:chExt cx="1625353" cy="1008112"/>
          </a:xfrm>
        </p:grpSpPr>
        <p:sp>
          <p:nvSpPr>
            <p:cNvPr id="20" name="箭头: 下 19">
              <a:extLst>
                <a:ext uri="{FF2B5EF4-FFF2-40B4-BE49-F238E27FC236}">
                  <a16:creationId xmlns:a16="http://schemas.microsoft.com/office/drawing/2014/main" id="{CA46FC64-0756-49B5-8CF9-D69AF900CB67}"/>
                </a:ext>
              </a:extLst>
            </p:cNvPr>
            <p:cNvSpPr/>
            <p:nvPr/>
          </p:nvSpPr>
          <p:spPr>
            <a:xfrm>
              <a:off x="6948264" y="3147814"/>
              <a:ext cx="1152128" cy="576064"/>
            </a:xfrm>
            <a:prstGeom prst="downArrow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5690B9A-CA21-411B-A99A-89AF36A3F004}"/>
                </a:ext>
              </a:extLst>
            </p:cNvPr>
            <p:cNvSpPr txBox="1"/>
            <p:nvPr/>
          </p:nvSpPr>
          <p:spPr>
            <a:xfrm>
              <a:off x="6716849" y="3755816"/>
              <a:ext cx="16253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目标代码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EA193F4-D839-49BD-A3FA-8F7F312F2AF4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b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2531" name="矩形 7">
            <a:extLst>
              <a:ext uri="{FF2B5EF4-FFF2-40B4-BE49-F238E27FC236}">
                <a16:creationId xmlns:a16="http://schemas.microsoft.com/office/drawing/2014/main" id="{0EEC7D43-174F-4C62-8209-6E603A1A1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357313"/>
            <a:ext cx="4357687" cy="309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.1 </a:t>
            </a:r>
            <a:r>
              <a:rPr lang="zh-CN" altLang="en-US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代码生成器的主要任务</a:t>
            </a: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.2 </a:t>
            </a:r>
            <a:r>
              <a:rPr lang="zh-CN" altLang="en-US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一个简单的目标机模型</a:t>
            </a: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.3 </a:t>
            </a:r>
            <a:r>
              <a:rPr lang="zh-CN" altLang="en-US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指令选择</a:t>
            </a: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.4 </a:t>
            </a:r>
            <a:r>
              <a:rPr lang="zh-CN" altLang="en-US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寄存器选择</a:t>
            </a:r>
            <a:endParaRPr lang="zh-CN" altLang="en-US" sz="2500" b="0" dirty="0">
              <a:solidFill>
                <a:srgbClr val="2D83F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.5 </a:t>
            </a:r>
            <a:r>
              <a:rPr lang="zh-CN" altLang="en-US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窥孔优化</a:t>
            </a:r>
            <a:endParaRPr lang="zh-CN" altLang="en-US" sz="2500" b="0" dirty="0">
              <a:solidFill>
                <a:srgbClr val="2D83F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  <a:p>
            <a:pPr>
              <a:lnSpc>
                <a:spcPts val="4000"/>
              </a:lnSpc>
            </a:pPr>
            <a:endParaRPr lang="zh-CN" altLang="en-US" sz="2500" b="0" dirty="0">
              <a:solidFill>
                <a:srgbClr val="2D83F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</p:txBody>
      </p:sp>
      <p:pic>
        <p:nvPicPr>
          <p:cNvPr id="22532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EDAC316A-33E3-4583-9BAC-2E194AC66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C5ABDC2-022C-49C8-ADA5-5DC300DEA310}"/>
              </a:ext>
            </a:extLst>
          </p:cNvPr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1600" b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D6D9566-7638-4346-B316-568805078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代码生成器的</a:t>
            </a:r>
            <a:r>
              <a:rPr lang="zh-CN" altLang="en-US" b="1" dirty="0">
                <a:solidFill>
                  <a:srgbClr val="0070C0"/>
                </a:solidFill>
              </a:rPr>
              <a:t>最重要的标准</a:t>
            </a:r>
            <a:r>
              <a:rPr lang="zh-CN" altLang="en-US" b="1" dirty="0"/>
              <a:t>是</a:t>
            </a:r>
            <a:r>
              <a:rPr lang="zh-CN" altLang="en-US" b="1" dirty="0">
                <a:solidFill>
                  <a:srgbClr val="0070C0"/>
                </a:solidFill>
              </a:rPr>
              <a:t>生成正确的代码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/>
            <a:r>
              <a:rPr lang="zh-CN" altLang="en-US" b="1" dirty="0"/>
              <a:t>其次是易于实现、测试和维护</a:t>
            </a:r>
            <a:endParaRPr lang="en-US" altLang="zh-CN" b="1" dirty="0">
              <a:solidFill>
                <a:srgbClr val="0070C0"/>
              </a:solidFill>
            </a:endParaRPr>
          </a:p>
          <a:p>
            <a:r>
              <a:rPr lang="zh-CN" altLang="en-US" b="1" dirty="0"/>
              <a:t>代码的质量通常是由它的运行速度和大小来确定的</a:t>
            </a:r>
            <a:endParaRPr lang="en-US" altLang="zh-CN" b="1" dirty="0"/>
          </a:p>
          <a:p>
            <a:r>
              <a:rPr lang="zh-CN" altLang="en-US" b="1" dirty="0"/>
              <a:t>为给定源程序生成</a:t>
            </a:r>
            <a:r>
              <a:rPr lang="zh-CN" altLang="en-US" b="1" dirty="0">
                <a:solidFill>
                  <a:srgbClr val="0070C0"/>
                </a:solidFill>
              </a:rPr>
              <a:t>最优</a:t>
            </a:r>
            <a:r>
              <a:rPr lang="zh-CN" altLang="en-US" b="1" dirty="0"/>
              <a:t>的目标程序是</a:t>
            </a:r>
            <a:r>
              <a:rPr lang="zh-CN" altLang="en-US" b="1" dirty="0">
                <a:solidFill>
                  <a:srgbClr val="0070C0"/>
                </a:solidFill>
              </a:rPr>
              <a:t>不可判定问题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/>
            <a:r>
              <a:rPr lang="zh-CN" altLang="en-US" b="1" dirty="0"/>
              <a:t>很多子问题（如寄存器分配）都具有难以处理的计算复杂度</a:t>
            </a:r>
            <a:endParaRPr lang="en-US" altLang="zh-CN" b="1" dirty="0"/>
          </a:p>
          <a:p>
            <a:pPr lvl="1"/>
            <a:r>
              <a:rPr lang="zh-CN" altLang="en-US" b="1" dirty="0"/>
              <a:t>实践中，采用的</a:t>
            </a:r>
            <a:r>
              <a:rPr lang="zh-CN" altLang="en-US" b="1" dirty="0">
                <a:solidFill>
                  <a:srgbClr val="0070C0"/>
                </a:solidFill>
              </a:rPr>
              <a:t>启发性技术</a:t>
            </a:r>
            <a:r>
              <a:rPr lang="zh-CN" altLang="en-US" b="1" dirty="0"/>
              <a:t>已非常成熟</a:t>
            </a:r>
            <a:endParaRPr lang="en-US" altLang="zh-CN" b="1" dirty="0"/>
          </a:p>
          <a:p>
            <a:r>
              <a:rPr lang="zh-CN" altLang="en-US" b="1" dirty="0"/>
              <a:t>输入的中间代码可以是</a:t>
            </a:r>
            <a:r>
              <a:rPr lang="zh-CN" altLang="en-US" b="1" dirty="0">
                <a:solidFill>
                  <a:srgbClr val="0070C0"/>
                </a:solidFill>
              </a:rPr>
              <a:t>多种表示形式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/>
            <a:r>
              <a:rPr lang="zh-CN" altLang="en-US" b="1" dirty="0"/>
              <a:t>线性表示（三地址码、字节码）、抽象语法树、</a:t>
            </a:r>
            <a:r>
              <a:rPr lang="en-US" altLang="zh-CN" b="1" dirty="0"/>
              <a:t>DAG</a:t>
            </a:r>
          </a:p>
          <a:p>
            <a:r>
              <a:rPr lang="zh-CN" altLang="en-US" b="1" dirty="0"/>
              <a:t>输出：目标程序可以是</a:t>
            </a:r>
            <a:r>
              <a:rPr lang="zh-CN" altLang="en-US" b="1" dirty="0">
                <a:solidFill>
                  <a:srgbClr val="0070C0"/>
                </a:solidFill>
              </a:rPr>
              <a:t>机器代码</a:t>
            </a:r>
            <a:r>
              <a:rPr lang="zh-CN" altLang="en-US" b="1" dirty="0"/>
              <a:t>也可以是</a:t>
            </a:r>
            <a:r>
              <a:rPr lang="zh-CN" altLang="en-US" b="1" u="sng" dirty="0">
                <a:solidFill>
                  <a:srgbClr val="0070C0"/>
                </a:solidFill>
              </a:rPr>
              <a:t>汇编程序</a:t>
            </a:r>
            <a:endParaRPr lang="en-US" altLang="zh-CN" b="1" u="sng" dirty="0">
              <a:solidFill>
                <a:srgbClr val="0070C0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A8F39C5-40AF-4F73-A71A-00D9E50ED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代码生成</a:t>
            </a:r>
          </a:p>
        </p:txBody>
      </p:sp>
    </p:spTree>
    <p:extLst>
      <p:ext uri="{BB962C8B-B14F-4D97-AF65-F5344CB8AC3E}">
        <p14:creationId xmlns:p14="http://schemas.microsoft.com/office/powerpoint/2010/main" val="49665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9843" y="774710"/>
            <a:ext cx="8042597" cy="3885272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指令选择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zh-CN" altLang="en-US" b="1" dirty="0">
                <a:solidFill>
                  <a:schemeClr val="tx1"/>
                </a:solidFill>
                <a:latin typeface="+mn-ea"/>
              </a:rPr>
              <a:t>选择适当的</a:t>
            </a: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目标机指令或指令序列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来实现</a:t>
            </a: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中间表示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IR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语句</a:t>
            </a:r>
            <a:endParaRPr lang="en-US" altLang="zh-CN" b="1" dirty="0">
              <a:solidFill>
                <a:srgbClr val="0070C0"/>
              </a:solidFill>
              <a:latin typeface="+mn-ea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例：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lvl="2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三地址语句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lvl="3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 =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 +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z</a:t>
            </a:r>
            <a:endParaRPr lang="en-US" altLang="zh-CN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2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目标代码</a:t>
            </a:r>
          </a:p>
          <a:p>
            <a:pPr lvl="3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LD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	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R0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		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/*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把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的值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加载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到寄存器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R0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中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*/</a:t>
            </a:r>
          </a:p>
          <a:p>
            <a:pPr lvl="3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ADD	R0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R0 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z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	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/*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z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加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到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R0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上 */</a:t>
            </a:r>
          </a:p>
          <a:p>
            <a:pPr lvl="3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ST	 x 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R0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 	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/*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把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R0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的值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保存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到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中 */</a:t>
            </a:r>
          </a:p>
          <a:p>
            <a:pPr lvl="1"/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代码生成器的主要任务</a:t>
            </a:r>
            <a:endParaRPr lang="zh-CN" altLang="en-US" sz="3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148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87624" y="2083680"/>
            <a:ext cx="2370701" cy="12741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hangingPunct="0"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zh-CN" altLang="en-US" sz="2400" b="1" dirty="0">
                <a:latin typeface="+mn-ea"/>
                <a:ea typeface="+mn-ea"/>
              </a:rPr>
              <a:t>三地址语句序列</a:t>
            </a:r>
            <a:endParaRPr lang="en-US" altLang="zh-CN" sz="2400" b="1" dirty="0">
              <a:latin typeface="+mn-ea"/>
              <a:ea typeface="+mn-ea"/>
            </a:endParaRPr>
          </a:p>
          <a:p>
            <a:pPr marL="271463" lvl="0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a=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楷体_GB2312" pitchFamily="49" charset="-122"/>
              </a:rPr>
              <a:t>b+c</a:t>
            </a:r>
            <a:endParaRPr lang="en-US" altLang="zh-CN" sz="2200" b="1" i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271463" lvl="0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d=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楷体_GB2312" pitchFamily="49" charset="-122"/>
              </a:rPr>
              <a:t>a+e</a:t>
            </a:r>
            <a:endParaRPr lang="en-US" altLang="zh-CN" sz="2200" b="1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07904" y="2133204"/>
            <a:ext cx="4680520" cy="27428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hangingPunct="0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zh-CN" altLang="en-US" sz="2400" b="1" dirty="0">
                <a:latin typeface="+mn-ea"/>
                <a:ea typeface="+mn-ea"/>
              </a:rPr>
              <a:t>目标代码</a:t>
            </a:r>
            <a:endParaRPr lang="en-US" altLang="zh-CN" sz="2400" b="1" dirty="0">
              <a:latin typeface="+mn-ea"/>
              <a:ea typeface="+mn-ea"/>
            </a:endParaRPr>
          </a:p>
          <a:p>
            <a:pPr marL="271463" indent="-271463" eaLnBrk="0" hangingPunct="0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LD    R0</a:t>
            </a:r>
            <a:r>
              <a:rPr lang="zh-CN" altLang="en-US" sz="22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b 		</a:t>
            </a:r>
            <a:r>
              <a:rPr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R0 = b</a:t>
            </a:r>
          </a:p>
          <a:p>
            <a:pPr marL="271463" indent="-271463" eaLnBrk="0" hangingPunct="0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ADD R0</a:t>
            </a:r>
            <a:r>
              <a:rPr lang="zh-CN" altLang="en-US" sz="22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R0</a:t>
            </a:r>
            <a:r>
              <a:rPr lang="zh-CN" altLang="en-US" sz="22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c 	</a:t>
            </a:r>
            <a:r>
              <a:rPr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R0 = R0 + c</a:t>
            </a:r>
          </a:p>
          <a:p>
            <a:pPr marL="271463" indent="-271463" eaLnBrk="0" hangingPunct="0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en-US" altLang="zh-CN" sz="22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ST     a   ,  R0 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	</a:t>
            </a:r>
            <a:r>
              <a:rPr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a = R0</a:t>
            </a:r>
          </a:p>
          <a:p>
            <a:pPr marL="271463" indent="-271463" eaLnBrk="0" hangingPunct="0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en-US" altLang="zh-CN" sz="22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LD    R0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200" b="1" i="1" dirty="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49" charset="-122"/>
              </a:rPr>
              <a:t>a 	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	</a:t>
            </a:r>
            <a:r>
              <a:rPr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R0 = a</a:t>
            </a:r>
          </a:p>
          <a:p>
            <a:pPr marL="271463" indent="-271463" eaLnBrk="0" hangingPunct="0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it-IT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ADD R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2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it-IT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2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it-IT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e 	</a:t>
            </a:r>
            <a:r>
              <a:rPr lang="it-IT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it-IT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R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it-IT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= R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it-IT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+ e</a:t>
            </a:r>
          </a:p>
          <a:p>
            <a:pPr marL="271463" indent="-271463" eaLnBrk="0" hangingPunct="0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ST     d   ,  R0 	</a:t>
            </a:r>
            <a:r>
              <a:rPr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d = R0</a:t>
            </a:r>
          </a:p>
        </p:txBody>
      </p:sp>
      <p:sp>
        <p:nvSpPr>
          <p:cNvPr id="6" name="矩形 5"/>
          <p:cNvSpPr/>
          <p:nvPr/>
        </p:nvSpPr>
        <p:spPr>
          <a:xfrm>
            <a:off x="3995936" y="3740563"/>
            <a:ext cx="1656184" cy="27134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489843" y="774710"/>
            <a:ext cx="8196958" cy="1225536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271463" marR="0" lvl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指令选择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74675" lvl="1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选择适当的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目标机</a:t>
            </a:r>
            <a:r>
              <a:rPr lang="zh-CN" altLang="en-US" sz="2200" b="1" dirty="0">
                <a:solidFill>
                  <a:srgbClr val="0070C0"/>
                </a:solidFill>
                <a:latin typeface="+mn-ea"/>
                <a:ea typeface="+mn-ea"/>
              </a:rPr>
              <a:t>指令或指令序列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来实现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中间表示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IR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语句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74675" marR="0" lvl="1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例：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代码生成器的主要任务</a:t>
            </a:r>
            <a:endParaRPr lang="zh-CN" altLang="en-US" sz="3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720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xit" presetSubtype="3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3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860" y="1621022"/>
            <a:ext cx="7439743" cy="3225800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寄存器分配和指派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把哪个值放在哪个寄存器中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dirty="0">
                <a:latin typeface="+mn-ea"/>
              </a:rPr>
              <a:t> </a:t>
            </a:r>
            <a:r>
              <a:rPr lang="zh-CN" altLang="en-US" b="1" dirty="0">
                <a:latin typeface="+mn-ea"/>
              </a:rPr>
              <a:t>找到寄存器的最优分配和指派是</a:t>
            </a:r>
            <a:r>
              <a:rPr lang="en-US" altLang="zh-CN" b="1" dirty="0">
                <a:latin typeface="+mn-ea"/>
              </a:rPr>
              <a:t>NP</a:t>
            </a:r>
            <a:r>
              <a:rPr lang="zh-CN" altLang="en-US" b="1" dirty="0">
                <a:latin typeface="+mn-ea"/>
              </a:rPr>
              <a:t>完全问题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指令排序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按照什么顺序来安排指令的执行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lvl="2"/>
            <a:r>
              <a:rPr lang="zh-CN" altLang="en-US" b="1" dirty="0"/>
              <a:t>计算执行的顺序会影响目标代码的效率</a:t>
            </a:r>
            <a:endParaRPr lang="en-US" altLang="zh-CN" b="1" dirty="0"/>
          </a:p>
          <a:p>
            <a:pPr lvl="2"/>
            <a:r>
              <a:rPr lang="zh-CN" altLang="en-US" b="1" dirty="0"/>
              <a:t>某些计算顺序对用于存放中间结果的寄存器的需求更少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b="1" dirty="0">
                <a:latin typeface="+mn-ea"/>
              </a:rPr>
              <a:t>找到最优的指令顺序也是一个</a:t>
            </a:r>
            <a:r>
              <a:rPr lang="en-US" altLang="zh-CN" b="1" dirty="0">
                <a:latin typeface="+mn-ea"/>
              </a:rPr>
              <a:t>NP</a:t>
            </a:r>
            <a:r>
              <a:rPr lang="zh-CN" altLang="en-US" b="1" dirty="0">
                <a:latin typeface="+mn-ea"/>
              </a:rPr>
              <a:t>完全问题</a:t>
            </a:r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89843" y="774710"/>
            <a:ext cx="8153297" cy="1225536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271463" marR="0" lvl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指令选择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574675" marR="0" lvl="1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选择适当的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目标机指令或指令序列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来实现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中间表示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(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IR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)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语句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代码生成器的主要任务</a:t>
            </a:r>
            <a:endParaRPr lang="zh-CN" altLang="en-US" sz="3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8732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EA193F4-D839-49BD-A3FA-8F7F312F2AF4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b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2531" name="矩形 7">
            <a:extLst>
              <a:ext uri="{FF2B5EF4-FFF2-40B4-BE49-F238E27FC236}">
                <a16:creationId xmlns:a16="http://schemas.microsoft.com/office/drawing/2014/main" id="{0EEC7D43-174F-4C62-8209-6E603A1A1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357313"/>
            <a:ext cx="4357687" cy="309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.1 </a:t>
            </a:r>
            <a:r>
              <a:rPr lang="zh-CN" altLang="en-US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代码生成器的主要任务</a:t>
            </a: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.2 </a:t>
            </a:r>
            <a:r>
              <a:rPr lang="zh-CN" altLang="en-US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一个简单的目标机模型</a:t>
            </a: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.3 </a:t>
            </a:r>
            <a:r>
              <a:rPr lang="zh-CN" altLang="en-US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指令选择</a:t>
            </a: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.4 </a:t>
            </a:r>
            <a:r>
              <a:rPr lang="zh-CN" altLang="en-US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寄存器选择</a:t>
            </a:r>
            <a:endParaRPr lang="zh-CN" altLang="en-US" sz="25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.5 </a:t>
            </a:r>
            <a:r>
              <a:rPr lang="zh-CN" altLang="en-US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窥孔优化</a:t>
            </a:r>
            <a:endParaRPr lang="zh-CN" altLang="en-US" sz="25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  <a:p>
            <a:pPr>
              <a:lnSpc>
                <a:spcPts val="4000"/>
              </a:lnSpc>
            </a:pPr>
            <a:endParaRPr lang="zh-CN" altLang="en-US" sz="2500" b="0" dirty="0">
              <a:solidFill>
                <a:srgbClr val="2D83F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</p:txBody>
      </p:sp>
      <p:pic>
        <p:nvPicPr>
          <p:cNvPr id="22532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EDAC316A-33E3-4583-9BAC-2E194AC66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C5ABDC2-022C-49C8-ADA5-5DC300DEA310}"/>
              </a:ext>
            </a:extLst>
          </p:cNvPr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1600" b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389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5977" y="857238"/>
            <a:ext cx="5927725" cy="3730736"/>
          </a:xfrm>
        </p:spPr>
        <p:txBody>
          <a:bodyPr/>
          <a:lstStyle/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三地址机器模型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加载、保存、运算、跳转等操作</a:t>
            </a:r>
            <a:endParaRPr lang="en-US" altLang="zh-CN" sz="24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内存按字节寻址</a:t>
            </a:r>
            <a:endParaRPr lang="en-US" altLang="zh-CN" sz="24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个通用寄存器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R0</a:t>
            </a:r>
            <a:r>
              <a:rPr lang="en-US" altLang="zh-CN" sz="2400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R1</a:t>
            </a:r>
            <a:r>
              <a:rPr lang="en-US" altLang="zh-CN" sz="2400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cs typeface="Times New Roman" pitchFamily="18" charset="0"/>
              </a:rPr>
              <a:t>…, 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Rn</a:t>
            </a:r>
            <a:r>
              <a:rPr lang="en-US" altLang="zh-CN" sz="2400" b="1" dirty="0">
                <a:solidFill>
                  <a:schemeClr val="tx1"/>
                </a:solidFill>
                <a:cs typeface="Times New Roman" pitchFamily="18" charset="0"/>
              </a:rPr>
              <a:t>-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1</a:t>
            </a: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假设所有的运算分量都是整数</a:t>
            </a:r>
            <a:endParaRPr lang="en-US" altLang="zh-CN" sz="2400" b="1" dirty="0">
              <a:solidFill>
                <a:schemeClr val="tx1"/>
              </a:solidFill>
              <a:latin typeface="+mn-ea"/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指令之前可能有一个标号</a:t>
            </a:r>
            <a:endParaRPr lang="en-US" altLang="zh-CN" sz="2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一个简单的目标机模型</a:t>
            </a:r>
          </a:p>
        </p:txBody>
      </p:sp>
    </p:spTree>
    <p:extLst>
      <p:ext uri="{BB962C8B-B14F-4D97-AF65-F5344CB8AC3E}">
        <p14:creationId xmlns:p14="http://schemas.microsoft.com/office/powerpoint/2010/main" val="2294731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3887" y="846148"/>
            <a:ext cx="8356585" cy="4173874"/>
          </a:xfrm>
        </p:spPr>
        <p:txBody>
          <a:bodyPr/>
          <a:lstStyle/>
          <a:p>
            <a:pPr>
              <a:lnSpc>
                <a:spcPts val="29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/>
              <a:t>指令格式：运算符  目标地址</a:t>
            </a:r>
            <a:r>
              <a:rPr lang="en-US" altLang="zh-CN" sz="2500" b="1" dirty="0"/>
              <a:t>, </a:t>
            </a:r>
            <a:r>
              <a:rPr lang="zh-CN" altLang="en-US" sz="2500" b="1" dirty="0"/>
              <a:t>运算分量</a:t>
            </a:r>
            <a:r>
              <a:rPr lang="en-US" altLang="zh-CN" sz="2500" b="1" dirty="0"/>
              <a:t>1, </a:t>
            </a:r>
            <a:r>
              <a:rPr lang="zh-CN" altLang="en-US" sz="2500" b="1" dirty="0"/>
              <a:t>运算分量</a:t>
            </a:r>
            <a:r>
              <a:rPr lang="en-US" altLang="zh-CN" sz="2500" b="1" dirty="0"/>
              <a:t>2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>
              <a:lnSpc>
                <a:spcPts val="29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加载指令</a:t>
            </a:r>
            <a:r>
              <a:rPr lang="en-US" altLang="zh-CN" sz="2500" b="1" dirty="0">
                <a:solidFill>
                  <a:schemeClr val="tx1"/>
                </a:solidFill>
              </a:rPr>
              <a:t>		</a:t>
            </a:r>
            <a:r>
              <a:rPr lang="en-US" altLang="zh-CN" sz="2500" b="1" i="1" dirty="0">
                <a:solidFill>
                  <a:schemeClr val="tx1"/>
                </a:solidFill>
              </a:rPr>
              <a:t>LD 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dst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addr</a:t>
            </a:r>
            <a:endParaRPr lang="en-US" altLang="zh-CN" sz="2500" b="1" i="1" dirty="0">
              <a:solidFill>
                <a:schemeClr val="tx1"/>
              </a:solidFill>
            </a:endParaRPr>
          </a:p>
          <a:p>
            <a:pPr lvl="1">
              <a:lnSpc>
                <a:spcPts val="2900"/>
              </a:lnSpc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</a:rPr>
              <a:t>LD  r</a:t>
            </a:r>
            <a:r>
              <a:rPr lang="en-US" altLang="zh-CN" sz="2400" b="1" dirty="0">
                <a:solidFill>
                  <a:schemeClr val="tx1"/>
                </a:solidFill>
              </a:rPr>
              <a:t>, </a:t>
            </a:r>
            <a:r>
              <a:rPr lang="en-US" altLang="zh-CN" sz="2400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</a:p>
          <a:p>
            <a:pPr lvl="1">
              <a:lnSpc>
                <a:spcPts val="2900"/>
              </a:lnSpc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</a:rPr>
              <a:t>LD  r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</a:rPr>
              <a:t>,</a:t>
            </a:r>
            <a:r>
              <a:rPr lang="en-US" altLang="zh-CN" sz="2400" b="1" i="1" dirty="0">
                <a:solidFill>
                  <a:schemeClr val="tx1"/>
                </a:solidFill>
              </a:rPr>
              <a:t>  </a:t>
            </a:r>
            <a:r>
              <a:rPr lang="en-US" altLang="zh-CN" b="1" i="1" dirty="0">
                <a:solidFill>
                  <a:schemeClr val="tx1"/>
                </a:solidFill>
              </a:rPr>
              <a:t>r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2</a:t>
            </a:r>
          </a:p>
          <a:p>
            <a:pPr>
              <a:lnSpc>
                <a:spcPts val="29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保存</a:t>
            </a:r>
            <a:r>
              <a:rPr lang="en-US" altLang="zh-CN" sz="2500" b="1" dirty="0">
                <a:solidFill>
                  <a:schemeClr val="tx1"/>
                </a:solidFill>
              </a:rPr>
              <a:t>	</a:t>
            </a:r>
            <a:r>
              <a:rPr lang="zh-CN" altLang="en-US" sz="2500" b="1" dirty="0">
                <a:solidFill>
                  <a:schemeClr val="tx1"/>
                </a:solidFill>
              </a:rPr>
              <a:t>指令</a:t>
            </a:r>
            <a:r>
              <a:rPr lang="en-US" altLang="zh-CN" sz="2500" b="1" dirty="0">
                <a:solidFill>
                  <a:schemeClr val="tx1"/>
                </a:solidFill>
              </a:rPr>
              <a:t>	     	</a:t>
            </a:r>
            <a:r>
              <a:rPr lang="en-US" altLang="zh-CN" sz="2500" b="1" i="1" dirty="0">
                <a:solidFill>
                  <a:schemeClr val="tx1"/>
                </a:solidFill>
              </a:rPr>
              <a:t>ST   x</a:t>
            </a:r>
            <a:r>
              <a:rPr lang="en-US" altLang="zh-CN" sz="2500" b="1" dirty="0">
                <a:solidFill>
                  <a:schemeClr val="tx1"/>
                </a:solidFill>
              </a:rPr>
              <a:t>,</a:t>
            </a:r>
            <a:r>
              <a:rPr lang="en-US" altLang="zh-CN" sz="2500" b="1" i="1" dirty="0">
                <a:solidFill>
                  <a:schemeClr val="tx1"/>
                </a:solidFill>
              </a:rPr>
              <a:t>  r   </a:t>
            </a:r>
            <a:r>
              <a:rPr lang="en-US" altLang="zh-CN" b="1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b="1" dirty="0">
                <a:solidFill>
                  <a:schemeClr val="accent3">
                    <a:lumMod val="50000"/>
                  </a:schemeClr>
                </a:solidFill>
              </a:rPr>
              <a:t>把寄存器</a:t>
            </a:r>
            <a:r>
              <a:rPr lang="en-US" altLang="zh-CN" b="1" i="1" dirty="0">
                <a:solidFill>
                  <a:schemeClr val="accent3">
                    <a:lumMod val="50000"/>
                  </a:schemeClr>
                </a:solidFill>
              </a:rPr>
              <a:t>r</a:t>
            </a:r>
            <a:r>
              <a:rPr lang="zh-CN" altLang="en-US" b="1" dirty="0">
                <a:solidFill>
                  <a:schemeClr val="accent3">
                    <a:lumMod val="50000"/>
                  </a:schemeClr>
                </a:solidFill>
              </a:rPr>
              <a:t>中的值保存到位置</a:t>
            </a:r>
            <a:r>
              <a:rPr lang="en-US" altLang="zh-CN" b="1" i="1" dirty="0">
                <a:solidFill>
                  <a:schemeClr val="accent3">
                    <a:lumMod val="50000"/>
                  </a:schemeClr>
                </a:solidFill>
              </a:rPr>
              <a:t>x</a:t>
            </a:r>
            <a:endParaRPr lang="en-US" altLang="zh-CN" sz="2500" b="1" i="1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lnSpc>
                <a:spcPts val="29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运算</a:t>
            </a:r>
            <a:r>
              <a:rPr lang="en-US" altLang="zh-CN" sz="2500" b="1" dirty="0">
                <a:solidFill>
                  <a:schemeClr val="tx1"/>
                </a:solidFill>
              </a:rPr>
              <a:t>	</a:t>
            </a:r>
            <a:r>
              <a:rPr lang="zh-CN" altLang="en-US" sz="2500" b="1" dirty="0">
                <a:solidFill>
                  <a:schemeClr val="tx1"/>
                </a:solidFill>
              </a:rPr>
              <a:t>指令</a:t>
            </a:r>
            <a:r>
              <a:rPr lang="en-US" altLang="zh-CN" sz="2500" b="1" dirty="0">
                <a:solidFill>
                  <a:schemeClr val="tx1"/>
                </a:solidFill>
              </a:rPr>
              <a:t>	    	</a:t>
            </a:r>
            <a:r>
              <a:rPr lang="pl-PL" altLang="zh-CN" sz="2500" b="1" i="1" dirty="0">
                <a:solidFill>
                  <a:schemeClr val="tx1"/>
                </a:solidFill>
              </a:rPr>
              <a:t>OP </a:t>
            </a:r>
            <a:r>
              <a:rPr lang="en-US" altLang="zh-CN" sz="2500" b="1" i="1" dirty="0">
                <a:solidFill>
                  <a:schemeClr val="tx1"/>
                </a:solidFill>
              </a:rPr>
              <a:t> </a:t>
            </a:r>
            <a:r>
              <a:rPr lang="pl-PL" altLang="zh-CN" sz="2500" b="1" i="1" dirty="0">
                <a:solidFill>
                  <a:schemeClr val="tx1"/>
                </a:solidFill>
              </a:rPr>
              <a:t>dst</a:t>
            </a:r>
            <a:r>
              <a:rPr lang="pl-PL" altLang="zh-CN" sz="2500" b="1" dirty="0">
                <a:solidFill>
                  <a:schemeClr val="tx1"/>
                </a:solidFill>
              </a:rPr>
              <a:t>,</a:t>
            </a:r>
            <a:r>
              <a:rPr lang="pl-PL" altLang="zh-CN" sz="2500" b="1" i="1" dirty="0">
                <a:solidFill>
                  <a:schemeClr val="tx1"/>
                </a:solidFill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</a:rPr>
              <a:t> </a:t>
            </a:r>
            <a:r>
              <a:rPr lang="pl-PL" altLang="zh-CN" sz="2500" b="1" i="1" dirty="0">
                <a:solidFill>
                  <a:schemeClr val="tx1"/>
                </a:solidFill>
              </a:rPr>
              <a:t>sr</a:t>
            </a:r>
            <a:r>
              <a:rPr lang="en-US" altLang="zh-CN" sz="2500" b="1" i="1" dirty="0">
                <a:solidFill>
                  <a:schemeClr val="tx1"/>
                </a:solidFill>
              </a:rPr>
              <a:t>c1</a:t>
            </a:r>
            <a:r>
              <a:rPr lang="pl-PL" altLang="zh-CN" sz="2500" b="1" dirty="0">
                <a:solidFill>
                  <a:schemeClr val="tx1"/>
                </a:solidFill>
              </a:rPr>
              <a:t>,</a:t>
            </a:r>
            <a:r>
              <a:rPr lang="en-US" altLang="zh-CN" sz="2500" b="1" dirty="0">
                <a:solidFill>
                  <a:schemeClr val="tx1"/>
                </a:solidFill>
              </a:rPr>
              <a:t> </a:t>
            </a:r>
            <a:r>
              <a:rPr lang="pl-PL" altLang="zh-CN" sz="2500" b="1" i="1" dirty="0">
                <a:solidFill>
                  <a:schemeClr val="tx1"/>
                </a:solidFill>
              </a:rPr>
              <a:t> sr</a:t>
            </a:r>
            <a:r>
              <a:rPr lang="en-US" altLang="zh-CN" sz="2500" b="1" i="1" dirty="0">
                <a:solidFill>
                  <a:schemeClr val="tx1"/>
                </a:solidFill>
              </a:rPr>
              <a:t>c</a:t>
            </a:r>
            <a:r>
              <a:rPr lang="pl-PL" altLang="zh-CN" sz="2500" b="1" i="1" dirty="0">
                <a:solidFill>
                  <a:schemeClr val="tx1"/>
                </a:solidFill>
              </a:rPr>
              <a:t>2 </a:t>
            </a:r>
            <a:r>
              <a:rPr lang="en-US" altLang="zh-CN" sz="2500" b="1" i="1" dirty="0">
                <a:solidFill>
                  <a:schemeClr val="tx1"/>
                </a:solidFill>
              </a:rPr>
              <a:t> </a:t>
            </a:r>
            <a:r>
              <a:rPr lang="en-US" altLang="zh-CN" sz="2500" b="1" dirty="0">
                <a:solidFill>
                  <a:schemeClr val="accent3">
                    <a:lumMod val="50000"/>
                  </a:schemeClr>
                </a:solidFill>
              </a:rPr>
              <a:t>//</a:t>
            </a:r>
            <a:r>
              <a:rPr lang="zh-CN" altLang="en-US" sz="2500" b="1" dirty="0">
                <a:solidFill>
                  <a:schemeClr val="accent3">
                    <a:lumMod val="50000"/>
                  </a:schemeClr>
                </a:solidFill>
              </a:rPr>
              <a:t>通常是寄存器</a:t>
            </a:r>
            <a:endParaRPr lang="en-US" altLang="zh-CN" sz="2500" b="1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lnSpc>
                <a:spcPts val="29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无条件跳转指令</a:t>
            </a:r>
            <a:r>
              <a:rPr lang="en-US" altLang="zh-CN" sz="2500" b="1" dirty="0">
                <a:solidFill>
                  <a:schemeClr val="tx1"/>
                </a:solidFill>
              </a:rPr>
              <a:t>	</a:t>
            </a:r>
            <a:r>
              <a:rPr lang="en-US" altLang="zh-CN" sz="2500" b="1" i="1" dirty="0">
                <a:solidFill>
                  <a:schemeClr val="tx1"/>
                </a:solidFill>
              </a:rPr>
              <a:t>BR  L</a:t>
            </a:r>
          </a:p>
          <a:p>
            <a:pPr>
              <a:lnSpc>
                <a:spcPts val="29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条件跳转指令</a:t>
            </a:r>
            <a:r>
              <a:rPr lang="en-US" altLang="zh-CN" sz="2500" b="1" dirty="0">
                <a:solidFill>
                  <a:schemeClr val="tx1"/>
                </a:solidFill>
              </a:rPr>
              <a:t>	</a:t>
            </a:r>
            <a:r>
              <a:rPr lang="en-US" altLang="zh-CN" sz="2500" b="1" i="1" dirty="0" err="1">
                <a:solidFill>
                  <a:schemeClr val="tx1"/>
                </a:solidFill>
              </a:rPr>
              <a:t>Bcond</a:t>
            </a:r>
            <a:r>
              <a:rPr lang="en-US" altLang="zh-CN" sz="2500" b="1" i="1" dirty="0">
                <a:solidFill>
                  <a:schemeClr val="tx1"/>
                </a:solidFill>
              </a:rPr>
              <a:t>  r</a:t>
            </a:r>
            <a:r>
              <a:rPr lang="en-US" altLang="zh-CN" sz="2500" b="1" dirty="0">
                <a:solidFill>
                  <a:schemeClr val="tx1"/>
                </a:solidFill>
              </a:rPr>
              <a:t>, </a:t>
            </a:r>
            <a:r>
              <a:rPr lang="en-US" altLang="zh-CN" sz="2500" b="1" i="1" dirty="0">
                <a:solidFill>
                  <a:schemeClr val="tx1"/>
                </a:solidFill>
              </a:rPr>
              <a:t> L</a:t>
            </a:r>
          </a:p>
          <a:p>
            <a:pPr lvl="1">
              <a:lnSpc>
                <a:spcPts val="29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例</a:t>
            </a:r>
            <a:r>
              <a:rPr lang="en-US" altLang="zh-CN" b="1" dirty="0">
                <a:solidFill>
                  <a:prstClr val="black"/>
                </a:solidFill>
              </a:rPr>
              <a:t>: </a:t>
            </a:r>
            <a:r>
              <a:rPr lang="en-US" altLang="zh-CN" b="1" i="1" dirty="0">
                <a:solidFill>
                  <a:prstClr val="black"/>
                </a:solidFill>
              </a:rPr>
              <a:t>BLTZ  r</a:t>
            </a:r>
            <a:r>
              <a:rPr lang="en-US" altLang="zh-CN" sz="2400" b="1" dirty="0">
                <a:solidFill>
                  <a:prstClr val="black"/>
                </a:solidFill>
              </a:rPr>
              <a:t>, </a:t>
            </a:r>
            <a:r>
              <a:rPr lang="en-US" altLang="zh-CN" sz="2400" b="1" i="1" dirty="0">
                <a:solidFill>
                  <a:prstClr val="black"/>
                </a:solidFill>
              </a:rPr>
              <a:t> </a:t>
            </a:r>
            <a:r>
              <a:rPr lang="en-US" altLang="zh-CN" b="1" i="1" dirty="0">
                <a:solidFill>
                  <a:prstClr val="black"/>
                </a:solidFill>
              </a:rPr>
              <a:t>L      </a:t>
            </a:r>
            <a:r>
              <a:rPr lang="en-US" altLang="zh-CN" b="1" i="1" dirty="0">
                <a:solidFill>
                  <a:schemeClr val="accent3">
                    <a:lumMod val="50000"/>
                  </a:schemeClr>
                </a:solidFill>
              </a:rPr>
              <a:t>// </a:t>
            </a:r>
            <a:r>
              <a:rPr lang="en-US" altLang="zh-CN" sz="2500" b="1" i="1" dirty="0">
                <a:solidFill>
                  <a:schemeClr val="accent3">
                    <a:lumMod val="50000"/>
                  </a:schemeClr>
                </a:solidFill>
              </a:rPr>
              <a:t>if r&lt;0 </a:t>
            </a:r>
            <a:r>
              <a:rPr lang="pt-BR" altLang="zh-CN" sz="2500" b="1" i="1" dirty="0">
                <a:solidFill>
                  <a:schemeClr val="accent3">
                    <a:lumMod val="50000"/>
                  </a:schemeClr>
                </a:solidFill>
                <a:cs typeface="Times New Roman" panose="02020603050405020304" pitchFamily="18" charset="0"/>
              </a:rPr>
              <a:t>jump to</a:t>
            </a:r>
            <a:r>
              <a:rPr lang="en-US" altLang="zh-CN" sz="2500" b="1" i="1" dirty="0">
                <a:solidFill>
                  <a:schemeClr val="accent3">
                    <a:lumMod val="50000"/>
                  </a:schemeClr>
                </a:solidFill>
              </a:rPr>
              <a:t> L</a:t>
            </a:r>
            <a:endParaRPr lang="en-US" altLang="zh-CN" b="1" i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目标机器的主要指令</a:t>
            </a:r>
          </a:p>
        </p:txBody>
      </p:sp>
    </p:spTree>
    <p:extLst>
      <p:ext uri="{BB962C8B-B14F-4D97-AF65-F5344CB8AC3E}">
        <p14:creationId xmlns:p14="http://schemas.microsoft.com/office/powerpoint/2010/main" val="598582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4348" y="785800"/>
            <a:ext cx="5927725" cy="3225800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变量名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例：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LD  R1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 ,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endParaRPr lang="en-US" altLang="zh-CN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2">
              <a:buClrTx/>
              <a:buFont typeface="Wingdings" pitchFamily="2" charset="2"/>
              <a:buChar char="Ø"/>
            </a:pP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R1 = contents </a:t>
            </a:r>
            <a:r>
              <a:rPr lang="en-US" altLang="zh-CN" sz="2200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  <a:cs typeface="Times New Roman" pitchFamily="18" charset="0"/>
              </a:rPr>
              <a:t> )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寻址模式</a:t>
            </a:r>
            <a:endParaRPr lang="zh-CN" altLang="en-US" sz="3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419872" y="1995686"/>
            <a:ext cx="21602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987824" y="1635646"/>
            <a:ext cx="28803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18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4348" y="785800"/>
            <a:ext cx="7746084" cy="3802174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变量名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a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是一个</a:t>
            </a:r>
            <a:r>
              <a:rPr lang="zh-CN" altLang="en-US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变量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（内存位置），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r</a:t>
            </a: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是一个</a:t>
            </a:r>
            <a:r>
              <a:rPr lang="zh-CN" altLang="en-US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寄存器，</a:t>
            </a: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作为</a:t>
            </a:r>
            <a:r>
              <a:rPr lang="zh-CN" altLang="en-US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下标</a:t>
            </a:r>
            <a:endParaRPr lang="en-US" altLang="zh-CN" b="1" dirty="0">
              <a:solidFill>
                <a:srgbClr val="0070C0"/>
              </a:solidFill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b="1" i="1" dirty="0">
                <a:cs typeface="Times New Roman" pitchFamily="18" charset="0"/>
              </a:rPr>
              <a:t>a</a:t>
            </a:r>
            <a:r>
              <a:rPr lang="en-US" altLang="zh-CN" sz="2400" b="1" dirty="0">
                <a:cs typeface="Times New Roman" pitchFamily="18" charset="0"/>
              </a:rPr>
              <a:t>(</a:t>
            </a:r>
            <a:r>
              <a:rPr lang="en-US" altLang="zh-CN" sz="2400" b="1" i="1" dirty="0">
                <a:cs typeface="Times New Roman" pitchFamily="18" charset="0"/>
              </a:rPr>
              <a:t>r</a:t>
            </a:r>
            <a:r>
              <a:rPr lang="en-US" altLang="zh-CN" sz="2400" b="1" dirty="0">
                <a:cs typeface="Times New Roman" pitchFamily="18" charset="0"/>
              </a:rPr>
              <a:t>)</a:t>
            </a:r>
            <a:r>
              <a:rPr lang="zh-CN" altLang="en-US" sz="2400" b="1" dirty="0">
                <a:cs typeface="Times New Roman" pitchFamily="18" charset="0"/>
              </a:rPr>
              <a:t>表示一个内存地址：</a:t>
            </a:r>
            <a:r>
              <a:rPr lang="en-US" altLang="zh-CN" sz="2400" b="1" i="1" dirty="0">
                <a:cs typeface="Times New Roman" pitchFamily="18" charset="0"/>
              </a:rPr>
              <a:t>a </a:t>
            </a:r>
            <a:r>
              <a:rPr lang="en-US" altLang="zh-CN" sz="2400" b="1" dirty="0">
                <a:cs typeface="Times New Roman" pitchFamily="18" charset="0"/>
              </a:rPr>
              <a:t>+</a:t>
            </a:r>
            <a:r>
              <a:rPr lang="zh-CN" altLang="en-US" sz="2400" b="1" dirty="0">
                <a:cs typeface="Times New Roman" pitchFamily="18" charset="0"/>
              </a:rPr>
              <a:t>下标寄存器</a:t>
            </a:r>
            <a:r>
              <a:rPr lang="en-US" altLang="zh-CN" sz="2400" b="1" i="1" dirty="0">
                <a:cs typeface="Times New Roman" pitchFamily="18" charset="0"/>
              </a:rPr>
              <a:t>r</a:t>
            </a:r>
            <a:r>
              <a:rPr lang="zh-CN" altLang="en-US" sz="2400" b="1" dirty="0">
                <a:cs typeface="Times New Roman" pitchFamily="18" charset="0"/>
              </a:rPr>
              <a:t>中的值</a:t>
            </a:r>
            <a:endParaRPr lang="en-US" altLang="zh-CN" b="1" dirty="0">
              <a:latin typeface="+mn-ea"/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这种寻址方式对于</a:t>
            </a:r>
            <a:r>
              <a:rPr lang="zh-CN" altLang="en-US" b="1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rPr>
              <a:t>数组访问</a:t>
            </a:r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是很有用的</a:t>
            </a:r>
            <a:endParaRPr lang="en-US" altLang="zh-CN" b="1" dirty="0">
              <a:latin typeface="+mn-ea"/>
              <a:cs typeface="Times New Roman" panose="02020603050405020304" pitchFamily="18" charset="0"/>
            </a:endParaRPr>
          </a:p>
          <a:p>
            <a:pPr lvl="2"/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数组的基地址为 </a:t>
            </a:r>
            <a:r>
              <a:rPr lang="en-US" altLang="zh-CN" sz="2400" b="1" i="1" dirty="0"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，某元素基于数组基地址的偏移地址为 </a:t>
            </a:r>
            <a:r>
              <a:rPr lang="en-US" altLang="zh-CN" sz="2400" b="1" i="1" dirty="0">
                <a:cs typeface="Times New Roman" pitchFamily="18" charset="0"/>
              </a:rPr>
              <a:t>r</a:t>
            </a:r>
            <a:endParaRPr lang="en-US" altLang="zh-CN" sz="24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例：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LD  R1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 , 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</a:p>
          <a:p>
            <a:pPr lvl="2">
              <a:buClrTx/>
              <a:buFont typeface="Wingdings" pitchFamily="2" charset="2"/>
              <a:buChar char="Ø"/>
            </a:pP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R1 = contents </a:t>
            </a:r>
            <a:r>
              <a:rPr lang="en-US" altLang="zh-CN" sz="2200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a + contents</a:t>
            </a:r>
            <a:r>
              <a:rPr lang="en-US" altLang="zh-CN" sz="22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R2</a:t>
            </a:r>
            <a:r>
              <a:rPr lang="en-US" altLang="zh-CN" sz="2200" b="1" dirty="0">
                <a:solidFill>
                  <a:schemeClr val="tx1"/>
                </a:solidFill>
                <a:cs typeface="Times New Roman" pitchFamily="18" charset="0"/>
              </a:rPr>
              <a:t>) )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/>
          <a:p>
            <a:r>
              <a:rPr lang="zh-CN" altLang="en-US" sz="3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寻址模式</a:t>
            </a:r>
            <a:endParaRPr lang="zh-CN" altLang="en-US" sz="3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3419872" y="4551030"/>
            <a:ext cx="194421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3048223" y="4118982"/>
            <a:ext cx="659681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18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4348" y="1703404"/>
            <a:ext cx="7715304" cy="2812562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c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c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是一个</a:t>
            </a: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整数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是下标</a:t>
            </a: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寄存器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，存</a:t>
            </a:r>
            <a:r>
              <a:rPr lang="zh-CN" altLang="en-US" b="1" dirty="0">
                <a:latin typeface="+mn-ea"/>
              </a:rPr>
              <a:t>放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一个内存地址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zh-CN" sz="2400" b="1" i="1" dirty="0">
                <a:cs typeface="Times New Roman" pitchFamily="18" charset="0"/>
              </a:rPr>
              <a:t>c</a:t>
            </a:r>
            <a:r>
              <a:rPr lang="en-US" altLang="zh-CN" sz="2400" b="1" dirty="0">
                <a:cs typeface="Times New Roman" pitchFamily="18" charset="0"/>
              </a:rPr>
              <a:t>(</a:t>
            </a:r>
            <a:r>
              <a:rPr lang="en-US" altLang="zh-CN" sz="2400" b="1" i="1" dirty="0">
                <a:cs typeface="Times New Roman" pitchFamily="18" charset="0"/>
              </a:rPr>
              <a:t>r</a:t>
            </a:r>
            <a:r>
              <a:rPr lang="en-US" altLang="zh-CN" sz="2400" b="1" dirty="0">
                <a:cs typeface="Times New Roman" pitchFamily="18" charset="0"/>
              </a:rPr>
              <a:t>)</a:t>
            </a:r>
            <a:r>
              <a:rPr lang="zh-CN" altLang="en-US" b="1" dirty="0">
                <a:latin typeface="+mn-ea"/>
              </a:rPr>
              <a:t>表示一个内存地址：寄存器</a:t>
            </a:r>
            <a:r>
              <a:rPr lang="en-US" altLang="zh-CN" b="1" i="1" dirty="0">
                <a:cs typeface="Times New Roman" panose="02020603050405020304" pitchFamily="18" charset="0"/>
              </a:rPr>
              <a:t>r</a:t>
            </a:r>
            <a:r>
              <a:rPr lang="zh-CN" altLang="en-US" b="1" dirty="0">
                <a:latin typeface="+mn-ea"/>
              </a:rPr>
              <a:t>中的值</a:t>
            </a:r>
            <a:r>
              <a:rPr lang="en-US" altLang="zh-CN" b="1" dirty="0">
                <a:latin typeface="+mn-ea"/>
              </a:rPr>
              <a:t>+</a:t>
            </a:r>
            <a:r>
              <a:rPr lang="zh-CN" altLang="en-US" b="1" dirty="0">
                <a:latin typeface="+mn-ea"/>
              </a:rPr>
              <a:t>整数</a:t>
            </a:r>
            <a:r>
              <a:rPr lang="en-US" altLang="zh-CN" b="1" i="1" dirty="0">
                <a:cs typeface="Times New Roman" panose="02020603050405020304" pitchFamily="18" charset="0"/>
              </a:rPr>
              <a:t>c</a:t>
            </a:r>
          </a:p>
          <a:p>
            <a:pPr lvl="1"/>
            <a:r>
              <a:rPr lang="zh-CN" altLang="en-US" b="1" dirty="0">
                <a:solidFill>
                  <a:schemeClr val="tx1"/>
                </a:solidFill>
                <a:latin typeface="+mn-ea"/>
              </a:rPr>
              <a:t>这种寻址方式可以用于</a:t>
            </a: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沿指针取值的寻址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b="1" i="1" dirty="0">
                <a:solidFill>
                  <a:schemeClr val="accent2"/>
                </a:solidFill>
                <a:cs typeface="Times New Roman" panose="02020603050405020304" pitchFamily="18" charset="0"/>
              </a:rPr>
              <a:t>r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的值即</a:t>
            </a: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指针值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c</a:t>
            </a: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表示与指针值的偏移</a:t>
            </a:r>
            <a:endParaRPr lang="en-US" altLang="zh-CN" b="1" dirty="0">
              <a:solidFill>
                <a:srgbClr val="0070C0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例：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LD  R1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100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</a:p>
          <a:p>
            <a:pPr lvl="2">
              <a:buClrTx/>
              <a:buFont typeface="Wingdings" pitchFamily="2" charset="2"/>
              <a:buChar char="Ø"/>
            </a:pP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R1 = contents</a:t>
            </a:r>
            <a:r>
              <a:rPr lang="en-US" altLang="zh-CN" sz="2200" b="1" dirty="0">
                <a:solidFill>
                  <a:schemeClr val="tx1"/>
                </a:solidFill>
                <a:cs typeface="Times New Roman" pitchFamily="18" charset="0"/>
              </a:rPr>
              <a:t> (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contents</a:t>
            </a:r>
            <a:r>
              <a:rPr lang="en-US" altLang="zh-CN" sz="22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R2</a:t>
            </a:r>
            <a:r>
              <a:rPr lang="en-US" altLang="zh-CN" sz="22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 + 100 </a:t>
            </a:r>
            <a:r>
              <a:rPr lang="en-US" altLang="zh-CN" sz="2200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寻址模式</a:t>
            </a:r>
            <a:endParaRPr lang="zh-CN" altLang="en-US" sz="3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714348" y="785800"/>
            <a:ext cx="5927725" cy="3225800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271463" marR="0" lvl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变量名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x</a:t>
            </a:r>
          </a:p>
          <a:p>
            <a:pPr marL="271463" marR="0" lvl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r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)</a:t>
            </a:r>
          </a:p>
        </p:txBody>
      </p:sp>
      <p:cxnSp>
        <p:nvCxnSpPr>
          <p:cNvPr id="7" name="直接连接符 6"/>
          <p:cNvCxnSpPr>
            <a:cxnSpLocks/>
          </p:cNvCxnSpPr>
          <p:nvPr/>
        </p:nvCxnSpPr>
        <p:spPr>
          <a:xfrm>
            <a:off x="3455876" y="4515966"/>
            <a:ext cx="223224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084227" y="4083918"/>
            <a:ext cx="87570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49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5977" y="2143122"/>
            <a:ext cx="7816463" cy="2588868"/>
          </a:xfrm>
        </p:spPr>
        <p:txBody>
          <a:bodyPr/>
          <a:lstStyle/>
          <a:p>
            <a:pPr lvl="0">
              <a:buClrTx/>
              <a:buFont typeface="Wingdings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*r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间接寻址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寄存器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r</a:t>
            </a:r>
            <a:r>
              <a:rPr lang="zh-CN" altLang="en-US" b="1" dirty="0">
                <a:cs typeface="Times New Roman" panose="02020603050405020304" pitchFamily="18" charset="0"/>
              </a:rPr>
              <a:t>存放的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是一个内存地址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，内存地址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的位置存放了另一个内存地址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b="1" i="1" dirty="0">
                <a:cs typeface="Times New Roman" panose="02020603050405020304" pitchFamily="18" charset="0"/>
              </a:rPr>
              <a:t>r</a:t>
            </a:r>
            <a:r>
              <a:rPr lang="zh-CN" altLang="en-US" b="1" dirty="0">
                <a:cs typeface="Times New Roman" panose="02020603050405020304" pitchFamily="18" charset="0"/>
              </a:rPr>
              <a:t>即表示地址</a:t>
            </a:r>
            <a:r>
              <a:rPr lang="en-US" altLang="zh-CN" b="1" dirty="0">
                <a:cs typeface="Times New Roman" panose="02020603050405020304" pitchFamily="18" charset="0"/>
              </a:rPr>
              <a:t>B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例：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LD  R1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* R2</a:t>
            </a:r>
          </a:p>
          <a:p>
            <a:pPr lvl="2">
              <a:buClrTx/>
              <a:buFont typeface="Wingdings" pitchFamily="2" charset="2"/>
              <a:buChar char="Ø"/>
            </a:pP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R1 = </a:t>
            </a:r>
            <a:r>
              <a:rPr lang="en-US" altLang="zh-CN" sz="22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conents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contents 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contents 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R2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) ) ) </a:t>
            </a:r>
          </a:p>
          <a:p>
            <a:pPr lvl="1"/>
            <a:endParaRPr lang="en-US" altLang="zh-CN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寻址模式</a:t>
            </a:r>
            <a:endParaRPr lang="zh-CN" altLang="en-US" sz="3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714348" y="1703404"/>
            <a:ext cx="5927725" cy="3225800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271463" marR="0" lvl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c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r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)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714348" y="785800"/>
            <a:ext cx="5927725" cy="3225800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271463" lvl="0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变量名</a:t>
            </a:r>
            <a:r>
              <a:rPr lang="en-US" altLang="zh-CN" sz="2500" b="1" i="1" dirty="0">
                <a:latin typeface="Times New Roman" panose="02020603050405020304" pitchFamily="18" charset="0"/>
                <a:cs typeface="Times New Roman" pitchFamily="18" charset="0"/>
              </a:rPr>
              <a:t>x</a:t>
            </a:r>
            <a:endParaRPr kumimoji="0" lang="en-US" altLang="zh-CN" sz="25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itchFamily="18" charset="0"/>
            </a:endParaRPr>
          </a:p>
          <a:p>
            <a:pPr marL="271463" marR="0" lvl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r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)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2987824" y="4083918"/>
            <a:ext cx="648072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157924D-88E4-4E76-924D-14F3BE90C72F}"/>
              </a:ext>
            </a:extLst>
          </p:cNvPr>
          <p:cNvGrpSpPr/>
          <p:nvPr/>
        </p:nvGrpSpPr>
        <p:grpSpPr>
          <a:xfrm>
            <a:off x="4427984" y="4488654"/>
            <a:ext cx="1512168" cy="369332"/>
            <a:chOff x="4427984" y="4488654"/>
            <a:chExt cx="1512168" cy="369332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72ADEEE3-8829-48F2-B398-9A4163D37A30}"/>
                </a:ext>
              </a:extLst>
            </p:cNvPr>
            <p:cNvCxnSpPr>
              <a:cxnSpLocks/>
            </p:cNvCxnSpPr>
            <p:nvPr/>
          </p:nvCxnSpPr>
          <p:spPr>
            <a:xfrm>
              <a:off x="4427984" y="4515966"/>
              <a:ext cx="1512168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58FA8D0-8871-4B41-99CA-0DA47D2A24DF}"/>
                </a:ext>
              </a:extLst>
            </p:cNvPr>
            <p:cNvSpPr/>
            <p:nvPr/>
          </p:nvSpPr>
          <p:spPr>
            <a:xfrm>
              <a:off x="4780752" y="4488654"/>
              <a:ext cx="8066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地址</a:t>
              </a:r>
              <a:r>
                <a:rPr lang="en-US" altLang="zh-CN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</a:t>
              </a:r>
              <a:endPara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3D7F50A-4855-40C7-BA78-040332AA81DB}"/>
              </a:ext>
            </a:extLst>
          </p:cNvPr>
          <p:cNvGrpSpPr/>
          <p:nvPr/>
        </p:nvGrpSpPr>
        <p:grpSpPr>
          <a:xfrm>
            <a:off x="3268584" y="4780147"/>
            <a:ext cx="2743576" cy="369332"/>
            <a:chOff x="4427984" y="4488654"/>
            <a:chExt cx="2743576" cy="369332"/>
          </a:xfrm>
        </p:grpSpPr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466043B-F5FB-4F6C-8E09-53EC3927CE00}"/>
                </a:ext>
              </a:extLst>
            </p:cNvPr>
            <p:cNvCxnSpPr>
              <a:cxnSpLocks/>
            </p:cNvCxnSpPr>
            <p:nvPr/>
          </p:nvCxnSpPr>
          <p:spPr>
            <a:xfrm>
              <a:off x="4427984" y="4515966"/>
              <a:ext cx="2743576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5D32C4C-CB09-4977-8D9C-D60DEE0836F4}"/>
                </a:ext>
              </a:extLst>
            </p:cNvPr>
            <p:cNvSpPr/>
            <p:nvPr/>
          </p:nvSpPr>
          <p:spPr>
            <a:xfrm>
              <a:off x="4780752" y="4488654"/>
              <a:ext cx="8002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地址</a:t>
              </a:r>
              <a:r>
                <a:rPr lang="en-US" altLang="zh-CN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B</a:t>
              </a:r>
              <a:endPara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019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8668" y="2571750"/>
            <a:ext cx="7958134" cy="1879568"/>
          </a:xfrm>
        </p:spPr>
        <p:txBody>
          <a:bodyPr/>
          <a:lstStyle/>
          <a:p>
            <a:pPr lvl="0">
              <a:buClrTx/>
              <a:buFont typeface="Wingdings" pitchFamily="2" charset="2"/>
              <a:buChar char="Ø"/>
            </a:pP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*c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5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c</a:t>
            </a:r>
            <a:r>
              <a:rPr lang="zh-CN" altLang="en-US" b="1" dirty="0">
                <a:cs typeface="Times New Roman" panose="02020603050405020304" pitchFamily="18" charset="0"/>
              </a:rPr>
              <a:t>是一个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整数</a:t>
            </a:r>
            <a:r>
              <a:rPr lang="zh-CN" altLang="en-US" b="1" dirty="0">
                <a:cs typeface="Times New Roman" panose="02020603050405020304" pitchFamily="18" charset="0"/>
              </a:rPr>
              <a:t>，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在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寄存器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r</a:t>
            </a:r>
            <a:r>
              <a:rPr lang="zh-CN" altLang="en-US" b="1" dirty="0">
                <a:cs typeface="Times New Roman" panose="02020603050405020304" pitchFamily="18" charset="0"/>
              </a:rPr>
              <a:t>中存放一个地址</a:t>
            </a:r>
            <a:r>
              <a:rPr lang="en-US" altLang="zh-CN" b="1" i="1" dirty="0"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cs typeface="Times New Roman" panose="02020603050405020304" pitchFamily="18" charset="0"/>
              </a:rPr>
              <a:t>，</a:t>
            </a:r>
            <a:r>
              <a:rPr lang="en-US" altLang="zh-CN" b="1" i="1" dirty="0" err="1">
                <a:cs typeface="Times New Roman" panose="02020603050405020304" pitchFamily="18" charset="0"/>
              </a:rPr>
              <a:t>A</a:t>
            </a:r>
            <a:r>
              <a:rPr lang="en-US" altLang="zh-CN" b="1" dirty="0" err="1">
                <a:cs typeface="Times New Roman" panose="02020603050405020304" pitchFamily="18" charset="0"/>
              </a:rPr>
              <a:t>+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c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的内存位置上存放另一个地址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*c</a:t>
            </a:r>
            <a:r>
              <a:rPr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即表示地址</a:t>
            </a:r>
            <a:r>
              <a:rPr lang="en-US" altLang="zh-CN" sz="24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B</a:t>
            </a:r>
            <a:endParaRPr lang="en-US" altLang="zh-CN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例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LD  R1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*100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>
              <a:buClrTx/>
              <a:buFont typeface="Wingdings" pitchFamily="2" charset="2"/>
              <a:buChar char="Ø"/>
            </a:pPr>
            <a:r>
              <a:rPr lang="en-US" altLang="zh-CN" sz="2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 = </a:t>
            </a:r>
            <a:r>
              <a:rPr lang="en-US" altLang="zh-CN" sz="22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conents</a:t>
            </a:r>
            <a:r>
              <a:rPr lang="en-US" altLang="zh-CN" sz="2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contents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R2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+ 100 </a:t>
            </a:r>
            <a:r>
              <a:rPr lang="en-US" altLang="zh-C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) 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寻址模式</a:t>
            </a:r>
            <a:endParaRPr lang="zh-CN" altLang="en-US" sz="3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715977" y="2143122"/>
            <a:ext cx="5927725" cy="500066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271463" marR="0" lvl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*r</a:t>
            </a:r>
          </a:p>
          <a:p>
            <a:pPr marL="574675" marR="0" lvl="1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tabLst/>
              <a:defRPr/>
            </a:pPr>
            <a:endParaRPr kumimoji="0" lang="en-US" altLang="zh-CN" sz="22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714348" y="1703404"/>
            <a:ext cx="5927725" cy="3225800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271463" marR="0" lvl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c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r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)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714348" y="785800"/>
            <a:ext cx="5927725" cy="3225800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271463" lvl="0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变量名</a:t>
            </a:r>
            <a:r>
              <a:rPr lang="en-US" altLang="zh-CN" sz="2500" b="1" i="1" dirty="0">
                <a:latin typeface="Times New Roman" panose="02020603050405020304" pitchFamily="18" charset="0"/>
                <a:cs typeface="Times New Roman" pitchFamily="18" charset="0"/>
              </a:rPr>
              <a:t>x</a:t>
            </a:r>
            <a:endParaRPr kumimoji="0" lang="en-US" altLang="zh-CN" sz="25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itchFamily="18" charset="0"/>
            </a:endParaRPr>
          </a:p>
          <a:p>
            <a:pPr marL="271463" marR="0" lvl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r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)</a:t>
            </a:r>
          </a:p>
        </p:txBody>
      </p:sp>
      <p:cxnSp>
        <p:nvCxnSpPr>
          <p:cNvPr id="9" name="直接连接符 8"/>
          <p:cNvCxnSpPr>
            <a:cxnSpLocks/>
          </p:cNvCxnSpPr>
          <p:nvPr/>
        </p:nvCxnSpPr>
        <p:spPr>
          <a:xfrm>
            <a:off x="3347864" y="4587974"/>
            <a:ext cx="367240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cxnSpLocks/>
          </p:cNvCxnSpPr>
          <p:nvPr/>
        </p:nvCxnSpPr>
        <p:spPr>
          <a:xfrm>
            <a:off x="2987824" y="4155926"/>
            <a:ext cx="129614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69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4348" y="3000378"/>
            <a:ext cx="5927725" cy="1643074"/>
          </a:xfrm>
        </p:spPr>
        <p:txBody>
          <a:bodyPr/>
          <a:lstStyle/>
          <a:p>
            <a:pPr lvl="0">
              <a:buClrTx/>
              <a:buFont typeface="Wingdings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#c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立即数</a:t>
            </a:r>
            <a:r>
              <a:rPr lang="en-US" altLang="zh-CN" b="1" i="1" dirty="0">
                <a:cs typeface="Times New Roman" pitchFamily="18" charset="0"/>
              </a:rPr>
              <a:t>c</a:t>
            </a:r>
            <a:endParaRPr lang="en-US" altLang="zh-CN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例：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LD  R1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 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#100</a:t>
            </a:r>
          </a:p>
          <a:p>
            <a:pPr lvl="2">
              <a:buClrTx/>
              <a:buFont typeface="Wingdings" pitchFamily="2" charset="2"/>
              <a:buChar char="Ø"/>
            </a:pP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R1 = 100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寻址模式</a:t>
            </a:r>
            <a:endParaRPr lang="zh-CN" altLang="en-US" sz="3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715977" y="2143122"/>
            <a:ext cx="5927725" cy="500066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271463" marR="0" lvl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*r</a:t>
            </a:r>
          </a:p>
          <a:p>
            <a:pPr marL="574675" marR="0" lvl="1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tabLst/>
              <a:defRPr/>
            </a:pPr>
            <a:endParaRPr kumimoji="0" lang="en-US" altLang="zh-CN" sz="22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714348" y="1703404"/>
            <a:ext cx="5927725" cy="3225800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271463" marR="0" lvl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c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r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)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714348" y="785800"/>
            <a:ext cx="7530060" cy="3946190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271463" lvl="0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变量名</a:t>
            </a:r>
            <a:r>
              <a:rPr lang="en-US" altLang="zh-CN" sz="2500" b="1" i="1" dirty="0">
                <a:latin typeface="Times New Roman" panose="02020603050405020304" pitchFamily="18" charset="0"/>
                <a:cs typeface="Times New Roman" pitchFamily="18" charset="0"/>
              </a:rPr>
              <a:t>x</a:t>
            </a:r>
            <a:endParaRPr kumimoji="0" lang="en-US" altLang="zh-CN" sz="25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itchFamily="18" charset="0"/>
            </a:endParaRPr>
          </a:p>
          <a:p>
            <a:pPr marL="271463" marR="0" lvl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a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r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)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728667" y="2571750"/>
            <a:ext cx="1539077" cy="428628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271463" marR="0" lvl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*c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en-US" altLang="zh-CN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74732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EA193F4-D839-49BD-A3FA-8F7F312F2AF4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b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2531" name="矩形 7">
            <a:extLst>
              <a:ext uri="{FF2B5EF4-FFF2-40B4-BE49-F238E27FC236}">
                <a16:creationId xmlns:a16="http://schemas.microsoft.com/office/drawing/2014/main" id="{0EEC7D43-174F-4C62-8209-6E603A1A1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357313"/>
            <a:ext cx="4357687" cy="309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.1 </a:t>
            </a:r>
            <a:r>
              <a:rPr lang="zh-CN" altLang="en-US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代码生成器的主要任务</a:t>
            </a: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.2 </a:t>
            </a:r>
            <a:r>
              <a:rPr lang="zh-CN" altLang="en-US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一个简单的目标机模型</a:t>
            </a: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.3 </a:t>
            </a:r>
            <a:r>
              <a:rPr lang="zh-CN" altLang="en-US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指令选择</a:t>
            </a: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.4 </a:t>
            </a:r>
            <a:r>
              <a:rPr lang="zh-CN" altLang="en-US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寄存器选择</a:t>
            </a:r>
            <a:endParaRPr lang="zh-CN" altLang="en-US" sz="25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.5 </a:t>
            </a:r>
            <a:r>
              <a:rPr lang="zh-CN" altLang="en-US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窥孔优化</a:t>
            </a:r>
            <a:endParaRPr lang="zh-CN" altLang="en-US" sz="25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  <a:p>
            <a:pPr>
              <a:lnSpc>
                <a:spcPts val="4000"/>
              </a:lnSpc>
            </a:pPr>
            <a:endParaRPr lang="zh-CN" altLang="en-US" sz="2500" b="0" dirty="0">
              <a:solidFill>
                <a:srgbClr val="2D83F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</p:txBody>
      </p:sp>
      <p:pic>
        <p:nvPicPr>
          <p:cNvPr id="22532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EDAC316A-33E3-4583-9BAC-2E194AC66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C5ABDC2-022C-49C8-ADA5-5DC300DEA310}"/>
              </a:ext>
            </a:extLst>
          </p:cNvPr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1600" b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420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运算语句的目标代码</a:t>
            </a:r>
            <a:endParaRPr lang="zh-CN" altLang="en-US" sz="30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59632" y="3860342"/>
            <a:ext cx="6912767" cy="10156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+mn-ea"/>
                <a:ea typeface="+mn-ea"/>
              </a:rPr>
              <a:t>尽可能避免使用上面的全部四个指令，如果</a:t>
            </a:r>
            <a:endParaRPr lang="en-US" altLang="zh-CN" sz="2000" b="1" dirty="0">
              <a:latin typeface="+mn-ea"/>
              <a:ea typeface="+mn-ea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+mn-ea"/>
                <a:ea typeface="+mn-ea"/>
              </a:rPr>
              <a:t>所需的运算分量已经在寄存器中了，就无需加载它们</a:t>
            </a:r>
            <a:endParaRPr lang="en-US" altLang="zh-CN" sz="2000" b="1" dirty="0">
              <a:latin typeface="+mn-ea"/>
              <a:ea typeface="+mn-ea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+mn-ea"/>
                <a:ea typeface="+mn-ea"/>
              </a:rPr>
              <a:t>运算结果被存于寄存器中使用，可能不需要存放回内存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30225" y="785800"/>
            <a:ext cx="5927725" cy="3225800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三地址语句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 = y - z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目标代码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LD    R1 , y		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//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R1 =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LD    R2 , z		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// </a:t>
            </a:r>
            <a:r>
              <a:rPr lang="pl-PL" altLang="zh-CN" b="1" i="1" dirty="0">
                <a:solidFill>
                  <a:schemeClr val="tx1"/>
                </a:solidFill>
                <a:cs typeface="Times New Roman" pitchFamily="18" charset="0"/>
              </a:rPr>
              <a:t>R2 = z</a:t>
            </a:r>
            <a:endParaRPr lang="en-US" altLang="zh-CN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SUB R1 , R1 , R2		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//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R1 = R1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-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R2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ST     x  , R1		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//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 = R1</a:t>
            </a:r>
            <a:endParaRPr lang="zh-CN" altLang="en-US" b="1" i="1" dirty="0">
              <a:solidFill>
                <a:schemeClr val="tx1"/>
              </a:solidFill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91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数组寻址语句的目标代码</a:t>
            </a:r>
            <a:endParaRPr lang="zh-CN" altLang="en-US" sz="3000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430225" y="785800"/>
            <a:ext cx="8318239" cy="3514142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271463" marR="0" lvl="0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三地址语句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4675" lvl="1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a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 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 </a:t>
            </a:r>
            <a:r>
              <a:rPr lang="en-US" altLang="zh-CN" sz="22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b="1" dirty="0">
                <a:solidFill>
                  <a:schemeClr val="accent3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此处</a:t>
            </a:r>
            <a:r>
              <a:rPr lang="en-US" altLang="zh-CN" sz="2000" b="1" i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b="1" dirty="0">
                <a:solidFill>
                  <a:schemeClr val="accent3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为元素下标</a:t>
            </a:r>
            <a:r>
              <a:rPr lang="zh-CN" altLang="en-US" sz="2000" b="1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000" b="1" dirty="0">
                <a:solidFill>
                  <a:schemeClr val="accent3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中间代码的层次不同，生成代价不同</a:t>
            </a:r>
            <a:endParaRPr lang="en-US" altLang="zh-CN" sz="2200" b="1" dirty="0">
              <a:solidFill>
                <a:schemeClr val="accent3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74675" lvl="1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是一个实数数组，每个实数占</a:t>
            </a:r>
            <a:r>
              <a:rPr lang="en-US" altLang="zh-CN" sz="2200" b="1" dirty="0">
                <a:latin typeface="Times New Roman" pitchFamily="18" charset="0"/>
                <a:ea typeface="+mn-ea"/>
                <a:cs typeface="Times New Roman" pitchFamily="18" charset="0"/>
              </a:rPr>
              <a:t>8</a:t>
            </a:r>
            <a:r>
              <a:rPr lang="zh-CN" altLang="en-US" sz="2200" b="1" dirty="0">
                <a:latin typeface="+mn-ea"/>
                <a:ea typeface="+mn-ea"/>
                <a:cs typeface="Times New Roman" panose="02020603050405020304" pitchFamily="18" charset="0"/>
              </a:rPr>
              <a:t>个字节</a:t>
            </a:r>
            <a:endParaRPr kumimoji="0" lang="en-US" altLang="zh-CN" sz="2200" b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itchFamily="18" charset="0"/>
            </a:endParaRPr>
          </a:p>
          <a:p>
            <a:pPr marL="271463" lvl="0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目标代码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4675" lvl="1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LD      R1 ,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i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	</a:t>
            </a:r>
            <a:r>
              <a:rPr kumimoji="0" lang="en-US" altLang="zh-CN" sz="22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//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R1</a:t>
            </a:r>
            <a:r>
              <a:rPr lang="pl-PL" altLang="zh-CN" sz="2200" b="1" i="1" dirty="0">
                <a:latin typeface="Times New Roman" panose="02020603050405020304" pitchFamily="18" charset="0"/>
                <a:cs typeface="Times New Roman" pitchFamily="18" charset="0"/>
              </a:rPr>
              <a:t> =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US" altLang="zh-CN" sz="22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i</a:t>
            </a:r>
            <a:endParaRPr kumimoji="0" lang="en-US" altLang="zh-CN" sz="22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itchFamily="18" charset="0"/>
            </a:endParaRPr>
          </a:p>
          <a:p>
            <a:pPr marL="574675" lvl="1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pt-BR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  R1 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R1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pt-BR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R1=R1 * 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200" b="1" dirty="0">
                <a:solidFill>
                  <a:schemeClr val="accent3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2200" b="1" i="1" dirty="0" err="1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200" b="1" dirty="0">
                <a:solidFill>
                  <a:schemeClr val="accent3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为字节偏移，无需此指令</a:t>
            </a:r>
            <a:endParaRPr kumimoji="0" lang="en-US" altLang="zh-CN" sz="2200" b="1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itchFamily="18" charset="0"/>
            </a:endParaRPr>
          </a:p>
          <a:p>
            <a:pPr marL="574675" lvl="1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pt-BR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     R2 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R2=contents 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+ contents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zh-CN" sz="2200" b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itchFamily="18" charset="0"/>
            </a:endParaRPr>
          </a:p>
          <a:p>
            <a:pPr marL="574675" marR="0" lvl="1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ST      b ,   R2	</a:t>
            </a:r>
            <a:r>
              <a:rPr kumimoji="0" lang="en-US" altLang="zh-CN" sz="22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//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b = R2</a:t>
            </a:r>
            <a:endParaRPr kumimoji="0" lang="zh-CN" altLang="en-US" sz="22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6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30225" y="785800"/>
            <a:ext cx="7927989" cy="3225800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三地址语句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[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j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= </a:t>
            </a:r>
            <a:r>
              <a:rPr lang="en-US" altLang="zh-CN" b="1" i="1" dirty="0">
                <a:cs typeface="Times New Roman" panose="02020603050405020304" pitchFamily="18" charset="0"/>
              </a:rPr>
              <a:t>c    </a:t>
            </a:r>
            <a:r>
              <a:rPr lang="en-US" altLang="zh-CN" b="1" dirty="0">
                <a:solidFill>
                  <a:schemeClr val="accent3">
                    <a:lumMod val="50000"/>
                  </a:schemeClr>
                </a:solidFill>
                <a:cs typeface="Times New Roman" panose="02020603050405020304" pitchFamily="18" charset="0"/>
              </a:rPr>
              <a:t>//</a:t>
            </a:r>
            <a:r>
              <a:rPr lang="zh-CN" altLang="en-US" b="1" dirty="0">
                <a:solidFill>
                  <a:schemeClr val="accent3">
                    <a:lumMod val="50000"/>
                  </a:schemeClr>
                </a:solidFill>
                <a:cs typeface="Times New Roman" panose="02020603050405020304" pitchFamily="18" charset="0"/>
              </a:rPr>
              <a:t>此处</a:t>
            </a:r>
            <a:r>
              <a:rPr lang="en-US" altLang="zh-CN" b="1" i="1" dirty="0" err="1">
                <a:solidFill>
                  <a:schemeClr val="accent3">
                    <a:lumMod val="50000"/>
                  </a:schemeClr>
                </a:solidFill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solidFill>
                  <a:schemeClr val="accent3">
                    <a:lumMod val="50000"/>
                  </a:schemeClr>
                </a:solidFill>
                <a:cs typeface="Times New Roman" panose="02020603050405020304" pitchFamily="18" charset="0"/>
              </a:rPr>
              <a:t>为元素下标</a:t>
            </a:r>
            <a:endParaRPr lang="en-US" altLang="zh-CN" b="1" dirty="0">
              <a:solidFill>
                <a:schemeClr val="accent3">
                  <a:lumMod val="50000"/>
                </a:schemeClr>
              </a:solidFill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prstClr val="black"/>
                </a:solidFill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是一个实数数组，每个实数占</a:t>
            </a:r>
            <a:r>
              <a:rPr lang="en-US" altLang="zh-CN" b="1" dirty="0">
                <a:solidFill>
                  <a:prstClr val="black"/>
                </a:solidFill>
                <a:cs typeface="Times New Roman" pitchFamily="18" charset="0"/>
              </a:rPr>
              <a:t>8</a:t>
            </a:r>
            <a:r>
              <a:rPr lang="zh-CN" altLang="en-US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个字节</a:t>
            </a:r>
            <a:endParaRPr lang="en-US" altLang="zh-CN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目标代码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LD     R1  ,     c		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//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R1 </a:t>
            </a:r>
            <a:r>
              <a:rPr lang="pl-PL" altLang="zh-CN" b="1" i="1" dirty="0">
                <a:solidFill>
                  <a:schemeClr val="tx1"/>
                </a:solidFill>
                <a:cs typeface="Times New Roman" pitchFamily="18" charset="0"/>
              </a:rPr>
              <a:t>=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c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LD     R2  ,     j		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// </a:t>
            </a:r>
            <a:r>
              <a:rPr lang="pl-PL" altLang="zh-CN" b="1" i="1" dirty="0">
                <a:solidFill>
                  <a:schemeClr val="tx1"/>
                </a:solidFill>
                <a:cs typeface="Times New Roman" pitchFamily="18" charset="0"/>
              </a:rPr>
              <a:t>R2 =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j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MUL  R2  ,  R2 ,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8	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	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//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R2 = R2 *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 8</a:t>
            </a:r>
            <a:endParaRPr lang="en-US" altLang="zh-CN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ST     a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R2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, R1		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// 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contents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a+contents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R2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))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=R1</a:t>
            </a:r>
            <a:endParaRPr lang="zh-CN" altLang="en-US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endParaRPr lang="zh-CN" altLang="en-US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数组寻址语句的目标代码</a:t>
            </a:r>
            <a:endParaRPr lang="zh-CN" altLang="en-US" sz="30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54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430225" y="785800"/>
            <a:ext cx="7927989" cy="3225800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三地址语句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</a:rPr>
              <a:t>x = *p</a:t>
            </a:r>
            <a:endParaRPr lang="en-US" altLang="zh-CN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目标代码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LD  R1, p	           	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//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R1 = p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LD  R2, 0 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R1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  	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// 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R2 = contents 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0 + contents 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R1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 )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ST   x  , R2	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//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 = R2</a:t>
            </a:r>
            <a:endParaRPr lang="zh-CN" altLang="en-US" b="1" i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pPr>
              <a:tabLst>
                <a:tab pos="534988" algn="l"/>
              </a:tabLst>
            </a:pPr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指针存取语句的目标代码</a:t>
            </a:r>
            <a:endParaRPr lang="zh-CN" altLang="en-US" sz="30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11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30225" y="785800"/>
            <a:ext cx="7927989" cy="3225800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三地址语句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</a:rPr>
              <a:t>*p = y</a:t>
            </a:r>
            <a:endParaRPr lang="en-US" altLang="zh-CN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目标代码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LD   R1 ,    p	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//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R1 = p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LD   R2 ,    y         	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// 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R2 = y</a:t>
            </a:r>
            <a:endParaRPr lang="pt-BR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ST   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0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R1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),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R2	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//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contents 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0 + contents 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R1 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 )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= R2</a:t>
            </a:r>
            <a:endParaRPr lang="zh-CN" altLang="en-US" b="1" i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pPr>
              <a:tabLst>
                <a:tab pos="534988" algn="l"/>
              </a:tabLst>
            </a:pPr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指针存取语句的目标代码</a:t>
            </a:r>
            <a:endParaRPr lang="zh-CN" altLang="en-US" sz="30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25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108203" y="3867894"/>
            <a:ext cx="4572032" cy="76944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200" b="1" i="1" dirty="0">
                <a:latin typeface="Times New Roman" pitchFamily="18" charset="0"/>
                <a:ea typeface="+mn-ea"/>
                <a:cs typeface="Times New Roman" pitchFamily="18" charset="0"/>
              </a:rPr>
              <a:t>M</a:t>
            </a:r>
            <a:r>
              <a:rPr lang="zh-CN" altLang="en-US" sz="2200" b="1" dirty="0">
                <a:latin typeface="+mn-ea"/>
                <a:ea typeface="+mn-ea"/>
              </a:rPr>
              <a:t>是标号为</a:t>
            </a:r>
            <a:r>
              <a:rPr lang="en-US" altLang="zh-CN" sz="2200" b="1" i="1" dirty="0">
                <a:latin typeface="Times New Roman" pitchFamily="18" charset="0"/>
                <a:ea typeface="+mn-ea"/>
                <a:cs typeface="Times New Roman" pitchFamily="18" charset="0"/>
              </a:rPr>
              <a:t>L</a:t>
            </a:r>
            <a:r>
              <a:rPr lang="zh-CN" altLang="en-US" sz="2200" b="1" dirty="0">
                <a:latin typeface="+mn-ea"/>
                <a:ea typeface="+mn-ea"/>
              </a:rPr>
              <a:t>的三地址指令所产生的目标代码中的第一个指令的标号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430225" y="785800"/>
            <a:ext cx="7927989" cy="3225800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三地址语句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</a:rPr>
              <a:t>if x &lt; y </a:t>
            </a:r>
            <a:r>
              <a:rPr lang="en-US" altLang="zh-CN" b="1" i="1" dirty="0" err="1">
                <a:solidFill>
                  <a:schemeClr val="tx1"/>
                </a:solidFill>
              </a:rPr>
              <a:t>goto</a:t>
            </a:r>
            <a:r>
              <a:rPr lang="en-US" altLang="zh-CN" b="1" i="1" dirty="0">
                <a:solidFill>
                  <a:schemeClr val="tx1"/>
                </a:solidFill>
              </a:rPr>
              <a:t> L</a:t>
            </a:r>
            <a:endParaRPr lang="en-US" altLang="zh-CN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目标代码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LD       R1 , x	            	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//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R1 = x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LD       R2 , y         		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// 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R2 = y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SUB    R1 , R1 , R2	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//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R1=R1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- 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R2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BLTZ  R1 , M		</a:t>
            </a:r>
            <a:r>
              <a:rPr lang="pt-BR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// </a:t>
            </a:r>
            <a:r>
              <a:rPr lang="pt-BR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if R1 &lt; 0 jump to M</a:t>
            </a:r>
            <a:endParaRPr lang="zh-CN" altLang="en-US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endParaRPr lang="zh-CN" altLang="en-US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pPr>
              <a:tabLst>
                <a:tab pos="534988" algn="l"/>
              </a:tabLst>
            </a:pPr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条件跳转语句的目标代码</a:t>
            </a:r>
            <a:endParaRPr lang="zh-CN" altLang="en-US" sz="3000" dirty="0">
              <a:solidFill>
                <a:schemeClr val="tx1"/>
              </a:solidFill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2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987574"/>
            <a:ext cx="8100391" cy="3672408"/>
          </a:xfrm>
        </p:spPr>
        <p:txBody>
          <a:bodyPr/>
          <a:lstStyle/>
          <a:p>
            <a:pPr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使用静态内存分配</a:t>
            </a:r>
            <a:r>
              <a:rPr lang="zh-CN" altLang="en-US" sz="2500" b="1" dirty="0">
                <a:latin typeface="+mn-ea"/>
                <a:cs typeface="Times New Roman" panose="02020603050405020304" pitchFamily="18" charset="0"/>
              </a:rPr>
              <a:t>方式</a:t>
            </a:r>
            <a:endParaRPr lang="en-US" altLang="zh-CN" sz="2500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使用栈式内存分配方式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过程调用和返回的目标代码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92BC444-A11D-466C-A3B9-9458A96D1B33}"/>
              </a:ext>
            </a:extLst>
          </p:cNvPr>
          <p:cNvSpPr txBox="1">
            <a:spLocks/>
          </p:cNvSpPr>
          <p:nvPr/>
        </p:nvSpPr>
        <p:spPr>
          <a:xfrm>
            <a:off x="1259632" y="2355726"/>
            <a:ext cx="6984776" cy="230425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/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2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+mn-ea"/>
                <a:cs typeface="Times New Roman" panose="02020603050405020304" pitchFamily="18" charset="0"/>
              </a:rPr>
              <a:t>为了关注重点并简化讨论，本章假设：</a:t>
            </a:r>
            <a:endParaRPr lang="en-US" altLang="zh-CN" sz="2000" b="1" dirty="0"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b="1" dirty="0">
                <a:latin typeface="+mn-ea"/>
                <a:cs typeface="Times New Roman" panose="02020603050405020304" pitchFamily="18" charset="0"/>
              </a:rPr>
              <a:t>指令的长度</a:t>
            </a:r>
            <a:r>
              <a:rPr lang="en-US" altLang="zh-CN" sz="2000" b="1" dirty="0"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sz="2000" b="1" dirty="0">
                <a:latin typeface="+mn-ea"/>
                <a:cs typeface="Times New Roman" panose="02020603050405020304" pitchFamily="18" charset="0"/>
              </a:rPr>
              <a:t>代价 </a:t>
            </a:r>
            <a:r>
              <a:rPr lang="en-US" altLang="zh-CN" sz="2000" b="1" dirty="0">
                <a:latin typeface="+mn-ea"/>
                <a:cs typeface="Times New Roman" panose="02020603050405020304" pitchFamily="18" charset="0"/>
              </a:rPr>
              <a:t>= 1+</a:t>
            </a:r>
            <a:r>
              <a:rPr lang="zh-CN" altLang="en-US" sz="2000" b="1" dirty="0">
                <a:latin typeface="+mn-ea"/>
                <a:cs typeface="Times New Roman" panose="02020603050405020304" pitchFamily="18" charset="0"/>
              </a:rPr>
              <a:t>常数数量</a:t>
            </a:r>
            <a:r>
              <a:rPr lang="en-US" altLang="zh-CN" sz="2000" b="1" dirty="0">
                <a:latin typeface="+mn-ea"/>
                <a:cs typeface="Times New Roman" panose="02020603050405020304" pitchFamily="18" charset="0"/>
              </a:rPr>
              <a:t>+</a:t>
            </a:r>
            <a:r>
              <a:rPr lang="zh-CN" altLang="en-US" sz="2000" b="1" dirty="0">
                <a:latin typeface="+mn-ea"/>
                <a:cs typeface="Times New Roman" panose="02020603050405020304" pitchFamily="18" charset="0"/>
              </a:rPr>
              <a:t>内存位置的数量（字）</a:t>
            </a:r>
            <a:endParaRPr lang="en-US" altLang="zh-CN" sz="2000" b="1" dirty="0">
              <a:latin typeface="+mn-ea"/>
              <a:cs typeface="Times New Roman" panose="02020603050405020304" pitchFamily="18" charset="0"/>
            </a:endParaRPr>
          </a:p>
          <a:p>
            <a:pPr lvl="2"/>
            <a:r>
              <a:rPr lang="en-US" altLang="zh-CN" sz="1800" b="1" dirty="0">
                <a:latin typeface="+mn-ea"/>
                <a:cs typeface="Times New Roman" panose="02020603050405020304" pitchFamily="18" charset="0"/>
              </a:rPr>
              <a:t>4</a:t>
            </a:r>
            <a:r>
              <a:rPr lang="zh-CN" altLang="en-US" sz="1800" b="1" dirty="0">
                <a:latin typeface="+mn-ea"/>
                <a:cs typeface="Times New Roman" panose="02020603050405020304" pitchFamily="18" charset="0"/>
              </a:rPr>
              <a:t>字节</a:t>
            </a:r>
            <a:r>
              <a:rPr lang="en-US" altLang="zh-CN" sz="1800" b="1" dirty="0"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sz="1800" b="1" dirty="0">
                <a:latin typeface="+mn-ea"/>
                <a:cs typeface="Times New Roman" panose="02020603050405020304" pitchFamily="18" charset="0"/>
              </a:rPr>
              <a:t>字</a:t>
            </a:r>
            <a:endParaRPr lang="en-US" altLang="zh-CN" sz="1800" b="1" dirty="0"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b="1" dirty="0">
                <a:latin typeface="+mn-ea"/>
                <a:cs typeface="Times New Roman" panose="02020603050405020304" pitchFamily="18" charset="0"/>
              </a:rPr>
              <a:t>栈区从低地址向高地址增长</a:t>
            </a:r>
            <a:endParaRPr lang="en-US" altLang="zh-CN" sz="2000" b="1" dirty="0"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b="1" dirty="0">
                <a:latin typeface="+mn-ea"/>
                <a:cs typeface="Times New Roman" panose="02020603050405020304" pitchFamily="18" charset="0"/>
              </a:rPr>
              <a:t>SP</a:t>
            </a:r>
            <a:r>
              <a:rPr lang="zh-CN" altLang="en-US" sz="2000" b="1" dirty="0">
                <a:latin typeface="+mn-ea"/>
                <a:cs typeface="Times New Roman" panose="02020603050405020304" pitchFamily="18" charset="0"/>
              </a:rPr>
              <a:t>指向活动记录的起始位置</a:t>
            </a:r>
            <a:endParaRPr lang="en-US" altLang="zh-CN" sz="2000" b="1" dirty="0">
              <a:latin typeface="+mn-ea"/>
              <a:cs typeface="Times New Roman" panose="02020603050405020304" pitchFamily="18" charset="0"/>
            </a:endParaRPr>
          </a:p>
          <a:p>
            <a:pPr lvl="1"/>
            <a:r>
              <a:rPr lang="zh-CN" altLang="en-US" sz="2000" b="1" dirty="0">
                <a:latin typeface="+mn-ea"/>
                <a:cs typeface="Times New Roman" panose="02020603050405020304" pitchFamily="18" charset="0"/>
              </a:rPr>
              <a:t>返回地址保存在活动记录的开始处</a:t>
            </a:r>
            <a:endParaRPr lang="en-US" altLang="zh-CN" sz="2000" b="1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72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7" y="1285866"/>
            <a:ext cx="4965272" cy="3225800"/>
          </a:xfrm>
        </p:spPr>
        <p:txBody>
          <a:bodyPr/>
          <a:lstStyle/>
          <a:p>
            <a:pPr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三地址语句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call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itchFamily="18" charset="0"/>
              </a:rPr>
              <a:t>callee</a:t>
            </a:r>
            <a:endParaRPr lang="en-US" altLang="zh-CN" sz="2500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目标代码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ST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itchFamily="18" charset="0"/>
              </a:rPr>
              <a:t>callee.staticArea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, #here + 20</a:t>
            </a:r>
          </a:p>
          <a:p>
            <a:pPr lvl="1"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BR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itchFamily="18" charset="0"/>
              </a:rPr>
              <a:t>callee.codeArea</a:t>
            </a:r>
            <a:endParaRPr lang="en-US" altLang="zh-CN" sz="2500" b="1" i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3500"/>
              </a:lnSpc>
              <a:buClrTx/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使用静态内存分配</a:t>
            </a:r>
            <a:endParaRPr lang="en-US" altLang="zh-CN" i="1" dirty="0">
              <a:cs typeface="Times New Roman" pitchFamily="18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half" idx="4294967295"/>
          </p:nvPr>
        </p:nvSpPr>
        <p:spPr>
          <a:xfrm>
            <a:off x="5393869" y="1271600"/>
            <a:ext cx="3750131" cy="3086100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三地址语句</a:t>
            </a:r>
            <a:endParaRPr lang="en-US" altLang="zh-CN" sz="25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return</a:t>
            </a:r>
          </a:p>
          <a:p>
            <a:pPr lvl="0"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目标代码</a:t>
            </a:r>
            <a:endParaRPr lang="en-US" altLang="zh-CN" sz="250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en-US" altLang="zh-CN" sz="25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BR *</a:t>
            </a:r>
            <a:r>
              <a:rPr lang="en-US" altLang="zh-CN" sz="25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callee.staticArea</a:t>
            </a:r>
            <a:endParaRPr lang="en-US" altLang="zh-CN" sz="2500" b="1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ts val="3500"/>
              </a:lnSpc>
              <a:buClr>
                <a:srgbClr val="FF0000"/>
              </a:buClr>
              <a:buNone/>
            </a:pP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6" name="线形标注 2 5"/>
          <p:cNvSpPr/>
          <p:nvPr/>
        </p:nvSpPr>
        <p:spPr>
          <a:xfrm>
            <a:off x="3851920" y="3357568"/>
            <a:ext cx="4649170" cy="432000"/>
          </a:xfrm>
          <a:prstGeom prst="borderCallout2">
            <a:avLst>
              <a:gd name="adj1" fmla="val 21739"/>
              <a:gd name="adj2" fmla="val -17"/>
              <a:gd name="adj3" fmla="val 22152"/>
              <a:gd name="adj4" fmla="val -16501"/>
              <a:gd name="adj5" fmla="val -14476"/>
              <a:gd name="adj6" fmla="val -21226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callee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活动记录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静态区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中的起始地址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线形标注 2 6"/>
          <p:cNvSpPr/>
          <p:nvPr/>
        </p:nvSpPr>
        <p:spPr>
          <a:xfrm>
            <a:off x="3851920" y="3908562"/>
            <a:ext cx="4672955" cy="411172"/>
          </a:xfrm>
          <a:prstGeom prst="borderCallout2">
            <a:avLst>
              <a:gd name="adj1" fmla="val 18750"/>
              <a:gd name="adj2" fmla="val -616"/>
              <a:gd name="adj3" fmla="val 18750"/>
              <a:gd name="adj4" fmla="val -16667"/>
              <a:gd name="adj5" fmla="val -52591"/>
              <a:gd name="adj6" fmla="val -25846"/>
            </a:avLst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callee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目标代码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代码区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中的起始地址</a:t>
            </a:r>
            <a:endParaRPr lang="zh-C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BBCB14-7B8F-4F7E-A6DF-665B6CAEBE30}"/>
              </a:ext>
            </a:extLst>
          </p:cNvPr>
          <p:cNvSpPr/>
          <p:nvPr/>
        </p:nvSpPr>
        <p:spPr>
          <a:xfrm>
            <a:off x="827584" y="915566"/>
            <a:ext cx="1512168" cy="3560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000FF"/>
                </a:solidFill>
              </a:rPr>
              <a:t>调用者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1B6066-5B27-47A1-BDBF-7BDF3F646C09}"/>
              </a:ext>
            </a:extLst>
          </p:cNvPr>
          <p:cNvSpPr/>
          <p:nvPr/>
        </p:nvSpPr>
        <p:spPr>
          <a:xfrm>
            <a:off x="5732036" y="931776"/>
            <a:ext cx="1512168" cy="3560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000FF"/>
                </a:solidFill>
              </a:rPr>
              <a:t>被调用者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33006E-1E59-422A-B975-2C7492D521D9}"/>
              </a:ext>
            </a:extLst>
          </p:cNvPr>
          <p:cNvSpPr/>
          <p:nvPr/>
        </p:nvSpPr>
        <p:spPr>
          <a:xfrm>
            <a:off x="428597" y="4453483"/>
            <a:ext cx="5151515" cy="4798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任务：保存返回地址，跳转到被调用者代码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C70F53-BEBD-4B42-A3AC-2FC7AB915E58}"/>
              </a:ext>
            </a:extLst>
          </p:cNvPr>
          <p:cNvSpPr/>
          <p:nvPr/>
        </p:nvSpPr>
        <p:spPr>
          <a:xfrm>
            <a:off x="5677967" y="4443958"/>
            <a:ext cx="3070497" cy="4798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任务：跳转回调用者代码</a:t>
            </a:r>
          </a:p>
        </p:txBody>
      </p:sp>
    </p:spTree>
    <p:extLst>
      <p:ext uri="{BB962C8B-B14F-4D97-AF65-F5344CB8AC3E}">
        <p14:creationId xmlns:p14="http://schemas.microsoft.com/office/powerpoint/2010/main" val="298059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9" grpId="0" animBg="1"/>
      <p:bldP spid="4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24FEA83-A190-461B-95C9-3EAE848C6188}"/>
              </a:ext>
            </a:extLst>
          </p:cNvPr>
          <p:cNvSpPr txBox="1">
            <a:spLocks/>
          </p:cNvSpPr>
          <p:nvPr/>
        </p:nvSpPr>
        <p:spPr>
          <a:xfrm>
            <a:off x="302083" y="2153967"/>
            <a:ext cx="3189798" cy="2805285"/>
          </a:xfrm>
          <a:prstGeom prst="rect">
            <a:avLst/>
          </a:prstGeom>
        </p:spPr>
        <p:txBody>
          <a:bodyPr lIns="68580" tIns="34290" rIns="68580" bIns="34290"/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2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zh-CN" altLang="en-US" sz="2000" b="1" dirty="0">
                <a:cs typeface="Times New Roman" pitchFamily="18" charset="0"/>
              </a:rPr>
              <a:t>例：有下面的三地址代码：</a:t>
            </a:r>
            <a:endParaRPr lang="en-US" altLang="zh-CN" sz="2000" b="1" dirty="0">
              <a:cs typeface="Times New Roman" pitchFamily="18" charset="0"/>
            </a:endParaRPr>
          </a:p>
          <a:p>
            <a:pPr marL="303212" lvl="1" indent="0"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accent3">
                    <a:lumMod val="75000"/>
                  </a:schemeClr>
                </a:solidFill>
                <a:cs typeface="Times New Roman" pitchFamily="18" charset="0"/>
              </a:rPr>
              <a:t>//</a:t>
            </a:r>
            <a:r>
              <a:rPr lang="zh-CN" altLang="en-US" sz="2000" b="1" dirty="0">
                <a:solidFill>
                  <a:schemeClr val="accent3">
                    <a:lumMod val="75000"/>
                  </a:schemeClr>
                </a:solidFill>
                <a:cs typeface="Times New Roman" pitchFamily="18" charset="0"/>
              </a:rPr>
              <a:t>调用者</a:t>
            </a:r>
            <a:r>
              <a:rPr lang="en-US" altLang="zh-CN" sz="2000" b="1" i="1" dirty="0">
                <a:solidFill>
                  <a:schemeClr val="accent3">
                    <a:lumMod val="75000"/>
                  </a:schemeClr>
                </a:solidFill>
                <a:cs typeface="Times New Roman" pitchFamily="18" charset="0"/>
              </a:rPr>
              <a:t>c</a:t>
            </a:r>
          </a:p>
          <a:p>
            <a:pPr marL="303212" lvl="1" indent="0">
              <a:spcBef>
                <a:spcPts val="0"/>
              </a:spcBef>
              <a:buNone/>
            </a:pPr>
            <a:r>
              <a:rPr lang="en-US" altLang="zh-CN" sz="2000" b="1" i="1" dirty="0">
                <a:cs typeface="Times New Roman" pitchFamily="18" charset="0"/>
              </a:rPr>
              <a:t>action</a:t>
            </a:r>
            <a:r>
              <a:rPr lang="en-US" altLang="zh-CN" sz="2000" b="1" i="1" baseline="-25000" dirty="0">
                <a:cs typeface="Times New Roman" pitchFamily="18" charset="0"/>
              </a:rPr>
              <a:t>1</a:t>
            </a:r>
          </a:p>
          <a:p>
            <a:pPr marL="303212" lvl="1" indent="0">
              <a:spcBef>
                <a:spcPts val="0"/>
              </a:spcBef>
              <a:buNone/>
            </a:pPr>
            <a:r>
              <a:rPr lang="en-US" altLang="zh-CN" sz="2000" b="1" i="1" dirty="0">
                <a:solidFill>
                  <a:srgbClr val="0000FF"/>
                </a:solidFill>
                <a:cs typeface="Times New Roman" pitchFamily="18" charset="0"/>
              </a:rPr>
              <a:t>call p</a:t>
            </a:r>
          </a:p>
          <a:p>
            <a:pPr marL="303212" lvl="1" indent="0">
              <a:spcBef>
                <a:spcPts val="0"/>
              </a:spcBef>
              <a:buNone/>
            </a:pPr>
            <a:r>
              <a:rPr lang="en-US" altLang="zh-CN" sz="2000" b="1" i="1" dirty="0">
                <a:cs typeface="Times New Roman" pitchFamily="18" charset="0"/>
              </a:rPr>
              <a:t>action</a:t>
            </a:r>
            <a:r>
              <a:rPr lang="en-US" altLang="zh-CN" sz="2000" b="1" i="1" baseline="-25000" dirty="0">
                <a:cs typeface="Times New Roman" pitchFamily="18" charset="0"/>
              </a:rPr>
              <a:t>2</a:t>
            </a:r>
          </a:p>
          <a:p>
            <a:pPr marL="303212" lvl="1" indent="0">
              <a:spcBef>
                <a:spcPts val="0"/>
              </a:spcBef>
              <a:buNone/>
            </a:pPr>
            <a:r>
              <a:rPr lang="en-US" altLang="zh-CN" sz="2000" b="1" i="1" dirty="0">
                <a:cs typeface="Times New Roman" pitchFamily="18" charset="0"/>
              </a:rPr>
              <a:t>halt</a:t>
            </a:r>
          </a:p>
          <a:p>
            <a:pPr marL="303212" lvl="1" indent="0"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chemeClr val="accent3">
                    <a:lumMod val="75000"/>
                  </a:schemeClr>
                </a:solidFill>
                <a:cs typeface="Times New Roman" pitchFamily="18" charset="0"/>
              </a:rPr>
              <a:t>//</a:t>
            </a:r>
            <a:r>
              <a:rPr lang="zh-CN" altLang="en-US" sz="2000" b="1" dirty="0">
                <a:solidFill>
                  <a:schemeClr val="accent3">
                    <a:lumMod val="75000"/>
                  </a:schemeClr>
                </a:solidFill>
                <a:cs typeface="Times New Roman" pitchFamily="18" charset="0"/>
              </a:rPr>
              <a:t>被调用者</a:t>
            </a:r>
            <a:r>
              <a:rPr lang="en-US" altLang="zh-CN" sz="2000" b="1" i="1" dirty="0">
                <a:solidFill>
                  <a:schemeClr val="accent3">
                    <a:lumMod val="75000"/>
                  </a:schemeClr>
                </a:solidFill>
                <a:cs typeface="Times New Roman" pitchFamily="18" charset="0"/>
              </a:rPr>
              <a:t>p</a:t>
            </a:r>
          </a:p>
          <a:p>
            <a:pPr marL="303212" lvl="1" indent="0">
              <a:spcBef>
                <a:spcPts val="0"/>
              </a:spcBef>
              <a:buNone/>
            </a:pPr>
            <a:r>
              <a:rPr lang="en-US" altLang="zh-CN" sz="2000" b="1" i="1" dirty="0">
                <a:cs typeface="Times New Roman" pitchFamily="18" charset="0"/>
              </a:rPr>
              <a:t>action</a:t>
            </a:r>
            <a:r>
              <a:rPr lang="en-US" altLang="zh-CN" sz="2000" b="1" i="1" baseline="-25000" dirty="0">
                <a:cs typeface="Times New Roman" pitchFamily="18" charset="0"/>
              </a:rPr>
              <a:t>3</a:t>
            </a:r>
          </a:p>
          <a:p>
            <a:pPr marL="303212" lvl="1" indent="0">
              <a:spcBef>
                <a:spcPts val="0"/>
              </a:spcBef>
              <a:buNone/>
            </a:pPr>
            <a:r>
              <a:rPr lang="en-US" altLang="zh-CN" sz="2000" b="1" i="1" dirty="0">
                <a:solidFill>
                  <a:srgbClr val="0000FF"/>
                </a:solidFill>
                <a:cs typeface="Times New Roman" pitchFamily="18" charset="0"/>
              </a:rPr>
              <a:t>return</a:t>
            </a:r>
            <a:r>
              <a:rPr lang="en-US" altLang="zh-CN" sz="2000" b="1" i="1" dirty="0">
                <a:cs typeface="Times New Roman" pitchFamily="18" charset="0"/>
              </a:rPr>
              <a:t> 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46AF1CE-61D5-4498-BB51-FCECD18F620E}"/>
              </a:ext>
            </a:extLst>
          </p:cNvPr>
          <p:cNvGrpSpPr/>
          <p:nvPr/>
        </p:nvGrpSpPr>
        <p:grpSpPr>
          <a:xfrm>
            <a:off x="1960163" y="2571750"/>
            <a:ext cx="3691958" cy="1477328"/>
            <a:chOff x="2051720" y="2876061"/>
            <a:chExt cx="3960440" cy="1477328"/>
          </a:xfrm>
        </p:grpSpPr>
        <p:sp>
          <p:nvSpPr>
            <p:cNvPr id="12" name="箭头: 右 11">
              <a:extLst>
                <a:ext uri="{FF2B5EF4-FFF2-40B4-BE49-F238E27FC236}">
                  <a16:creationId xmlns:a16="http://schemas.microsoft.com/office/drawing/2014/main" id="{07B98C7D-A89A-4592-ABEA-1E0FC21724BA}"/>
                </a:ext>
              </a:extLst>
            </p:cNvPr>
            <p:cNvSpPr/>
            <p:nvPr/>
          </p:nvSpPr>
          <p:spPr>
            <a:xfrm>
              <a:off x="2051720" y="3668149"/>
              <a:ext cx="3960440" cy="43204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2950361-3CC1-4CC8-9D50-92C5975639E3}"/>
                </a:ext>
              </a:extLst>
            </p:cNvPr>
            <p:cNvSpPr txBox="1"/>
            <p:nvPr/>
          </p:nvSpPr>
          <p:spPr>
            <a:xfrm>
              <a:off x="2051721" y="2876061"/>
              <a:ext cx="374062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假定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的代码从地址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100</a:t>
              </a: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200</a:t>
              </a: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开始，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活动记录</a:t>
              </a: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起始地址为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364</a:t>
              </a:r>
            </a:p>
            <a:p>
              <a:pPr algn="ctr"/>
              <a:endPara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ACTION</a:t>
              </a: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指令占</a:t>
              </a:r>
              <a:r>
                <a: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20</a:t>
              </a: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个字节</a:t>
              </a:r>
            </a:p>
          </p:txBody>
        </p:sp>
      </p:grp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7" y="1285866"/>
            <a:ext cx="4965272" cy="868102"/>
          </a:xfrm>
        </p:spPr>
        <p:txBody>
          <a:bodyPr/>
          <a:lstStyle/>
          <a:p>
            <a:pPr lvl="1">
              <a:buClrTx/>
              <a:buFont typeface="Wingdings" pitchFamily="2" charset="2"/>
              <a:buChar char="Ø"/>
            </a:pP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ST </a:t>
            </a:r>
            <a:r>
              <a:rPr lang="en-US" altLang="zh-CN" sz="2000" b="1" i="1" dirty="0" err="1">
                <a:solidFill>
                  <a:schemeClr val="tx1"/>
                </a:solidFill>
                <a:cs typeface="Times New Roman" pitchFamily="18" charset="0"/>
              </a:rPr>
              <a:t>callee.staticArea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, #here + 20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BR </a:t>
            </a:r>
            <a:r>
              <a:rPr lang="en-US" altLang="zh-CN" sz="2000" b="1" i="1" dirty="0" err="1">
                <a:solidFill>
                  <a:schemeClr val="tx1"/>
                </a:solidFill>
                <a:cs typeface="Times New Roman" pitchFamily="18" charset="0"/>
              </a:rPr>
              <a:t>callee.codeArea</a:t>
            </a:r>
            <a:endParaRPr lang="en-US" altLang="zh-CN" sz="2000" b="1" i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3500"/>
              </a:lnSpc>
              <a:buClrTx/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使用静态内存分配</a:t>
            </a:r>
            <a:endParaRPr lang="en-US" altLang="zh-CN" i="1" dirty="0">
              <a:cs typeface="Times New Roman" pitchFamily="18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half" idx="4294967295"/>
          </p:nvPr>
        </p:nvSpPr>
        <p:spPr>
          <a:xfrm>
            <a:off x="5393870" y="1271600"/>
            <a:ext cx="3321534" cy="471619"/>
          </a:xfrm>
          <a:prstGeom prst="rect">
            <a:avLst/>
          </a:prstGeom>
        </p:spPr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BR *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callee.staticArea</a:t>
            </a:r>
            <a:endParaRPr lang="en-US" altLang="zh-CN" sz="2000" b="1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BBCB14-7B8F-4F7E-A6DF-665B6CAEBE30}"/>
              </a:ext>
            </a:extLst>
          </p:cNvPr>
          <p:cNvSpPr/>
          <p:nvPr/>
        </p:nvSpPr>
        <p:spPr>
          <a:xfrm>
            <a:off x="827584" y="915566"/>
            <a:ext cx="1512168" cy="3560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000FF"/>
                </a:solidFill>
              </a:rPr>
              <a:t>调用者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1B6066-5B27-47A1-BDBF-7BDF3F646C09}"/>
              </a:ext>
            </a:extLst>
          </p:cNvPr>
          <p:cNvSpPr/>
          <p:nvPr/>
        </p:nvSpPr>
        <p:spPr>
          <a:xfrm>
            <a:off x="5732036" y="931776"/>
            <a:ext cx="1512168" cy="3560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0000FF"/>
                </a:solidFill>
              </a:rPr>
              <a:t>被调用者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BB01DD7A-EEDE-4D8C-99AD-04DA0F19BF3E}"/>
              </a:ext>
            </a:extLst>
          </p:cNvPr>
          <p:cNvSpPr txBox="1">
            <a:spLocks/>
          </p:cNvSpPr>
          <p:nvPr/>
        </p:nvSpPr>
        <p:spPr>
          <a:xfrm>
            <a:off x="5868144" y="2105775"/>
            <a:ext cx="2222020" cy="29142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/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2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1800" b="1" dirty="0">
                <a:cs typeface="Times New Roman" pitchFamily="18" charset="0"/>
              </a:rPr>
              <a:t>100:  ACTION1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cs typeface="Times New Roman" pitchFamily="18" charset="0"/>
              </a:rPr>
              <a:t>120:  ST 364, #140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cs typeface="Times New Roman" pitchFamily="18" charset="0"/>
              </a:rPr>
              <a:t>132:  BR 200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1" dirty="0">
                <a:cs typeface="Times New Roman" pitchFamily="18" charset="0"/>
              </a:rPr>
              <a:t>140:  ACTION2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1" dirty="0">
                <a:cs typeface="Times New Roman" pitchFamily="18" charset="0"/>
              </a:rPr>
              <a:t>160: HALT </a:t>
            </a:r>
          </a:p>
          <a:p>
            <a:pPr marL="0" indent="0">
              <a:lnSpc>
                <a:spcPts val="1500"/>
              </a:lnSpc>
              <a:spcBef>
                <a:spcPts val="0"/>
              </a:spcBef>
              <a:buNone/>
            </a:pPr>
            <a:r>
              <a:rPr lang="en-US" altLang="zh-CN" sz="1800" b="1" dirty="0">
                <a:cs typeface="Times New Roman" pitchFamily="18" charset="0"/>
              </a:rPr>
              <a:t>……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1" dirty="0">
                <a:cs typeface="Times New Roman" pitchFamily="18" charset="0"/>
              </a:rPr>
              <a:t>200:  ACTION3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cs typeface="Times New Roman" pitchFamily="18" charset="0"/>
              </a:rPr>
              <a:t>220: BR *364</a:t>
            </a:r>
          </a:p>
          <a:p>
            <a:pPr marL="0" indent="0">
              <a:lnSpc>
                <a:spcPts val="1500"/>
              </a:lnSpc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cs typeface="Times New Roman" pitchFamily="18" charset="0"/>
              </a:rPr>
              <a:t>……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chemeClr val="accent3">
                    <a:lumMod val="50000"/>
                  </a:schemeClr>
                </a:solidFill>
                <a:cs typeface="Times New Roman" pitchFamily="18" charset="0"/>
              </a:rPr>
              <a:t>364: 140</a:t>
            </a:r>
          </a:p>
          <a:p>
            <a:pPr marL="0" indent="0">
              <a:lnSpc>
                <a:spcPts val="1500"/>
              </a:lnSpc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chemeClr val="accent3">
                    <a:lumMod val="50000"/>
                  </a:schemeClr>
                </a:solidFill>
                <a:cs typeface="Times New Roman" pitchFamily="18" charset="0"/>
              </a:rPr>
              <a:t>……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FBB4059-5DAC-44ED-847A-A77CB2DCF3EB}"/>
              </a:ext>
            </a:extLst>
          </p:cNvPr>
          <p:cNvSpPr/>
          <p:nvPr/>
        </p:nvSpPr>
        <p:spPr>
          <a:xfrm>
            <a:off x="6372200" y="1707654"/>
            <a:ext cx="12105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目标代码</a:t>
            </a:r>
            <a:endParaRPr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A15713A-EA77-4E96-963C-917129DCF546}"/>
              </a:ext>
            </a:extLst>
          </p:cNvPr>
          <p:cNvGrpSpPr/>
          <p:nvPr/>
        </p:nvGrpSpPr>
        <p:grpSpPr>
          <a:xfrm>
            <a:off x="8172400" y="2105775"/>
            <a:ext cx="551191" cy="1387794"/>
            <a:chOff x="8316416" y="2192068"/>
            <a:chExt cx="551191" cy="1531810"/>
          </a:xfrm>
        </p:grpSpPr>
        <p:sp>
          <p:nvSpPr>
            <p:cNvPr id="17" name="右大括号 16">
              <a:extLst>
                <a:ext uri="{FF2B5EF4-FFF2-40B4-BE49-F238E27FC236}">
                  <a16:creationId xmlns:a16="http://schemas.microsoft.com/office/drawing/2014/main" id="{F52C75B4-8C45-45A6-8290-FD15212951BD}"/>
                </a:ext>
              </a:extLst>
            </p:cNvPr>
            <p:cNvSpPr/>
            <p:nvPr/>
          </p:nvSpPr>
          <p:spPr>
            <a:xfrm>
              <a:off x="8316416" y="2192068"/>
              <a:ext cx="206702" cy="1531810"/>
            </a:xfrm>
            <a:prstGeom prst="righ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0A8EA41-6FB8-4F62-92CE-97774775F018}"/>
                </a:ext>
              </a:extLst>
            </p:cNvPr>
            <p:cNvSpPr/>
            <p:nvPr/>
          </p:nvSpPr>
          <p:spPr>
            <a:xfrm>
              <a:off x="8452109" y="2513331"/>
              <a:ext cx="415498" cy="964367"/>
            </a:xfrm>
            <a:prstGeom prst="rect">
              <a:avLst/>
            </a:prstGeom>
          </p:spPr>
          <p:txBody>
            <a:bodyPr vert="horz" wrap="none">
              <a:spAutoFit/>
            </a:bodyPr>
            <a:lstStyle/>
            <a:p>
              <a:pPr algn="ctr">
                <a:lnSpc>
                  <a:spcPts val="17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调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ts val="17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用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ts val="17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者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ts val="1700"/>
                </a:lnSpc>
              </a:pPr>
              <a:r>
                <a:rPr lang="en-US" altLang="zh-CN" b="1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</a:t>
              </a:r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6577249-2A6D-49DC-9F42-40C5A59BDA23}"/>
              </a:ext>
            </a:extLst>
          </p:cNvPr>
          <p:cNvGrpSpPr/>
          <p:nvPr/>
        </p:nvGrpSpPr>
        <p:grpSpPr>
          <a:xfrm>
            <a:off x="8172400" y="3457890"/>
            <a:ext cx="599788" cy="1182375"/>
            <a:chOff x="8244408" y="2012374"/>
            <a:chExt cx="599788" cy="1182375"/>
          </a:xfrm>
        </p:grpSpPr>
        <p:sp>
          <p:nvSpPr>
            <p:cNvPr id="21" name="右大括号 20">
              <a:extLst>
                <a:ext uri="{FF2B5EF4-FFF2-40B4-BE49-F238E27FC236}">
                  <a16:creationId xmlns:a16="http://schemas.microsoft.com/office/drawing/2014/main" id="{AD62E1D9-7E31-44F5-969D-4A7B11620EAF}"/>
                </a:ext>
              </a:extLst>
            </p:cNvPr>
            <p:cNvSpPr/>
            <p:nvPr/>
          </p:nvSpPr>
          <p:spPr>
            <a:xfrm>
              <a:off x="8244408" y="2339112"/>
              <a:ext cx="206702" cy="362556"/>
            </a:xfrm>
            <a:prstGeom prst="righ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B77869D-715E-4D49-8730-932F6E7FE867}"/>
                </a:ext>
              </a:extLst>
            </p:cNvPr>
            <p:cNvSpPr/>
            <p:nvPr/>
          </p:nvSpPr>
          <p:spPr>
            <a:xfrm>
              <a:off x="8428698" y="2012374"/>
              <a:ext cx="415498" cy="1182375"/>
            </a:xfrm>
            <a:prstGeom prst="rect">
              <a:avLst/>
            </a:prstGeom>
          </p:spPr>
          <p:txBody>
            <a:bodyPr vert="horz" wrap="non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被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ts val="17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调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ts val="17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用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ts val="17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者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ts val="1700"/>
                </a:lnSpc>
              </a:pPr>
              <a:r>
                <a:rPr lang="en-US" altLang="zh-CN" b="1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p</a:t>
              </a:r>
              <a:endParaRPr lang="zh-CN" altLang="en-US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5581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animBg="1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5496" y="1062478"/>
            <a:ext cx="5927725" cy="3225800"/>
          </a:xfrm>
        </p:spPr>
        <p:txBody>
          <a:bodyPr/>
          <a:lstStyle/>
          <a:p>
            <a:pPr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三地址语句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call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callee</a:t>
            </a:r>
            <a:endParaRPr lang="en-US" altLang="zh-CN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目标代码</a:t>
            </a:r>
            <a:r>
              <a:rPr lang="en-US" altLang="zh-CN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调用序列</a:t>
            </a:r>
            <a:endParaRPr lang="en-US" altLang="zh-CN" sz="25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ADD SP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SP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#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caller</a:t>
            </a:r>
            <a:r>
              <a:rPr lang="en-US" altLang="zh-CN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.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recordsize</a:t>
            </a:r>
            <a:endParaRPr lang="en-US" altLang="zh-CN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ST    0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SP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),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#here + 16 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BR   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callee</a:t>
            </a:r>
            <a:r>
              <a:rPr lang="en-US" altLang="zh-CN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.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codeArea</a:t>
            </a:r>
            <a:endParaRPr lang="en-US" altLang="zh-CN" b="1" i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pPr>
              <a:lnSpc>
                <a:spcPts val="3500"/>
              </a:lnSpc>
              <a:buClrTx/>
            </a:pPr>
            <a:r>
              <a:rPr lang="zh-CN" altLang="en-US" dirty="0">
                <a:solidFill>
                  <a:prstClr val="black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使用栈式内存分配方式</a:t>
            </a:r>
            <a:endParaRPr lang="en-US" altLang="zh-CN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0" name="内容占位符 4"/>
          <p:cNvSpPr txBox="1">
            <a:spLocks/>
          </p:cNvSpPr>
          <p:nvPr/>
        </p:nvSpPr>
        <p:spPr>
          <a:xfrm>
            <a:off x="4194543" y="1048211"/>
            <a:ext cx="4841953" cy="3323739"/>
          </a:xfrm>
          <a:prstGeom prst="rect">
            <a:avLst/>
          </a:prstGeom>
        </p:spPr>
        <p:txBody>
          <a:bodyPr/>
          <a:lstStyle/>
          <a:p>
            <a:pPr marL="271463" marR="0" lvl="0" indent="-271463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三地址语句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4675" marR="0" lvl="1" indent="-271463" algn="l" defTabSz="914400" rtl="0" eaLnBrk="0" fontAlgn="base" latinLnBrk="0" hangingPunct="0">
              <a:lnSpc>
                <a:spcPts val="35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return</a:t>
            </a:r>
          </a:p>
          <a:p>
            <a:pPr marL="271463" lvl="0" indent="-271463" eaLnBrk="0" hangingPunct="0">
              <a:lnSpc>
                <a:spcPts val="3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目标代码</a:t>
            </a:r>
            <a:r>
              <a:rPr lang="en-US" altLang="zh-CN" sz="25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5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返回序列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4675" lvl="1" indent="-271463" eaLnBrk="0" hangingPunct="0">
              <a:lnSpc>
                <a:spcPts val="30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</a:rPr>
              <a:t>被调用过程</a:t>
            </a:r>
            <a:endParaRPr lang="en-US" altLang="zh-CN" sz="22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>
              <a:lnSpc>
                <a:spcPts val="3000"/>
              </a:lnSpc>
              <a:buFont typeface="Wingdings" pitchFamily="2" charset="2"/>
              <a:buChar char="Ø"/>
            </a:pPr>
            <a:r>
              <a:rPr lang="en-US" altLang="zh-CN" sz="22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BR *0</a:t>
            </a:r>
            <a:r>
              <a:rPr lang="en-US" altLang="zh-CN" sz="2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 </a:t>
            </a:r>
            <a:r>
              <a:rPr lang="en-US" altLang="zh-CN" sz="2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zh-CN" sz="22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574675" lvl="1" indent="-271463" eaLnBrk="0" hangingPunct="0">
              <a:lnSpc>
                <a:spcPts val="30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</a:rPr>
              <a:t>调用过程</a:t>
            </a:r>
            <a:endParaRPr lang="en-US" altLang="zh-CN" sz="22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>
              <a:lnSpc>
                <a:spcPts val="3000"/>
              </a:lnSpc>
              <a:buFont typeface="Wingdings" pitchFamily="2" charset="2"/>
              <a:buChar char="Ø"/>
            </a:pPr>
            <a:r>
              <a:rPr lang="en-US" altLang="zh-CN" sz="22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SUB SP , SP , #</a:t>
            </a:r>
            <a:r>
              <a:rPr lang="en-US" altLang="zh-CN" sz="22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caller.recordsize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47AF84-328D-4771-BCA0-AD08DE2626DC}"/>
              </a:ext>
            </a:extLst>
          </p:cNvPr>
          <p:cNvSpPr/>
          <p:nvPr/>
        </p:nvSpPr>
        <p:spPr>
          <a:xfrm>
            <a:off x="539552" y="4288278"/>
            <a:ext cx="6696744" cy="6597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新增任务：通过维护栈顶指针，分配和回收活动记录空间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r>
              <a:rPr lang="en-US" altLang="zh-CN" sz="20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caller.recordsize</a:t>
            </a:r>
            <a:r>
              <a:rPr lang="en-US" altLang="zh-CN" sz="2000" b="1" dirty="0">
                <a:solidFill>
                  <a:srgbClr val="0070C0"/>
                </a:solidFill>
              </a:rPr>
              <a:t>: </a:t>
            </a:r>
            <a:r>
              <a:rPr lang="zh-CN" altLang="en-US" sz="2000" b="1" dirty="0">
                <a:solidFill>
                  <a:srgbClr val="0070C0"/>
                </a:solidFill>
              </a:rPr>
              <a:t>调用者的活动记录的大小</a:t>
            </a:r>
          </a:p>
        </p:txBody>
      </p:sp>
    </p:spTree>
    <p:extLst>
      <p:ext uri="{BB962C8B-B14F-4D97-AF65-F5344CB8AC3E}">
        <p14:creationId xmlns:p14="http://schemas.microsoft.com/office/powerpoint/2010/main" val="47748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323529" y="699542"/>
            <a:ext cx="3456384" cy="1296144"/>
          </a:xfrm>
        </p:spPr>
        <p:txBody>
          <a:bodyPr/>
          <a:lstStyle/>
          <a:p>
            <a:pPr>
              <a:buClrTx/>
              <a:buFont typeface="Wingdings" pitchFamily="2" charset="2"/>
              <a:buChar char="Ø"/>
            </a:pP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目标代码：调用序列</a:t>
            </a:r>
            <a:endParaRPr lang="en-US" altLang="zh-CN" sz="1600" b="1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sz="16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ADD SP</a:t>
            </a:r>
            <a:r>
              <a:rPr lang="en-US" altLang="zh-CN" sz="1600" b="1" dirty="0">
                <a:solidFill>
                  <a:srgbClr val="0000FF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sz="16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SP</a:t>
            </a:r>
            <a:r>
              <a:rPr lang="en-US" altLang="zh-CN" sz="1600" b="1" dirty="0">
                <a:solidFill>
                  <a:srgbClr val="0000FF"/>
                </a:solidFill>
                <a:cs typeface="Times New Roman" panose="02020603050405020304" pitchFamily="18" charset="0"/>
              </a:rPr>
              <a:t>,</a:t>
            </a:r>
            <a:r>
              <a:rPr lang="en-US" altLang="zh-CN" sz="16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 #</a:t>
            </a:r>
            <a:r>
              <a:rPr lang="en-US" altLang="zh-CN" sz="1600" b="1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caller</a:t>
            </a:r>
            <a:r>
              <a:rPr lang="en-US" altLang="zh-CN" sz="1600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.</a:t>
            </a:r>
            <a:r>
              <a:rPr lang="en-US" altLang="zh-CN" sz="1600" b="1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recordsize</a:t>
            </a:r>
            <a:endParaRPr lang="en-US" altLang="zh-CN" sz="1600" b="1" i="1" dirty="0">
              <a:solidFill>
                <a:srgbClr val="0000FF"/>
              </a:solidFill>
              <a:cs typeface="Times New Roman" panose="02020603050405020304" pitchFamily="18" charset="0"/>
            </a:endParaRP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sz="16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ST    0</a:t>
            </a:r>
            <a:r>
              <a:rPr lang="en-US" altLang="zh-CN" sz="1600" b="1" dirty="0">
                <a:solidFill>
                  <a:srgbClr val="0000FF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16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SP </a:t>
            </a:r>
            <a:r>
              <a:rPr lang="en-US" altLang="zh-CN" sz="1600" b="1" dirty="0">
                <a:solidFill>
                  <a:srgbClr val="0000FF"/>
                </a:solidFill>
                <a:cs typeface="Times New Roman" panose="02020603050405020304" pitchFamily="18" charset="0"/>
              </a:rPr>
              <a:t>),</a:t>
            </a:r>
            <a:r>
              <a:rPr lang="en-US" altLang="zh-CN" sz="16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   #here + 16 </a:t>
            </a:r>
          </a:p>
          <a:p>
            <a:pPr lvl="1">
              <a:buClrTx/>
              <a:buFont typeface="Wingdings" pitchFamily="2" charset="2"/>
              <a:buChar char="Ø"/>
            </a:pPr>
            <a:r>
              <a:rPr lang="en-US" altLang="zh-CN" sz="1600" b="1" i="1" dirty="0">
                <a:solidFill>
                  <a:srgbClr val="0000FF"/>
                </a:solidFill>
                <a:cs typeface="Times New Roman" panose="02020603050405020304" pitchFamily="18" charset="0"/>
              </a:rPr>
              <a:t>BR    </a:t>
            </a:r>
            <a:r>
              <a:rPr lang="en-US" altLang="zh-CN" sz="1600" b="1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callee</a:t>
            </a:r>
            <a:r>
              <a:rPr lang="en-US" altLang="zh-CN" sz="1600" b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.</a:t>
            </a:r>
            <a:r>
              <a:rPr lang="en-US" altLang="zh-CN" sz="1600" b="1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codeArea</a:t>
            </a:r>
            <a:endParaRPr lang="en-US" altLang="zh-CN" sz="1600" b="1" i="1" dirty="0">
              <a:solidFill>
                <a:srgbClr val="0000FF"/>
              </a:solidFill>
              <a:cs typeface="Times New Roman" pitchFamily="18" charset="0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pPr>
              <a:lnSpc>
                <a:spcPts val="3500"/>
              </a:lnSpc>
              <a:buClrTx/>
            </a:pPr>
            <a:r>
              <a:rPr lang="zh-CN" altLang="en-US" dirty="0">
                <a:solidFill>
                  <a:prstClr val="black"/>
                </a:solidFill>
                <a:latin typeface="华文楷体" panose="02010600040101010101" pitchFamily="2" charset="-122"/>
                <a:cs typeface="Times New Roman" panose="02020603050405020304" pitchFamily="18" charset="0"/>
              </a:rPr>
              <a:t>使用栈式内存分配方式</a:t>
            </a:r>
            <a:endParaRPr lang="en-US" altLang="zh-CN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0" name="内容占位符 4"/>
          <p:cNvSpPr txBox="1">
            <a:spLocks/>
          </p:cNvSpPr>
          <p:nvPr/>
        </p:nvSpPr>
        <p:spPr>
          <a:xfrm>
            <a:off x="5220072" y="195486"/>
            <a:ext cx="3741854" cy="1512167"/>
          </a:xfrm>
          <a:prstGeom prst="rect">
            <a:avLst/>
          </a:prstGeom>
        </p:spPr>
        <p:txBody>
          <a:bodyPr/>
          <a:lstStyle/>
          <a:p>
            <a:pPr marL="271463" lvl="0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目标代码：返回序列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574675" lvl="1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zh-CN" altLang="en-US" sz="1600" b="1" dirty="0">
                <a:solidFill>
                  <a:srgbClr val="000000"/>
                </a:solidFill>
                <a:latin typeface="+mn-ea"/>
                <a:ea typeface="+mn-ea"/>
              </a:rPr>
              <a:t>被调用过程</a:t>
            </a:r>
            <a:endParaRPr lang="en-US" altLang="zh-CN" sz="16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>
              <a:buFont typeface="Wingdings" pitchFamily="2" charset="2"/>
              <a:buChar char="Ø"/>
            </a:pPr>
            <a:r>
              <a:rPr lang="en-US" altLang="zh-CN" sz="16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BR *0</a:t>
            </a:r>
            <a:r>
              <a:rPr lang="en-US" altLang="zh-CN" sz="16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16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SP </a:t>
            </a:r>
            <a:r>
              <a:rPr lang="en-US" altLang="zh-CN" sz="16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zh-CN" sz="1600" b="1" dirty="0">
              <a:solidFill>
                <a:srgbClr val="7030A0"/>
              </a:solidFill>
              <a:latin typeface="+mn-ea"/>
              <a:ea typeface="+mn-ea"/>
            </a:endParaRPr>
          </a:p>
          <a:p>
            <a:pPr marL="574675" lvl="1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zh-CN" altLang="en-US" sz="1600" b="1" dirty="0">
                <a:solidFill>
                  <a:srgbClr val="000000"/>
                </a:solidFill>
                <a:latin typeface="+mn-ea"/>
                <a:ea typeface="+mn-ea"/>
              </a:rPr>
              <a:t>调用过程</a:t>
            </a:r>
            <a:endParaRPr lang="en-US" altLang="zh-CN" sz="16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>
              <a:buFont typeface="Wingdings" pitchFamily="2" charset="2"/>
              <a:buChar char="Ø"/>
            </a:pPr>
            <a:r>
              <a:rPr lang="en-US" altLang="zh-CN" sz="16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SUB SP , SP , #</a:t>
            </a:r>
            <a:r>
              <a:rPr lang="en-US" altLang="zh-CN" sz="1600" b="1" i="1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caller.recordsize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DA24DC28-B9B1-4973-8574-C026985BB665}"/>
              </a:ext>
            </a:extLst>
          </p:cNvPr>
          <p:cNvSpPr txBox="1">
            <a:spLocks/>
          </p:cNvSpPr>
          <p:nvPr/>
        </p:nvSpPr>
        <p:spPr>
          <a:xfrm>
            <a:off x="251520" y="2272479"/>
            <a:ext cx="2160240" cy="2603526"/>
          </a:xfrm>
          <a:prstGeom prst="rect">
            <a:avLst/>
          </a:prstGeom>
        </p:spPr>
        <p:txBody>
          <a:bodyPr lIns="68580" tIns="34290" rIns="68580" bIns="34290"/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2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altLang="zh-CN" sz="2000" b="1" dirty="0">
                <a:cs typeface="Times New Roman" pitchFamily="18" charset="0"/>
              </a:rPr>
              <a:t>//</a:t>
            </a:r>
            <a:r>
              <a:rPr lang="zh-CN" altLang="en-US" sz="2000" b="1" dirty="0">
                <a:cs typeface="Times New Roman" pitchFamily="18" charset="0"/>
              </a:rPr>
              <a:t>调用者</a:t>
            </a:r>
            <a:r>
              <a:rPr lang="en-US" altLang="zh-CN" sz="2000" b="1" i="1" dirty="0">
                <a:cs typeface="Times New Roman" pitchFamily="18" charset="0"/>
              </a:rPr>
              <a:t>m</a:t>
            </a:r>
          </a:p>
          <a:p>
            <a:pPr marL="303212" lvl="1" indent="0">
              <a:spcBef>
                <a:spcPts val="0"/>
              </a:spcBef>
              <a:buNone/>
            </a:pPr>
            <a:r>
              <a:rPr lang="en-US" altLang="zh-CN" sz="2000" b="1" i="1" dirty="0">
                <a:cs typeface="Times New Roman" pitchFamily="18" charset="0"/>
              </a:rPr>
              <a:t>action</a:t>
            </a:r>
            <a:r>
              <a:rPr lang="en-US" altLang="zh-CN" sz="2000" b="1" i="1" baseline="-25000" dirty="0">
                <a:cs typeface="Times New Roman" pitchFamily="18" charset="0"/>
              </a:rPr>
              <a:t>1</a:t>
            </a:r>
          </a:p>
          <a:p>
            <a:pPr marL="303212" lvl="1" indent="0">
              <a:spcBef>
                <a:spcPts val="0"/>
              </a:spcBef>
              <a:buNone/>
            </a:pPr>
            <a:r>
              <a:rPr lang="en-US" altLang="zh-CN" sz="2000" b="1" i="1" dirty="0">
                <a:solidFill>
                  <a:srgbClr val="0000FF"/>
                </a:solidFill>
                <a:cs typeface="Times New Roman" pitchFamily="18" charset="0"/>
              </a:rPr>
              <a:t>call q</a:t>
            </a:r>
          </a:p>
          <a:p>
            <a:pPr marL="303212" lvl="1" indent="0">
              <a:spcBef>
                <a:spcPts val="0"/>
              </a:spcBef>
              <a:buNone/>
            </a:pPr>
            <a:r>
              <a:rPr lang="en-US" altLang="zh-CN" sz="2000" b="1" i="1" dirty="0">
                <a:cs typeface="Times New Roman" pitchFamily="18" charset="0"/>
              </a:rPr>
              <a:t>action</a:t>
            </a:r>
            <a:r>
              <a:rPr lang="en-US" altLang="zh-CN" sz="2000" b="1" i="1" baseline="-25000" dirty="0">
                <a:cs typeface="Times New Roman" pitchFamily="18" charset="0"/>
              </a:rPr>
              <a:t>2</a:t>
            </a:r>
          </a:p>
          <a:p>
            <a:pPr marL="303212" lvl="1" indent="0">
              <a:spcBef>
                <a:spcPts val="0"/>
              </a:spcBef>
              <a:buNone/>
            </a:pPr>
            <a:r>
              <a:rPr lang="en-US" altLang="zh-CN" sz="2000" b="1" i="1" dirty="0">
                <a:cs typeface="Times New Roman" pitchFamily="18" charset="0"/>
              </a:rPr>
              <a:t>halt</a:t>
            </a:r>
          </a:p>
          <a:p>
            <a:pPr marL="303212" lvl="1" indent="0">
              <a:spcBef>
                <a:spcPts val="0"/>
              </a:spcBef>
              <a:buNone/>
            </a:pPr>
            <a:r>
              <a:rPr lang="en-US" altLang="zh-CN" sz="2000" b="1" dirty="0">
                <a:cs typeface="Times New Roman" pitchFamily="18" charset="0"/>
              </a:rPr>
              <a:t>//</a:t>
            </a:r>
            <a:r>
              <a:rPr lang="zh-CN" altLang="en-US" sz="2000" b="1" dirty="0">
                <a:cs typeface="Times New Roman" pitchFamily="18" charset="0"/>
              </a:rPr>
              <a:t>被调用者</a:t>
            </a:r>
            <a:r>
              <a:rPr lang="en-US" altLang="zh-CN" sz="2000" b="1" i="1" dirty="0">
                <a:cs typeface="Times New Roman" pitchFamily="18" charset="0"/>
              </a:rPr>
              <a:t>q</a:t>
            </a:r>
          </a:p>
          <a:p>
            <a:pPr marL="303212" lvl="1" indent="0">
              <a:spcBef>
                <a:spcPts val="0"/>
              </a:spcBef>
              <a:buNone/>
            </a:pPr>
            <a:r>
              <a:rPr lang="en-US" altLang="zh-CN" sz="2000" b="1" i="1" dirty="0">
                <a:cs typeface="Times New Roman" pitchFamily="18" charset="0"/>
              </a:rPr>
              <a:t>action</a:t>
            </a:r>
            <a:r>
              <a:rPr lang="en-US" altLang="zh-CN" sz="2000" b="1" i="1" baseline="-25000" dirty="0">
                <a:cs typeface="Times New Roman" pitchFamily="18" charset="0"/>
              </a:rPr>
              <a:t>3</a:t>
            </a:r>
          </a:p>
          <a:p>
            <a:pPr marL="303212" lvl="1" indent="0">
              <a:spcBef>
                <a:spcPts val="0"/>
              </a:spcBef>
              <a:buNone/>
            </a:pPr>
            <a:r>
              <a:rPr lang="en-US" altLang="zh-CN" sz="2000" b="1" i="1" dirty="0">
                <a:solidFill>
                  <a:srgbClr val="0000FF"/>
                </a:solidFill>
                <a:cs typeface="Times New Roman" pitchFamily="18" charset="0"/>
              </a:rPr>
              <a:t>return 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3FB6F7E2-9B13-46B9-81D3-37B95E7F24F8}"/>
              </a:ext>
            </a:extLst>
          </p:cNvPr>
          <p:cNvSpPr txBox="1">
            <a:spLocks/>
          </p:cNvSpPr>
          <p:nvPr/>
        </p:nvSpPr>
        <p:spPr>
          <a:xfrm>
            <a:off x="5796136" y="1928608"/>
            <a:ext cx="2366036" cy="30687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/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2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 sz="1600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>
                <a:cs typeface="Times New Roman" pitchFamily="18" charset="0"/>
              </a:rPr>
              <a:t>100:  LD SP #600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>
                <a:cs typeface="Times New Roman" pitchFamily="18" charset="0"/>
              </a:rPr>
              <a:t>108:  ACTION1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0000FF"/>
                </a:solidFill>
                <a:cs typeface="Times New Roman" pitchFamily="18" charset="0"/>
              </a:rPr>
              <a:t>128:  ADD SP, SP, #</a:t>
            </a:r>
            <a:r>
              <a:rPr lang="en-US" altLang="zh-CN" sz="1600" b="1" dirty="0" err="1">
                <a:solidFill>
                  <a:srgbClr val="0000FF"/>
                </a:solidFill>
                <a:cs typeface="Times New Roman" pitchFamily="18" charset="0"/>
              </a:rPr>
              <a:t>msize</a:t>
            </a:r>
            <a:r>
              <a:rPr lang="en-US" altLang="zh-CN" sz="16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0000FF"/>
                </a:solidFill>
                <a:cs typeface="Times New Roman" pitchFamily="18" charset="0"/>
              </a:rPr>
              <a:t>136:  ST 0(SP) , #152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0000FF"/>
                </a:solidFill>
                <a:cs typeface="Times New Roman" pitchFamily="18" charset="0"/>
              </a:rPr>
              <a:t>144:  BR 300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0000FF"/>
                </a:solidFill>
                <a:cs typeface="Times New Roman" pitchFamily="18" charset="0"/>
              </a:rPr>
              <a:t>152:  </a:t>
            </a:r>
            <a:r>
              <a:rPr lang="en-US" altLang="zh-CN" sz="1600" b="1" dirty="0">
                <a:solidFill>
                  <a:srgbClr val="7030A0"/>
                </a:solidFill>
                <a:cs typeface="Times New Roman" pitchFamily="18" charset="0"/>
              </a:rPr>
              <a:t>SUB SP, SP, #</a:t>
            </a:r>
            <a:r>
              <a:rPr lang="en-US" altLang="zh-CN" sz="1600" b="1" dirty="0" err="1">
                <a:solidFill>
                  <a:srgbClr val="7030A0"/>
                </a:solidFill>
                <a:cs typeface="Times New Roman" pitchFamily="18" charset="0"/>
              </a:rPr>
              <a:t>msize</a:t>
            </a:r>
            <a:r>
              <a:rPr lang="en-US" altLang="zh-CN" sz="1600" b="1" dirty="0">
                <a:solidFill>
                  <a:srgbClr val="7030A0"/>
                </a:solidFill>
                <a:cs typeface="Times New Roman" pitchFamily="18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>
                <a:cs typeface="Times New Roman" pitchFamily="18" charset="0"/>
              </a:rPr>
              <a:t>160:  ACTION2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>
                <a:cs typeface="Times New Roman" pitchFamily="18" charset="0"/>
              </a:rPr>
              <a:t>180: HALT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>
                <a:cs typeface="Times New Roman" pitchFamily="18" charset="0"/>
              </a:rPr>
              <a:t>……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>
                <a:cs typeface="Times New Roman" pitchFamily="18" charset="0"/>
              </a:rPr>
              <a:t>300:  ACTION3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0000FF"/>
                </a:solidFill>
                <a:cs typeface="Times New Roman" pitchFamily="18" charset="0"/>
              </a:rPr>
              <a:t>220: </a:t>
            </a:r>
            <a:r>
              <a:rPr lang="en-US" altLang="zh-CN" sz="1600" b="1" dirty="0">
                <a:solidFill>
                  <a:srgbClr val="7030A0"/>
                </a:solidFill>
                <a:cs typeface="Times New Roman" pitchFamily="18" charset="0"/>
              </a:rPr>
              <a:t>BR *0(SP)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600" b="1" dirty="0">
                <a:solidFill>
                  <a:srgbClr val="0000FF"/>
                </a:solidFill>
                <a:cs typeface="Times New Roman" pitchFamily="18" charset="0"/>
              </a:rPr>
              <a:t>……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88F5124-A394-4CC1-87D5-9FA029C3E080}"/>
              </a:ext>
            </a:extLst>
          </p:cNvPr>
          <p:cNvGrpSpPr/>
          <p:nvPr/>
        </p:nvGrpSpPr>
        <p:grpSpPr>
          <a:xfrm>
            <a:off x="1958930" y="2571750"/>
            <a:ext cx="3621182" cy="1754326"/>
            <a:chOff x="2050487" y="2876061"/>
            <a:chExt cx="3621182" cy="1754326"/>
          </a:xfrm>
        </p:grpSpPr>
        <p:sp>
          <p:nvSpPr>
            <p:cNvPr id="16" name="箭头: 右 15">
              <a:extLst>
                <a:ext uri="{FF2B5EF4-FFF2-40B4-BE49-F238E27FC236}">
                  <a16:creationId xmlns:a16="http://schemas.microsoft.com/office/drawing/2014/main" id="{75C162E4-5A2D-441F-B4FB-A8556CCAFB86}"/>
                </a:ext>
              </a:extLst>
            </p:cNvPr>
            <p:cNvSpPr/>
            <p:nvPr/>
          </p:nvSpPr>
          <p:spPr>
            <a:xfrm>
              <a:off x="2051720" y="3651870"/>
              <a:ext cx="3619949" cy="43204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21F449E-9C56-42E3-82F2-590F6140932A}"/>
                </a:ext>
              </a:extLst>
            </p:cNvPr>
            <p:cNvSpPr txBox="1"/>
            <p:nvPr/>
          </p:nvSpPr>
          <p:spPr>
            <a:xfrm>
              <a:off x="2050487" y="2876061"/>
              <a:ext cx="362118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假定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b="1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的代码</a:t>
              </a: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从地址</a:t>
              </a:r>
              <a:r>
                <a: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100</a:t>
              </a: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300</a:t>
              </a: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开始，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b="1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的活动记录大小为常数</a:t>
              </a:r>
              <a:r>
                <a:rPr lang="en-US" altLang="zh-CN" b="1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msize</a:t>
              </a: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，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/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栈区地址从</a:t>
              </a:r>
              <a:r>
                <a:rPr lang="en-US" altLang="zh-CN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600</a:t>
              </a: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开始，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ACTION</a:t>
              </a: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指令占</a:t>
              </a:r>
              <a:r>
                <a: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20</a:t>
              </a: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个字节</a:t>
              </a:r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1BB2DCD3-982D-4EF2-B1F3-5DA29269B1B8}"/>
              </a:ext>
            </a:extLst>
          </p:cNvPr>
          <p:cNvSpPr/>
          <p:nvPr/>
        </p:nvSpPr>
        <p:spPr>
          <a:xfrm>
            <a:off x="6373859" y="1579607"/>
            <a:ext cx="12105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目标代码</a:t>
            </a:r>
            <a:endParaRPr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F80A1B9-C57A-4DCA-B0E4-0FF99CCD2150}"/>
              </a:ext>
            </a:extLst>
          </p:cNvPr>
          <p:cNvGrpSpPr/>
          <p:nvPr/>
        </p:nvGrpSpPr>
        <p:grpSpPr>
          <a:xfrm>
            <a:off x="8234002" y="1995686"/>
            <a:ext cx="559693" cy="1872208"/>
            <a:chOff x="8316416" y="2192068"/>
            <a:chExt cx="559693" cy="1531810"/>
          </a:xfrm>
        </p:grpSpPr>
        <p:sp>
          <p:nvSpPr>
            <p:cNvPr id="20" name="右大括号 19">
              <a:extLst>
                <a:ext uri="{FF2B5EF4-FFF2-40B4-BE49-F238E27FC236}">
                  <a16:creationId xmlns:a16="http://schemas.microsoft.com/office/drawing/2014/main" id="{8FE7C40F-DE2F-4CA6-9BDA-D7FB630B8ED5}"/>
                </a:ext>
              </a:extLst>
            </p:cNvPr>
            <p:cNvSpPr/>
            <p:nvPr/>
          </p:nvSpPr>
          <p:spPr>
            <a:xfrm>
              <a:off x="8316416" y="2192068"/>
              <a:ext cx="206702" cy="1531810"/>
            </a:xfrm>
            <a:prstGeom prst="righ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D05C0E4-FABB-4216-AB18-87DC981923E2}"/>
                </a:ext>
              </a:extLst>
            </p:cNvPr>
            <p:cNvSpPr/>
            <p:nvPr/>
          </p:nvSpPr>
          <p:spPr>
            <a:xfrm>
              <a:off x="8460611" y="2606865"/>
              <a:ext cx="415498" cy="789029"/>
            </a:xfrm>
            <a:prstGeom prst="rect">
              <a:avLst/>
            </a:prstGeom>
          </p:spPr>
          <p:txBody>
            <a:bodyPr vert="horz" wrap="none">
              <a:spAutoFit/>
            </a:bodyPr>
            <a:lstStyle/>
            <a:p>
              <a:pPr algn="ctr">
                <a:lnSpc>
                  <a:spcPts val="17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调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ts val="17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用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ts val="17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者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ts val="1700"/>
                </a:lnSpc>
              </a:pPr>
              <a:r>
                <a:rPr lang="en-US" altLang="zh-CN" b="1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</a:t>
              </a:r>
              <a:endPara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C01F45A-E16A-4A07-AC35-AB567E270827}"/>
              </a:ext>
            </a:extLst>
          </p:cNvPr>
          <p:cNvGrpSpPr/>
          <p:nvPr/>
        </p:nvGrpSpPr>
        <p:grpSpPr>
          <a:xfrm>
            <a:off x="8275245" y="3787935"/>
            <a:ext cx="498784" cy="1182375"/>
            <a:chOff x="8316416" y="2258933"/>
            <a:chExt cx="498784" cy="1182375"/>
          </a:xfrm>
        </p:grpSpPr>
        <p:sp>
          <p:nvSpPr>
            <p:cNvPr id="23" name="右大括号 22">
              <a:extLst>
                <a:ext uri="{FF2B5EF4-FFF2-40B4-BE49-F238E27FC236}">
                  <a16:creationId xmlns:a16="http://schemas.microsoft.com/office/drawing/2014/main" id="{FC7223AC-29C9-4150-8AE6-C871CA4CDDED}"/>
                </a:ext>
              </a:extLst>
            </p:cNvPr>
            <p:cNvSpPr/>
            <p:nvPr/>
          </p:nvSpPr>
          <p:spPr>
            <a:xfrm>
              <a:off x="8316416" y="2552109"/>
              <a:ext cx="126577" cy="576064"/>
            </a:xfrm>
            <a:prstGeom prst="rightBrac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36B7E27-B8CE-4496-A7C2-AF249AB961F2}"/>
                </a:ext>
              </a:extLst>
            </p:cNvPr>
            <p:cNvSpPr/>
            <p:nvPr/>
          </p:nvSpPr>
          <p:spPr>
            <a:xfrm>
              <a:off x="8399702" y="2258933"/>
              <a:ext cx="415498" cy="1182375"/>
            </a:xfrm>
            <a:prstGeom prst="rect">
              <a:avLst/>
            </a:prstGeom>
          </p:spPr>
          <p:txBody>
            <a:bodyPr vert="horz" wrap="none">
              <a:spAutoFit/>
            </a:bodyPr>
            <a:lstStyle/>
            <a:p>
              <a:pPr>
                <a:lnSpc>
                  <a:spcPts val="17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被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ts val="17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调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ts val="17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用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ts val="17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者</a:t>
              </a:r>
              <a:endPara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ts val="1700"/>
                </a:lnSpc>
              </a:pPr>
              <a:r>
                <a:rPr lang="en-US" altLang="zh-CN" b="1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q</a:t>
              </a:r>
              <a:endParaRPr lang="zh-CN" altLang="en-US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943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 animBg="1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EA193F4-D839-49BD-A3FA-8F7F312F2AF4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b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2531" name="矩形 7">
            <a:extLst>
              <a:ext uri="{FF2B5EF4-FFF2-40B4-BE49-F238E27FC236}">
                <a16:creationId xmlns:a16="http://schemas.microsoft.com/office/drawing/2014/main" id="{0EEC7D43-174F-4C62-8209-6E603A1A1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357313"/>
            <a:ext cx="4357687" cy="309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.1 </a:t>
            </a:r>
            <a:r>
              <a:rPr lang="zh-CN" altLang="en-US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代码生成器的主要任务</a:t>
            </a: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.2 </a:t>
            </a:r>
            <a:r>
              <a:rPr lang="zh-CN" altLang="en-US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一个简单的目标机模型</a:t>
            </a: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.3 </a:t>
            </a:r>
            <a:r>
              <a:rPr lang="zh-CN" altLang="en-US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指令选择</a:t>
            </a: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.4 </a:t>
            </a:r>
            <a:r>
              <a:rPr lang="zh-CN" altLang="en-US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寄存器选择</a:t>
            </a:r>
            <a:endParaRPr lang="zh-CN" altLang="en-US" sz="2500" b="0" dirty="0">
              <a:solidFill>
                <a:srgbClr val="2D83F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.5 </a:t>
            </a:r>
            <a:r>
              <a:rPr lang="zh-CN" altLang="en-US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窥孔优化</a:t>
            </a:r>
            <a:endParaRPr lang="zh-CN" altLang="en-US" sz="25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  <a:p>
            <a:pPr>
              <a:lnSpc>
                <a:spcPts val="4000"/>
              </a:lnSpc>
            </a:pPr>
            <a:endParaRPr lang="zh-CN" altLang="en-US" sz="2500" b="0" dirty="0">
              <a:solidFill>
                <a:srgbClr val="2D83F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</p:txBody>
      </p:sp>
      <p:pic>
        <p:nvPicPr>
          <p:cNvPr id="22532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EDAC316A-33E3-4583-9BAC-2E194AC66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C5ABDC2-022C-49C8-ADA5-5DC300DEA310}"/>
              </a:ext>
            </a:extLst>
          </p:cNvPr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1600" b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80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4713" y="857238"/>
            <a:ext cx="8016377" cy="3225800"/>
          </a:xfrm>
        </p:spPr>
        <p:txBody>
          <a:bodyPr/>
          <a:lstStyle/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对每个形如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x = y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op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 z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的三地址指令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，执行如下动作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调用函数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getReg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( 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I 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来为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</a:rPr>
              <a:t>、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</a:rPr>
              <a:t>、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z</a:t>
            </a: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选择寄存器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，把这些寄存器称为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</a:rPr>
              <a:t>、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zh-CN" altLang="en-US" b="1" i="1" dirty="0">
                <a:solidFill>
                  <a:schemeClr val="tx1"/>
                </a:solidFill>
                <a:cs typeface="Times New Roman" pitchFamily="18" charset="0"/>
              </a:rPr>
              <a:t>、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i="1" baseline="-25000" dirty="0" err="1">
                <a:solidFill>
                  <a:schemeClr val="tx1"/>
                </a:solidFill>
                <a:cs typeface="Times New Roman" pitchFamily="18" charset="0"/>
              </a:rPr>
              <a:t>z</a:t>
            </a:r>
            <a:endParaRPr lang="en-US" altLang="zh-CN" b="1" i="1" baseline="-25000" dirty="0">
              <a:solidFill>
                <a:schemeClr val="tx1"/>
              </a:solidFill>
              <a:cs typeface="Times New Roman" pitchFamily="18" charset="0"/>
            </a:endParaRPr>
          </a:p>
          <a:p>
            <a:pPr lvl="1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如果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i="1" baseline="-25000" dirty="0" err="1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中存放的不是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y 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，则生成指令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“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LD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i="1" baseline="-25000" dirty="0" err="1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, y′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”。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y′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是存放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的内存位置之一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lvl="1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类似的，如果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i="1" baseline="-25000" dirty="0" err="1">
                <a:solidFill>
                  <a:schemeClr val="tx1"/>
                </a:solidFill>
                <a:cs typeface="Times New Roman" pitchFamily="18" charset="0"/>
              </a:rPr>
              <a:t>z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中存放的不是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z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，生成指令“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LD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i="1" baseline="-25000" dirty="0" err="1">
                <a:solidFill>
                  <a:schemeClr val="tx1"/>
                </a:solidFill>
                <a:cs typeface="Times New Roman" pitchFamily="18" charset="0"/>
              </a:rPr>
              <a:t>z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z′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”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lvl="1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生成目标指令“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OP R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R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i="1" baseline="-25000" dirty="0" err="1">
                <a:solidFill>
                  <a:schemeClr val="tx1"/>
                </a:solidFill>
                <a:cs typeface="Times New Roman" pitchFamily="18" charset="0"/>
              </a:rPr>
              <a:t>z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”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运算的目标代码生成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13FA42-A69D-496C-9D60-7CEA62CAD281}"/>
              </a:ext>
            </a:extLst>
          </p:cNvPr>
          <p:cNvSpPr/>
          <p:nvPr/>
        </p:nvSpPr>
        <p:spPr>
          <a:xfrm>
            <a:off x="149532" y="4371950"/>
            <a:ext cx="8856984" cy="7078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为了避免生成冗余的加载和保存指令，只在基本块的末尾生成需要的</a:t>
            </a: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保存指令</a:t>
            </a: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而且，还需要记录</a:t>
            </a:r>
            <a:r>
              <a:rPr lang="zh-CN" altLang="en-US" sz="20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哪个值在哪个寄存器</a:t>
            </a:r>
            <a:r>
              <a:rPr lang="zh-CN" altLang="en-US" sz="20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中</a:t>
            </a:r>
            <a:endParaRPr lang="en-US" altLang="zh-CN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812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714362"/>
            <a:ext cx="8070865" cy="3225800"/>
          </a:xfrm>
        </p:spPr>
        <p:txBody>
          <a:bodyPr/>
          <a:lstStyle/>
          <a:p>
            <a:pPr>
              <a:lnSpc>
                <a:spcPts val="4000"/>
              </a:lnSpc>
              <a:buClrTx/>
              <a:buFont typeface="Wingdings" pitchFamily="2" charset="2"/>
              <a:buChar char="Ø"/>
              <a:tabLst>
                <a:tab pos="5381625" algn="l"/>
              </a:tabLst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对于一个在基本块的出口处可能</a:t>
            </a:r>
            <a:r>
              <a:rPr lang="zh-CN" altLang="en-US" sz="2500" b="1" dirty="0">
                <a:solidFill>
                  <a:srgbClr val="0070C0"/>
                </a:solidFill>
                <a:latin typeface="+mn-ea"/>
              </a:rPr>
              <a:t>活跃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的变量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x 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, 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如果它的地址描述符表明它的最新值没有存放在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的内存位置上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, 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则生成指令“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ST x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 R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”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 (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是在基本块结尾处存放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值的寄存器 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4000"/>
              </a:lnSpc>
            </a:pPr>
            <a:endParaRPr lang="zh-CN" altLang="en-US" sz="25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基本块的收尾处理</a:t>
            </a:r>
          </a:p>
        </p:txBody>
      </p:sp>
    </p:spTree>
    <p:extLst>
      <p:ext uri="{BB962C8B-B14F-4D97-AF65-F5344CB8AC3E}">
        <p14:creationId xmlns:p14="http://schemas.microsoft.com/office/powerpoint/2010/main" val="2067769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3" name="Rectangle 3"/>
          <p:cNvSpPr>
            <a:spLocks noGrp="1" noChangeArrowheads="1"/>
          </p:cNvSpPr>
          <p:nvPr>
            <p:ph idx="1"/>
          </p:nvPr>
        </p:nvSpPr>
        <p:spPr>
          <a:xfrm>
            <a:off x="428596" y="785800"/>
            <a:ext cx="8807895" cy="3363564"/>
          </a:xfrm>
        </p:spPr>
        <p:txBody>
          <a:bodyPr/>
          <a:lstStyle/>
          <a:p>
            <a:pPr algn="just">
              <a:lnSpc>
                <a:spcPts val="3500"/>
              </a:lnSpc>
              <a:spcBef>
                <a:spcPct val="0"/>
              </a:spcBef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寄存器描述符 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register descriptor 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zh-CN" altLang="en-US" sz="20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algn="just">
              <a:lnSpc>
                <a:spcPts val="3500"/>
              </a:lnSpc>
              <a:spcBef>
                <a:spcPct val="0"/>
              </a:spcBef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记录每个</a:t>
            </a: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寄存器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当前存放的是</a:t>
            </a: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哪些变量的值</a:t>
            </a:r>
          </a:p>
          <a:p>
            <a:pPr algn="just">
              <a:lnSpc>
                <a:spcPts val="3500"/>
              </a:lnSpc>
              <a:spcBef>
                <a:spcPct val="0"/>
              </a:spcBef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地址描述符 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address descriptor 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zh-CN" altLang="en-US" sz="20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algn="just">
              <a:lnSpc>
                <a:spcPts val="3500"/>
              </a:lnSpc>
              <a:spcBef>
                <a:spcPct val="0"/>
              </a:spcBef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记录运行时每个</a:t>
            </a: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变量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的当前值存放在</a:t>
            </a: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哪个或哪些位置</a:t>
            </a:r>
          </a:p>
          <a:p>
            <a:pPr lvl="1" algn="just">
              <a:lnSpc>
                <a:spcPts val="3500"/>
              </a:lnSpc>
              <a:spcBef>
                <a:spcPct val="0"/>
              </a:spcBef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该位置可能是寄存器、栈单元、内存地址或者是它们的某个集合</a:t>
            </a:r>
          </a:p>
          <a:p>
            <a:pPr lvl="1" algn="just">
              <a:lnSpc>
                <a:spcPts val="3500"/>
              </a:lnSpc>
              <a:spcBef>
                <a:spcPct val="0"/>
              </a:spcBef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这些信息可以存放在该变量名对应的符号表条目中</a:t>
            </a:r>
            <a:endParaRPr lang="zh-CN" altLang="en-US" sz="21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ts val="3500"/>
              </a:lnSpc>
            </a:pPr>
            <a:endParaRPr lang="zh-CN" altLang="en-US" sz="2100" dirty="0"/>
          </a:p>
        </p:txBody>
      </p:sp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寄存器描述符和地址描述符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0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0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0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0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0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0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0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0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0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50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50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0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0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0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0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0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50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0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714362"/>
            <a:ext cx="8642337" cy="3225800"/>
          </a:xfrm>
        </p:spPr>
        <p:txBody>
          <a:bodyPr/>
          <a:lstStyle/>
          <a:p>
            <a:pPr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当</a:t>
            </a:r>
            <a:r>
              <a:rPr lang="zh-CN" altLang="en-US" b="1" dirty="0">
                <a:solidFill>
                  <a:schemeClr val="tx1"/>
                </a:solidFill>
              </a:rPr>
              <a:t>代码生成算法生成</a:t>
            </a:r>
            <a:r>
              <a:rPr lang="zh-CN" altLang="en-US" b="1" dirty="0">
                <a:solidFill>
                  <a:srgbClr val="0070C0"/>
                </a:solidFill>
              </a:rPr>
              <a:t>加载、保存</a:t>
            </a:r>
            <a:r>
              <a:rPr lang="zh-CN" altLang="en-US" b="1" dirty="0">
                <a:solidFill>
                  <a:schemeClr val="tx1"/>
                </a:solidFill>
              </a:rPr>
              <a:t>和其他指令时，它必须同时更新寄存器和地址描述符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</a:rPr>
              <a:t>对于指令“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LD  R</a:t>
            </a:r>
            <a:r>
              <a:rPr lang="en-US" altLang="zh-CN" sz="2400" b="1" dirty="0">
                <a:solidFill>
                  <a:schemeClr val="tx1"/>
                </a:solidFill>
              </a:rPr>
              <a:t> , 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en-US" sz="2400" b="1" dirty="0">
                <a:solidFill>
                  <a:schemeClr val="tx1"/>
                </a:solidFill>
              </a:rPr>
              <a:t>”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lvl="2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sz="2200" b="1" dirty="0">
                <a:solidFill>
                  <a:schemeClr val="tx1"/>
                </a:solidFill>
              </a:rPr>
              <a:t>修改 </a:t>
            </a:r>
            <a:r>
              <a:rPr lang="en-US" altLang="zh-CN" sz="2400" b="1" i="1" dirty="0">
                <a:solidFill>
                  <a:srgbClr val="0070C0"/>
                </a:solidFill>
                <a:cs typeface="Times New Roman" pitchFamily="18" charset="0"/>
              </a:rPr>
              <a:t>R</a:t>
            </a:r>
            <a:r>
              <a:rPr lang="zh-CN" altLang="en-US" sz="2200" b="1" dirty="0">
                <a:solidFill>
                  <a:srgbClr val="0070C0"/>
                </a:solidFill>
              </a:rPr>
              <a:t>的寄存器描述符</a:t>
            </a:r>
            <a:r>
              <a:rPr lang="zh-CN" altLang="en-US" sz="2200" b="1" dirty="0">
                <a:solidFill>
                  <a:schemeClr val="tx1"/>
                </a:solidFill>
              </a:rPr>
              <a:t>，使之只包含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pPr lvl="2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sz="2200" b="1" dirty="0">
                <a:solidFill>
                  <a:schemeClr val="tx1"/>
                </a:solidFill>
              </a:rPr>
              <a:t>修改</a:t>
            </a:r>
            <a:r>
              <a:rPr lang="en-US" altLang="zh-CN" sz="2200" b="1" i="1" dirty="0">
                <a:solidFill>
                  <a:srgbClr val="0070C0"/>
                </a:solidFill>
              </a:rPr>
              <a:t>x</a:t>
            </a:r>
            <a:r>
              <a:rPr lang="zh-CN" altLang="en-US" sz="2200" b="1" dirty="0">
                <a:solidFill>
                  <a:srgbClr val="0070C0"/>
                </a:solidFill>
              </a:rPr>
              <a:t>的地址描述符</a:t>
            </a:r>
            <a:r>
              <a:rPr lang="zh-CN" altLang="en-US" sz="2200" b="1" dirty="0">
                <a:solidFill>
                  <a:schemeClr val="tx1"/>
                </a:solidFill>
              </a:rPr>
              <a:t>，把 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R </a:t>
            </a:r>
            <a:r>
              <a:rPr lang="zh-CN" altLang="en-US" sz="2200" b="1" dirty="0">
                <a:solidFill>
                  <a:schemeClr val="tx1"/>
                </a:solidFill>
              </a:rPr>
              <a:t>作为新增位置加入到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</a:rPr>
              <a:t>的位置集合中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pPr lvl="2">
              <a:lnSpc>
                <a:spcPts val="3000"/>
              </a:lnSpc>
              <a:buClrTx/>
              <a:buFont typeface="Wingdings" pitchFamily="2" charset="2"/>
              <a:buChar char="Ø"/>
            </a:pPr>
            <a:r>
              <a:rPr lang="zh-CN" altLang="en-US" sz="2200" b="1" dirty="0">
                <a:solidFill>
                  <a:schemeClr val="tx1"/>
                </a:solidFill>
              </a:rPr>
              <a:t>从任何</a:t>
            </a:r>
            <a:r>
              <a:rPr lang="zh-CN" altLang="en-US" sz="2200" b="1" dirty="0">
                <a:solidFill>
                  <a:srgbClr val="0070C0"/>
                </a:solidFill>
              </a:rPr>
              <a:t>不同于</a:t>
            </a:r>
            <a:r>
              <a:rPr lang="en-US" altLang="zh-CN" sz="2400" b="1" i="1" dirty="0">
                <a:solidFill>
                  <a:srgbClr val="0070C0"/>
                </a:solidFill>
                <a:cs typeface="Times New Roman" pitchFamily="18" charset="0"/>
              </a:rPr>
              <a:t>x</a:t>
            </a:r>
            <a:r>
              <a:rPr lang="zh-CN" altLang="en-US" sz="2200" b="1" dirty="0">
                <a:solidFill>
                  <a:srgbClr val="0070C0"/>
                </a:solidFill>
              </a:rPr>
              <a:t>的地址描述符</a:t>
            </a:r>
            <a:r>
              <a:rPr lang="zh-CN" altLang="en-US" sz="2200" b="1" dirty="0">
                <a:solidFill>
                  <a:schemeClr val="tx1"/>
                </a:solidFill>
              </a:rPr>
              <a:t>中删除 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pPr>
              <a:lnSpc>
                <a:spcPts val="4000"/>
              </a:lnSpc>
            </a:pPr>
            <a:endParaRPr lang="zh-CN" altLang="en-US" sz="2500" b="1" dirty="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管理寄存器和地址描述符</a:t>
            </a:r>
          </a:p>
        </p:txBody>
      </p:sp>
    </p:spTree>
    <p:extLst>
      <p:ext uri="{BB962C8B-B14F-4D97-AF65-F5344CB8AC3E}">
        <p14:creationId xmlns:p14="http://schemas.microsoft.com/office/powerpoint/2010/main" val="141931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2000246"/>
            <a:ext cx="8129613" cy="2659736"/>
          </a:xfrm>
        </p:spPr>
        <p:txBody>
          <a:bodyPr/>
          <a:lstStyle/>
          <a:p>
            <a:pPr lvl="1">
              <a:buClrTx/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</a:rPr>
              <a:t>对于指令“</a:t>
            </a:r>
            <a:r>
              <a:rPr lang="en-US" altLang="zh-CN" sz="2400" b="1" i="1" dirty="0">
                <a:solidFill>
                  <a:schemeClr val="tx1"/>
                </a:solidFill>
              </a:rPr>
              <a:t>OP  R</a:t>
            </a:r>
            <a:r>
              <a:rPr lang="en-US" altLang="zh-CN" sz="2400" b="1" i="1" baseline="-25000" dirty="0">
                <a:solidFill>
                  <a:schemeClr val="tx1"/>
                </a:solidFill>
              </a:rPr>
              <a:t>x </a:t>
            </a:r>
            <a:r>
              <a:rPr lang="en-US" altLang="zh-CN" sz="2400" b="1" dirty="0">
                <a:solidFill>
                  <a:schemeClr val="tx1"/>
                </a:solidFill>
              </a:rPr>
              <a:t>,</a:t>
            </a:r>
            <a:r>
              <a:rPr lang="en-US" altLang="zh-CN" sz="2400" b="1" i="1" dirty="0">
                <a:solidFill>
                  <a:schemeClr val="tx1"/>
                </a:solidFill>
              </a:rPr>
              <a:t>  </a:t>
            </a:r>
            <a:r>
              <a:rPr lang="en-US" altLang="zh-CN" sz="2400" b="1" i="1" dirty="0" err="1">
                <a:solidFill>
                  <a:schemeClr val="tx1"/>
                </a:solidFill>
              </a:rPr>
              <a:t>R</a:t>
            </a:r>
            <a:r>
              <a:rPr lang="en-US" altLang="zh-CN" sz="1800" b="1" i="1" baseline="-25000" dirty="0" err="1">
                <a:solidFill>
                  <a:schemeClr val="tx1"/>
                </a:solidFill>
              </a:rPr>
              <a:t>y</a:t>
            </a:r>
            <a:r>
              <a:rPr lang="en-US" altLang="zh-CN" sz="1800" b="1" i="1" baseline="-25000" dirty="0">
                <a:solidFill>
                  <a:schemeClr val="tx1"/>
                </a:solidFill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</a:rPr>
              <a:t>,</a:t>
            </a:r>
            <a:r>
              <a:rPr lang="en-US" altLang="zh-CN" sz="2400" b="1" i="1" dirty="0">
                <a:solidFill>
                  <a:schemeClr val="tx1"/>
                </a:solidFill>
              </a:rPr>
              <a:t>  </a:t>
            </a:r>
            <a:r>
              <a:rPr lang="en-US" altLang="zh-CN" sz="2400" b="1" i="1" dirty="0" err="1">
                <a:solidFill>
                  <a:schemeClr val="tx1"/>
                </a:solidFill>
              </a:rPr>
              <a:t>R</a:t>
            </a:r>
            <a:r>
              <a:rPr lang="en-US" altLang="zh-CN" sz="2400" b="1" i="1" baseline="-25000" dirty="0" err="1">
                <a:solidFill>
                  <a:schemeClr val="tx1"/>
                </a:solidFill>
              </a:rPr>
              <a:t>z</a:t>
            </a:r>
            <a:r>
              <a:rPr lang="zh-CN" altLang="en-US" sz="2400" b="1" dirty="0">
                <a:solidFill>
                  <a:schemeClr val="tx1"/>
                </a:solidFill>
              </a:rPr>
              <a:t>”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lvl="2">
              <a:buClrTx/>
              <a:buFont typeface="Wingdings" pitchFamily="2" charset="2"/>
              <a:buChar char="Ø"/>
            </a:pPr>
            <a:r>
              <a:rPr lang="zh-CN" altLang="en-US" sz="2200" b="1" dirty="0">
                <a:solidFill>
                  <a:schemeClr val="tx1"/>
                </a:solidFill>
              </a:rPr>
              <a:t>修改 </a:t>
            </a:r>
            <a:r>
              <a:rPr lang="en-US" altLang="zh-CN" sz="2200" b="1" i="1" dirty="0">
                <a:solidFill>
                  <a:srgbClr val="0070C0"/>
                </a:solidFill>
              </a:rPr>
              <a:t>R</a:t>
            </a:r>
            <a:r>
              <a:rPr lang="en-US" altLang="zh-CN" sz="2200" b="1" i="1" baseline="-25000" dirty="0">
                <a:solidFill>
                  <a:srgbClr val="0070C0"/>
                </a:solidFill>
              </a:rPr>
              <a:t>x</a:t>
            </a:r>
            <a:r>
              <a:rPr lang="zh-CN" altLang="en-US" sz="2200" b="1" dirty="0">
                <a:solidFill>
                  <a:srgbClr val="0070C0"/>
                </a:solidFill>
              </a:rPr>
              <a:t>的寄存器描述符</a:t>
            </a:r>
            <a:r>
              <a:rPr lang="zh-CN" altLang="en-US" sz="2200" b="1" dirty="0">
                <a:solidFill>
                  <a:schemeClr val="tx1"/>
                </a:solidFill>
              </a:rPr>
              <a:t>，使之</a:t>
            </a:r>
            <a:r>
              <a:rPr lang="zh-CN" altLang="en-US" sz="2200" b="1" dirty="0">
                <a:solidFill>
                  <a:srgbClr val="0070C0"/>
                </a:solidFill>
              </a:rPr>
              <a:t>只包含 </a:t>
            </a:r>
            <a:r>
              <a:rPr lang="en-US" altLang="zh-CN" sz="2200" b="1" i="1" dirty="0">
                <a:solidFill>
                  <a:schemeClr val="tx1"/>
                </a:solidFill>
              </a:rPr>
              <a:t>x</a:t>
            </a:r>
          </a:p>
          <a:p>
            <a:pPr lvl="2">
              <a:buClrTx/>
              <a:buFont typeface="Wingdings" pitchFamily="2" charset="2"/>
              <a:buChar char="Ø"/>
            </a:pPr>
            <a:r>
              <a:rPr lang="zh-CN" altLang="en-US" sz="2200" b="1" dirty="0">
                <a:solidFill>
                  <a:schemeClr val="tx1"/>
                </a:solidFill>
              </a:rPr>
              <a:t>修改</a:t>
            </a:r>
            <a:r>
              <a:rPr lang="en-US" altLang="zh-CN" sz="2200" b="1" i="1" dirty="0">
                <a:solidFill>
                  <a:srgbClr val="0070C0"/>
                </a:solidFill>
              </a:rPr>
              <a:t>x</a:t>
            </a:r>
            <a:r>
              <a:rPr lang="zh-CN" altLang="en-US" sz="2200" b="1" dirty="0">
                <a:solidFill>
                  <a:srgbClr val="0070C0"/>
                </a:solidFill>
              </a:rPr>
              <a:t>的地址描述符</a:t>
            </a:r>
            <a:r>
              <a:rPr lang="zh-CN" altLang="en-US" sz="2200" b="1" dirty="0">
                <a:solidFill>
                  <a:schemeClr val="tx1"/>
                </a:solidFill>
              </a:rPr>
              <a:t>，使之</a:t>
            </a:r>
            <a:r>
              <a:rPr lang="zh-CN" altLang="en-US" sz="2200" b="1" dirty="0">
                <a:solidFill>
                  <a:srgbClr val="0070C0"/>
                </a:solidFill>
              </a:rPr>
              <a:t>只包含</a:t>
            </a:r>
            <a:r>
              <a:rPr lang="zh-CN" altLang="en-US" sz="2200" b="1" dirty="0">
                <a:solidFill>
                  <a:schemeClr val="tx1"/>
                </a:solidFill>
              </a:rPr>
              <a:t>位置 </a:t>
            </a:r>
            <a:r>
              <a:rPr lang="en-US" altLang="zh-CN" sz="2200" b="1" i="1" dirty="0">
                <a:solidFill>
                  <a:schemeClr val="tx1"/>
                </a:solidFill>
              </a:rPr>
              <a:t>R</a:t>
            </a:r>
            <a:r>
              <a:rPr lang="en-US" altLang="zh-CN" sz="2200" b="1" i="1" baseline="-25000" dirty="0">
                <a:solidFill>
                  <a:schemeClr val="tx1"/>
                </a:solidFill>
              </a:rPr>
              <a:t>x</a:t>
            </a:r>
          </a:p>
          <a:p>
            <a:pPr lvl="2">
              <a:buClrTx/>
              <a:buFont typeface="Wingdings" pitchFamily="2" charset="2"/>
              <a:buChar char="Ø"/>
            </a:pPr>
            <a:r>
              <a:rPr lang="zh-CN" altLang="en-US" sz="2200" b="1" dirty="0">
                <a:solidFill>
                  <a:schemeClr val="tx1"/>
                </a:solidFill>
              </a:rPr>
              <a:t>从任何</a:t>
            </a:r>
            <a:r>
              <a:rPr lang="zh-CN" altLang="en-US" sz="2200" b="1" dirty="0">
                <a:solidFill>
                  <a:srgbClr val="0070C0"/>
                </a:solidFill>
              </a:rPr>
              <a:t>不同于</a:t>
            </a:r>
            <a:r>
              <a:rPr lang="en-US" altLang="zh-CN" sz="2200" b="1" i="1" dirty="0">
                <a:solidFill>
                  <a:srgbClr val="0070C0"/>
                </a:solidFill>
              </a:rPr>
              <a:t>x</a:t>
            </a:r>
            <a:r>
              <a:rPr lang="zh-CN" altLang="en-US" sz="2200" b="1" dirty="0">
                <a:solidFill>
                  <a:srgbClr val="0070C0"/>
                </a:solidFill>
              </a:rPr>
              <a:t>的地址描述符</a:t>
            </a:r>
            <a:r>
              <a:rPr lang="zh-CN" altLang="en-US" sz="2200" b="1" dirty="0">
                <a:solidFill>
                  <a:schemeClr val="tx1"/>
                </a:solidFill>
              </a:rPr>
              <a:t>中删除 </a:t>
            </a:r>
            <a:r>
              <a:rPr lang="en-US" altLang="zh-CN" sz="2200" b="1" i="1" dirty="0">
                <a:solidFill>
                  <a:schemeClr val="tx1"/>
                </a:solidFill>
              </a:rPr>
              <a:t>R</a:t>
            </a:r>
            <a:r>
              <a:rPr lang="en-US" altLang="zh-CN" sz="2200" b="1" i="1" baseline="-25000" dirty="0">
                <a:solidFill>
                  <a:schemeClr val="tx1"/>
                </a:solidFill>
              </a:rPr>
              <a:t>x</a:t>
            </a:r>
          </a:p>
          <a:p>
            <a:pPr lvl="2"/>
            <a:r>
              <a:rPr lang="zh-CN" altLang="en-US" sz="2200" b="1" dirty="0"/>
              <a:t>从任何</a:t>
            </a:r>
            <a:r>
              <a:rPr lang="zh-CN" altLang="en-US" sz="2200" b="1" dirty="0">
                <a:solidFill>
                  <a:srgbClr val="0070C0"/>
                </a:solidFill>
              </a:rPr>
              <a:t>不同于</a:t>
            </a:r>
            <a:r>
              <a:rPr lang="en-US" altLang="zh-CN" sz="2200" b="1" i="1" dirty="0">
                <a:solidFill>
                  <a:srgbClr val="0070C0"/>
                </a:solidFill>
              </a:rPr>
              <a:t>R</a:t>
            </a:r>
            <a:r>
              <a:rPr lang="en-US" altLang="zh-CN" sz="2200" b="1" i="1" baseline="-25000" dirty="0">
                <a:solidFill>
                  <a:srgbClr val="0070C0"/>
                </a:solidFill>
              </a:rPr>
              <a:t>x</a:t>
            </a:r>
            <a:r>
              <a:rPr lang="zh-CN" altLang="en-US" sz="2200" b="1" dirty="0">
                <a:solidFill>
                  <a:srgbClr val="0070C0"/>
                </a:solidFill>
              </a:rPr>
              <a:t>的寄存器描述符</a:t>
            </a:r>
            <a:r>
              <a:rPr lang="zh-CN" altLang="en-US" sz="2200" b="1" dirty="0"/>
              <a:t>中删除 </a:t>
            </a:r>
            <a:r>
              <a:rPr lang="en-US" altLang="zh-CN" sz="2200" b="1" i="1" dirty="0"/>
              <a:t>x</a:t>
            </a:r>
            <a:endParaRPr lang="en-US" altLang="zh-CN" sz="2200" b="1" i="1" baseline="-25000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管理寄存器和地址描述符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357159" y="714362"/>
            <a:ext cx="8535322" cy="1214446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271463" marR="0" lvl="0" indent="-271463" algn="l" defTabSz="914400" rtl="0" eaLnBrk="0" fontAlgn="base" latinLnBrk="0" hangingPunct="0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当代码生成算法生成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加载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保存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和其他指令时，它必须同时更新寄存器和地址描述符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4675" lvl="1" indent="-271463" eaLnBrk="0" hangingPunct="0">
              <a:lnSpc>
                <a:spcPts val="30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对于指令“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LD  R</a:t>
            </a:r>
            <a:r>
              <a:rPr lang="en-US" altLang="zh-CN" sz="2400" b="1" dirty="0">
                <a:latin typeface="Times New Roman" panose="02020603050405020304" pitchFamily="18" charset="0"/>
              </a:rPr>
              <a:t> 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8603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8787" y="2428874"/>
            <a:ext cx="8328014" cy="2231108"/>
          </a:xfrm>
        </p:spPr>
        <p:txBody>
          <a:bodyPr/>
          <a:lstStyle/>
          <a:p>
            <a:pPr lvl="1">
              <a:buClrTx/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</a:rPr>
              <a:t>对于指令“</a:t>
            </a:r>
            <a:r>
              <a:rPr lang="en-US" altLang="zh-CN" sz="2400" b="1" i="1" dirty="0">
                <a:solidFill>
                  <a:schemeClr val="tx1"/>
                </a:solidFill>
              </a:rPr>
              <a:t>ST   x </a:t>
            </a:r>
            <a:r>
              <a:rPr lang="en-US" altLang="zh-CN" sz="2400" b="1" dirty="0">
                <a:solidFill>
                  <a:schemeClr val="tx1"/>
                </a:solidFill>
              </a:rPr>
              <a:t>, </a:t>
            </a:r>
            <a:r>
              <a:rPr lang="en-US" altLang="zh-CN" sz="2400" b="1" i="1" dirty="0">
                <a:solidFill>
                  <a:schemeClr val="tx1"/>
                </a:solidFill>
              </a:rPr>
              <a:t>R</a:t>
            </a:r>
            <a:r>
              <a:rPr lang="zh-CN" altLang="en-US" sz="2400" b="1" dirty="0">
                <a:solidFill>
                  <a:schemeClr val="tx1"/>
                </a:solidFill>
              </a:rPr>
              <a:t>”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lvl="2">
              <a:buClrTx/>
              <a:buFont typeface="Wingdings" pitchFamily="2" charset="2"/>
              <a:buChar char="Ø"/>
            </a:pPr>
            <a:r>
              <a:rPr lang="zh-CN" altLang="en-US" sz="2200" b="1" dirty="0">
                <a:solidFill>
                  <a:schemeClr val="tx1"/>
                </a:solidFill>
              </a:rPr>
              <a:t>修改</a:t>
            </a:r>
            <a:r>
              <a:rPr lang="en-US" altLang="zh-CN" sz="2200" b="1" i="1" dirty="0">
                <a:solidFill>
                  <a:srgbClr val="0070C0"/>
                </a:solidFill>
              </a:rPr>
              <a:t>x</a:t>
            </a:r>
            <a:r>
              <a:rPr lang="zh-CN" altLang="en-US" sz="2200" b="1" dirty="0">
                <a:solidFill>
                  <a:srgbClr val="0070C0"/>
                </a:solidFill>
              </a:rPr>
              <a:t>的地址描述符</a:t>
            </a:r>
            <a:r>
              <a:rPr lang="zh-CN" altLang="en-US" sz="2200" b="1" dirty="0">
                <a:solidFill>
                  <a:schemeClr val="tx1"/>
                </a:solidFill>
              </a:rPr>
              <a:t>，使之包含自己的内存位置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管理寄存器和地址描述符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357158" y="2000246"/>
            <a:ext cx="8129613" cy="3225800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574675" marR="0" lvl="1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对于指令“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OP  R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x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</a:t>
            </a:r>
            <a:r>
              <a:rPr kumimoji="0" lang="en-US" altLang="zh-CN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y</a:t>
            </a:r>
            <a:r>
              <a:rPr kumimoji="0" lang="en-US" altLang="zh-CN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</a:t>
            </a:r>
            <a:r>
              <a:rPr kumimoji="0" lang="en-US" altLang="zh-CN" sz="24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z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”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357159" y="714362"/>
            <a:ext cx="8607330" cy="3225800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271463" marR="0" lvl="0" indent="-271463" algn="l" defTabSz="914400" rtl="0" eaLnBrk="0" fontAlgn="base" latinLnBrk="0" hangingPunct="0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当代码生成算法生成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加载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保存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和其他指令时，它必须同时更新寄存器和地址描述符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4675" lvl="1" indent="-271463" eaLnBrk="0" hangingPunct="0">
              <a:lnSpc>
                <a:spcPts val="30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对于指令“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LD  R</a:t>
            </a:r>
            <a:r>
              <a:rPr lang="en-US" altLang="zh-CN" sz="2400" b="1" dirty="0">
                <a:latin typeface="Times New Roman" panose="02020603050405020304" pitchFamily="18" charset="0"/>
              </a:rPr>
              <a:t> 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”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394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2846412"/>
            <a:ext cx="8642337" cy="2173610"/>
          </a:xfrm>
        </p:spPr>
        <p:txBody>
          <a:bodyPr/>
          <a:lstStyle/>
          <a:p>
            <a:pPr lvl="1">
              <a:buClrTx/>
              <a:buFont typeface="Wingdings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</a:rPr>
              <a:t>对于复制语句</a:t>
            </a:r>
            <a:r>
              <a:rPr lang="en-US" altLang="zh-CN" sz="2400" b="1" i="1" dirty="0">
                <a:solidFill>
                  <a:schemeClr val="tx1"/>
                </a:solidFill>
              </a:rPr>
              <a:t>x=y</a:t>
            </a:r>
            <a:r>
              <a:rPr lang="zh-CN" altLang="en-US" sz="2400" b="1" dirty="0">
                <a:solidFill>
                  <a:schemeClr val="tx1"/>
                </a:solidFill>
              </a:rPr>
              <a:t>，如果需要生成加载指令</a:t>
            </a:r>
            <a:r>
              <a:rPr lang="en-US" altLang="zh-CN" sz="2400" b="1" dirty="0">
                <a:solidFill>
                  <a:schemeClr val="tx1"/>
                </a:solidFill>
              </a:rPr>
              <a:t>“</a:t>
            </a:r>
            <a:r>
              <a:rPr lang="en-US" altLang="zh-CN" sz="2400" b="1" i="1" dirty="0">
                <a:solidFill>
                  <a:schemeClr val="tx1"/>
                </a:solidFill>
              </a:rPr>
              <a:t>LD </a:t>
            </a:r>
            <a:r>
              <a:rPr lang="en-US" altLang="zh-CN" sz="2400" b="1" i="1" dirty="0" err="1">
                <a:solidFill>
                  <a:schemeClr val="tx1"/>
                </a:solidFill>
              </a:rPr>
              <a:t>R</a:t>
            </a:r>
            <a:r>
              <a:rPr lang="en-US" altLang="zh-CN" sz="1800" b="1" i="1" baseline="-25000" dirty="0" err="1">
                <a:solidFill>
                  <a:schemeClr val="tx1"/>
                </a:solidFill>
              </a:rPr>
              <a:t>y</a:t>
            </a:r>
            <a:r>
              <a:rPr lang="en-US" altLang="zh-CN" sz="2400" b="1" i="1" baseline="-25000" dirty="0">
                <a:solidFill>
                  <a:schemeClr val="tx1"/>
                </a:solidFill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</a:rPr>
              <a:t>, </a:t>
            </a:r>
            <a:r>
              <a:rPr lang="en-US" altLang="zh-CN" sz="2400" b="1" i="1" dirty="0">
                <a:solidFill>
                  <a:schemeClr val="tx1"/>
                </a:solidFill>
              </a:rPr>
              <a:t> y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itchFamily="18" charset="0"/>
              </a:rPr>
              <a:t>′ </a:t>
            </a:r>
            <a:r>
              <a:rPr lang="en-US" altLang="zh-CN" sz="2400" b="1" dirty="0">
                <a:solidFill>
                  <a:schemeClr val="tx1"/>
                </a:solidFill>
              </a:rPr>
              <a:t>”</a:t>
            </a:r>
            <a:r>
              <a:rPr lang="zh-CN" altLang="en-US" sz="2400" b="1" dirty="0">
                <a:solidFill>
                  <a:schemeClr val="tx1"/>
                </a:solidFill>
              </a:rPr>
              <a:t>则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lvl="2">
              <a:spcBef>
                <a:spcPts val="0"/>
              </a:spcBef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 修改 </a:t>
            </a:r>
            <a:r>
              <a:rPr lang="en-US" altLang="zh-CN" b="1" i="1" dirty="0" err="1">
                <a:solidFill>
                  <a:schemeClr val="tx1"/>
                </a:solidFill>
              </a:rPr>
              <a:t>R</a:t>
            </a:r>
            <a:r>
              <a:rPr lang="en-US" altLang="zh-CN" sz="1800" b="1" i="1" baseline="-25000" dirty="0" err="1">
                <a:solidFill>
                  <a:schemeClr val="tx1"/>
                </a:solidFill>
              </a:rPr>
              <a:t>y</a:t>
            </a:r>
            <a:r>
              <a:rPr lang="zh-CN" altLang="en-US" b="1" dirty="0">
                <a:solidFill>
                  <a:schemeClr val="tx1"/>
                </a:solidFill>
              </a:rPr>
              <a:t>的寄存器描述符，使之</a:t>
            </a:r>
            <a:r>
              <a:rPr lang="zh-CN" altLang="en-US" b="1" dirty="0"/>
              <a:t>只包含 </a:t>
            </a:r>
            <a:r>
              <a:rPr lang="en-US" altLang="zh-CN" b="1" i="1" dirty="0">
                <a:solidFill>
                  <a:schemeClr val="tx1"/>
                </a:solidFill>
              </a:rPr>
              <a:t>y</a:t>
            </a:r>
          </a:p>
          <a:p>
            <a:pPr lvl="2">
              <a:spcBef>
                <a:spcPts val="0"/>
              </a:spcBef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 修改 </a:t>
            </a:r>
            <a:r>
              <a:rPr lang="en-US" altLang="zh-CN" b="1" i="1" dirty="0">
                <a:solidFill>
                  <a:schemeClr val="tx1"/>
                </a:solidFill>
              </a:rPr>
              <a:t>y</a:t>
            </a:r>
            <a:r>
              <a:rPr lang="zh-CN" altLang="en-US" b="1" dirty="0">
                <a:solidFill>
                  <a:schemeClr val="tx1"/>
                </a:solidFill>
              </a:rPr>
              <a:t>的地址描述符，把</a:t>
            </a:r>
            <a:r>
              <a:rPr lang="en-US" altLang="zh-CN" b="1" i="1" dirty="0">
                <a:solidFill>
                  <a:schemeClr val="tx1"/>
                </a:solidFill>
              </a:rPr>
              <a:t>R</a:t>
            </a:r>
            <a:r>
              <a:rPr lang="en-US" altLang="zh-CN" sz="1600" b="1" i="1" baseline="-25000" dirty="0">
                <a:solidFill>
                  <a:schemeClr val="tx1"/>
                </a:solidFill>
              </a:rPr>
              <a:t>y</a:t>
            </a:r>
            <a:r>
              <a:rPr lang="zh-CN" altLang="en-US" b="1" dirty="0">
                <a:solidFill>
                  <a:schemeClr val="tx1"/>
                </a:solidFill>
              </a:rPr>
              <a:t>作为新增位置加入到 </a:t>
            </a:r>
            <a:r>
              <a:rPr lang="en-US" altLang="zh-CN" b="1" i="1" dirty="0">
                <a:solidFill>
                  <a:schemeClr val="tx1"/>
                </a:solidFill>
              </a:rPr>
              <a:t>y</a:t>
            </a:r>
            <a:r>
              <a:rPr lang="zh-CN" altLang="en-US" b="1" dirty="0">
                <a:solidFill>
                  <a:schemeClr val="tx1"/>
                </a:solidFill>
              </a:rPr>
              <a:t>的位置集合中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2">
              <a:spcBef>
                <a:spcPts val="0"/>
              </a:spcBef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 从任何不同于</a:t>
            </a:r>
            <a:r>
              <a:rPr lang="en-US" altLang="zh-CN" b="1" i="1" dirty="0">
                <a:solidFill>
                  <a:schemeClr val="tx1"/>
                </a:solidFill>
              </a:rPr>
              <a:t>y</a:t>
            </a:r>
            <a:r>
              <a:rPr lang="zh-CN" altLang="en-US" b="1" dirty="0">
                <a:solidFill>
                  <a:schemeClr val="tx1"/>
                </a:solidFill>
              </a:rPr>
              <a:t>的变量的地址描述符中删除</a:t>
            </a:r>
            <a:r>
              <a:rPr lang="en-US" altLang="zh-CN" b="1" i="1" dirty="0">
                <a:solidFill>
                  <a:schemeClr val="tx1"/>
                </a:solidFill>
              </a:rPr>
              <a:t>R</a:t>
            </a:r>
            <a:r>
              <a:rPr lang="en-US" altLang="zh-CN" sz="1600" b="1" i="1" baseline="-25000" dirty="0">
                <a:solidFill>
                  <a:schemeClr val="tx1"/>
                </a:solidFill>
              </a:rPr>
              <a:t>y</a:t>
            </a:r>
          </a:p>
          <a:p>
            <a:pPr lvl="2">
              <a:spcBef>
                <a:spcPts val="0"/>
              </a:spcBef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</a:rPr>
              <a:t> 修改 </a:t>
            </a:r>
            <a:r>
              <a:rPr lang="en-US" altLang="zh-CN" b="1" i="1" dirty="0" err="1">
                <a:solidFill>
                  <a:srgbClr val="FF0000"/>
                </a:solidFill>
              </a:rPr>
              <a:t>R</a:t>
            </a:r>
            <a:r>
              <a:rPr lang="en-US" altLang="zh-CN" sz="1600" b="1" i="1" baseline="-25000" dirty="0" err="1">
                <a:solidFill>
                  <a:srgbClr val="FF0000"/>
                </a:solidFill>
              </a:rPr>
              <a:t>y</a:t>
            </a:r>
            <a:r>
              <a:rPr lang="zh-CN" altLang="en-US" b="1" dirty="0">
                <a:solidFill>
                  <a:srgbClr val="FF0000"/>
                </a:solidFill>
              </a:rPr>
              <a:t>的寄存器描述符，使之也包含</a:t>
            </a:r>
            <a:r>
              <a:rPr lang="en-US" altLang="zh-CN" b="1" i="1" dirty="0">
                <a:solidFill>
                  <a:srgbClr val="FF0000"/>
                </a:solidFill>
              </a:rPr>
              <a:t>x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>
              <a:spcBef>
                <a:spcPts val="0"/>
              </a:spcBef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FF0000"/>
                </a:solidFill>
              </a:rPr>
              <a:t> 修改 </a:t>
            </a:r>
            <a:r>
              <a:rPr lang="en-US" altLang="zh-CN" b="1" i="1" dirty="0">
                <a:solidFill>
                  <a:srgbClr val="FF0000"/>
                </a:solidFill>
              </a:rPr>
              <a:t>x</a:t>
            </a:r>
            <a:r>
              <a:rPr lang="zh-CN" altLang="en-US" b="1" dirty="0">
                <a:solidFill>
                  <a:srgbClr val="FF0000"/>
                </a:solidFill>
              </a:rPr>
              <a:t>的地址描述符，使之</a:t>
            </a:r>
            <a:r>
              <a:rPr lang="zh-CN" altLang="en-US" b="1" u="sng" dirty="0">
                <a:solidFill>
                  <a:srgbClr val="FF0000"/>
                </a:solidFill>
              </a:rPr>
              <a:t>只包含 </a:t>
            </a:r>
            <a:r>
              <a:rPr lang="en-US" altLang="zh-CN" b="1" i="1" dirty="0">
                <a:solidFill>
                  <a:srgbClr val="FF0000"/>
                </a:solidFill>
              </a:rPr>
              <a:t>R</a:t>
            </a:r>
            <a:r>
              <a:rPr lang="en-US" altLang="zh-CN" sz="1600" b="1" i="1" baseline="-25000" dirty="0">
                <a:solidFill>
                  <a:srgbClr val="FF0000"/>
                </a:solidFill>
              </a:rPr>
              <a:t>y</a:t>
            </a:r>
          </a:p>
          <a:p>
            <a:pPr lvl="2"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在任何不同于</a:t>
            </a:r>
            <a:r>
              <a:rPr lang="en-US" altLang="zh-CN" b="1" i="1" dirty="0">
                <a:solidFill>
                  <a:srgbClr val="FF0000"/>
                </a:solidFill>
              </a:rPr>
              <a:t>R</a:t>
            </a:r>
            <a:r>
              <a:rPr lang="en-US" altLang="zh-CN" sz="1400" b="1" i="1" baseline="-25000" dirty="0">
                <a:solidFill>
                  <a:srgbClr val="FF0000"/>
                </a:solidFill>
              </a:rPr>
              <a:t>y</a:t>
            </a:r>
            <a:r>
              <a:rPr lang="zh-CN" altLang="en-US" b="1" dirty="0">
                <a:solidFill>
                  <a:srgbClr val="FF0000"/>
                </a:solidFill>
              </a:rPr>
              <a:t>的寄存器描述符中删除</a:t>
            </a:r>
            <a:r>
              <a:rPr lang="en-US" altLang="zh-CN" b="1" i="1" dirty="0">
                <a:solidFill>
                  <a:srgbClr val="FF0000"/>
                </a:solidFill>
              </a:rPr>
              <a:t>x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管理寄存器和地址描述符</a:t>
            </a: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358787" y="2428874"/>
            <a:ext cx="7213609" cy="428628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574675" lvl="1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对于指令“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ST   x</a:t>
            </a:r>
            <a:r>
              <a:rPr lang="en-US" altLang="zh-CN" sz="2400" b="1" dirty="0">
                <a:latin typeface="Times New Roman" panose="02020603050405020304" pitchFamily="18" charset="0"/>
              </a:rPr>
              <a:t> 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”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357158" y="2000246"/>
            <a:ext cx="8129613" cy="3225800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574675" marR="0" lvl="1" indent="-2714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对于指令“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OP  R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x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</a:t>
            </a:r>
            <a:r>
              <a:rPr kumimoji="0" lang="en-US" altLang="zh-CN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y</a:t>
            </a:r>
            <a:r>
              <a:rPr kumimoji="0" lang="en-US" altLang="zh-CN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</a:t>
            </a:r>
            <a:r>
              <a:rPr kumimoji="0" lang="en-US" altLang="zh-CN" sz="2400" b="1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z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”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357159" y="714362"/>
            <a:ext cx="8535322" cy="3225800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271463" marR="0" lvl="0" indent="-271463" algn="l" defTabSz="914400" rtl="0" eaLnBrk="0" fontAlgn="base" latinLnBrk="0" hangingPunct="0">
              <a:lnSpc>
                <a:spcPts val="3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当代码生成算法生成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加载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保存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和其他指令时，它必须同时更新寄存器和地址描述符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74675" lvl="1" indent="-271463" eaLnBrk="0" hangingPunct="0">
              <a:lnSpc>
                <a:spcPts val="30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对于指令“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LD  R</a:t>
            </a:r>
            <a:r>
              <a:rPr lang="en-US" altLang="zh-CN" sz="2400" b="1" dirty="0">
                <a:latin typeface="Times New Roman" panose="02020603050405020304" pitchFamily="18" charset="0"/>
              </a:rPr>
              <a:t> ,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itchFamily="18" charset="0"/>
              </a:rPr>
              <a:t>x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”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D9DC192-E209-4F64-847A-C0B54F5E1409}"/>
              </a:ext>
            </a:extLst>
          </p:cNvPr>
          <p:cNvGrpSpPr/>
          <p:nvPr/>
        </p:nvGrpSpPr>
        <p:grpSpPr>
          <a:xfrm>
            <a:off x="5868144" y="4299942"/>
            <a:ext cx="2232249" cy="726936"/>
            <a:chOff x="5868144" y="4299942"/>
            <a:chExt cx="2232249" cy="726936"/>
          </a:xfrm>
        </p:grpSpPr>
        <p:sp>
          <p:nvSpPr>
            <p:cNvPr id="2" name="右大括号 1">
              <a:extLst>
                <a:ext uri="{FF2B5EF4-FFF2-40B4-BE49-F238E27FC236}">
                  <a16:creationId xmlns:a16="http://schemas.microsoft.com/office/drawing/2014/main" id="{CAA4B7EE-B50D-457D-A3DD-54E97980BAFC}"/>
                </a:ext>
              </a:extLst>
            </p:cNvPr>
            <p:cNvSpPr/>
            <p:nvPr/>
          </p:nvSpPr>
          <p:spPr>
            <a:xfrm>
              <a:off x="5868144" y="4299942"/>
              <a:ext cx="144016" cy="720080"/>
            </a:xfrm>
            <a:prstGeom prst="rightBrac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2E6E601-5A2D-441B-AB9F-2FB2629AFCEA}"/>
                </a:ext>
              </a:extLst>
            </p:cNvPr>
            <p:cNvSpPr/>
            <p:nvPr/>
          </p:nvSpPr>
          <p:spPr>
            <a:xfrm>
              <a:off x="5940153" y="4318992"/>
              <a:ext cx="216024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如果 </a:t>
              </a:r>
              <a:r>
                <a: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已经在</a:t>
              </a:r>
              <a:r>
                <a: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</a:t>
              </a:r>
              <a:r>
                <a:rPr lang="en-US" altLang="zh-CN" sz="1600" b="1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000" b="1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中</a:t>
              </a:r>
              <a:endPara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只做这三步</a:t>
              </a:r>
              <a:endPara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989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endParaRPr lang="zh-C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146725"/>
              </p:ext>
            </p:extLst>
          </p:nvPr>
        </p:nvGraphicFramePr>
        <p:xfrm>
          <a:off x="336490" y="4227934"/>
          <a:ext cx="2582817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938960"/>
              </p:ext>
            </p:extLst>
          </p:nvPr>
        </p:nvGraphicFramePr>
        <p:xfrm>
          <a:off x="3078196" y="4227934"/>
          <a:ext cx="6026573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矩形 21"/>
          <p:cNvSpPr/>
          <p:nvPr/>
        </p:nvSpPr>
        <p:spPr>
          <a:xfrm>
            <a:off x="323528" y="3766269"/>
            <a:ext cx="84969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      R3         a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275856" y="4288326"/>
            <a:ext cx="697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endParaRPr lang="zh-CN" altLang="en-US" sz="24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94528" y="4253537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462570" y="4254079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523666" y="4288324"/>
            <a:ext cx="561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4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572595" y="771550"/>
            <a:ext cx="3998809" cy="1200329"/>
            <a:chOff x="2065799" y="2758123"/>
            <a:chExt cx="3293979" cy="1200329"/>
          </a:xfrm>
        </p:grpSpPr>
        <p:sp>
          <p:nvSpPr>
            <p:cNvPr id="45" name="矩形 44"/>
            <p:cNvSpPr/>
            <p:nvPr/>
          </p:nvSpPr>
          <p:spPr>
            <a:xfrm>
              <a:off x="3263140" y="2758123"/>
              <a:ext cx="2096638" cy="120032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pt-BR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LD   R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pt-BR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pt-BR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  <a:p>
              <a:r>
                <a:rPr lang="pt-BR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LD   R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pt-BR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</a:t>
              </a:r>
            </a:p>
            <a:p>
              <a:r>
                <a:rPr lang="pt-BR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 R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, </a:t>
              </a:r>
              <a:r>
                <a:rPr lang="pt-BR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pt-BR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pt-BR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6" name="直接箭头连接符 45"/>
            <p:cNvCxnSpPr/>
            <p:nvPr/>
          </p:nvCxnSpPr>
          <p:spPr>
            <a:xfrm>
              <a:off x="2065799" y="3334187"/>
              <a:ext cx="1128373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矩形 46"/>
          <p:cNvSpPr/>
          <p:nvPr/>
        </p:nvSpPr>
        <p:spPr>
          <a:xfrm>
            <a:off x="3095627" y="4260225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3942412" y="4288325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823998" y="4288324"/>
            <a:ext cx="397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656199" y="4302721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139952" y="4293893"/>
            <a:ext cx="697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400" b="1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187624" y="4227935"/>
            <a:ext cx="871338" cy="576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24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18366" y="1105163"/>
            <a:ext cx="2159784" cy="223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 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</a:t>
            </a: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b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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c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t + u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 + u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C5D593-602C-4B69-9B98-B2BE8B5C1AE2}"/>
              </a:ext>
            </a:extLst>
          </p:cNvPr>
          <p:cNvSpPr txBox="1"/>
          <p:nvPr/>
        </p:nvSpPr>
        <p:spPr>
          <a:xfrm>
            <a:off x="7023922" y="2472128"/>
            <a:ext cx="189813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假设寄存器分配：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R1</a:t>
            </a:r>
          </a:p>
          <a:p>
            <a:pPr algn="ctr"/>
            <a:r>
              <a:rPr lang="en-US" altLang="zh-CN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R2</a:t>
            </a:r>
          </a:p>
          <a:p>
            <a:pPr algn="ctr"/>
            <a:r>
              <a:rPr lang="en-US" altLang="zh-CN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R2</a:t>
            </a:r>
            <a:endParaRPr lang="zh-CN" altLang="en-US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0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7" grpId="0"/>
      <p:bldP spid="41" grpId="0"/>
      <p:bldP spid="47" grpId="0"/>
      <p:bldP spid="48" grpId="0"/>
      <p:bldP spid="49" grpId="0"/>
      <p:bldP spid="50" grpId="0"/>
      <p:bldP spid="52" grpId="0"/>
      <p:bldP spid="52" grpId="1"/>
      <p:bldP spid="54" grpId="0" animBg="1"/>
      <p:bldP spid="2" grpId="0" animBg="1"/>
      <p:bldP spid="2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262848"/>
              </p:ext>
            </p:extLst>
          </p:nvPr>
        </p:nvGraphicFramePr>
        <p:xfrm>
          <a:off x="336490" y="4227934"/>
          <a:ext cx="2582817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112612"/>
              </p:ext>
            </p:extLst>
          </p:nvPr>
        </p:nvGraphicFramePr>
        <p:xfrm>
          <a:off x="3078196" y="4227934"/>
          <a:ext cx="6026573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矩形 30"/>
          <p:cNvSpPr/>
          <p:nvPr/>
        </p:nvSpPr>
        <p:spPr>
          <a:xfrm>
            <a:off x="3275856" y="4288326"/>
            <a:ext cx="697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94528" y="4253537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462570" y="4254079"/>
            <a:ext cx="356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523666" y="4288324"/>
            <a:ext cx="561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095627" y="4260225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942412" y="4288325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823998" y="4288324"/>
            <a:ext cx="397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656199" y="4302721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171993" y="4227935"/>
            <a:ext cx="889252" cy="5760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358505" y="1365904"/>
            <a:ext cx="3822658" cy="830997"/>
            <a:chOff x="2065799" y="3334187"/>
            <a:chExt cx="3148876" cy="830997"/>
          </a:xfrm>
        </p:grpSpPr>
        <p:sp>
          <p:nvSpPr>
            <p:cNvPr id="21" name="矩形 20"/>
            <p:cNvSpPr/>
            <p:nvPr/>
          </p:nvSpPr>
          <p:spPr>
            <a:xfrm>
              <a:off x="3118037" y="3334187"/>
              <a:ext cx="2096638" cy="83099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LD   R</a:t>
              </a:r>
              <a:r>
                <a:rPr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</a:t>
              </a:r>
            </a:p>
            <a:p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SUB R</a:t>
              </a:r>
              <a:r>
                <a:rPr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R</a:t>
              </a:r>
              <a:r>
                <a:rPr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R</a:t>
              </a:r>
              <a:r>
                <a:rPr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>
              <a:off x="2065799" y="3766235"/>
              <a:ext cx="958160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/>
          <p:cNvSpPr/>
          <p:nvPr/>
        </p:nvSpPr>
        <p:spPr>
          <a:xfrm>
            <a:off x="4992235" y="4302721"/>
            <a:ext cx="6383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284294" y="4270325"/>
            <a:ext cx="3209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510626" y="4288324"/>
            <a:ext cx="561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23528" y="3766269"/>
            <a:ext cx="84969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      R3         a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标题 2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endParaRPr lang="zh-CN" altLang="en-US" sz="3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23528" y="4227934"/>
            <a:ext cx="845778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18366" y="1105163"/>
            <a:ext cx="215978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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b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 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</a:t>
            </a: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c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t + u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 + u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5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5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endParaRPr lang="zh-CN" altLang="en-US" sz="2500" b="1" i="1" kern="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BA1993C-C86F-4421-8ACF-E27466EC5C0C}"/>
              </a:ext>
            </a:extLst>
          </p:cNvPr>
          <p:cNvSpPr txBox="1"/>
          <p:nvPr/>
        </p:nvSpPr>
        <p:spPr>
          <a:xfrm>
            <a:off x="7023922" y="2472128"/>
            <a:ext cx="189813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假设寄存器分配：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R1</a:t>
            </a:r>
          </a:p>
          <a:p>
            <a:pPr algn="ctr"/>
            <a:r>
              <a:rPr lang="en-US" altLang="zh-CN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R3</a:t>
            </a:r>
          </a:p>
          <a:p>
            <a:pPr algn="ctr"/>
            <a:r>
              <a:rPr lang="en-US" altLang="zh-CN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R1</a:t>
            </a:r>
            <a:endParaRPr lang="zh-CN" altLang="en-US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477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23" grpId="0"/>
      <p:bldP spid="24" grpId="0"/>
      <p:bldP spid="27" grpId="0"/>
      <p:bldP spid="40" grpId="0" animBg="1"/>
      <p:bldP spid="26" grpId="0" animBg="1"/>
      <p:bldP spid="26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028424"/>
              </p:ext>
            </p:extLst>
          </p:nvPr>
        </p:nvGraphicFramePr>
        <p:xfrm>
          <a:off x="336490" y="4227934"/>
          <a:ext cx="2582817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110770"/>
              </p:ext>
            </p:extLst>
          </p:nvPr>
        </p:nvGraphicFramePr>
        <p:xfrm>
          <a:off x="3078196" y="4227934"/>
          <a:ext cx="6026573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矩形 31"/>
          <p:cNvSpPr/>
          <p:nvPr/>
        </p:nvSpPr>
        <p:spPr>
          <a:xfrm>
            <a:off x="594528" y="4253537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462570" y="4254079"/>
            <a:ext cx="356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523666" y="4288324"/>
            <a:ext cx="561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095627" y="4260225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942412" y="4288325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823998" y="4288324"/>
            <a:ext cx="397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656199" y="4302721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168915" y="4233014"/>
            <a:ext cx="890047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369717" y="1966069"/>
            <a:ext cx="4133118" cy="461665"/>
            <a:chOff x="2006483" y="3934352"/>
            <a:chExt cx="3404614" cy="461665"/>
          </a:xfrm>
        </p:grpSpPr>
        <p:sp>
          <p:nvSpPr>
            <p:cNvPr id="21" name="矩形 20"/>
            <p:cNvSpPr/>
            <p:nvPr/>
          </p:nvSpPr>
          <p:spPr>
            <a:xfrm>
              <a:off x="3168117" y="3934352"/>
              <a:ext cx="2242980" cy="46166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   R</a:t>
              </a:r>
              <a:r>
                <a:rPr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R</a:t>
              </a:r>
              <a:r>
                <a:rPr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>
              <a:off x="2006483" y="4165185"/>
              <a:ext cx="1102318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/>
          <p:cNvSpPr/>
          <p:nvPr/>
        </p:nvSpPr>
        <p:spPr>
          <a:xfrm>
            <a:off x="4992235" y="4302721"/>
            <a:ext cx="6383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284294" y="4270325"/>
            <a:ext cx="3209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23528" y="4227934"/>
            <a:ext cx="845778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510626" y="4288324"/>
            <a:ext cx="561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051719" y="4234321"/>
            <a:ext cx="857921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454412" y="4270325"/>
            <a:ext cx="561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23528" y="3766269"/>
            <a:ext cx="84969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      R3         a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标题 2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endParaRPr lang="zh-CN" altLang="en-US" sz="3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18366" y="1105163"/>
            <a:ext cx="215978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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b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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c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 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t + u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 + u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5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endParaRPr lang="zh-CN" altLang="en-US" sz="2500" b="1" i="1" kern="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69D3C74-8701-4FAD-AA1D-EF1C3D55A6F0}"/>
              </a:ext>
            </a:extLst>
          </p:cNvPr>
          <p:cNvSpPr txBox="1"/>
          <p:nvPr/>
        </p:nvSpPr>
        <p:spPr>
          <a:xfrm>
            <a:off x="7023922" y="2472128"/>
            <a:ext cx="189813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假设寄存器分配：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R2</a:t>
            </a:r>
          </a:p>
          <a:p>
            <a:pPr algn="ctr"/>
            <a:r>
              <a:rPr lang="en-US" altLang="zh-CN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R1</a:t>
            </a:r>
          </a:p>
          <a:p>
            <a:pPr algn="ctr"/>
            <a:r>
              <a:rPr lang="en-US" altLang="zh-CN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R3</a:t>
            </a:r>
            <a:endParaRPr lang="zh-CN" altLang="en-US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68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 animBg="1"/>
      <p:bldP spid="30" grpId="0"/>
      <p:bldP spid="29" grpId="0" animBg="1"/>
      <p:bldP spid="29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129577"/>
              </p:ext>
            </p:extLst>
          </p:nvPr>
        </p:nvGraphicFramePr>
        <p:xfrm>
          <a:off x="336490" y="4227934"/>
          <a:ext cx="2582817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016045"/>
              </p:ext>
            </p:extLst>
          </p:nvPr>
        </p:nvGraphicFramePr>
        <p:xfrm>
          <a:off x="3078196" y="4227934"/>
          <a:ext cx="6026573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矩形 31"/>
          <p:cNvSpPr/>
          <p:nvPr/>
        </p:nvSpPr>
        <p:spPr>
          <a:xfrm>
            <a:off x="594528" y="4253537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462570" y="4254079"/>
            <a:ext cx="356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523666" y="4288324"/>
            <a:ext cx="561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095627" y="4260225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968496" y="4288325"/>
            <a:ext cx="3894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823998" y="4288324"/>
            <a:ext cx="397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656199" y="4302721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187624" y="4234321"/>
            <a:ext cx="845778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033402" y="2470125"/>
            <a:ext cx="3644577" cy="461665"/>
            <a:chOff x="1974346" y="4384690"/>
            <a:chExt cx="3002184" cy="461665"/>
          </a:xfrm>
        </p:grpSpPr>
        <p:sp>
          <p:nvSpPr>
            <p:cNvPr id="21" name="矩形 20"/>
            <p:cNvSpPr/>
            <p:nvPr/>
          </p:nvSpPr>
          <p:spPr>
            <a:xfrm>
              <a:off x="3263141" y="4384690"/>
              <a:ext cx="1713389" cy="46166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LD   R</a:t>
              </a:r>
              <a:r>
                <a:rPr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</a:t>
              </a:r>
              <a:endParaRPr lang="zh-CN" altLang="en-US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>
              <a:off x="1974346" y="4597234"/>
              <a:ext cx="1217260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矩形 23"/>
          <p:cNvSpPr/>
          <p:nvPr/>
        </p:nvSpPr>
        <p:spPr>
          <a:xfrm>
            <a:off x="2284294" y="4270325"/>
            <a:ext cx="3209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23528" y="4227934"/>
            <a:ext cx="845778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510626" y="4288324"/>
            <a:ext cx="561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033235" y="4227934"/>
            <a:ext cx="886071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454412" y="4270325"/>
            <a:ext cx="561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176756" y="4227934"/>
            <a:ext cx="856479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818589" y="4274360"/>
            <a:ext cx="697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403648" y="4281939"/>
            <a:ext cx="509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30070" y="4272676"/>
            <a:ext cx="26161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323528" y="3766269"/>
            <a:ext cx="84969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      R3         a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标题 2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endParaRPr lang="zh-CN" altLang="en-US" sz="3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078150" y="4227933"/>
            <a:ext cx="864000" cy="57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18366" y="1105163"/>
            <a:ext cx="215978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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b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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c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t + u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 + u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5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5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endParaRPr lang="zh-CN" altLang="en-US" sz="2500" b="1" i="1" kern="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A1769A2-578C-430A-97FD-147234F5A54B}"/>
              </a:ext>
            </a:extLst>
          </p:cNvPr>
          <p:cNvSpPr txBox="1"/>
          <p:nvPr/>
        </p:nvSpPr>
        <p:spPr>
          <a:xfrm>
            <a:off x="7023922" y="2472128"/>
            <a:ext cx="189813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假设寄存器分配：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R2</a:t>
            </a:r>
          </a:p>
          <a:p>
            <a:pPr algn="ctr"/>
            <a:r>
              <a:rPr lang="en-US" altLang="zh-CN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R2</a:t>
            </a:r>
          </a:p>
        </p:txBody>
      </p:sp>
    </p:spTree>
    <p:extLst>
      <p:ext uri="{BB962C8B-B14F-4D97-AF65-F5344CB8AC3E}">
        <p14:creationId xmlns:p14="http://schemas.microsoft.com/office/powerpoint/2010/main" val="216208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1" grpId="0" animBg="1"/>
      <p:bldP spid="40" grpId="0"/>
      <p:bldP spid="41" grpId="0"/>
      <p:bldP spid="4" grpId="0"/>
      <p:bldP spid="47" grpId="0" animBg="1"/>
      <p:bldP spid="29" grpId="0" animBg="1"/>
      <p:bldP spid="29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962403"/>
              </p:ext>
            </p:extLst>
          </p:nvPr>
        </p:nvGraphicFramePr>
        <p:xfrm>
          <a:off x="336490" y="4227481"/>
          <a:ext cx="2582817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425447"/>
              </p:ext>
            </p:extLst>
          </p:nvPr>
        </p:nvGraphicFramePr>
        <p:xfrm>
          <a:off x="3078196" y="4227481"/>
          <a:ext cx="6026573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矩形 31"/>
          <p:cNvSpPr/>
          <p:nvPr/>
        </p:nvSpPr>
        <p:spPr>
          <a:xfrm>
            <a:off x="594528" y="4253084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095627" y="4259772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942412" y="4287872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823998" y="4287871"/>
            <a:ext cx="397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656199" y="4302268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419032" y="2830165"/>
            <a:ext cx="4155808" cy="461665"/>
            <a:chOff x="2106524" y="4768102"/>
            <a:chExt cx="3423306" cy="461665"/>
          </a:xfrm>
        </p:grpSpPr>
        <p:sp>
          <p:nvSpPr>
            <p:cNvPr id="21" name="矩形 20"/>
            <p:cNvSpPr/>
            <p:nvPr/>
          </p:nvSpPr>
          <p:spPr>
            <a:xfrm>
              <a:off x="3168220" y="4768102"/>
              <a:ext cx="2361610" cy="46166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   R</a:t>
              </a:r>
              <a:r>
                <a:rPr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R</a:t>
              </a:r>
              <a:r>
                <a:rPr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pt-BR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, 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>
              <a:off x="2106524" y="5062379"/>
              <a:ext cx="1002380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矩形 23"/>
          <p:cNvSpPr/>
          <p:nvPr/>
        </p:nvSpPr>
        <p:spPr>
          <a:xfrm>
            <a:off x="2284294" y="4269872"/>
            <a:ext cx="3209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23528" y="4227481"/>
            <a:ext cx="845778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510626" y="4287871"/>
            <a:ext cx="561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033403" y="4227481"/>
            <a:ext cx="876238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454412" y="4269872"/>
            <a:ext cx="561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883071" y="4273907"/>
            <a:ext cx="6383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078150" y="4227481"/>
            <a:ext cx="864000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23528" y="3765816"/>
            <a:ext cx="84969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      R3         a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标题 2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endParaRPr lang="zh-CN" altLang="en-US" sz="3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662818" y="4219716"/>
            <a:ext cx="864000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18378" y="4234321"/>
            <a:ext cx="845778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164157" y="4227481"/>
            <a:ext cx="869246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549508" y="4281486"/>
            <a:ext cx="5335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501682" y="4272223"/>
            <a:ext cx="261610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918366" y="1105163"/>
            <a:ext cx="215978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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b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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c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t + u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8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 + u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5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5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endParaRPr lang="zh-CN" altLang="en-US" sz="2500" b="1" i="1" kern="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F38EAC3-23BF-4F68-B85C-DAA73B5001F3}"/>
              </a:ext>
            </a:extLst>
          </p:cNvPr>
          <p:cNvSpPr txBox="1"/>
          <p:nvPr/>
        </p:nvSpPr>
        <p:spPr>
          <a:xfrm>
            <a:off x="7023922" y="2472128"/>
            <a:ext cx="189813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假设寄存器分配：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R3</a:t>
            </a:r>
          </a:p>
          <a:p>
            <a:pPr algn="ctr"/>
            <a:r>
              <a:rPr lang="en-US" altLang="zh-CN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R1</a:t>
            </a:r>
          </a:p>
          <a:p>
            <a:pPr algn="ctr"/>
            <a:r>
              <a:rPr lang="en-US" altLang="zh-CN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R1</a:t>
            </a:r>
            <a:endParaRPr lang="zh-CN" altLang="en-US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61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9" grpId="0" animBg="1"/>
      <p:bldP spid="47" grpId="0" animBg="1"/>
      <p:bldP spid="33" grpId="0" animBg="1"/>
      <p:bldP spid="43" grpId="0" animBg="1"/>
      <p:bldP spid="29" grpId="0" animBg="1"/>
      <p:bldP spid="29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192669"/>
              </p:ext>
            </p:extLst>
          </p:nvPr>
        </p:nvGraphicFramePr>
        <p:xfrm>
          <a:off x="305330" y="4227934"/>
          <a:ext cx="2582817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980362"/>
              </p:ext>
            </p:extLst>
          </p:nvPr>
        </p:nvGraphicFramePr>
        <p:xfrm>
          <a:off x="3078196" y="4227934"/>
          <a:ext cx="6026573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0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矩形 31"/>
          <p:cNvSpPr/>
          <p:nvPr/>
        </p:nvSpPr>
        <p:spPr>
          <a:xfrm>
            <a:off x="594528" y="4253537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18366" y="1105163"/>
            <a:ext cx="215978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t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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b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u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a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itchFamily="18" charset="2"/>
              </a:rPr>
              <a:t>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c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 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t + u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8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 + u</a:t>
            </a:r>
          </a:p>
          <a:p>
            <a:pPr marL="257175" indent="-257175" algn="just">
              <a:lnSpc>
                <a:spcPts val="2800"/>
              </a:lnSpc>
              <a:spcBef>
                <a:spcPct val="20000"/>
              </a:spcBef>
              <a:buClr>
                <a:srgbClr val="3333CC"/>
              </a:buClr>
              <a:buSzPct val="60000"/>
            </a:pPr>
            <a:r>
              <a:rPr lang="en-US" altLang="zh-CN" sz="2500" b="1" i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exit</a:t>
            </a:r>
            <a:r>
              <a:rPr lang="en-US" altLang="zh-CN" sz="25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5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endParaRPr lang="zh-CN" altLang="en-US" sz="2500" b="1" i="1" kern="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095627" y="4260225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942412" y="4288325"/>
            <a:ext cx="4154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823998" y="4288324"/>
            <a:ext cx="397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656199" y="4302721"/>
            <a:ext cx="4331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267201" y="1455480"/>
            <a:ext cx="3605564" cy="2088232"/>
            <a:chOff x="2006482" y="3334187"/>
            <a:chExt cx="2970048" cy="2088232"/>
          </a:xfrm>
        </p:grpSpPr>
        <p:sp>
          <p:nvSpPr>
            <p:cNvPr id="21" name="矩形 20"/>
            <p:cNvSpPr/>
            <p:nvPr/>
          </p:nvSpPr>
          <p:spPr>
            <a:xfrm>
              <a:off x="3263141" y="3334187"/>
              <a:ext cx="1713389" cy="83099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   a </a:t>
              </a:r>
              <a:r>
                <a:rPr lang="pt-BR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R</a:t>
              </a:r>
              <a:r>
                <a:rPr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pt-BR" altLang="zh-CN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   d </a:t>
              </a:r>
              <a:r>
                <a:rPr lang="pt-BR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pt-BR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R</a:t>
              </a:r>
              <a:r>
                <a:rPr lang="en-US" altLang="zh-CN" sz="2400" b="1" i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400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 flipV="1">
              <a:off x="2006482" y="3615833"/>
              <a:ext cx="1201544" cy="180658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矩形 23"/>
          <p:cNvSpPr/>
          <p:nvPr/>
        </p:nvSpPr>
        <p:spPr>
          <a:xfrm>
            <a:off x="2284294" y="4270325"/>
            <a:ext cx="3209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23528" y="4227934"/>
            <a:ext cx="845778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004217" y="4227934"/>
            <a:ext cx="928052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454412" y="4270325"/>
            <a:ext cx="561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883071" y="4274360"/>
            <a:ext cx="5870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,R</a:t>
            </a:r>
            <a:r>
              <a:rPr lang="pt-BR" altLang="zh-CN" sz="2400" b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400" b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078150" y="4227934"/>
            <a:ext cx="864000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05330" y="4227934"/>
            <a:ext cx="863976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660278" y="4227934"/>
            <a:ext cx="864000" cy="5696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436422" y="4269511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012160" y="4306245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23528" y="3766269"/>
            <a:ext cx="84969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      R3        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      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标题 2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假设在出口处</a:t>
            </a: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不活跃，</a:t>
            </a: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活跃</a:t>
            </a:r>
            <a:endParaRPr lang="zh-CN" altLang="en-US" sz="3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549508" y="4281939"/>
            <a:ext cx="5335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b="1" i="1" baseline="-25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95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寄存器选择函数</a:t>
            </a:r>
            <a:r>
              <a:rPr lang="en-US" altLang="zh-CN" sz="3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getReg</a:t>
            </a:r>
            <a:endParaRPr lang="zh-CN" altLang="en-US" sz="3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203848" y="555526"/>
            <a:ext cx="4320480" cy="4373678"/>
            <a:chOff x="2894726" y="555526"/>
            <a:chExt cx="4320480" cy="4373678"/>
          </a:xfrm>
        </p:grpSpPr>
        <p:sp>
          <p:nvSpPr>
            <p:cNvPr id="4" name="流程图: 决策 3"/>
            <p:cNvSpPr/>
            <p:nvPr/>
          </p:nvSpPr>
          <p:spPr>
            <a:xfrm>
              <a:off x="4190870" y="1032227"/>
              <a:ext cx="2952328" cy="584609"/>
            </a:xfrm>
            <a:prstGeom prst="flowChartDecisi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在某</a:t>
              </a:r>
              <a:r>
                <a:rPr lang="en-US" altLang="zh-CN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中？</a:t>
              </a:r>
              <a:endPara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763184" y="915566"/>
              <a:ext cx="34176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894726" y="1760852"/>
              <a:ext cx="697627" cy="40011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5875"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选之</a:t>
              </a:r>
            </a:p>
          </p:txBody>
        </p:sp>
        <p:cxnSp>
          <p:nvCxnSpPr>
            <p:cNvPr id="13" name="直接箭头连接符 12"/>
            <p:cNvCxnSpPr/>
            <p:nvPr/>
          </p:nvCxnSpPr>
          <p:spPr>
            <a:xfrm>
              <a:off x="5653332" y="1625374"/>
              <a:ext cx="0" cy="432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5586920" y="1544828"/>
              <a:ext cx="37061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CN" alt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流程图: 决策 14"/>
            <p:cNvSpPr/>
            <p:nvPr/>
          </p:nvSpPr>
          <p:spPr>
            <a:xfrm>
              <a:off x="4406894" y="2052382"/>
              <a:ext cx="2448272" cy="432048"/>
            </a:xfrm>
            <a:prstGeom prst="flowChartDecisi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有空</a:t>
              </a:r>
              <a:r>
                <a:rPr lang="en-US" altLang="zh-CN" sz="20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吗？</a:t>
              </a:r>
              <a:endPara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 flipH="1">
              <a:off x="3690455" y="2275614"/>
              <a:ext cx="73130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3760016" y="2290482"/>
              <a:ext cx="34176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箭头连接符 17"/>
            <p:cNvCxnSpPr/>
            <p:nvPr/>
          </p:nvCxnSpPr>
          <p:spPr>
            <a:xfrm>
              <a:off x="3701682" y="2279526"/>
              <a:ext cx="0" cy="36003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/>
            <p:cNvSpPr/>
            <p:nvPr/>
          </p:nvSpPr>
          <p:spPr>
            <a:xfrm>
              <a:off x="3326774" y="2658345"/>
              <a:ext cx="697627" cy="40011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5875"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选之</a:t>
              </a:r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5631030" y="2480933"/>
              <a:ext cx="0" cy="36003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5586920" y="2462066"/>
              <a:ext cx="37061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CN" alt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4090914" y="2840972"/>
              <a:ext cx="3124292" cy="13234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5875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计算每个候选 </a:t>
              </a:r>
              <a:r>
                <a:rPr lang="en-US" altLang="zh-CN" sz="20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</a:t>
              </a:r>
              <a:r>
                <a:rPr lang="zh-CN" altLang="en-US" sz="20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的“费用”（需要生成的保存指令的个数），选择费用最低的寄存器（或之一）</a:t>
              </a:r>
            </a:p>
          </p:txBody>
        </p:sp>
        <p:sp>
          <p:nvSpPr>
            <p:cNvPr id="23" name="流程图: 准备 22"/>
            <p:cNvSpPr/>
            <p:nvPr/>
          </p:nvSpPr>
          <p:spPr>
            <a:xfrm>
              <a:off x="4982958" y="555526"/>
              <a:ext cx="1296144" cy="273774"/>
            </a:xfrm>
            <a:prstGeom prst="flowChartPreparatio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</a:rPr>
                <a:t>开始</a:t>
              </a:r>
            </a:p>
          </p:txBody>
        </p:sp>
        <p:cxnSp>
          <p:nvCxnSpPr>
            <p:cNvPr id="24" name="直接箭头连接符 23"/>
            <p:cNvCxnSpPr/>
            <p:nvPr/>
          </p:nvCxnSpPr>
          <p:spPr>
            <a:xfrm>
              <a:off x="5631030" y="843558"/>
              <a:ext cx="0" cy="19570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3254766" y="1327293"/>
              <a:ext cx="93610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 flipH="1">
              <a:off x="3254766" y="1327293"/>
              <a:ext cx="0" cy="4335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流程图: 终止 28"/>
            <p:cNvSpPr/>
            <p:nvPr/>
          </p:nvSpPr>
          <p:spPr>
            <a:xfrm>
              <a:off x="5054966" y="4654209"/>
              <a:ext cx="1190599" cy="274995"/>
            </a:xfrm>
            <a:prstGeom prst="flowChartTerminator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tx1"/>
                  </a:solidFill>
                </a:rPr>
                <a:t>结束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直接箭头连接符 29"/>
            <p:cNvCxnSpPr/>
            <p:nvPr/>
          </p:nvCxnSpPr>
          <p:spPr>
            <a:xfrm flipH="1">
              <a:off x="5631030" y="4170569"/>
              <a:ext cx="0" cy="468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H="1" flipV="1">
              <a:off x="3734586" y="3071673"/>
              <a:ext cx="1783" cy="120945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 flipV="1">
              <a:off x="3737406" y="4281132"/>
              <a:ext cx="184951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V="1">
              <a:off x="3254767" y="2160962"/>
              <a:ext cx="0" cy="224951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/>
            <p:nvPr/>
          </p:nvCxnSpPr>
          <p:spPr>
            <a:xfrm flipV="1">
              <a:off x="3243616" y="4417376"/>
              <a:ext cx="235369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矩形 43"/>
          <p:cNvSpPr/>
          <p:nvPr/>
        </p:nvSpPr>
        <p:spPr>
          <a:xfrm>
            <a:off x="867006" y="1395705"/>
            <a:ext cx="1418978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 = y 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z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28596" y="2285998"/>
            <a:ext cx="2370242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spcBef>
                <a:spcPct val="3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寄存器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的选择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24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  <a:r>
              <a:rPr lang="en-US" altLang="zh-CN" sz="3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3000" spc="-3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en-US" sz="3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费用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zh-CN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流程图: 决策 3"/>
          <p:cNvSpPr/>
          <p:nvPr/>
        </p:nvSpPr>
        <p:spPr>
          <a:xfrm>
            <a:off x="1689939" y="1980345"/>
            <a:ext cx="5286837" cy="439067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000"/>
              </a:lnSpc>
            </a:pP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还保存在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之外某处吗？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1490524" y="2195419"/>
            <a:ext cx="21602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498994" y="2200994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4321202" y="2434364"/>
            <a:ext cx="0" cy="3600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277092" y="2434363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流程图: 决策 14"/>
          <p:cNvSpPr/>
          <p:nvPr/>
        </p:nvSpPr>
        <p:spPr>
          <a:xfrm>
            <a:off x="3529114" y="2794403"/>
            <a:ext cx="1563241" cy="36933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000"/>
              </a:lnSpc>
            </a:pP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3315095" y="2979069"/>
            <a:ext cx="21401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942476" y="2866411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3324241" y="2997429"/>
            <a:ext cx="0" cy="21787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5329314" y="2994823"/>
            <a:ext cx="0" cy="576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5099628" y="2646046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流程图: 准备 22"/>
          <p:cNvSpPr/>
          <p:nvPr/>
        </p:nvSpPr>
        <p:spPr>
          <a:xfrm>
            <a:off x="3673130" y="287816"/>
            <a:ext cx="1296144" cy="273774"/>
          </a:xfrm>
          <a:prstGeom prst="flowChartPreparatio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开始</a:t>
            </a: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4321202" y="575848"/>
            <a:ext cx="0" cy="19570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2905254" y="778179"/>
            <a:ext cx="2803973" cy="8617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5875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cost=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</a:p>
          <a:p>
            <a:pPr algn="ctr">
              <a:lnSpc>
                <a:spcPts val="2000"/>
              </a:lnSpc>
            </a:pP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n=R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中存放的变量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的个数</a:t>
            </a:r>
            <a:endParaRPr lang="en-US" altLang="zh-CN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ts val="2000"/>
              </a:lnSpc>
            </a:pPr>
            <a:r>
              <a:rPr lang="en-US" altLang="zh-CN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6" name="直接箭头连接符 25"/>
          <p:cNvCxnSpPr>
            <a:stCxn id="25" idx="2"/>
            <a:endCxn id="4" idx="0"/>
          </p:cNvCxnSpPr>
          <p:nvPr/>
        </p:nvCxnSpPr>
        <p:spPr>
          <a:xfrm>
            <a:off x="4307241" y="1639953"/>
            <a:ext cx="0" cy="3403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流程图: 决策 26"/>
          <p:cNvSpPr/>
          <p:nvPr/>
        </p:nvSpPr>
        <p:spPr>
          <a:xfrm>
            <a:off x="2575604" y="3229658"/>
            <a:ext cx="1507418" cy="36933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000"/>
              </a:lnSpc>
            </a:pP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2359580" y="3429006"/>
            <a:ext cx="21602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3971261" y="3236889"/>
            <a:ext cx="3257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28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4033170" y="3428967"/>
            <a:ext cx="129614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2066899" y="3443155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流程图: 决策 32"/>
          <p:cNvSpPr/>
          <p:nvPr/>
        </p:nvSpPr>
        <p:spPr>
          <a:xfrm>
            <a:off x="4229666" y="3593097"/>
            <a:ext cx="2221545" cy="724966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000"/>
              </a:lnSpc>
            </a:pP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1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在此后还使用吗？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H="1">
            <a:off x="4011662" y="3971719"/>
            <a:ext cx="21602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6315373" y="3523645"/>
            <a:ext cx="3257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28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 flipH="1">
            <a:off x="7533636" y="2715766"/>
            <a:ext cx="0" cy="2468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3663200" y="3775561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H="1">
            <a:off x="5113290" y="2989227"/>
            <a:ext cx="21602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7136921" y="2927438"/>
            <a:ext cx="819455" cy="3231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5875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cost+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7522587" y="3250603"/>
            <a:ext cx="0" cy="21787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流程图: 决策 45"/>
          <p:cNvSpPr/>
          <p:nvPr/>
        </p:nvSpPr>
        <p:spPr>
          <a:xfrm>
            <a:off x="6798513" y="3468474"/>
            <a:ext cx="1512168" cy="445755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i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==n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zh-CN" alt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554597" y="3826302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直接箭头连接符 48"/>
          <p:cNvCxnSpPr>
            <a:stCxn id="46" idx="2"/>
          </p:cNvCxnSpPr>
          <p:nvPr/>
        </p:nvCxnSpPr>
        <p:spPr>
          <a:xfrm flipH="1">
            <a:off x="7543815" y="3914229"/>
            <a:ext cx="0" cy="21401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6398971" y="3971719"/>
            <a:ext cx="21602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6614995" y="2715766"/>
            <a:ext cx="0" cy="12559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>
            <a:off x="6610526" y="2715766"/>
            <a:ext cx="92914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H="1">
            <a:off x="8316416" y="3712351"/>
            <a:ext cx="21602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>
            <a:off x="8555240" y="1777158"/>
            <a:ext cx="506" cy="5995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 flipH="1" flipV="1">
            <a:off x="4307240" y="1777159"/>
            <a:ext cx="4248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8172400" y="3363838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7016915" y="4146634"/>
            <a:ext cx="103105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5875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输出</a:t>
            </a:r>
            <a:r>
              <a:rPr lang="en-US" altLang="zh-CN" b="1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cost</a:t>
            </a:r>
            <a:endParaRPr lang="zh-CN" altLang="en-US" b="1" i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" name="流程图: 终止 66"/>
          <p:cNvSpPr/>
          <p:nvPr/>
        </p:nvSpPr>
        <p:spPr>
          <a:xfrm>
            <a:off x="6959298" y="4801027"/>
            <a:ext cx="1190599" cy="274995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结束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cxnSp>
        <p:nvCxnSpPr>
          <p:cNvPr id="68" name="直接箭头连接符 67"/>
          <p:cNvCxnSpPr>
            <a:stCxn id="66" idx="2"/>
          </p:cNvCxnSpPr>
          <p:nvPr/>
        </p:nvCxnSpPr>
        <p:spPr>
          <a:xfrm>
            <a:off x="7532441" y="4515966"/>
            <a:ext cx="2921" cy="2850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>
            <a:endCxn id="39" idx="3"/>
          </p:cNvCxnSpPr>
          <p:nvPr/>
        </p:nvCxnSpPr>
        <p:spPr>
          <a:xfrm flipV="1">
            <a:off x="3996260" y="3960227"/>
            <a:ext cx="0" cy="69975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V="1">
            <a:off x="2359522" y="3426554"/>
            <a:ext cx="58" cy="123342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>
            <a:off x="6716997" y="3355181"/>
            <a:ext cx="77988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 flipH="1" flipV="1">
            <a:off x="1498994" y="2210287"/>
            <a:ext cx="0" cy="244969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8308793" y="2376683"/>
            <a:ext cx="511679" cy="3231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5875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>
              <a:lnSpc>
                <a:spcPts val="1800"/>
              </a:lnSpc>
            </a:pPr>
            <a:r>
              <a:rPr lang="en-US" altLang="zh-CN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++</a:t>
            </a:r>
            <a:endParaRPr lang="zh-CN" altLang="en-US" b="1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 flipV="1">
            <a:off x="8532440" y="2699848"/>
            <a:ext cx="0" cy="102403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580079" y="957957"/>
            <a:ext cx="1418978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 = y 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z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40092" y="1552739"/>
            <a:ext cx="2370242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spcBef>
                <a:spcPct val="3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寄存器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的选择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64" name="直接连接符 63"/>
          <p:cNvCxnSpPr/>
          <p:nvPr/>
        </p:nvCxnSpPr>
        <p:spPr>
          <a:xfrm flipH="1">
            <a:off x="1484857" y="4659982"/>
            <a:ext cx="523214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 flipH="1" flipV="1">
            <a:off x="6716997" y="3355181"/>
            <a:ext cx="0" cy="130331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3607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10995" y="1059582"/>
            <a:ext cx="8375847" cy="3225800"/>
          </a:xfrm>
        </p:spPr>
        <p:txBody>
          <a:bodyPr/>
          <a:lstStyle/>
          <a:p>
            <a:pPr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选择方法与</a:t>
            </a:r>
            <a:r>
              <a:rPr lang="en-US" altLang="zh-CN" sz="2500" b="1" i="1" dirty="0">
                <a:solidFill>
                  <a:schemeClr val="tx1"/>
                </a:solidFill>
              </a:rPr>
              <a:t>R</a:t>
            </a:r>
            <a:r>
              <a:rPr lang="en-US" altLang="zh-CN" sz="2500" b="1" i="1" baseline="-25000" dirty="0">
                <a:solidFill>
                  <a:schemeClr val="tx1"/>
                </a:solidFill>
              </a:rPr>
              <a:t>y</a:t>
            </a:r>
            <a:r>
              <a:rPr lang="zh-CN" altLang="en-US" sz="2500" b="1" dirty="0">
                <a:solidFill>
                  <a:schemeClr val="tx1"/>
                </a:solidFill>
              </a:rPr>
              <a:t>类似，区别之处在于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因为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zh-CN" altLang="en-US" b="1" dirty="0">
                <a:solidFill>
                  <a:schemeClr val="tx1"/>
                </a:solidFill>
              </a:rPr>
              <a:t>的一个新值正在被计算，因此</a:t>
            </a:r>
            <a:r>
              <a:rPr lang="zh-CN" altLang="en-US" b="1" dirty="0">
                <a:solidFill>
                  <a:srgbClr val="0070C0"/>
                </a:solidFill>
              </a:rPr>
              <a:t>只存放了</a:t>
            </a:r>
            <a:r>
              <a:rPr lang="en-US" altLang="zh-CN" b="1" i="1" dirty="0">
                <a:solidFill>
                  <a:srgbClr val="0070C0"/>
                </a:solidFill>
              </a:rPr>
              <a:t>x</a:t>
            </a:r>
            <a:r>
              <a:rPr lang="zh-CN" altLang="en-US" b="1" dirty="0">
                <a:solidFill>
                  <a:srgbClr val="0070C0"/>
                </a:solidFill>
              </a:rPr>
              <a:t>的值</a:t>
            </a:r>
            <a:r>
              <a:rPr lang="zh-CN" altLang="en-US" b="1" dirty="0">
                <a:solidFill>
                  <a:schemeClr val="tx1"/>
                </a:solidFill>
              </a:rPr>
              <a:t>的寄存器对</a:t>
            </a:r>
            <a:r>
              <a:rPr lang="en-US" altLang="zh-CN" b="1" i="1" dirty="0">
                <a:solidFill>
                  <a:schemeClr val="tx1"/>
                </a:solidFill>
              </a:rPr>
              <a:t>R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x</a:t>
            </a:r>
            <a:r>
              <a:rPr lang="zh-CN" altLang="en-US" b="1" dirty="0">
                <a:solidFill>
                  <a:schemeClr val="tx1"/>
                </a:solidFill>
              </a:rPr>
              <a:t>来说总是可接受的，即使 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zh-CN" altLang="en-US" b="1" dirty="0">
                <a:solidFill>
                  <a:schemeClr val="tx1"/>
                </a:solidFill>
              </a:rPr>
              <a:t>就是 </a:t>
            </a:r>
            <a:r>
              <a:rPr lang="en-US" altLang="zh-CN" b="1" i="1" dirty="0">
                <a:solidFill>
                  <a:schemeClr val="tx1"/>
                </a:solidFill>
              </a:rPr>
              <a:t>y</a:t>
            </a:r>
            <a:r>
              <a:rPr lang="zh-CN" altLang="en-US" b="1" dirty="0">
                <a:solidFill>
                  <a:schemeClr val="tx1"/>
                </a:solidFill>
              </a:rPr>
              <a:t>或 </a:t>
            </a:r>
            <a:r>
              <a:rPr lang="en-US" altLang="zh-CN" b="1" i="1" dirty="0">
                <a:solidFill>
                  <a:schemeClr val="tx1"/>
                </a:solidFill>
              </a:rPr>
              <a:t>z</a:t>
            </a:r>
            <a:r>
              <a:rPr lang="zh-CN" altLang="en-US" b="1" dirty="0">
                <a:solidFill>
                  <a:schemeClr val="tx1"/>
                </a:solidFill>
              </a:rPr>
              <a:t>之一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zh-CN" altLang="en-US" b="1" dirty="0">
                <a:solidFill>
                  <a:schemeClr val="tx1"/>
                </a:solidFill>
              </a:rPr>
              <a:t>因为我们的机器指令允许一个指令中的两个寄存器相同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如果 </a:t>
            </a:r>
            <a:r>
              <a:rPr lang="en-US" altLang="zh-CN" b="1" i="1" dirty="0">
                <a:solidFill>
                  <a:schemeClr val="tx1"/>
                </a:solidFill>
              </a:rPr>
              <a:t>y</a:t>
            </a:r>
            <a:r>
              <a:rPr lang="zh-CN" altLang="en-US" b="1" dirty="0">
                <a:solidFill>
                  <a:schemeClr val="tx1"/>
                </a:solidFill>
              </a:rPr>
              <a:t>在指令</a:t>
            </a:r>
            <a:r>
              <a:rPr lang="en-US" altLang="zh-CN" b="1" i="1" dirty="0">
                <a:solidFill>
                  <a:schemeClr val="tx1"/>
                </a:solidFill>
              </a:rPr>
              <a:t>I</a:t>
            </a:r>
            <a:r>
              <a:rPr lang="zh-CN" altLang="en-US" b="1" dirty="0">
                <a:solidFill>
                  <a:schemeClr val="tx1"/>
                </a:solidFill>
              </a:rPr>
              <a:t>之后</a:t>
            </a:r>
            <a:r>
              <a:rPr lang="zh-CN" altLang="en-US" b="1" dirty="0">
                <a:solidFill>
                  <a:srgbClr val="0070C0"/>
                </a:solidFill>
              </a:rPr>
              <a:t>不再使用</a:t>
            </a:r>
            <a:r>
              <a:rPr lang="zh-CN" altLang="en-US" b="1" dirty="0">
                <a:solidFill>
                  <a:schemeClr val="tx1"/>
                </a:solidFill>
              </a:rPr>
              <a:t>，且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zh-CN" altLang="en-US" b="1" dirty="0">
                <a:solidFill>
                  <a:schemeClr val="tx1"/>
                </a:solidFill>
              </a:rPr>
              <a:t>在必要时加载 </a:t>
            </a:r>
            <a:r>
              <a:rPr lang="en-US" altLang="zh-CN" b="1" i="1" dirty="0">
                <a:solidFill>
                  <a:schemeClr val="tx1"/>
                </a:solidFill>
              </a:rPr>
              <a:t>y</a:t>
            </a:r>
            <a:r>
              <a:rPr lang="zh-CN" altLang="en-US" b="1" dirty="0">
                <a:solidFill>
                  <a:schemeClr val="tx1"/>
                </a:solidFill>
              </a:rPr>
              <a:t>之后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R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y</a:t>
            </a:r>
            <a:r>
              <a:rPr lang="zh-CN" altLang="en-US" b="1" dirty="0">
                <a:solidFill>
                  <a:srgbClr val="0070C0"/>
                </a:solidFill>
              </a:rPr>
              <a:t>仅仅保存了</a:t>
            </a:r>
            <a:r>
              <a:rPr lang="en-US" altLang="zh-CN" b="1" i="1" dirty="0">
                <a:solidFill>
                  <a:srgbClr val="0070C0"/>
                </a:solidFill>
              </a:rPr>
              <a:t>y</a:t>
            </a:r>
            <a:r>
              <a:rPr lang="zh-CN" altLang="en-US" b="1" dirty="0">
                <a:solidFill>
                  <a:srgbClr val="0070C0"/>
                </a:solidFill>
              </a:rPr>
              <a:t>的值</a:t>
            </a:r>
            <a:r>
              <a:rPr lang="zh-CN" altLang="en-US" b="1" dirty="0">
                <a:solidFill>
                  <a:schemeClr val="tx1"/>
                </a:solidFill>
              </a:rPr>
              <a:t>，那么，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R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y</a:t>
            </a:r>
            <a:r>
              <a:rPr lang="zh-CN" altLang="en-US" b="1" dirty="0">
                <a:solidFill>
                  <a:schemeClr val="tx1"/>
                </a:solidFill>
              </a:rPr>
              <a:t>同时也可以用作</a:t>
            </a:r>
            <a:r>
              <a:rPr lang="en-US" altLang="zh-CN" b="1" i="1" dirty="0">
                <a:solidFill>
                  <a:schemeClr val="tx1"/>
                </a:solidFill>
              </a:rPr>
              <a:t>R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x</a:t>
            </a:r>
            <a:r>
              <a:rPr lang="zh-CN" altLang="en-US" b="1" dirty="0">
                <a:solidFill>
                  <a:schemeClr val="tx1"/>
                </a:solidFill>
              </a:rPr>
              <a:t> 。对</a:t>
            </a:r>
            <a:r>
              <a:rPr lang="en-US" altLang="zh-CN" b="1" i="1" dirty="0">
                <a:solidFill>
                  <a:schemeClr val="tx1"/>
                </a:solidFill>
              </a:rPr>
              <a:t>z</a:t>
            </a:r>
            <a:r>
              <a:rPr lang="zh-CN" altLang="en-US" b="1" dirty="0">
                <a:solidFill>
                  <a:schemeClr val="tx1"/>
                </a:solidFill>
              </a:rPr>
              <a:t>和</a:t>
            </a:r>
            <a:r>
              <a:rPr lang="en-US" altLang="zh-CN" b="1" i="1" dirty="0" err="1">
                <a:solidFill>
                  <a:schemeClr val="tx1"/>
                </a:solidFill>
              </a:rPr>
              <a:t>R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z</a:t>
            </a:r>
            <a:r>
              <a:rPr lang="zh-CN" altLang="en-US" b="1" dirty="0">
                <a:solidFill>
                  <a:schemeClr val="tx1"/>
                </a:solidFill>
              </a:rPr>
              <a:t>也有类似选择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寄存器</a:t>
            </a:r>
            <a:r>
              <a:rPr lang="en-US" altLang="zh-CN" sz="3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30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的选择</a:t>
            </a:r>
          </a:p>
        </p:txBody>
      </p:sp>
      <p:sp>
        <p:nvSpPr>
          <p:cNvPr id="4" name="矩形 3"/>
          <p:cNvSpPr/>
          <p:nvPr/>
        </p:nvSpPr>
        <p:spPr>
          <a:xfrm>
            <a:off x="1395114" y="4367292"/>
            <a:ext cx="6534472" cy="4770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当</a:t>
            </a:r>
            <a:r>
              <a:rPr lang="en-US" altLang="zh-CN" sz="2500" b="1" i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I</a:t>
            </a:r>
            <a:r>
              <a:rPr lang="zh-CN" altLang="en-US" sz="25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是复制指令</a:t>
            </a:r>
            <a:r>
              <a:rPr lang="en-US" altLang="zh-CN" sz="2500" b="1" i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x=y</a:t>
            </a:r>
            <a:r>
              <a:rPr lang="zh-CN" altLang="en-US" sz="25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时，选择好</a:t>
            </a:r>
            <a:r>
              <a:rPr lang="en-US" altLang="zh-CN" sz="2500" b="1" i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R</a:t>
            </a:r>
            <a:r>
              <a:rPr lang="en-US" altLang="zh-CN" sz="2500" b="1" i="1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y</a:t>
            </a:r>
            <a:r>
              <a:rPr lang="zh-CN" altLang="en-US" sz="2500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后，令</a:t>
            </a:r>
            <a:r>
              <a:rPr lang="en-US" altLang="zh-CN" sz="2500" b="1" i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R</a:t>
            </a:r>
            <a:r>
              <a:rPr lang="en-US" altLang="zh-CN" sz="2500" b="1" i="1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zh-CN" altLang="en-US" sz="2500" b="1" i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=R</a:t>
            </a:r>
            <a:r>
              <a:rPr lang="en-US" altLang="zh-CN" sz="2500" b="1" i="1" baseline="-25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y</a:t>
            </a:r>
            <a:endParaRPr lang="zh-CN" altLang="en-US" sz="2500" b="1" i="1" dirty="0"/>
          </a:p>
        </p:txBody>
      </p:sp>
      <p:sp>
        <p:nvSpPr>
          <p:cNvPr id="5" name="矩形 4"/>
          <p:cNvSpPr/>
          <p:nvPr/>
        </p:nvSpPr>
        <p:spPr>
          <a:xfrm>
            <a:off x="3889429" y="216682"/>
            <a:ext cx="1418978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x = y 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op</a:t>
            </a:r>
            <a:r>
              <a:rPr lang="en-US" altLang="zh-CN" sz="2400" b="1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z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32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EA193F4-D839-49BD-A3FA-8F7F312F2AF4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b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2531" name="矩形 7">
            <a:extLst>
              <a:ext uri="{FF2B5EF4-FFF2-40B4-BE49-F238E27FC236}">
                <a16:creationId xmlns:a16="http://schemas.microsoft.com/office/drawing/2014/main" id="{0EEC7D43-174F-4C62-8209-6E603A1A1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357313"/>
            <a:ext cx="4357687" cy="309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.1 </a:t>
            </a:r>
            <a:r>
              <a:rPr lang="zh-CN" altLang="en-US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代码生成器的主要任务</a:t>
            </a: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.2 </a:t>
            </a:r>
            <a:r>
              <a:rPr lang="zh-CN" altLang="en-US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一个简单的目标机模型</a:t>
            </a: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.3 </a:t>
            </a:r>
            <a:r>
              <a:rPr lang="zh-CN" altLang="en-US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指令选择</a:t>
            </a: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.4 </a:t>
            </a:r>
            <a:r>
              <a:rPr lang="zh-CN" altLang="en-US" sz="25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寄存器选择</a:t>
            </a:r>
            <a:endParaRPr lang="zh-CN" altLang="en-US" sz="25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  <a:p>
            <a:pPr>
              <a:lnSpc>
                <a:spcPts val="4000"/>
              </a:lnSpc>
            </a:pPr>
            <a:r>
              <a:rPr lang="en-US" altLang="zh-CN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9</a:t>
            </a:r>
            <a:r>
              <a:rPr lang="en-US" altLang="zh-CN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.5 </a:t>
            </a:r>
            <a:r>
              <a:rPr lang="zh-CN" altLang="en-US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窥孔优化</a:t>
            </a:r>
            <a:endParaRPr lang="zh-CN" altLang="en-US" sz="2500" b="0" dirty="0">
              <a:solidFill>
                <a:srgbClr val="2D83F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  <a:p>
            <a:pPr>
              <a:lnSpc>
                <a:spcPts val="4000"/>
              </a:lnSpc>
            </a:pPr>
            <a:endParaRPr lang="zh-CN" altLang="en-US" sz="2500" b="0" dirty="0">
              <a:solidFill>
                <a:srgbClr val="2D83F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</p:txBody>
      </p:sp>
      <p:pic>
        <p:nvPicPr>
          <p:cNvPr id="22532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EDAC316A-33E3-4583-9BAC-2E194AC66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C5ABDC2-022C-49C8-ADA5-5DC300DEA310}"/>
              </a:ext>
            </a:extLst>
          </p:cNvPr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1600" b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7961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1" name="Rectangle 3"/>
          <p:cNvSpPr>
            <a:spLocks noGrp="1" noChangeArrowheads="1"/>
          </p:cNvSpPr>
          <p:nvPr>
            <p:ph idx="1"/>
          </p:nvPr>
        </p:nvSpPr>
        <p:spPr>
          <a:xfrm>
            <a:off x="483003" y="785800"/>
            <a:ext cx="8303839" cy="3802174"/>
          </a:xfrm>
        </p:spPr>
        <p:txBody>
          <a:bodyPr/>
          <a:lstStyle/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  <a:latin typeface="+mn-ea"/>
              </a:rPr>
              <a:t>窥孔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peephole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是程序上的一个小的滑动窗口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2500" b="1" dirty="0">
                <a:solidFill>
                  <a:srgbClr val="FF0000"/>
                </a:solidFill>
                <a:latin typeface="+mn-ea"/>
              </a:rPr>
              <a:t>窥孔优化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是指在优化的时候，检查目标指令的一个滑动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marL="0" indent="0">
              <a:lnSpc>
                <a:spcPts val="4000"/>
              </a:lnSpc>
              <a:buClrTx/>
              <a:buNone/>
            </a:pP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   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窗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口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即窥孔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sz="28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，并且只要有可能就在窥孔内用更快或更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marL="0" indent="0">
              <a:lnSpc>
                <a:spcPts val="4000"/>
              </a:lnSpc>
              <a:buClrTx/>
              <a:buNone/>
            </a:pP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   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短的指令来替换窗口中的指令序列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 也可以在</a:t>
            </a:r>
            <a:r>
              <a:rPr lang="zh-CN" altLang="en-US" sz="2500" b="1" dirty="0">
                <a:solidFill>
                  <a:srgbClr val="0070C0"/>
                </a:solidFill>
                <a:latin typeface="+mn-ea"/>
              </a:rPr>
              <a:t>中间代码生成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之后直接应用窥孔优化来提高中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marL="0" indent="0">
              <a:lnSpc>
                <a:spcPts val="4000"/>
              </a:lnSpc>
              <a:buClrTx/>
              <a:buNone/>
            </a:pPr>
            <a:r>
              <a:rPr lang="en-US" altLang="zh-CN" sz="2500" b="1" dirty="0">
                <a:solidFill>
                  <a:schemeClr val="tx1"/>
                </a:solidFill>
                <a:latin typeface="+mn-ea"/>
              </a:rPr>
              <a:t>    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间表示形式的质量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窥孔优化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2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2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2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2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2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2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2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2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2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52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52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2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52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52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2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715977" y="846148"/>
            <a:ext cx="5927725" cy="3225800"/>
          </a:xfrm>
        </p:spPr>
        <p:txBody>
          <a:bodyPr/>
          <a:lstStyle/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冗余指令删除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控制流优化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代数优化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机器特有指令的使用</a:t>
            </a:r>
            <a:endParaRPr lang="zh-CN" altLang="en-US" sz="25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具有窥孔优化特点的程序变换的例子</a:t>
            </a:r>
            <a:endParaRPr lang="zh-CN" altLang="en-US" sz="30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5353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5" name="Rectangle 3"/>
          <p:cNvSpPr>
            <a:spLocks noGrp="1" noChangeArrowheads="1"/>
          </p:cNvSpPr>
          <p:nvPr>
            <p:ph idx="1"/>
          </p:nvPr>
        </p:nvSpPr>
        <p:spPr>
          <a:xfrm>
            <a:off x="430225" y="785800"/>
            <a:ext cx="5927725" cy="3225800"/>
          </a:xfrm>
        </p:spPr>
        <p:txBody>
          <a:bodyPr/>
          <a:lstStyle/>
          <a:p>
            <a:pPr>
              <a:lnSpc>
                <a:spcPct val="900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消除冗余的加载和保存指令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>
              <a:lnSpc>
                <a:spcPct val="900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例</a:t>
            </a:r>
          </a:p>
          <a:p>
            <a:pPr>
              <a:lnSpc>
                <a:spcPct val="90000"/>
              </a:lnSpc>
            </a:pPr>
            <a:endParaRPr lang="en-US" altLang="zh-CN" sz="21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endParaRPr lang="en-US" altLang="zh-CN" sz="21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endParaRPr lang="en-US" altLang="zh-CN" sz="21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冗余指令删除</a:t>
            </a:r>
          </a:p>
        </p:txBody>
      </p:sp>
      <p:sp>
        <p:nvSpPr>
          <p:cNvPr id="2" name="矩形 1"/>
          <p:cNvSpPr/>
          <p:nvPr/>
        </p:nvSpPr>
        <p:spPr>
          <a:xfrm>
            <a:off x="1043609" y="1654745"/>
            <a:ext cx="2385384" cy="12741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hangingPunct="0"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zh-CN" altLang="en-US" sz="2400" b="1" dirty="0">
                <a:latin typeface="+mn-ea"/>
                <a:ea typeface="+mn-ea"/>
              </a:rPr>
              <a:t>三地址指令序列</a:t>
            </a:r>
            <a:endParaRPr lang="en-US" altLang="zh-CN" sz="2400" b="1" dirty="0">
              <a:latin typeface="+mn-ea"/>
              <a:ea typeface="+mn-ea"/>
            </a:endParaRPr>
          </a:p>
          <a:p>
            <a:pPr marL="271463" lvl="0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a=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楷体_GB2312" pitchFamily="49" charset="-122"/>
              </a:rPr>
              <a:t>b+c</a:t>
            </a:r>
            <a:endParaRPr lang="en-US" altLang="zh-CN" sz="2200" b="1" i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271463" lvl="0" indent="-271463" eaLnBrk="0" hangingPunct="0"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d=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楷体_GB2312" pitchFamily="49" charset="-122"/>
              </a:rPr>
              <a:t>a+e</a:t>
            </a:r>
            <a:endParaRPr lang="en-US" altLang="zh-CN" sz="2200" b="1" i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17962" y="4286262"/>
            <a:ext cx="6383062" cy="4770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latin typeface="+mn-ea"/>
                <a:ea typeface="+mn-ea"/>
              </a:rPr>
              <a:t>如果第四条指令有标号，则不可以删除</a:t>
            </a:r>
          </a:p>
        </p:txBody>
      </p:sp>
      <p:sp>
        <p:nvSpPr>
          <p:cNvPr id="7" name="矩形 6"/>
          <p:cNvSpPr/>
          <p:nvPr/>
        </p:nvSpPr>
        <p:spPr>
          <a:xfrm>
            <a:off x="3677694" y="1329146"/>
            <a:ext cx="4680520" cy="27428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hangingPunct="0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zh-CN" altLang="en-US" sz="2400" b="1" dirty="0">
                <a:latin typeface="+mn-ea"/>
                <a:ea typeface="+mn-ea"/>
              </a:rPr>
              <a:t>目标代码</a:t>
            </a:r>
            <a:endParaRPr lang="en-US" altLang="zh-CN" sz="2400" b="1" dirty="0">
              <a:latin typeface="+mn-ea"/>
              <a:ea typeface="+mn-ea"/>
            </a:endParaRPr>
          </a:p>
          <a:p>
            <a:pPr marL="271463" indent="-271463" eaLnBrk="0" hangingPunct="0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LD 	R0</a:t>
            </a:r>
            <a:r>
              <a:rPr lang="zh-CN" altLang="en-US" sz="22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b 		</a:t>
            </a:r>
            <a:r>
              <a:rPr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R0 = b</a:t>
            </a:r>
          </a:p>
          <a:p>
            <a:pPr marL="271463" indent="-271463" eaLnBrk="0" hangingPunct="0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ADD R0</a:t>
            </a:r>
            <a:r>
              <a:rPr lang="zh-CN" altLang="en-US" sz="22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R0</a:t>
            </a:r>
            <a:r>
              <a:rPr lang="zh-CN" altLang="en-US" sz="22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c 	</a:t>
            </a:r>
            <a:r>
              <a:rPr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R0 = R0 + c</a:t>
            </a:r>
          </a:p>
          <a:p>
            <a:pPr marL="271463" indent="-271463" eaLnBrk="0" hangingPunct="0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ST 	a   </a:t>
            </a:r>
            <a:r>
              <a:rPr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,  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R0 	</a:t>
            </a:r>
            <a:r>
              <a:rPr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a = R0</a:t>
            </a:r>
          </a:p>
          <a:p>
            <a:pPr marL="271463" indent="-271463" eaLnBrk="0" hangingPunct="0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LD 	R0</a:t>
            </a:r>
            <a:r>
              <a:rPr lang="zh-CN" altLang="en-US" sz="2200" b="1" dirty="0">
                <a:latin typeface="Times New Roman" panose="02020603050405020304" pitchFamily="18" charset="0"/>
                <a:ea typeface="楷体_GB2312" pitchFamily="49" charset="-122"/>
              </a:rPr>
              <a:t>， 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a 		</a:t>
            </a:r>
            <a:r>
              <a:rPr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R0 = a</a:t>
            </a:r>
          </a:p>
          <a:p>
            <a:pPr marL="271463" indent="-271463" eaLnBrk="0" hangingPunct="0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it-IT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ADD R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2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it-IT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2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it-IT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e 	</a:t>
            </a:r>
            <a:r>
              <a:rPr lang="it-IT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lang="it-IT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it-IT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= R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it-IT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+ e</a:t>
            </a:r>
          </a:p>
          <a:p>
            <a:pPr marL="271463" indent="-271463" eaLnBrk="0" hangingPunct="0">
              <a:lnSpc>
                <a:spcPts val="2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ST 	d   </a:t>
            </a:r>
            <a:r>
              <a:rPr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  R0 	</a:t>
            </a:r>
            <a:r>
              <a:rPr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d = R0</a:t>
            </a:r>
          </a:p>
        </p:txBody>
      </p:sp>
      <p:sp>
        <p:nvSpPr>
          <p:cNvPr id="5" name="矩形 4"/>
          <p:cNvSpPr/>
          <p:nvPr/>
        </p:nvSpPr>
        <p:spPr>
          <a:xfrm>
            <a:off x="3995936" y="2500312"/>
            <a:ext cx="1728192" cy="71951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3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3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3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3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3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3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453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453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53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3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4" grpId="0" animBg="1"/>
      <p:bldP spid="4" grpId="1" animBg="1"/>
      <p:bldP spid="7" grpId="0" animBg="1"/>
      <p:bldP spid="7" grpId="1" animBg="1"/>
      <p:bldP spid="5" grpId="0" animBg="1"/>
      <p:bldP spid="5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30225" y="785800"/>
            <a:ext cx="5927725" cy="357190"/>
          </a:xfrm>
          <a:prstGeom prst="rect">
            <a:avLst/>
          </a:prstGeom>
        </p:spPr>
        <p:txBody>
          <a:bodyPr lIns="68580" tIns="34290" rIns="68580" bIns="34290"/>
          <a:lstStyle/>
          <a:p>
            <a:pPr marL="271463" marR="0" lvl="0" indent="-2714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Ø"/>
              <a:tabLst/>
              <a:defRPr/>
            </a:pPr>
            <a:r>
              <a:rPr kumimoji="0" lang="zh-CN" alt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消除冗余的加载和保存指令</a:t>
            </a:r>
            <a:endParaRPr kumimoji="0" lang="en-US" altLang="zh-CN" sz="25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271463" marR="0" lvl="0" indent="-2714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tabLst/>
              <a:defRPr/>
            </a:pPr>
            <a:endParaRPr kumimoji="0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271463" marR="0" lvl="0" indent="-2714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tabLst/>
              <a:defRPr/>
            </a:pPr>
            <a:endParaRPr kumimoji="0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  <a:p>
            <a:pPr marL="271463" marR="0" lvl="0" indent="-2714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tabLst/>
              <a:defRPr/>
            </a:pPr>
            <a:endParaRPr kumimoji="0" lang="en-US" altLang="zh-CN" sz="21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/>
          <a:p>
            <a:r>
              <a:rPr lang="zh-CN" altLang="en-US" sz="3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冗余指令删除</a:t>
            </a:r>
          </a:p>
        </p:txBody>
      </p:sp>
      <p:sp>
        <p:nvSpPr>
          <p:cNvPr id="20" name="Rectangle 3"/>
          <p:cNvSpPr>
            <a:spLocks noGrp="1" noChangeArrowheads="1"/>
          </p:cNvSpPr>
          <p:nvPr>
            <p:ph idx="1"/>
          </p:nvPr>
        </p:nvSpPr>
        <p:spPr>
          <a:xfrm>
            <a:off x="422999" y="1214428"/>
            <a:ext cx="8435281" cy="3225800"/>
          </a:xfrm>
        </p:spPr>
        <p:txBody>
          <a:bodyPr/>
          <a:lstStyle/>
          <a:p>
            <a:pPr>
              <a:lnSpc>
                <a:spcPct val="900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消除不可达代码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>
              <a:lnSpc>
                <a:spcPct val="90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一个紧跟在</a:t>
            </a: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无条件跳转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之后的</a:t>
            </a:r>
            <a:r>
              <a:rPr lang="zh-CN" altLang="en-US" b="1" dirty="0">
                <a:solidFill>
                  <a:srgbClr val="0070C0"/>
                </a:solidFill>
                <a:latin typeface="+mn-ea"/>
              </a:rPr>
              <a:t>不带标号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的指令可以被删除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lvl="2">
              <a:lnSpc>
                <a:spcPct val="90000"/>
              </a:lnSpc>
              <a:buClrTx/>
              <a:buFont typeface="Wingdings" pitchFamily="2" charset="2"/>
              <a:buChar char="Ø"/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</a:rPr>
              <a:t>例</a:t>
            </a:r>
            <a:endParaRPr lang="en-US" altLang="zh-CN" sz="2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90000"/>
              </a:lnSpc>
            </a:pPr>
            <a:endParaRPr lang="en-US" altLang="zh-CN" sz="21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endParaRPr lang="en-US" altLang="zh-CN" sz="21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endParaRPr lang="en-US" altLang="zh-CN" sz="21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28662" y="2355726"/>
            <a:ext cx="3749589" cy="14055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       if debug 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==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 1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 L1</a:t>
            </a:r>
          </a:p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 L2 </a:t>
            </a:r>
          </a:p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L1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 print debugging information</a:t>
            </a:r>
          </a:p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L2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22" name="矩形 21"/>
          <p:cNvSpPr/>
          <p:nvPr/>
        </p:nvSpPr>
        <p:spPr>
          <a:xfrm>
            <a:off x="5112014" y="3933571"/>
            <a:ext cx="3775107" cy="10864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dirty="0">
                <a:solidFill>
                  <a:srgbClr val="073E87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if 0 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!=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 1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 L2</a:t>
            </a:r>
          </a:p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       print debugging information</a:t>
            </a:r>
          </a:p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L2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23" name="矩形 22"/>
          <p:cNvSpPr/>
          <p:nvPr/>
        </p:nvSpPr>
        <p:spPr>
          <a:xfrm>
            <a:off x="928662" y="3933571"/>
            <a:ext cx="3825161" cy="10741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dirty="0">
                <a:solidFill>
                  <a:srgbClr val="073E87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 L2</a:t>
            </a:r>
          </a:p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print debugging information</a:t>
            </a:r>
          </a:p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L2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24" name="矩形 23"/>
          <p:cNvSpPr/>
          <p:nvPr/>
        </p:nvSpPr>
        <p:spPr>
          <a:xfrm>
            <a:off x="1350262" y="4306093"/>
            <a:ext cx="3286601" cy="31805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5917138" y="3574591"/>
            <a:ext cx="10342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debug=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lang="zh-CN" altLang="en-US" dirty="0">
              <a:latin typeface="Candara"/>
              <a:ea typeface="华文楷体" panose="02010600040101010101" pitchFamily="2" charset="-122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4678251" y="2859782"/>
            <a:ext cx="35486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6977334" y="3492000"/>
            <a:ext cx="0" cy="396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058679" y="2423572"/>
            <a:ext cx="3749589" cy="10618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       if debug 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!=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 1 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 L2</a:t>
            </a:r>
          </a:p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       print debugging information</a:t>
            </a:r>
          </a:p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000" b="1" i="1" dirty="0">
                <a:latin typeface="Times New Roman" panose="02020603050405020304" pitchFamily="18" charset="0"/>
                <a:ea typeface="楷体_GB2312" pitchFamily="49" charset="-122"/>
              </a:rPr>
              <a:t>L2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4753823" y="4440228"/>
            <a:ext cx="35819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77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6" grpId="0"/>
      <p:bldP spid="1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3" name="Rectangle 3"/>
          <p:cNvSpPr>
            <a:spLocks noGrp="1" noChangeArrowheads="1"/>
          </p:cNvSpPr>
          <p:nvPr>
            <p:ph idx="1"/>
          </p:nvPr>
        </p:nvSpPr>
        <p:spPr>
          <a:xfrm>
            <a:off x="422999" y="714362"/>
            <a:ext cx="8435281" cy="3225800"/>
          </a:xfrm>
        </p:spPr>
        <p:txBody>
          <a:bodyPr/>
          <a:lstStyle/>
          <a:p>
            <a:pPr>
              <a:lnSpc>
                <a:spcPts val="35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在代码中出现</a:t>
            </a:r>
            <a:r>
              <a:rPr lang="zh-CN" altLang="en-US" sz="2500" b="1" dirty="0">
                <a:solidFill>
                  <a:srgbClr val="0070C0"/>
                </a:solidFill>
                <a:latin typeface="+mn-ea"/>
              </a:rPr>
              <a:t>跳转到跳转指令的指令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时，某些条件下可以使用</a:t>
            </a:r>
            <a:r>
              <a:rPr lang="zh-CN" altLang="en-US" sz="2500" b="1" dirty="0">
                <a:solidFill>
                  <a:srgbClr val="0070C0"/>
                </a:solidFill>
                <a:latin typeface="+mn-ea"/>
              </a:rPr>
              <a:t>一个跳转指令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来代替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  <a:p>
            <a:pPr lvl="1">
              <a:lnSpc>
                <a:spcPct val="90000"/>
              </a:lnSpc>
              <a:buClrTx/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例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90000"/>
              </a:lnSpc>
              <a:buNone/>
            </a:pPr>
            <a:endParaRPr lang="zh-CN" altLang="en-US" sz="21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控制流优化</a:t>
            </a:r>
          </a:p>
        </p:txBody>
      </p:sp>
      <p:sp>
        <p:nvSpPr>
          <p:cNvPr id="4" name="矩形 3"/>
          <p:cNvSpPr/>
          <p:nvPr/>
        </p:nvSpPr>
        <p:spPr>
          <a:xfrm>
            <a:off x="1661116" y="2000246"/>
            <a:ext cx="2532890" cy="14239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     if a&lt;b 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L1</a:t>
            </a:r>
          </a:p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     ...</a:t>
            </a:r>
          </a:p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L3</a:t>
            </a:r>
          </a:p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L1</a:t>
            </a:r>
            <a:r>
              <a:rPr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L2</a:t>
            </a:r>
          </a:p>
        </p:txBody>
      </p:sp>
      <p:sp>
        <p:nvSpPr>
          <p:cNvPr id="5" name="矩形 4"/>
          <p:cNvSpPr/>
          <p:nvPr/>
        </p:nvSpPr>
        <p:spPr>
          <a:xfrm>
            <a:off x="5117500" y="2000246"/>
            <a:ext cx="2616758" cy="14239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200" b="1" dirty="0">
                <a:solidFill>
                  <a:srgbClr val="073E87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if a&lt;b 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2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L2</a:t>
            </a:r>
          </a:p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     ...</a:t>
            </a:r>
          </a:p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200" b="1" i="1" dirty="0">
                <a:latin typeface="Times New Roman" panose="02020603050405020304" pitchFamily="18" charset="0"/>
                <a:ea typeface="楷体_GB2312" pitchFamily="49" charset="-122"/>
              </a:rPr>
              <a:t> L3</a:t>
            </a:r>
          </a:p>
          <a:p>
            <a:pPr eaLnBrk="0" hangingPunct="0">
              <a:lnSpc>
                <a:spcPts val="2200"/>
              </a:lnSpc>
              <a:spcBef>
                <a:spcPct val="20000"/>
              </a:spcBef>
              <a:buClr>
                <a:srgbClr val="31B6FD"/>
              </a:buClr>
              <a:buSzPct val="100000"/>
            </a:pPr>
            <a:r>
              <a:rPr lang="en-US" altLang="zh-CN" sz="2200" b="1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L1</a:t>
            </a:r>
            <a:r>
              <a:rPr lang="en-US" altLang="zh-CN" sz="2200" b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200" b="1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200" b="1" i="1" dirty="0" err="1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200" b="1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49" charset="-122"/>
              </a:rPr>
              <a:t> L2</a:t>
            </a:r>
          </a:p>
        </p:txBody>
      </p:sp>
      <p:sp>
        <p:nvSpPr>
          <p:cNvPr id="3" name="矩形标注 2"/>
          <p:cNvSpPr/>
          <p:nvPr/>
        </p:nvSpPr>
        <p:spPr>
          <a:xfrm>
            <a:off x="1259632" y="3875873"/>
            <a:ext cx="7246018" cy="1000132"/>
          </a:xfrm>
          <a:prstGeom prst="wedgeRectCallout">
            <a:avLst>
              <a:gd name="adj1" fmla="val -662"/>
              <a:gd name="adj2" fmla="val -79724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prstClr val="black"/>
                </a:solidFill>
                <a:latin typeface="Arial" charset="0"/>
              </a:rPr>
              <a:t>如果不再有跳转到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L1</a:t>
            </a:r>
            <a:r>
              <a:rPr lang="zh-CN" altLang="en-US" sz="2400" b="1" dirty="0">
                <a:solidFill>
                  <a:prstClr val="black"/>
                </a:solidFill>
                <a:latin typeface="Arial" charset="0"/>
              </a:rPr>
              <a:t>的指令，并且语句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L1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goto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 pitchFamily="49" charset="-122"/>
              </a:rPr>
              <a:t> L2</a:t>
            </a:r>
            <a:r>
              <a:rPr lang="zh-CN" altLang="en-US" sz="2400" b="1" dirty="0">
                <a:solidFill>
                  <a:prstClr val="black"/>
                </a:solidFill>
                <a:latin typeface="Arial" charset="0"/>
              </a:rPr>
              <a:t>之前是一个</a:t>
            </a:r>
            <a:r>
              <a:rPr lang="zh-CN" altLang="en-US" sz="2400" b="1" dirty="0">
                <a:solidFill>
                  <a:srgbClr val="C00000"/>
                </a:solidFill>
                <a:latin typeface="Arial" charset="0"/>
              </a:rPr>
              <a:t>无条件跳转指令</a:t>
            </a:r>
            <a:r>
              <a:rPr lang="zh-CN" altLang="en-US" sz="2400" b="1" dirty="0">
                <a:solidFill>
                  <a:prstClr val="black"/>
                </a:solidFill>
                <a:latin typeface="Arial" charset="0"/>
              </a:rPr>
              <a:t>，则可以删除该语句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4214810" y="2500312"/>
            <a:ext cx="8640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38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5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5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5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5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5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5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5" name="Rectangle 3"/>
          <p:cNvSpPr>
            <a:spLocks noGrp="1" noChangeArrowheads="1"/>
          </p:cNvSpPr>
          <p:nvPr>
            <p:ph idx="1"/>
          </p:nvPr>
        </p:nvSpPr>
        <p:spPr>
          <a:xfrm>
            <a:off x="714348" y="857238"/>
            <a:ext cx="7890100" cy="3946760"/>
          </a:xfrm>
        </p:spPr>
        <p:txBody>
          <a:bodyPr/>
          <a:lstStyle/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代数恒等式</a:t>
            </a:r>
            <a:endParaRPr lang="en-US" altLang="zh-CN" sz="2800" b="1" dirty="0">
              <a:solidFill>
                <a:schemeClr val="tx1"/>
              </a:solidFill>
              <a:latin typeface="+mn-ea"/>
            </a:endParaRPr>
          </a:p>
          <a:p>
            <a:pPr marL="550863" lvl="2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消除窥孔中类似于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x=x+0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或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x=x*1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的运算指令</a:t>
            </a:r>
          </a:p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强度削弱</a:t>
            </a: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对于乘数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除数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是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的幂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的定点数乘法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除法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) 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，用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移位运算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实现代价比较低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除数为常量的浮点数</a:t>
            </a:r>
            <a:r>
              <a:rPr lang="zh-CN" altLang="en-US" sz="2500" b="1" dirty="0">
                <a:solidFill>
                  <a:srgbClr val="0070C0"/>
                </a:solidFill>
                <a:latin typeface="+mn-ea"/>
              </a:rPr>
              <a:t>除法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可以通过乘数为该常量倒数的</a:t>
            </a:r>
            <a:r>
              <a:rPr lang="zh-CN" altLang="en-US" sz="2500" b="1" dirty="0">
                <a:solidFill>
                  <a:srgbClr val="0070C0"/>
                </a:solidFill>
                <a:latin typeface="+mn-ea"/>
              </a:rPr>
              <a:t>乘法</a:t>
            </a:r>
            <a:r>
              <a:rPr lang="zh-CN" altLang="en-US" sz="2500" b="1" dirty="0">
                <a:solidFill>
                  <a:schemeClr val="tx1"/>
                </a:solidFill>
                <a:latin typeface="+mn-ea"/>
              </a:rPr>
              <a:t>来求近似值</a:t>
            </a:r>
            <a:endParaRPr lang="en-US" altLang="zh-CN" sz="25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代数优化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8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8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8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8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8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8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8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8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8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58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58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8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58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58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58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9" name="Rectangle 3"/>
          <p:cNvSpPr>
            <a:spLocks noGrp="1" noChangeArrowheads="1"/>
          </p:cNvSpPr>
          <p:nvPr>
            <p:ph idx="1"/>
          </p:nvPr>
        </p:nvSpPr>
        <p:spPr>
          <a:xfrm>
            <a:off x="642910" y="785800"/>
            <a:ext cx="7243754" cy="3225800"/>
          </a:xfrm>
        </p:spPr>
        <p:txBody>
          <a:bodyPr/>
          <a:lstStyle/>
          <a:p>
            <a:pPr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</a:rPr>
              <a:t>充分利用目标系统的某些高效的特殊指令来提高代码效率</a:t>
            </a:r>
          </a:p>
          <a:p>
            <a:pPr lvl="1">
              <a:lnSpc>
                <a:spcPts val="4000"/>
              </a:lnSpc>
              <a:buClrTx/>
              <a:buFont typeface="Wingdings" pitchFamily="2" charset="2"/>
              <a:buChar char="Ø"/>
            </a:pPr>
            <a:r>
              <a:rPr lang="zh-CN" altLang="en-US" sz="2600" b="1" dirty="0">
                <a:solidFill>
                  <a:schemeClr val="tx1"/>
                </a:solidFill>
                <a:latin typeface="+mn-ea"/>
              </a:rPr>
              <a:t>例如：</a:t>
            </a:r>
            <a:r>
              <a:rPr lang="en-US" altLang="zh-CN" sz="2600" b="1" i="1" dirty="0">
                <a:solidFill>
                  <a:schemeClr val="tx1"/>
                </a:solidFill>
                <a:cs typeface="Times New Roman" pitchFamily="18" charset="0"/>
              </a:rPr>
              <a:t>INC</a:t>
            </a:r>
            <a:r>
              <a:rPr lang="zh-CN" altLang="en-US" sz="2600" b="1" dirty="0">
                <a:solidFill>
                  <a:schemeClr val="tx1"/>
                </a:solidFill>
                <a:latin typeface="+mn-ea"/>
              </a:rPr>
              <a:t>指令可以用来替代加</a:t>
            </a:r>
            <a:r>
              <a:rPr lang="en-US" altLang="zh-CN" sz="2600" b="1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zh-CN" altLang="en-US" sz="2600" b="1" dirty="0">
                <a:solidFill>
                  <a:schemeClr val="tx1"/>
                </a:solidFill>
                <a:latin typeface="+mn-ea"/>
              </a:rPr>
              <a:t>的操作</a:t>
            </a:r>
          </a:p>
        </p:txBody>
      </p:sp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000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特殊指令的使用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 txBox="1">
            <a:spLocks noChangeArrowheads="1"/>
          </p:cNvSpPr>
          <p:nvPr/>
        </p:nvSpPr>
        <p:spPr bwMode="auto">
          <a:xfrm>
            <a:off x="4786315" y="1928813"/>
            <a:ext cx="2880122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1435" tIns="25718" rIns="51435" bIns="25718" anchor="ctr"/>
          <a:lstStyle/>
          <a:p>
            <a:pPr>
              <a:defRPr/>
            </a:pPr>
            <a:r>
              <a:rPr lang="zh-CN" altLang="en-US" sz="2625" spc="225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代码生成器的主要任务</a:t>
            </a:r>
          </a:p>
        </p:txBody>
      </p:sp>
      <p:sp>
        <p:nvSpPr>
          <p:cNvPr id="316420" name="Rectangle 2"/>
          <p:cNvSpPr txBox="1">
            <a:spLocks noChangeArrowheads="1"/>
          </p:cNvSpPr>
          <p:nvPr/>
        </p:nvSpPr>
        <p:spPr bwMode="auto">
          <a:xfrm>
            <a:off x="5000625" y="1651399"/>
            <a:ext cx="2357438" cy="330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1435" tIns="25718" rIns="51435" bIns="25718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5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第九章 代码生成</a:t>
            </a:r>
          </a:p>
          <a:p>
            <a:endParaRPr lang="zh-CN" altLang="en-US" sz="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6421" name="Rectangle 2"/>
          <p:cNvSpPr txBox="1">
            <a:spLocks noChangeArrowheads="1"/>
          </p:cNvSpPr>
          <p:nvPr/>
        </p:nvSpPr>
        <p:spPr bwMode="auto">
          <a:xfrm>
            <a:off x="4786313" y="2464594"/>
            <a:ext cx="2582466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1435" tIns="25718" rIns="51435" bIns="25718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75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 </a:t>
            </a:r>
            <a:r>
              <a:rPr lang="zh-CN" altLang="en-US" sz="1500">
                <a:solidFill>
                  <a:srgbClr val="FFFFFF"/>
                </a:solidFill>
                <a:latin typeface="Candara" panose="020E0502030303020204" pitchFamily="34" charset="0"/>
                <a:ea typeface="楷体" panose="02010609060101010101" pitchFamily="49" charset="-122"/>
              </a:rPr>
              <a:t>哈尔滨工业大学  陈鄞</a:t>
            </a:r>
            <a:endParaRPr lang="zh-CN" altLang="en-US"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3" descr="G:\QQ截图201607142012副本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5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5000629" y="1774826"/>
            <a:ext cx="2665808" cy="939800"/>
          </a:xfrm>
          <a:prstGeom prst="rect">
            <a:avLst/>
          </a:prstGeom>
        </p:spPr>
        <p:txBody>
          <a:bodyPr lIns="68580" tIns="34290" rIns="68580" bIns="34290" anchor="ctr"/>
          <a:lstStyle/>
          <a:p>
            <a:pPr algn="ctr">
              <a:defRPr/>
            </a:pPr>
            <a:r>
              <a:rPr lang="zh-CN" altLang="en-US" sz="3600" spc="6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结束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143504" y="1416045"/>
            <a:ext cx="3143250" cy="441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68580" tIns="34290" rIns="68580" bIns="34290" anchor="ctr"/>
          <a:lstStyle/>
          <a:p>
            <a:pPr eaLnBrk="1" hangingPunct="1"/>
            <a:r>
              <a:rPr lang="zh-CN" altLang="en-US" sz="2000" b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第九章 代码生成</a:t>
            </a:r>
          </a:p>
          <a:p>
            <a:pPr eaLnBrk="1" hangingPunct="1"/>
            <a:endParaRPr lang="zh-CN" altLang="en-US" sz="800" b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4843463" y="2417763"/>
            <a:ext cx="3443287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 anchor="ctr"/>
          <a:lstStyle/>
          <a:p>
            <a:pPr eaLnBrk="1" hangingPunct="1"/>
            <a:r>
              <a:rPr lang="en-US" altLang="zh-CN" sz="2500" dirty="0">
                <a:solidFill>
                  <a:srgbClr val="FFFFFF"/>
                </a:solidFill>
                <a:latin typeface="Candara" pitchFamily="34" charset="0"/>
                <a:ea typeface="楷体" pitchFamily="49" charset="-122"/>
              </a:rPr>
              <a:t> </a:t>
            </a:r>
            <a:r>
              <a:rPr lang="zh-CN" altLang="en-US" sz="2000" b="1" dirty="0">
                <a:solidFill>
                  <a:srgbClr val="FFFFFF"/>
                </a:solidFill>
                <a:latin typeface="Candara" pitchFamily="34" charset="0"/>
                <a:ea typeface="楷体" pitchFamily="49" charset="-122"/>
              </a:rPr>
              <a:t>哈尔滨工业大学  陈鄞</a:t>
            </a:r>
            <a:endParaRPr lang="zh-CN" altLang="en-US" sz="2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15548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>
    <a:lnDef>
      <a:spPr>
        <a:ln w="254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14420</TotalTime>
  <Words>4070</Words>
  <Application>Microsoft Office PowerPoint</Application>
  <PresentationFormat>全屏显示(16:9)</PresentationFormat>
  <Paragraphs>733</Paragraphs>
  <Slides>54</Slides>
  <Notes>54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68" baseType="lpstr">
      <vt:lpstr>黑体</vt:lpstr>
      <vt:lpstr>华文楷体</vt:lpstr>
      <vt:lpstr>楷体</vt:lpstr>
      <vt:lpstr>楷体_GB2312</vt:lpstr>
      <vt:lpstr>宋体</vt:lpstr>
      <vt:lpstr>微软雅黑</vt:lpstr>
      <vt:lpstr>Arial</vt:lpstr>
      <vt:lpstr>Calibri</vt:lpstr>
      <vt:lpstr>Candara</vt:lpstr>
      <vt:lpstr>Symbol</vt:lpstr>
      <vt:lpstr>Tahoma</vt:lpstr>
      <vt:lpstr>Times New Roman</vt:lpstr>
      <vt:lpstr>Wingdings</vt:lpstr>
      <vt:lpstr>波形</vt:lpstr>
      <vt:lpstr>PowerPoint 演示文稿</vt:lpstr>
      <vt:lpstr>编译器的结构</vt:lpstr>
      <vt:lpstr>PowerPoint 演示文稿</vt:lpstr>
      <vt:lpstr>代码生成</vt:lpstr>
      <vt:lpstr>代码生成器的主要任务</vt:lpstr>
      <vt:lpstr>代码生成器的主要任务</vt:lpstr>
      <vt:lpstr>代码生成器的主要任务</vt:lpstr>
      <vt:lpstr>PowerPoint 演示文稿</vt:lpstr>
      <vt:lpstr>一个简单的目标机模型</vt:lpstr>
      <vt:lpstr>目标机器的主要指令</vt:lpstr>
      <vt:lpstr>寻址模式</vt:lpstr>
      <vt:lpstr>寻址模式</vt:lpstr>
      <vt:lpstr>寻址模式</vt:lpstr>
      <vt:lpstr>寻址模式</vt:lpstr>
      <vt:lpstr>寻址模式</vt:lpstr>
      <vt:lpstr>寻址模式</vt:lpstr>
      <vt:lpstr>PowerPoint 演示文稿</vt:lpstr>
      <vt:lpstr>运算语句的目标代码</vt:lpstr>
      <vt:lpstr>数组寻址语句的目标代码</vt:lpstr>
      <vt:lpstr>数组寻址语句的目标代码</vt:lpstr>
      <vt:lpstr>指针存取语句的目标代码</vt:lpstr>
      <vt:lpstr>指针存取语句的目标代码</vt:lpstr>
      <vt:lpstr>条件跳转语句的目标代码</vt:lpstr>
      <vt:lpstr>过程调用和返回的目标代码</vt:lpstr>
      <vt:lpstr>使用静态内存分配</vt:lpstr>
      <vt:lpstr>使用静态内存分配</vt:lpstr>
      <vt:lpstr>使用栈式内存分配方式</vt:lpstr>
      <vt:lpstr>使用栈式内存分配方式</vt:lpstr>
      <vt:lpstr>PowerPoint 演示文稿</vt:lpstr>
      <vt:lpstr>运算的目标代码生成</vt:lpstr>
      <vt:lpstr>基本块的收尾处理</vt:lpstr>
      <vt:lpstr>寄存器描述符和地址描述符</vt:lpstr>
      <vt:lpstr>管理寄存器和地址描述符</vt:lpstr>
      <vt:lpstr>管理寄存器和地址描述符</vt:lpstr>
      <vt:lpstr>管理寄存器和地址描述符</vt:lpstr>
      <vt:lpstr>管理寄存器和地址描述符</vt:lpstr>
      <vt:lpstr>例</vt:lpstr>
      <vt:lpstr>例</vt:lpstr>
      <vt:lpstr>例</vt:lpstr>
      <vt:lpstr>例</vt:lpstr>
      <vt:lpstr>例</vt:lpstr>
      <vt:lpstr>例:假设在出口处t, u和v不活跃，a, b, c和d活跃</vt:lpstr>
      <vt:lpstr>寄存器选择函数getReg</vt:lpstr>
      <vt:lpstr>计算R的“费用”</vt:lpstr>
      <vt:lpstr>寄存器Rx的选择</vt:lpstr>
      <vt:lpstr>PowerPoint 演示文稿</vt:lpstr>
      <vt:lpstr>窥孔优化</vt:lpstr>
      <vt:lpstr>具有窥孔优化特点的程序变换的例子</vt:lpstr>
      <vt:lpstr>冗余指令删除</vt:lpstr>
      <vt:lpstr>冗余指令删除</vt:lpstr>
      <vt:lpstr>控制流优化</vt:lpstr>
      <vt:lpstr>代数优化</vt:lpstr>
      <vt:lpstr>特殊指令的使用</vt:lpstr>
      <vt:lpstr>PowerPoint 演示文稿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jsx</dc:creator>
  <cp:lastModifiedBy>Shanlili</cp:lastModifiedBy>
  <cp:revision>845</cp:revision>
  <cp:lastPrinted>2017-07-27T06:29:55Z</cp:lastPrinted>
  <dcterms:created xsi:type="dcterms:W3CDTF">2003-07-09T14:46:46Z</dcterms:created>
  <dcterms:modified xsi:type="dcterms:W3CDTF">2025-04-28T11:39:27Z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