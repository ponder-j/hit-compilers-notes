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  <p:sldMasterId id="2147487643" r:id="rId2"/>
    <p:sldMasterId id="2147489057" r:id="rId3"/>
  </p:sldMasterIdLst>
  <p:notesMasterIdLst>
    <p:notesMasterId r:id="rId49"/>
  </p:notesMasterIdLst>
  <p:handoutMasterIdLst>
    <p:handoutMasterId r:id="rId50"/>
  </p:handoutMasterIdLst>
  <p:sldIdLst>
    <p:sldId id="1143" r:id="rId4"/>
    <p:sldId id="1378" r:id="rId5"/>
    <p:sldId id="2707" r:id="rId6"/>
    <p:sldId id="2665" r:id="rId7"/>
    <p:sldId id="2669" r:id="rId8"/>
    <p:sldId id="2742" r:id="rId9"/>
    <p:sldId id="2670" r:id="rId10"/>
    <p:sldId id="1144" r:id="rId11"/>
    <p:sldId id="2656" r:id="rId12"/>
    <p:sldId id="1427" r:id="rId13"/>
    <p:sldId id="1151" r:id="rId14"/>
    <p:sldId id="976" r:id="rId15"/>
    <p:sldId id="977" r:id="rId16"/>
    <p:sldId id="1123" r:id="rId17"/>
    <p:sldId id="1109" r:id="rId18"/>
    <p:sldId id="1110" r:id="rId19"/>
    <p:sldId id="1111" r:id="rId20"/>
    <p:sldId id="1112" r:id="rId21"/>
    <p:sldId id="1116" r:id="rId22"/>
    <p:sldId id="1114" r:id="rId23"/>
    <p:sldId id="1115" r:id="rId24"/>
    <p:sldId id="979" r:id="rId25"/>
    <p:sldId id="980" r:id="rId26"/>
    <p:sldId id="981" r:id="rId27"/>
    <p:sldId id="982" r:id="rId28"/>
    <p:sldId id="544" r:id="rId29"/>
    <p:sldId id="2708" r:id="rId30"/>
    <p:sldId id="2709" r:id="rId31"/>
    <p:sldId id="2710" r:id="rId32"/>
    <p:sldId id="2675" r:id="rId33"/>
    <p:sldId id="1154" r:id="rId34"/>
    <p:sldId id="1162" r:id="rId35"/>
    <p:sldId id="1158" r:id="rId36"/>
    <p:sldId id="2674" r:id="rId37"/>
    <p:sldId id="1128" r:id="rId38"/>
    <p:sldId id="1129" r:id="rId39"/>
    <p:sldId id="1130" r:id="rId40"/>
    <p:sldId id="1131" r:id="rId41"/>
    <p:sldId id="1132" r:id="rId42"/>
    <p:sldId id="1133" r:id="rId43"/>
    <p:sldId id="1134" r:id="rId44"/>
    <p:sldId id="2712" r:id="rId45"/>
    <p:sldId id="1135" r:id="rId46"/>
    <p:sldId id="2711" r:id="rId47"/>
    <p:sldId id="710" r:id="rId48"/>
  </p:sldIdLst>
  <p:sldSz cx="9144000" cy="5143500" type="screen16x9"/>
  <p:notesSz cx="67611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8000"/>
    <a:srgbClr val="0000FF"/>
    <a:srgbClr val="FFCCCC"/>
    <a:srgbClr val="FF7C80"/>
    <a:srgbClr val="FF5050"/>
    <a:srgbClr val="FF9966"/>
    <a:srgbClr val="FF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76" autoAdjust="0"/>
    <p:restoredTop sz="95988" autoAdjust="0"/>
  </p:normalViewPr>
  <p:slideViewPr>
    <p:cSldViewPr>
      <p:cViewPr>
        <p:scale>
          <a:sx n="125" d="100"/>
          <a:sy n="125" d="100"/>
        </p:scale>
        <p:origin x="272" y="5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8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7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93" tIns="44047" rIns="88093" bIns="4404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93" tIns="44047" rIns="88093" bIns="4404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392EBAE2-ABD1-4182-9D25-43B78931BB4A}" type="datetimeFigureOut">
              <a:rPr lang="zh-CN" altLang="en-US"/>
              <a:pPr>
                <a:defRPr/>
              </a:pPr>
              <a:t>2026/4/4</a:t>
            </a:fld>
            <a:endParaRPr lang="en-US" altLang="zh-CN"/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93" tIns="44047" rIns="88093" bIns="4404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93" tIns="44047" rIns="88093" bIns="4404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21C047B-7F9B-4778-954C-382E57ECE6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215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5422" tIns="47711" rIns="95422" bIns="47711" numCol="1" anchor="t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30525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5422" tIns="47711" rIns="95422" bIns="47711" numCol="1" anchor="t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263" y="746125"/>
            <a:ext cx="662622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722813"/>
            <a:ext cx="4957763" cy="4473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422" tIns="47711" rIns="95422" bIns="47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5625"/>
            <a:ext cx="2930525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5422" tIns="47711" rIns="95422" bIns="47711" numCol="1" anchor="b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445625"/>
            <a:ext cx="2930525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5422" tIns="47711" rIns="95422" bIns="47711" numCol="1" anchor="b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/>
            </a:lvl1pPr>
          </a:lstStyle>
          <a:p>
            <a:pPr>
              <a:defRPr/>
            </a:pPr>
            <a:fld id="{8F6FFD3B-6D91-429B-B75D-BE0E2A9E0B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069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687C8DE-1ED8-47CE-AA3E-F308D9580A1B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500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0EE7C5-032C-4CA0-803D-FA0A52E7652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09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算符优先和</a:t>
                </a:r>
                <a:r>
                  <a:rPr lang="en-US" altLang="zh-CN" dirty="0" smtClean="0"/>
                  <a:t>LR</a:t>
                </a:r>
                <a:r>
                  <a:rPr lang="zh-CN" altLang="en-US" dirty="0" smtClean="0"/>
                  <a:t>分析法</a:t>
                </a:r>
                <a:endParaRPr lang="en-US" altLang="zh-CN" dirty="0" smtClean="0"/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对句柄的归约代表了相应的最右推导中的一个反向步骤。</a:t>
                </a:r>
                <a:endParaRPr lang="en-US" altLang="zh-CN" sz="320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第二章中的定义</a:t>
                </a:r>
                <a:r>
                  <a:rPr lang="en-US" altLang="zh-CN" sz="32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G</a:t>
                </a:r>
                <a:r>
                  <a:rPr lang="zh-CN" altLang="en-US" sz="32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的句型的最左直接短语是句型相对于规则的句柄，叫句柄。</a:t>
                </a:r>
                <a:endParaRPr lang="en-US" altLang="zh-CN" sz="320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最右句型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 的句柄</a:t>
                </a:r>
                <a:endParaRPr lang="en-US" altLang="zh-CN" sz="3200" baseline="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w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一定是终结符号串，因为，一次最左归约对应一次最右推导</a:t>
                </a:r>
                <a:endParaRPr lang="en-US" altLang="zh-CN" sz="3200" baseline="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最右推导是选择最右侧的非终结符</a:t>
                </a:r>
                <a:r>
                  <a:rPr lang="en-US" altLang="zh-CN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进行扩展为</a:t>
                </a:r>
                <a:r>
                  <a:rPr lang="zh-CN" altLang="en-US" sz="3200" i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𝜷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后面一定没有非终结符了，</a:t>
                </a:r>
                <a:endParaRPr lang="en-US" altLang="zh-CN" sz="3200" baseline="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对应的最左归约是将</a:t>
                </a:r>
                <a:r>
                  <a:rPr lang="zh-CN" altLang="en-US" sz="3200" i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𝜷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归约为</a:t>
                </a:r>
                <a:r>
                  <a:rPr lang="en-US" altLang="zh-CN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，所以归约之前</a:t>
                </a:r>
                <a:r>
                  <a:rPr lang="zh-CN" altLang="en-US" sz="3200" i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𝜷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后面和归约之后</a:t>
                </a:r>
                <a:r>
                  <a:rPr lang="en-US" altLang="zh-CN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3200" baseline="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的后面都没有非终结符了。</a:t>
                </a:r>
                <a:endParaRPr lang="en-US" altLang="zh-CN" sz="3200" baseline="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3200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296ACE-C661-4DAF-8E45-F011EE9E6FC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852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备注占位符 2"/>
              <p:cNvSpPr>
                <a:spLocks noGrp="1"/>
              </p:cNvSpPr>
              <p:nvPr>
                <p:ph type="body" idx="1"/>
              </p:nvPr>
            </p:nvSpPr>
            <p:spPr>
              <a:noFill/>
            </p:spPr>
            <p:txBody>
              <a:bodyPr/>
              <a:lstStyle/>
              <a:p>
                <a:pPr eaLnBrk="1" hangingPunct="1"/>
                <a:endParaRPr lang="zh-CN" altLang="en-US" dirty="0"/>
              </a:p>
            </p:txBody>
          </p:sp>
        </mc:Choice>
        <mc:Fallback xmlns="">
          <p:sp>
            <p:nvSpPr>
              <p:cNvPr id="14339" name="备注占位符 2"/>
              <p:cNvSpPr>
                <a:spLocks noGrp="1"/>
              </p:cNvSpPr>
              <p:nvPr>
                <p:ph type="body" idx="1"/>
              </p:nvPr>
            </p:nvSpPr>
            <p:spPr>
              <a:noFill/>
            </p:spPr>
            <p:txBody>
              <a:bodyPr/>
              <a:lstStyle/>
              <a:p>
                <a:pPr eaLnBrk="1" hangingPunct="1"/>
                <a:r>
                  <a:rPr lang="en-US" altLang="zh-CN" dirty="0" err="1"/>
                  <a:t>Sll</a:t>
                </a:r>
                <a:r>
                  <a:rPr lang="zh-CN" altLang="en-US" dirty="0"/>
                  <a:t>：但栈中的内容不一定恰好是</a:t>
                </a:r>
                <a:r>
                  <a:rPr lang="zh-CN" altLang="en-US" sz="1200" b="1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𝜶𝜷</a:t>
                </a:r>
                <a:r>
                  <a:rPr lang="zh-CN" altLang="en-US" dirty="0"/>
                  <a:t>，多数时候不是，多数时候没有句柄的任何符号或者是只有一部分符号。对应的，剩余输入也比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多一些符号。</a:t>
                </a:r>
                <a:endParaRPr lang="en-US" altLang="zh-CN" dirty="0"/>
              </a:p>
              <a:p>
                <a:pPr eaLnBrk="1" hangingPunct="1"/>
                <a:r>
                  <a:rPr lang="zh-CN" altLang="en-US" dirty="0"/>
                  <a:t>不同的方法构造的分析表也不同。</a:t>
                </a:r>
                <a:endParaRPr lang="en-US" altLang="zh-CN" dirty="0"/>
              </a:p>
              <a:p>
                <a:pPr eaLnBrk="1" hangingPunct="1"/>
                <a:r>
                  <a:rPr lang="zh-CN" altLang="en-US" dirty="0"/>
                  <a:t>分析表指导分析器找到栈顶的句柄进行归约。</a:t>
                </a:r>
              </a:p>
            </p:txBody>
          </p:sp>
        </mc:Fallback>
      </mc:AlternateContent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4D2944-D00E-4B37-947A-172AC4B2EA81}" type="slidenum">
              <a:rPr lang="en-US" altLang="zh-CN" sz="1300">
                <a:latin typeface="Times New Roman" panose="02020603050405020304" pitchFamily="18" charset="0"/>
              </a:rPr>
              <a:pPr/>
              <a:t>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C93FBAA-E10F-4150-A349-592C4969B9EA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6702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4D2944-D00E-4B37-947A-172AC4B2EA81}" type="slidenum">
              <a:rPr lang="en-US" altLang="zh-CN" sz="1300">
                <a:latin typeface="Times New Roman" panose="02020603050405020304" pitchFamily="18" charset="0"/>
              </a:rPr>
              <a:pPr/>
              <a:t>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3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6FFD3B-6D91-429B-B75D-BE0E2A9E0B50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708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296ACE-C661-4DAF-8E45-F011EE9E6FC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5489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296ACE-C661-4DAF-8E45-F011EE9E6FC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122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C93FBAA-E10F-4150-A349-592C4969B9EA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3551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C5C8CF-3BDB-4065-884D-FB4BF546542B}" type="slidenum">
              <a:rPr lang="zh-CN" altLang="en-US" smtClean="0"/>
              <a:pPr/>
              <a:t>12</a:t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8700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206FCEF-5128-42EE-B320-06060362D97E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2596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61B82BB-87A8-44E4-AE0C-1926B23D00AD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7888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E5C7AF-DC5C-4D73-A822-4909D128B796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530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D8B4DA-A63F-4F8A-A9CD-3529E11622EA}" type="slidenum">
              <a:rPr lang="zh-CN" altLang="en-US" smtClean="0">
                <a:solidFill>
                  <a:srgbClr val="000000"/>
                </a:solidFill>
              </a:rPr>
              <a:pPr/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83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1A63DEE-1134-4F3E-8086-D54E8C041C3B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121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14AC7BD-2E93-46BA-8697-E292E30201C3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941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43053D5-A0BD-4C44-9F68-E89C2FB521DA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534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B7D94A-4F13-43D7-9D67-8B6B8C0E671C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6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210798-8E5F-48DC-9287-CDAB6C423C41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368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C35579-F621-404D-AA23-18F4BD8E5A8D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427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091D5D-B1E7-4407-A92B-4E6EDC986421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290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DCEA87-9D66-46B2-9D23-38B940151F8C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554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14EAED-0BD0-462F-98B2-8DF6346B5535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4100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CE1D09-63BE-4054-9703-158FB1F0A88A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13607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CE1D09-63BE-4054-9703-158FB1F0A88A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8297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CE1D09-63BE-4054-9703-158FB1F0A88A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4976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5DF600-30E8-4761-9201-3D2C88D20DEC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1343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5DF600-30E8-4761-9201-3D2C88D20DEC}" type="slidenum">
              <a:rPr lang="zh-CN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98931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5DF600-30E8-4761-9201-3D2C88D20DEC}" type="slidenum">
              <a:rPr lang="zh-CN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01300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5DF600-30E8-4761-9201-3D2C88D20DEC}" type="slidenum">
              <a:rPr lang="zh-CN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0497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A7E99D4-DF39-49F7-8D66-7A5AB66BA1B9}" type="slidenum">
              <a:rPr lang="zh-CN" altLang="en-US" smtClean="0">
                <a:solidFill>
                  <a:srgbClr val="000000"/>
                </a:solidFill>
              </a:rPr>
              <a:pPr/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20500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6FFD3B-6D91-429B-B75D-BE0E2A9E0B50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390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0CDED2-E4E1-4CB9-AEAB-2F38C33F4AA6}" type="slidenum">
              <a:rPr lang="zh-CN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3445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B7F4FAD-0AAB-419A-B424-87D3872D7AEF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3133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83CA9B-33F0-41AB-A169-C139300954C4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8764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7AF046-50D6-4517-B38D-D0625A3DCAFB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5247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D2887F-302E-4A26-B26E-484514E37ED5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48273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62F4F2-B025-4AB6-9CA0-BD62EF514D69}" type="slidenum">
              <a:rPr lang="zh-CN" altLang="en-US" smtClean="0">
                <a:solidFill>
                  <a:srgbClr val="000000"/>
                </a:solidFill>
              </a:rPr>
              <a:pPr/>
              <a:t>40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0943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066AE3C-C276-474C-B77C-EC062491D75C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8262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62F4F2-B025-4AB6-9CA0-BD62EF514D69}" type="slidenum">
              <a:rPr lang="zh-CN" altLang="en-US" smtClean="0">
                <a:solidFill>
                  <a:srgbClr val="000000"/>
                </a:solidFill>
              </a:rPr>
              <a:pPr/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7698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D235BB6-7F23-4430-9502-71D09C2CBFCD}" type="slidenum">
              <a:rPr lang="zh-CN" altLang="en-US" smtClean="0">
                <a:solidFill>
                  <a:srgbClr val="000000"/>
                </a:solidFill>
              </a:rPr>
              <a:pPr/>
              <a:t>43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752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anose="020B0604020202020204" pitchFamily="34" charset="0"/>
              </a:rPr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61E34-A8D7-4F42-AB39-6CB31352DD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704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547CD-6119-4941-B65F-2E72583A78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60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27A60-098F-423A-804C-8285C37637C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584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3379F-BAEB-4910-B746-4A8BDEF5C6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644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B39E3-B9CC-4DC8-ABCD-528A2FFF0F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38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0B15F-8D65-489F-B778-BF85EB5371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98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59B22-FB1E-4ED5-B2B8-F84084CD4C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10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7170B-ACD4-4A6A-AC7F-8623461D20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937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3A829-7116-4377-9559-008FC8190C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58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19500-544F-4523-8B52-0CB6EABE89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00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81979-04EF-4F3D-813E-3046537E3A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075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C6ED274-EFFF-4964-A2BA-670E0527F4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747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583" y="1080579"/>
            <a:ext cx="7557833" cy="3225800"/>
          </a:xfrm>
        </p:spPr>
        <p:txBody>
          <a:bodyPr/>
          <a:lstStyle>
            <a:lvl1pPr marL="273050" indent="-27305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6263" indent="-27305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5663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43000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sz="30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7052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7BACBCE-C2ED-417D-9514-C949F74628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685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EABD0CD-29C1-48EE-9BA3-5ED286EE59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093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4854128"/>
            <a:ext cx="432048" cy="237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CB63F5-78F4-4695-9C65-13E6FBA11341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21" r:id="rId1"/>
    <p:sldLayoutId id="2147489122" r:id="rId2"/>
    <p:sldLayoutId id="2147489123" r:id="rId3"/>
    <p:sldLayoutId id="2147489124" r:id="rId4"/>
    <p:sldLayoutId id="2147489125" r:id="rId5"/>
    <p:sldLayoutId id="2147489126" r:id="rId6"/>
    <p:sldLayoutId id="2147489127" r:id="rId7"/>
    <p:sldLayoutId id="2147489128" r:id="rId8"/>
    <p:sldLayoutId id="2147489129" r:id="rId9"/>
    <p:sldLayoutId id="2147489130" r:id="rId10"/>
    <p:sldLayoutId id="214748913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8BC1863F-552F-4504-B7BB-D01B93362E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131B67-7E09-43A5-AD65-E0872A8C05F7}"/>
              </a:ext>
            </a:extLst>
          </p:cNvPr>
          <p:cNvSpPr txBox="1">
            <a:spLocks/>
          </p:cNvSpPr>
          <p:nvPr userDrawn="1"/>
        </p:nvSpPr>
        <p:spPr>
          <a:xfrm>
            <a:off x="8739614" y="4890849"/>
            <a:ext cx="417885" cy="18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AC3FBB18-CB6A-4E79-81DC-4FE9061E58BA}" type="slidenum">
              <a:rPr lang="zh-CN" alt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32" r:id="rId1"/>
    <p:sldLayoutId id="214748913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3A335154-EA51-4E0E-8F8E-99D74BEE09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58DD44-E183-407B-86C1-74ECE8348A7E}"/>
              </a:ext>
            </a:extLst>
          </p:cNvPr>
          <p:cNvSpPr txBox="1">
            <a:spLocks/>
          </p:cNvSpPr>
          <p:nvPr userDrawn="1"/>
        </p:nvSpPr>
        <p:spPr>
          <a:xfrm>
            <a:off x="8739614" y="4890849"/>
            <a:ext cx="417885" cy="18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AC3FBB18-CB6A-4E79-81DC-4FE9061E58BA}" type="slidenum">
              <a:rPr lang="zh-CN" alt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34" r:id="rId1"/>
    <p:sldLayoutId id="214748913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357688" y="1263650"/>
            <a:ext cx="5927725" cy="3522663"/>
          </a:xfrm>
        </p:spPr>
        <p:txBody>
          <a:bodyPr anchor="ctr"/>
          <a:lstStyle/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4.1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自顶向下的分析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4.2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预测分析法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4.3 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自底向上的分析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4.4 LR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4.5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语法分析器自动生成工具</a:t>
            </a:r>
          </a:p>
        </p:txBody>
      </p:sp>
      <p:pic>
        <p:nvPicPr>
          <p:cNvPr id="10243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917574"/>
            <a:ext cx="7931150" cy="381441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华文楷体" panose="02010600040101010101" pitchFamily="2" charset="-122"/>
              </a:rPr>
              <a:t>任务</a:t>
            </a:r>
            <a:r>
              <a:rPr lang="zh-CN" altLang="en-US" b="1" dirty="0">
                <a:latin typeface="华文楷体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从分析树的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底部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叶节点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向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顶部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根节点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方向构造分析树，可以看成是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将输入串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归约为文法开始符号</a:t>
            </a:r>
            <a:r>
              <a:rPr lang="en-US" altLang="zh-CN" b="1" i="1" dirty="0">
                <a:solidFill>
                  <a:srgbClr val="2D83F4"/>
                </a:solidFill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的过程。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800" dirty="0">
                <a:latin typeface="楷体_GB2312" panose="02010609030101010101" pitchFamily="49" charset="-122"/>
              </a:rPr>
              <a:t>核心思想</a:t>
            </a:r>
            <a:r>
              <a:rPr lang="zh-CN" altLang="en-US" sz="2000" dirty="0">
                <a:latin typeface="楷体_GB2312" panose="02010609030101010101" pitchFamily="49" charset="-122"/>
              </a:rPr>
              <a:t>：</a:t>
            </a:r>
            <a:r>
              <a:rPr lang="zh-CN" altLang="en-US" dirty="0">
                <a:latin typeface="楷体_GB2312" panose="02010609030101010101" pitchFamily="49" charset="-122"/>
              </a:rPr>
              <a:t>从左到右扫描输入串，反复选择产生式进行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最左归约</a:t>
            </a:r>
            <a:r>
              <a:rPr lang="zh-CN" altLang="en-US" dirty="0">
                <a:latin typeface="楷体_GB2312" panose="02010609030101010101" pitchFamily="49" charset="-122"/>
              </a:rPr>
              <a:t>（</a:t>
            </a:r>
            <a:r>
              <a:rPr lang="zh-CN" altLang="en-US" dirty="0">
                <a:solidFill>
                  <a:srgbClr val="0070C0"/>
                </a:solidFill>
                <a:latin typeface="楷体_GB2312" panose="02010609030101010101" pitchFamily="49" charset="-122"/>
              </a:rPr>
              <a:t>反向构建最右推导</a:t>
            </a:r>
            <a:r>
              <a:rPr lang="zh-CN" altLang="en-US" dirty="0">
                <a:latin typeface="楷体_GB2312" panose="02010609030101010101" pitchFamily="49" charset="-122"/>
              </a:rPr>
              <a:t>），如果最后能</a:t>
            </a:r>
            <a:r>
              <a:rPr lang="zh-CN" altLang="en-US" dirty="0">
                <a:solidFill>
                  <a:srgbClr val="0070C0"/>
                </a:solidFill>
                <a:latin typeface="楷体_GB2312" panose="02010609030101010101" pitchFamily="49" charset="-122"/>
              </a:rPr>
              <a:t>归约出</a:t>
            </a:r>
            <a:r>
              <a:rPr lang="zh-CN" altLang="en-US" dirty="0">
                <a:latin typeface="楷体_GB2312" panose="02010609030101010101" pitchFamily="49" charset="-122"/>
              </a:rPr>
              <a:t>文法的</a:t>
            </a:r>
            <a:r>
              <a:rPr lang="zh-CN" altLang="en-US" dirty="0">
                <a:solidFill>
                  <a:srgbClr val="0070C0"/>
                </a:solidFill>
                <a:latin typeface="楷体_GB2312" panose="02010609030101010101" pitchFamily="49" charset="-122"/>
              </a:rPr>
              <a:t>开始符号</a:t>
            </a:r>
            <a:r>
              <a:rPr lang="zh-CN" altLang="en-US" dirty="0">
                <a:latin typeface="楷体_GB2312" panose="02010609030101010101" pitchFamily="49" charset="-122"/>
              </a:rPr>
              <a:t>，则输入串是</a:t>
            </a:r>
            <a:r>
              <a:rPr lang="zh-CN" altLang="en-US" dirty="0">
                <a:solidFill>
                  <a:srgbClr val="0070C0"/>
                </a:solidFill>
                <a:latin typeface="楷体_GB2312" panose="02010609030101010101" pitchFamily="49" charset="-122"/>
              </a:rPr>
              <a:t>合法</a:t>
            </a:r>
            <a:r>
              <a:rPr lang="zh-CN" altLang="en-US" dirty="0">
                <a:latin typeface="楷体_GB2312" panose="02010609030101010101" pitchFamily="49" charset="-122"/>
              </a:rPr>
              <a:t>的句子，否则有语法错误。</a:t>
            </a:r>
            <a:endParaRPr lang="en-US" altLang="zh-CN" sz="2700" b="1" dirty="0">
              <a:latin typeface="楷体_GB2312" panose="02010609030101010101" pitchFamily="49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4.3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自底向上的语法分析</a:t>
            </a:r>
          </a:p>
        </p:txBody>
      </p:sp>
    </p:spTree>
    <p:extLst>
      <p:ext uri="{BB962C8B-B14F-4D97-AF65-F5344CB8AC3E}">
        <p14:creationId xmlns:p14="http://schemas.microsoft.com/office/powerpoint/2010/main" val="6751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758583" y="892488"/>
            <a:ext cx="7557833" cy="3413891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设文法</a:t>
            </a:r>
            <a:r>
              <a:rPr lang="en-US" altLang="zh-CN" sz="2800" b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为：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S→aABe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A→Ab|b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B→d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目标：构建</a:t>
            </a:r>
            <a:r>
              <a:rPr lang="zh-CN" altLang="en-US" sz="3000" dirty="0">
                <a:latin typeface="Times New Roman" panose="02020603050405020304" pitchFamily="18" charset="0"/>
              </a:rPr>
              <a:t>最左归约过程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en-US" sz="3000" dirty="0">
              <a:latin typeface="Times New Roman" panose="02020603050405020304" pitchFamily="18" charset="0"/>
            </a:endParaRPr>
          </a:p>
        </p:txBody>
      </p:sp>
      <p:sp>
        <p:nvSpPr>
          <p:cNvPr id="8201" name="Rectangle 4"/>
          <p:cNvSpPr>
            <a:spLocks noChangeArrowheads="1"/>
          </p:cNvSpPr>
          <p:nvPr/>
        </p:nvSpPr>
        <p:spPr bwMode="auto">
          <a:xfrm>
            <a:off x="888730" y="1492323"/>
            <a:ext cx="3011688" cy="402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9056" tIns="34529" rIns="69056" bIns="34529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句子分析：  </a:t>
            </a:r>
            <a:r>
              <a:rPr lang="en-US" sz="2400" b="1" i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abbde</a:t>
            </a:r>
            <a:endParaRPr lang="en-US" sz="2400" b="1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2" name="Rectangle 4"/>
              <p:cNvSpPr>
                <a:spLocks noChangeArrowheads="1"/>
              </p:cNvSpPr>
              <p:nvPr/>
            </p:nvSpPr>
            <p:spPr bwMode="auto">
              <a:xfrm>
                <a:off x="916905" y="2460780"/>
                <a:ext cx="1543050" cy="506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9056" tIns="34529" rIns="69056" bIns="34529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⇐"/>
                                <m:pos m:val="top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</m:e>
                            </m:groupChr>
                          </m:e>
                        </m:box>
                      </m:e>
                    </m:box>
                  </m:oMath>
                </a14:m>
                <a:r>
                  <a:rPr lang="en-US" sz="2400" b="1" i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sz="2400" b="1" i="1" dirty="0" err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b="1" i="1" u="sng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b="1" i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b="1" i="1" dirty="0" err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:endParaRPr lang="en-US" sz="2400" b="1" i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0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905" y="2460780"/>
                <a:ext cx="1543050" cy="506134"/>
              </a:xfrm>
              <a:prstGeom prst="rect">
                <a:avLst/>
              </a:prstGeom>
              <a:blipFill>
                <a:blip r:embed="rId4"/>
                <a:stretch>
                  <a:fillRect t="-20482" b="-144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3" name="Rectangle 4"/>
              <p:cNvSpPr>
                <a:spLocks noChangeArrowheads="1"/>
              </p:cNvSpPr>
              <p:nvPr/>
            </p:nvSpPr>
            <p:spPr bwMode="auto">
              <a:xfrm>
                <a:off x="940718" y="2964836"/>
                <a:ext cx="1543050" cy="506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9056" tIns="34529" rIns="69056" bIns="34529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⇐"/>
                                <m:pos m:val="top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</m:e>
                            </m:groupChr>
                          </m:e>
                        </m:box>
                      </m:e>
                    </m:box>
                  </m:oMath>
                </a14:m>
                <a:r>
                  <a:rPr lang="en-US" sz="2400" b="1" i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sz="2400" b="1" i="1" dirty="0" err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b="1" i="1" u="sng" dirty="0" err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b="1" i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 b="1" i="1" dirty="0" err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400" b="1" i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203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718" y="2964836"/>
                <a:ext cx="1543050" cy="506134"/>
              </a:xfrm>
              <a:prstGeom prst="rect">
                <a:avLst/>
              </a:prstGeom>
              <a:blipFill>
                <a:blip r:embed="rId5"/>
                <a:stretch>
                  <a:fillRect t="-19277" b="-156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4" name="Rectangle 4"/>
              <p:cNvSpPr>
                <a:spLocks noChangeArrowheads="1"/>
              </p:cNvSpPr>
              <p:nvPr/>
            </p:nvSpPr>
            <p:spPr bwMode="auto">
              <a:xfrm>
                <a:off x="940718" y="3468892"/>
                <a:ext cx="1543050" cy="506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9056" tIns="34529" rIns="69056" bIns="34529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⇐"/>
                                <m:pos m:val="top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</m:e>
                            </m:groupChr>
                          </m:e>
                        </m:box>
                      </m:e>
                    </m:box>
                  </m:oMath>
                </a14:m>
                <a:r>
                  <a:rPr lang="en-US" sz="2400" b="1" i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sz="2400" b="1" i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</a:t>
                </a:r>
                <a:r>
                  <a:rPr lang="en-US" sz="2400" b="1" i="1" u="sng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b="1" i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0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718" y="3468892"/>
                <a:ext cx="1543050" cy="506134"/>
              </a:xfrm>
              <a:prstGeom prst="rect">
                <a:avLst/>
              </a:prstGeom>
              <a:blipFill>
                <a:blip r:embed="rId6"/>
                <a:stretch>
                  <a:fillRect t="-20482" b="-144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5" name="Rectangle 4"/>
              <p:cNvSpPr>
                <a:spLocks noChangeArrowheads="1"/>
              </p:cNvSpPr>
              <p:nvPr/>
            </p:nvSpPr>
            <p:spPr bwMode="auto">
              <a:xfrm>
                <a:off x="940122" y="3972948"/>
                <a:ext cx="1543050" cy="506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9056" tIns="34529" rIns="69056" bIns="34529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Symbol" pitchFamily="18" charset="2"/>
                  <a:buNone/>
                  <a:defRPr/>
                </a:pP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⇐"/>
                                <m:pos m:val="top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</m:e>
                            </m:groupChr>
                          </m:e>
                        </m:box>
                      </m:e>
                    </m:box>
                  </m:oMath>
                </a14:m>
                <a:r>
                  <a:rPr lang="en-US" sz="2400" b="1" i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</a:t>
                </a:r>
              </a:p>
            </p:txBody>
          </p:sp>
        </mc:Choice>
        <mc:Fallback xmlns="">
          <p:sp>
            <p:nvSpPr>
              <p:cNvPr id="820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122" y="3972948"/>
                <a:ext cx="1543050" cy="506134"/>
              </a:xfrm>
              <a:prstGeom prst="rect">
                <a:avLst/>
              </a:prstGeom>
              <a:blipFill>
                <a:blip r:embed="rId7"/>
                <a:stretch>
                  <a:fillRect t="-20482" b="-144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963175" y="1995686"/>
            <a:ext cx="93647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b="1" i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bde</a:t>
            </a:r>
            <a:endParaRPr lang="en-US" altLang="zh-CN" sz="2400" b="1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F8989D5-EAD3-41B4-BB79-A45A44269206}"/>
              </a:ext>
            </a:extLst>
          </p:cNvPr>
          <p:cNvGrpSpPr/>
          <p:nvPr/>
        </p:nvGrpSpPr>
        <p:grpSpPr>
          <a:xfrm>
            <a:off x="4034588" y="1868344"/>
            <a:ext cx="1345715" cy="1655255"/>
            <a:chOff x="4034588" y="1868344"/>
            <a:chExt cx="1345715" cy="165525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C83CEC1-90E8-4233-8F6A-92E258FE848B}"/>
                </a:ext>
              </a:extLst>
            </p:cNvPr>
            <p:cNvSpPr/>
            <p:nvPr/>
          </p:nvSpPr>
          <p:spPr>
            <a:xfrm>
              <a:off x="4636890" y="1868344"/>
              <a:ext cx="308589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AA8BE5D-24F7-4391-88CE-E07367B12896}"/>
                </a:ext>
              </a:extLst>
            </p:cNvPr>
            <p:cNvGrpSpPr/>
            <p:nvPr/>
          </p:nvGrpSpPr>
          <p:grpSpPr>
            <a:xfrm>
              <a:off x="4034588" y="2087638"/>
              <a:ext cx="1345715" cy="770804"/>
              <a:chOff x="6296797" y="3827092"/>
              <a:chExt cx="1794285" cy="1027737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EC62602A-0596-4A83-A7AF-0D37B5483D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465322" y="3837375"/>
                <a:ext cx="684087" cy="5703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26FDFFD-EC07-4C00-A8BA-0B90185D2972}"/>
                  </a:ext>
                </a:extLst>
              </p:cNvPr>
              <p:cNvCxnSpPr/>
              <p:nvPr/>
            </p:nvCxnSpPr>
            <p:spPr bwMode="auto">
              <a:xfrm flipH="1">
                <a:off x="6944528" y="3873288"/>
                <a:ext cx="299275" cy="49181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7CF432CA-D658-4EB1-B6DC-147CD53841BC}"/>
                  </a:ext>
                </a:extLst>
              </p:cNvPr>
              <p:cNvCxnSpPr/>
              <p:nvPr/>
            </p:nvCxnSpPr>
            <p:spPr bwMode="auto">
              <a:xfrm>
                <a:off x="7297691" y="3861048"/>
                <a:ext cx="231665" cy="50405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9AFF8CA-D3C3-4AC0-83A9-EDEA9D5F19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395173" y="3827092"/>
                <a:ext cx="600143" cy="5763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90070B5B-5DCF-48E7-AC0D-CDC50DBBB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2743" y="4285266"/>
                <a:ext cx="504840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2E905C64-720F-4671-8FF1-F522300A7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0113" y="4300832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B</a:t>
                </a:r>
              </a:p>
            </p:txBody>
          </p:sp>
          <p:sp>
            <p:nvSpPr>
              <p:cNvPr id="23" name="Text Box 5">
                <a:extLst>
                  <a:ext uri="{FF2B5EF4-FFF2-40B4-BE49-F238E27FC236}">
                    <a16:creationId xmlns:a16="http://schemas.microsoft.com/office/drawing/2014/main" id="{ABE43633-511B-4A55-98FF-AFA80F616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6797" y="4286342"/>
                <a:ext cx="425757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a</a:t>
                </a:r>
              </a:p>
            </p:txBody>
          </p:sp>
          <p:sp>
            <p:nvSpPr>
              <p:cNvPr id="24" name="Text Box 5">
                <a:extLst>
                  <a:ext uri="{FF2B5EF4-FFF2-40B4-BE49-F238E27FC236}">
                    <a16:creationId xmlns:a16="http://schemas.microsoft.com/office/drawing/2014/main" id="{56412429-12B0-4297-906D-3E4698447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7749" y="4249242"/>
                <a:ext cx="263333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e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B53D62CE-5FB2-4B8D-A295-0113F9C0A13C}"/>
                </a:ext>
              </a:extLst>
            </p:cNvPr>
            <p:cNvGrpSpPr/>
            <p:nvPr/>
          </p:nvGrpSpPr>
          <p:grpSpPr>
            <a:xfrm>
              <a:off x="4072198" y="2765583"/>
              <a:ext cx="796976" cy="758016"/>
              <a:chOff x="6302272" y="4747937"/>
              <a:chExt cx="1062634" cy="1010687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3625AA08-5B71-4FE6-832A-5564E1CFE725}"/>
                  </a:ext>
                </a:extLst>
              </p:cNvPr>
              <p:cNvCxnSpPr/>
              <p:nvPr/>
            </p:nvCxnSpPr>
            <p:spPr bwMode="auto">
              <a:xfrm flipH="1">
                <a:off x="6516641" y="4747937"/>
                <a:ext cx="287607" cy="54230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812A672-8956-486B-AB87-79C897DF38D9}"/>
                  </a:ext>
                </a:extLst>
              </p:cNvPr>
              <p:cNvCxnSpPr/>
              <p:nvPr/>
            </p:nvCxnSpPr>
            <p:spPr bwMode="auto">
              <a:xfrm>
                <a:off x="6905700" y="4747937"/>
                <a:ext cx="147723" cy="54230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53725605-355A-4E20-9698-7577D9254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2272" y="5204627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0A05DAFB-664A-4833-B9F4-6B643FD01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9149" y="5190998"/>
                <a:ext cx="425757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5A8864D-34A4-40C9-90C4-130C9EC29D5E}"/>
                </a:ext>
              </a:extLst>
            </p:cNvPr>
            <p:cNvGrpSpPr/>
            <p:nvPr/>
          </p:nvGrpSpPr>
          <p:grpSpPr>
            <a:xfrm>
              <a:off x="4922555" y="2789947"/>
              <a:ext cx="319318" cy="731596"/>
              <a:chOff x="7276461" y="4769473"/>
              <a:chExt cx="425757" cy="97546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FE8A71B0-7BC4-4769-88D0-ED8EFC927A04}"/>
                  </a:ext>
                </a:extLst>
              </p:cNvPr>
              <p:cNvCxnSpPr/>
              <p:nvPr/>
            </p:nvCxnSpPr>
            <p:spPr bwMode="auto">
              <a:xfrm flipH="1">
                <a:off x="7448454" y="4769473"/>
                <a:ext cx="3867" cy="5279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32" name="Text Box 5">
                <a:extLst>
                  <a:ext uri="{FF2B5EF4-FFF2-40B4-BE49-F238E27FC236}">
                    <a16:creationId xmlns:a16="http://schemas.microsoft.com/office/drawing/2014/main" id="{79E88C58-C3BD-4298-BC8F-BCD0506F6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6461" y="5190936"/>
                <a:ext cx="425757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d</a:t>
                </a: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29BF3F-908D-441B-9F3A-4C462D3B3AF8}"/>
              </a:ext>
            </a:extLst>
          </p:cNvPr>
          <p:cNvGrpSpPr/>
          <p:nvPr/>
        </p:nvGrpSpPr>
        <p:grpSpPr>
          <a:xfrm>
            <a:off x="2428602" y="1868344"/>
            <a:ext cx="1345715" cy="2199024"/>
            <a:chOff x="2428602" y="1868344"/>
            <a:chExt cx="1345715" cy="219902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F4086E0-1484-4188-94BC-0140848A777E}"/>
                </a:ext>
              </a:extLst>
            </p:cNvPr>
            <p:cNvSpPr/>
            <p:nvPr/>
          </p:nvSpPr>
          <p:spPr>
            <a:xfrm>
              <a:off x="3030904" y="1868344"/>
              <a:ext cx="308589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ECA576F-63C1-4BAB-918D-2382D8EB8BB1}"/>
                </a:ext>
              </a:extLst>
            </p:cNvPr>
            <p:cNvGrpSpPr/>
            <p:nvPr/>
          </p:nvGrpSpPr>
          <p:grpSpPr>
            <a:xfrm>
              <a:off x="2428602" y="2087638"/>
              <a:ext cx="1345715" cy="770804"/>
              <a:chOff x="6296797" y="3827092"/>
              <a:chExt cx="1794285" cy="1027737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F356F949-DCA3-41A8-B63F-32E4DEAFC4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465322" y="3837375"/>
                <a:ext cx="684087" cy="5703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34F8DAA-EE2F-48D1-A034-725A61867949}"/>
                  </a:ext>
                </a:extLst>
              </p:cNvPr>
              <p:cNvCxnSpPr/>
              <p:nvPr/>
            </p:nvCxnSpPr>
            <p:spPr bwMode="auto">
              <a:xfrm flipH="1">
                <a:off x="6944528" y="3873288"/>
                <a:ext cx="299275" cy="49181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7DD4360-F573-419B-A41A-CEBF219DE2A4}"/>
                  </a:ext>
                </a:extLst>
              </p:cNvPr>
              <p:cNvCxnSpPr/>
              <p:nvPr/>
            </p:nvCxnSpPr>
            <p:spPr bwMode="auto">
              <a:xfrm>
                <a:off x="7297691" y="3861048"/>
                <a:ext cx="231665" cy="50405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DDF2FB03-96BF-4D81-802A-1772AF0A80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395173" y="3827092"/>
                <a:ext cx="600143" cy="5763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44" name="Text Box 5">
                <a:extLst>
                  <a:ext uri="{FF2B5EF4-FFF2-40B4-BE49-F238E27FC236}">
                    <a16:creationId xmlns:a16="http://schemas.microsoft.com/office/drawing/2014/main" id="{21270E1B-CE9B-4C83-A701-254BBA48E7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2743" y="4285266"/>
                <a:ext cx="504840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A</a:t>
                </a:r>
              </a:p>
            </p:txBody>
          </p:sp>
          <p:sp>
            <p:nvSpPr>
              <p:cNvPr id="45" name="Text Box 5">
                <a:extLst>
                  <a:ext uri="{FF2B5EF4-FFF2-40B4-BE49-F238E27FC236}">
                    <a16:creationId xmlns:a16="http://schemas.microsoft.com/office/drawing/2014/main" id="{703C2127-A973-4DCF-9754-61F887FBC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0113" y="4300832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6A6CDA0E-27D3-4058-89E8-AB68173F9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6797" y="4286342"/>
                <a:ext cx="425757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a</a:t>
                </a:r>
              </a:p>
            </p:txBody>
          </p:sp>
          <p:sp>
            <p:nvSpPr>
              <p:cNvPr id="47" name="Text Box 5">
                <a:extLst>
                  <a:ext uri="{FF2B5EF4-FFF2-40B4-BE49-F238E27FC236}">
                    <a16:creationId xmlns:a16="http://schemas.microsoft.com/office/drawing/2014/main" id="{1449BEDE-45EC-44CE-870F-06031EEC38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7749" y="4249242"/>
                <a:ext cx="263333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e</a:t>
                </a: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4ADB17C-8C4F-42B7-A84F-7C42C1B5C7F5}"/>
                </a:ext>
              </a:extLst>
            </p:cNvPr>
            <p:cNvGrpSpPr/>
            <p:nvPr/>
          </p:nvGrpSpPr>
          <p:grpSpPr>
            <a:xfrm>
              <a:off x="2466211" y="2765583"/>
              <a:ext cx="810898" cy="758016"/>
              <a:chOff x="6302272" y="4747937"/>
              <a:chExt cx="1081197" cy="1010687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7887EA13-BAD3-4680-ACE4-E2E10F2CD768}"/>
                  </a:ext>
                </a:extLst>
              </p:cNvPr>
              <p:cNvCxnSpPr/>
              <p:nvPr/>
            </p:nvCxnSpPr>
            <p:spPr bwMode="auto">
              <a:xfrm flipH="1">
                <a:off x="6516641" y="4747937"/>
                <a:ext cx="287607" cy="54230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8AD81C6-A0C9-452F-91EB-8CDED57F1BB6}"/>
                  </a:ext>
                </a:extLst>
              </p:cNvPr>
              <p:cNvCxnSpPr/>
              <p:nvPr/>
            </p:nvCxnSpPr>
            <p:spPr bwMode="auto">
              <a:xfrm>
                <a:off x="6924262" y="4747937"/>
                <a:ext cx="147723" cy="54230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51" name="Text Box 5">
                <a:extLst>
                  <a:ext uri="{FF2B5EF4-FFF2-40B4-BE49-F238E27FC236}">
                    <a16:creationId xmlns:a16="http://schemas.microsoft.com/office/drawing/2014/main" id="{FDD4F766-6957-481B-B2BC-25598099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2272" y="5204627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52" name="Text Box 5">
                <a:extLst>
                  <a:ext uri="{FF2B5EF4-FFF2-40B4-BE49-F238E27FC236}">
                    <a16:creationId xmlns:a16="http://schemas.microsoft.com/office/drawing/2014/main" id="{1424EA09-527D-4981-9909-4AFA0CAA75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7712" y="5190998"/>
                <a:ext cx="425757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b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9D6097C-8B64-451C-8BE9-E21BBF495CD5}"/>
                </a:ext>
              </a:extLst>
            </p:cNvPr>
            <p:cNvGrpSpPr/>
            <p:nvPr/>
          </p:nvGrpSpPr>
          <p:grpSpPr>
            <a:xfrm>
              <a:off x="3307425" y="2789949"/>
              <a:ext cx="319318" cy="722453"/>
              <a:chOff x="7264269" y="4769473"/>
              <a:chExt cx="425757" cy="963268"/>
            </a:xfrm>
          </p:grpSpPr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335ABBB-D37E-40CA-824A-38BE277383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448454" y="4769473"/>
                <a:ext cx="3867" cy="5279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55" name="Text Box 5">
                <a:extLst>
                  <a:ext uri="{FF2B5EF4-FFF2-40B4-BE49-F238E27FC236}">
                    <a16:creationId xmlns:a16="http://schemas.microsoft.com/office/drawing/2014/main" id="{D8383F24-DB29-4E3E-B0F3-EA36802A33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64269" y="5178745"/>
                <a:ext cx="425757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d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84BE288-6FAB-4B27-8844-046C87A39CE4}"/>
                </a:ext>
              </a:extLst>
            </p:cNvPr>
            <p:cNvGrpSpPr/>
            <p:nvPr/>
          </p:nvGrpSpPr>
          <p:grpSpPr>
            <a:xfrm>
              <a:off x="2500605" y="3446747"/>
              <a:ext cx="319318" cy="620621"/>
              <a:chOff x="7251622" y="4752666"/>
              <a:chExt cx="425757" cy="827494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788C9012-8899-494C-8E97-EC961265B82C}"/>
                  </a:ext>
                </a:extLst>
              </p:cNvPr>
              <p:cNvCxnSpPr/>
              <p:nvPr/>
            </p:nvCxnSpPr>
            <p:spPr bwMode="auto">
              <a:xfrm flipH="1">
                <a:off x="7448454" y="4752666"/>
                <a:ext cx="3867" cy="3840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58" name="Text Box 5">
                <a:extLst>
                  <a:ext uri="{FF2B5EF4-FFF2-40B4-BE49-F238E27FC236}">
                    <a16:creationId xmlns:a16="http://schemas.microsoft.com/office/drawing/2014/main" id="{E6C71F49-ED13-4C88-B6C7-8896DA38C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1622" y="5026163"/>
                <a:ext cx="425757" cy="553997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2F0C3FB-1786-4DD3-AE2C-36B9824FB7A6}"/>
              </a:ext>
            </a:extLst>
          </p:cNvPr>
          <p:cNvGrpSpPr/>
          <p:nvPr/>
        </p:nvGrpSpPr>
        <p:grpSpPr>
          <a:xfrm>
            <a:off x="5629575" y="1856669"/>
            <a:ext cx="1345715" cy="1653199"/>
            <a:chOff x="5629575" y="1856669"/>
            <a:chExt cx="1345715" cy="1653199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E795AB5B-D648-49CD-86A0-844047A35275}"/>
                </a:ext>
              </a:extLst>
            </p:cNvPr>
            <p:cNvSpPr/>
            <p:nvPr/>
          </p:nvSpPr>
          <p:spPr>
            <a:xfrm>
              <a:off x="6231877" y="1856669"/>
              <a:ext cx="308589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70E98713-326A-4549-B222-988B8625D5B8}"/>
                </a:ext>
              </a:extLst>
            </p:cNvPr>
            <p:cNvGrpSpPr/>
            <p:nvPr/>
          </p:nvGrpSpPr>
          <p:grpSpPr>
            <a:xfrm>
              <a:off x="5629575" y="2075963"/>
              <a:ext cx="1345715" cy="770804"/>
              <a:chOff x="6296797" y="3827092"/>
              <a:chExt cx="1794285" cy="1027737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EB9E1FA2-DE71-4993-AF8A-93D5CAC30C6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465322" y="3837375"/>
                <a:ext cx="684087" cy="5703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4488425-ADDB-490F-BC0D-1C352DA8C8E9}"/>
                  </a:ext>
                </a:extLst>
              </p:cNvPr>
              <p:cNvCxnSpPr/>
              <p:nvPr/>
            </p:nvCxnSpPr>
            <p:spPr bwMode="auto">
              <a:xfrm flipH="1">
                <a:off x="6944528" y="3873288"/>
                <a:ext cx="299275" cy="49181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2A1BB591-F4C0-46BC-BD66-B452A8A0205F}"/>
                  </a:ext>
                </a:extLst>
              </p:cNvPr>
              <p:cNvCxnSpPr/>
              <p:nvPr/>
            </p:nvCxnSpPr>
            <p:spPr bwMode="auto">
              <a:xfrm>
                <a:off x="7297691" y="3861048"/>
                <a:ext cx="231665" cy="50405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E746D28E-73DF-49C4-8B8A-F86314B5038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395173" y="3827092"/>
                <a:ext cx="600143" cy="5763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65" name="Text Box 5">
                <a:extLst>
                  <a:ext uri="{FF2B5EF4-FFF2-40B4-BE49-F238E27FC236}">
                    <a16:creationId xmlns:a16="http://schemas.microsoft.com/office/drawing/2014/main" id="{D61E06A9-5FAA-45F9-8D61-8033520059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2743" y="4285266"/>
                <a:ext cx="504840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A</a:t>
                </a:r>
              </a:p>
            </p:txBody>
          </p:sp>
          <p:sp>
            <p:nvSpPr>
              <p:cNvPr id="66" name="Text Box 5">
                <a:extLst>
                  <a:ext uri="{FF2B5EF4-FFF2-40B4-BE49-F238E27FC236}">
                    <a16:creationId xmlns:a16="http://schemas.microsoft.com/office/drawing/2014/main" id="{E1A00BF9-6B11-4989-977A-59036841C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0113" y="4300832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67" name="Text Box 5">
                <a:extLst>
                  <a:ext uri="{FF2B5EF4-FFF2-40B4-BE49-F238E27FC236}">
                    <a16:creationId xmlns:a16="http://schemas.microsoft.com/office/drawing/2014/main" id="{36B63032-38AE-4CDA-B6D3-10C3872022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6797" y="4286342"/>
                <a:ext cx="425757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a</a:t>
                </a:r>
              </a:p>
            </p:txBody>
          </p:sp>
          <p:sp>
            <p:nvSpPr>
              <p:cNvPr id="68" name="Text Box 5">
                <a:extLst>
                  <a:ext uri="{FF2B5EF4-FFF2-40B4-BE49-F238E27FC236}">
                    <a16:creationId xmlns:a16="http://schemas.microsoft.com/office/drawing/2014/main" id="{B58D811D-F7D5-445B-B40D-E3016E8EE7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7749" y="4249242"/>
                <a:ext cx="263333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/>
                  <a:t>e</a:t>
                </a: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31F7AB40-9A22-45F1-95E1-8959D8D7C0D6}"/>
                </a:ext>
              </a:extLst>
            </p:cNvPr>
            <p:cNvGrpSpPr/>
            <p:nvPr/>
          </p:nvGrpSpPr>
          <p:grpSpPr>
            <a:xfrm>
              <a:off x="6517542" y="2765666"/>
              <a:ext cx="319318" cy="744202"/>
              <a:chOff x="7276461" y="4752665"/>
              <a:chExt cx="425757" cy="992268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6E4772D-F93C-49E8-B088-FF0B273905DA}"/>
                  </a:ext>
                </a:extLst>
              </p:cNvPr>
              <p:cNvCxnSpPr/>
              <p:nvPr/>
            </p:nvCxnSpPr>
            <p:spPr bwMode="auto">
              <a:xfrm flipH="1">
                <a:off x="7448454" y="4752665"/>
                <a:ext cx="3867" cy="5279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76" name="Text Box 5">
                <a:extLst>
                  <a:ext uri="{FF2B5EF4-FFF2-40B4-BE49-F238E27FC236}">
                    <a16:creationId xmlns:a16="http://schemas.microsoft.com/office/drawing/2014/main" id="{047F0448-126E-4AD5-93D6-625424F330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6461" y="5190936"/>
                <a:ext cx="425757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95718F4-01C5-49A4-856A-7E801063670E}"/>
              </a:ext>
            </a:extLst>
          </p:cNvPr>
          <p:cNvGrpSpPr/>
          <p:nvPr/>
        </p:nvGrpSpPr>
        <p:grpSpPr>
          <a:xfrm>
            <a:off x="7169087" y="1856669"/>
            <a:ext cx="1345715" cy="990098"/>
            <a:chOff x="7169087" y="1856669"/>
            <a:chExt cx="1345715" cy="990098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99A4D8B-FAA8-4836-AE0E-2C6E72C2967F}"/>
                </a:ext>
              </a:extLst>
            </p:cNvPr>
            <p:cNvSpPr/>
            <p:nvPr/>
          </p:nvSpPr>
          <p:spPr>
            <a:xfrm>
              <a:off x="7771389" y="1856669"/>
              <a:ext cx="308589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1BF5CCB1-CAA0-43AE-8203-496453A8A7F4}"/>
                </a:ext>
              </a:extLst>
            </p:cNvPr>
            <p:cNvGrpSpPr/>
            <p:nvPr/>
          </p:nvGrpSpPr>
          <p:grpSpPr>
            <a:xfrm>
              <a:off x="7169087" y="2075963"/>
              <a:ext cx="1345715" cy="770804"/>
              <a:chOff x="6296797" y="3827092"/>
              <a:chExt cx="1794285" cy="1027737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3300392-ED8D-4C62-8A97-56A57E7113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465322" y="3837375"/>
                <a:ext cx="684087" cy="5703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01E39C14-AB2F-4DFD-8644-2509F3F46327}"/>
                  </a:ext>
                </a:extLst>
              </p:cNvPr>
              <p:cNvCxnSpPr/>
              <p:nvPr/>
            </p:nvCxnSpPr>
            <p:spPr bwMode="auto">
              <a:xfrm flipH="1">
                <a:off x="6944528" y="3873288"/>
                <a:ext cx="299275" cy="49181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AE84EE55-264C-4B46-94AF-468C15943837}"/>
                  </a:ext>
                </a:extLst>
              </p:cNvPr>
              <p:cNvCxnSpPr/>
              <p:nvPr/>
            </p:nvCxnSpPr>
            <p:spPr bwMode="auto">
              <a:xfrm>
                <a:off x="7297691" y="3861048"/>
                <a:ext cx="231665" cy="50405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7B5C1632-8D20-4203-9E45-BBFA8877EE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395173" y="3827092"/>
                <a:ext cx="600143" cy="5763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bg2"/>
                </a:outerShdw>
              </a:effectLst>
            </p:spPr>
          </p:cxnSp>
          <p:sp>
            <p:nvSpPr>
              <p:cNvPr id="86" name="Text Box 5">
                <a:extLst>
                  <a:ext uri="{FF2B5EF4-FFF2-40B4-BE49-F238E27FC236}">
                    <a16:creationId xmlns:a16="http://schemas.microsoft.com/office/drawing/2014/main" id="{3230FA04-6504-4F61-B513-F6BA7871C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2743" y="4285266"/>
                <a:ext cx="504840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87" name="Text Box 5">
                <a:extLst>
                  <a:ext uri="{FF2B5EF4-FFF2-40B4-BE49-F238E27FC236}">
                    <a16:creationId xmlns:a16="http://schemas.microsoft.com/office/drawing/2014/main" id="{03A6C33B-7525-4526-9542-FF77C44D6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0113" y="4300832"/>
                <a:ext cx="485603" cy="553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88" name="Text Box 5">
                <a:extLst>
                  <a:ext uri="{FF2B5EF4-FFF2-40B4-BE49-F238E27FC236}">
                    <a16:creationId xmlns:a16="http://schemas.microsoft.com/office/drawing/2014/main" id="{963CBCDE-C3D2-4697-917A-FAF661B4E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6797" y="4286342"/>
                <a:ext cx="425757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89" name="Text Box 5">
                <a:extLst>
                  <a:ext uri="{FF2B5EF4-FFF2-40B4-BE49-F238E27FC236}">
                    <a16:creationId xmlns:a16="http://schemas.microsoft.com/office/drawing/2014/main" id="{A94F8E27-42CF-4449-B310-2BEC3B8A49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7749" y="4249242"/>
                <a:ext cx="263333" cy="553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100" b="1" i="1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</p:grpSp>
      <p:sp>
        <p:nvSpPr>
          <p:cNvPr id="104" name="Text Box 23">
            <a:extLst>
              <a:ext uri="{FF2B5EF4-FFF2-40B4-BE49-F238E27FC236}">
                <a16:creationId xmlns:a16="http://schemas.microsoft.com/office/drawing/2014/main" id="{C92CD5A1-8B6E-46B7-A9FF-89C841617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4362115"/>
            <a:ext cx="7272807" cy="6579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9056" tIns="34529" rIns="69056" bIns="34529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5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u="sng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规范句型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每步最左归约选择</a:t>
            </a:r>
            <a:r>
              <a:rPr lang="zh-CN" alt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归约的子串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都是该规范句型对应分析树的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最左直接短语</a:t>
            </a:r>
            <a:r>
              <a:rPr lang="en-US" altLang="zh-CN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(</a:t>
            </a:r>
            <a:r>
              <a:rPr lang="zh-CN" alt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只有父子两代子树的边缘</a:t>
            </a:r>
            <a:r>
              <a:rPr lang="en-US" altLang="zh-CN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，称为</a:t>
            </a:r>
            <a:r>
              <a:rPr lang="zh-CN" alt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规范句型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句柄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</a:rPr>
              <a:t>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6BA604-DE0C-4959-82FC-3F79E3B2345B}"/>
              </a:ext>
            </a:extLst>
          </p:cNvPr>
          <p:cNvSpPr/>
          <p:nvPr/>
        </p:nvSpPr>
        <p:spPr>
          <a:xfrm>
            <a:off x="1691680" y="3992969"/>
            <a:ext cx="1946246" cy="346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abbde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的句柄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F1C76BB-D25F-4F26-BFF3-7E18B3BAF8CC}"/>
              </a:ext>
            </a:extLst>
          </p:cNvPr>
          <p:cNvSpPr/>
          <p:nvPr/>
        </p:nvSpPr>
        <p:spPr>
          <a:xfrm>
            <a:off x="3576818" y="3523031"/>
            <a:ext cx="2004686" cy="406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aAbde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的句柄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DA87457-9409-4AEA-9BDA-C9C7F933BD13}"/>
              </a:ext>
            </a:extLst>
          </p:cNvPr>
          <p:cNvSpPr/>
          <p:nvPr/>
        </p:nvSpPr>
        <p:spPr>
          <a:xfrm>
            <a:off x="5581503" y="3451047"/>
            <a:ext cx="2245274" cy="323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的句柄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A2B0AFA-8C52-47C7-859E-A1298C4ADA6F}"/>
              </a:ext>
            </a:extLst>
          </p:cNvPr>
          <p:cNvSpPr/>
          <p:nvPr/>
        </p:nvSpPr>
        <p:spPr>
          <a:xfrm>
            <a:off x="7069971" y="2873785"/>
            <a:ext cx="1845797" cy="3538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是句柄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E894BDE-974B-486E-AADA-CBF45654A76D}"/>
              </a:ext>
            </a:extLst>
          </p:cNvPr>
          <p:cNvSpPr/>
          <p:nvPr/>
        </p:nvSpPr>
        <p:spPr>
          <a:xfrm>
            <a:off x="3566328" y="3905923"/>
            <a:ext cx="5470168" cy="4001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最左归约的核心问题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选择哪个子串进行归约？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640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build="p" autoUpdateAnimBg="0"/>
      <p:bldP spid="8203" grpId="0" build="p" autoUpdateAnimBg="0"/>
      <p:bldP spid="8204" grpId="0" build="p" autoUpdateAnimBg="0"/>
      <p:bldP spid="8205" grpId="0" build="p" autoUpdateAnimBg="0"/>
      <p:bldP spid="2" grpId="0"/>
      <p:bldP spid="104" grpId="0" animBg="1" autoUpdateAnimBg="0"/>
      <p:bldP spid="13" grpId="0" animBg="1"/>
      <p:bldP spid="110" grpId="0" animBg="1"/>
      <p:bldP spid="111" grpId="0" animBg="1"/>
      <p:bldP spid="112" grpId="0" animBg="1"/>
      <p:bldP spid="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529208" y="915566"/>
                <a:ext cx="8291264" cy="3672408"/>
              </a:xfrm>
            </p:spPr>
            <p:txBody>
              <a:bodyPr/>
              <a:lstStyle/>
              <a:p>
                <a:r>
                  <a:rPr lang="zh-CN" altLang="en-US" sz="2800" dirty="0"/>
                  <a:t>最左归约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每步得到的都是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规范句型（最右句型）</a:t>
                </a:r>
                <a:endParaRPr lang="en-US" altLang="zh-CN" sz="2800" b="1" dirty="0">
                  <a:solidFill>
                    <a:srgbClr val="007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groupChr>
                    <m:r>
                      <a:rPr lang="zh-CN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groupChr>
                    <m:r>
                      <a:rPr lang="zh-CN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楷体_GB2312" panose="02010609030101010101" pitchFamily="49" charset="-122"/>
                  </a:rPr>
                  <a:t>，称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楷体_GB2312" panose="02010609030101010101" pitchFamily="49" charset="-122"/>
                  </a:rPr>
                  <a:t>是规范句型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𝜶𝜷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楷体_GB2312" panose="02010609030101010101" pitchFamily="49" charset="-122"/>
                  </a:rPr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  <a:latin typeface="楷体_GB2312" panose="02010609030101010101" pitchFamily="49" charset="-122"/>
                  </a:rPr>
                  <a:t>句柄</a:t>
                </a:r>
                <a:endParaRPr lang="en-US" altLang="zh-CN" dirty="0">
                  <a:solidFill>
                    <a:srgbClr val="0000FF"/>
                  </a:solidFill>
                  <a:latin typeface="楷体_GB2312" panose="02010609030101010101" pitchFamily="49" charset="-122"/>
                </a:endParaRPr>
              </a:p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从句子开始，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每步</a:t>
                </a:r>
                <a:r>
                  <a:rPr lang="zh-CN" altLang="en-US" sz="2800" dirty="0"/>
                  <a:t>都选择</a:t>
                </a:r>
                <a:r>
                  <a:rPr lang="zh-CN" altLang="en-US" sz="2800" dirty="0">
                    <a:solidFill>
                      <a:srgbClr val="0070C0"/>
                    </a:solidFill>
                  </a:rPr>
                  <a:t>句柄</a:t>
                </a:r>
                <a:r>
                  <a:rPr lang="zh-CN" altLang="en-US" sz="2800" dirty="0"/>
                  <a:t>进行归约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得到的总是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规范句型</a:t>
                </a:r>
                <a:endParaRPr lang="en-US" altLang="zh-CN" sz="2800" b="1" dirty="0">
                  <a:solidFill>
                    <a:srgbClr val="0070C0"/>
                  </a:solidFill>
                </a:endParaRPr>
              </a:p>
              <a:p>
                <a:pPr marL="342900" lvl="1" indent="-342900"/>
                <a:r>
                  <a:rPr lang="zh-CN" altLang="en-US" sz="2800" b="1" dirty="0"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规范句型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楷体_GB2312" panose="02010609030101010101" pitchFamily="49" charset="-122"/>
                  </a:rPr>
                  <a:t>句柄右侧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的串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一定是只包含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楷体_GB2312" panose="02010609030101010101" pitchFamily="49" charset="-122"/>
                  </a:rPr>
                  <a:t>终结符号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。</a:t>
                </a:r>
                <a:endParaRPr lang="en-US" altLang="zh-CN" sz="2800" b="1" dirty="0">
                  <a:solidFill>
                    <a:schemeClr val="tx1"/>
                  </a:solidFill>
                  <a:latin typeface="楷体_GB2312" panose="02010609030101010101" pitchFamily="49" charset="-122"/>
                </a:endParaRPr>
              </a:p>
              <a:p>
                <a:pPr marL="342900" lvl="1" indent="-342900"/>
                <a:r>
                  <a:rPr lang="zh-CN" altLang="en-US" sz="2800" dirty="0">
                    <a:latin typeface="楷体_GB2312" panose="02010609030101010101" pitchFamily="49" charset="-122"/>
                  </a:rPr>
                  <a:t>句柄一定是某个产生式的右部，反之不成立。</a:t>
                </a:r>
                <a:endParaRPr lang="zh-CN" altLang="en-US" sz="2800" b="1" dirty="0">
                  <a:solidFill>
                    <a:schemeClr val="tx1"/>
                  </a:solidFill>
                  <a:latin typeface="楷体_GB2312" panose="02010609030101010101" pitchFamily="49" charset="-122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208" y="915566"/>
                <a:ext cx="8291264" cy="3672408"/>
              </a:xfrm>
              <a:blipFill>
                <a:blip r:embed="rId3"/>
                <a:stretch>
                  <a:fillRect l="-1324" t="-2488" r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>
                <a:latin typeface="Times New Roman" panose="02020603050405020304" pitchFamily="18" charset="0"/>
              </a:rPr>
              <a:t>句柄（</a:t>
            </a:r>
            <a:r>
              <a:rPr lang="en-US" altLang="zh-CN" sz="2700" i="1" dirty="0">
                <a:latin typeface="Times New Roman" panose="02020603050405020304" pitchFamily="18" charset="0"/>
              </a:rPr>
              <a:t>handle</a:t>
            </a:r>
            <a:r>
              <a:rPr lang="en-US" altLang="zh-CN" sz="2700" dirty="0">
                <a:latin typeface="Times New Roman" panose="02020603050405020304" pitchFamily="18" charset="0"/>
              </a:rPr>
              <a:t>)</a:t>
            </a:r>
            <a:endParaRPr lang="zh-CN" altLang="en-US" sz="2700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5442AD-35AD-4333-9850-F4BCABE56846}"/>
              </a:ext>
            </a:extLst>
          </p:cNvPr>
          <p:cNvSpPr txBox="1"/>
          <p:nvPr/>
        </p:nvSpPr>
        <p:spPr>
          <a:xfrm>
            <a:off x="1043608" y="4083918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如何在规范句型中找到句柄呢？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687C8D-A620-4D86-9AE9-FCBA4D3CFB17}"/>
              </a:ext>
            </a:extLst>
          </p:cNvPr>
          <p:cNvSpPr txBox="1"/>
          <p:nvPr/>
        </p:nvSpPr>
        <p:spPr>
          <a:xfrm>
            <a:off x="1475656" y="1388886"/>
            <a:ext cx="59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06374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66571">
            <a:extLst>
              <a:ext uri="{FF2B5EF4-FFF2-40B4-BE49-F238E27FC236}">
                <a16:creationId xmlns:a16="http://schemas.microsoft.com/office/drawing/2014/main" id="{A326A815-C031-463E-BDB6-AEDEFDFAA918}"/>
              </a:ext>
            </a:extLst>
          </p:cNvPr>
          <p:cNvGrpSpPr>
            <a:grpSpLocks/>
          </p:cNvGrpSpPr>
          <p:nvPr/>
        </p:nvGrpSpPr>
        <p:grpSpPr bwMode="auto">
          <a:xfrm>
            <a:off x="3329730" y="920204"/>
            <a:ext cx="5245906" cy="3350890"/>
            <a:chOff x="1631688" y="1707779"/>
            <a:chExt cx="5184568" cy="334972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CFE06DC-4B6A-4325-B3A8-1FEAAFACD1E5}"/>
                </a:ext>
              </a:extLst>
            </p:cNvPr>
            <p:cNvSpPr/>
            <p:nvPr/>
          </p:nvSpPr>
          <p:spPr>
            <a:xfrm>
              <a:off x="1631688" y="1707779"/>
              <a:ext cx="5102191" cy="33497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C41F41CF-C5F1-476D-9FAE-DE1548267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b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ts val="2000"/>
                </a:lnSpc>
                <a:spcBef>
                  <a:spcPts val="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  <a:r>
                <a: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 id  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  id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C4B63E-D737-460D-92EC-29EDC39E46FE}"/>
                </a:ext>
              </a:extLst>
            </p:cNvPr>
            <p:cNvCxnSpPr>
              <a:cxnSpLocks/>
              <a:stCxn id="29" idx="0"/>
              <a:endCxn id="31" idx="3"/>
            </p:cNvCxnSpPr>
            <p:nvPr/>
          </p:nvCxnSpPr>
          <p:spPr bwMode="auto">
            <a:xfrm flipV="1">
              <a:off x="4541777" y="2746513"/>
              <a:ext cx="620485" cy="4084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1AF7E164-DD68-4685-A3A8-CA67BC8D1587}"/>
                </a:ext>
              </a:extLst>
            </p:cNvPr>
            <p:cNvSpPr txBox="1"/>
            <p:nvPr/>
          </p:nvSpPr>
          <p:spPr bwMode="auto">
            <a:xfrm>
              <a:off x="3855757" y="3154992"/>
              <a:ext cx="1372039" cy="7076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移入</a:t>
              </a:r>
              <a:r>
                <a:rPr lang="en-US" altLang="zh-CN" sz="2000" b="1" dirty="0">
                  <a:latin typeface="+mn-ea"/>
                  <a:ea typeface="+mn-ea"/>
                </a:rPr>
                <a:t>-</a:t>
              </a:r>
              <a:r>
                <a:rPr lang="zh-CN" altLang="en-US" sz="2000" b="1" dirty="0">
                  <a:latin typeface="+mn-ea"/>
                  <a:ea typeface="+mn-ea"/>
                </a:rPr>
                <a:t>归约控制程序</a:t>
              </a: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C075DF4C-AF29-4265-A688-156262D3E359}"/>
                </a:ext>
              </a:extLst>
            </p:cNvPr>
            <p:cNvSpPr txBox="1"/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输入</a:t>
              </a:r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E2F0F6C5-8AEE-41A1-AFA7-8E429A95764D}"/>
                </a:ext>
              </a:extLst>
            </p:cNvPr>
            <p:cNvSpPr/>
            <p:nvPr/>
          </p:nvSpPr>
          <p:spPr bwMode="auto">
            <a:xfrm rot="3377915">
              <a:off x="5202341" y="2543206"/>
              <a:ext cx="136517" cy="26044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C9B55119-E190-4613-B430-B8278AB49FD8}"/>
                </a:ext>
              </a:extLst>
            </p:cNvPr>
            <p:cNvSpPr txBox="1"/>
            <p:nvPr/>
          </p:nvSpPr>
          <p:spPr bwMode="auto">
            <a:xfrm>
              <a:off x="3957440" y="4321924"/>
              <a:ext cx="1213107" cy="3999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rgbClr val="FF0000"/>
                  </a:solidFill>
                  <a:latin typeface="+mn-ea"/>
                  <a:ea typeface="+mn-ea"/>
                </a:rPr>
                <a:t>分析表</a:t>
              </a:r>
              <a:r>
                <a:rPr lang="en-US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M</a:t>
              </a:r>
              <a:endParaRPr lang="zh-CN" altLang="en-US" sz="20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B87D33A-9C75-4BF3-8A57-9BB32DC72BCA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 bwMode="auto">
            <a:xfrm>
              <a:off x="4541777" y="3862632"/>
              <a:ext cx="22217" cy="4592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21EB8DFA-3039-4B47-8934-574394CBFF3A}"/>
                </a:ext>
              </a:extLst>
            </p:cNvPr>
            <p:cNvSpPr/>
            <p:nvPr/>
          </p:nvSpPr>
          <p:spPr bwMode="auto">
            <a:xfrm rot="10800000">
              <a:off x="4502687" y="4150564"/>
              <a:ext cx="134966" cy="142825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308508F-8BF3-4834-9E3C-8608E0401074}"/>
                </a:ext>
              </a:extLst>
            </p:cNvPr>
            <p:cNvCxnSpPr>
              <a:cxnSpLocks/>
              <a:stCxn id="29" idx="3"/>
              <a:endCxn id="37" idx="3"/>
            </p:cNvCxnSpPr>
            <p:nvPr/>
          </p:nvCxnSpPr>
          <p:spPr bwMode="auto">
            <a:xfrm flipV="1">
              <a:off x="5227796" y="3480872"/>
              <a:ext cx="585401" cy="279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BD8E549-3091-4058-9490-F6FBDEE6D842}"/>
                </a:ext>
              </a:extLst>
            </p:cNvPr>
            <p:cNvCxnSpPr>
              <a:cxnSpLocks/>
              <a:stCxn id="38" idx="3"/>
              <a:endCxn id="29" idx="1"/>
            </p:cNvCxnSpPr>
            <p:nvPr/>
          </p:nvCxnSpPr>
          <p:spPr bwMode="auto">
            <a:xfrm>
              <a:off x="3312658" y="3491980"/>
              <a:ext cx="543099" cy="168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3E050A88-38A2-4771-86A1-5DBECED74723}"/>
                </a:ext>
              </a:extLst>
            </p:cNvPr>
            <p:cNvSpPr/>
            <p:nvPr/>
          </p:nvSpPr>
          <p:spPr bwMode="auto">
            <a:xfrm rot="5400000">
              <a:off x="5877543" y="3349081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DE24C6ED-2ED6-4895-B914-96E7D01A6AE8}"/>
                </a:ext>
              </a:extLst>
            </p:cNvPr>
            <p:cNvSpPr/>
            <p:nvPr/>
          </p:nvSpPr>
          <p:spPr bwMode="auto">
            <a:xfrm rot="16200000">
              <a:off x="3113422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9" name="TextBox 37">
              <a:extLst>
                <a:ext uri="{FF2B5EF4-FFF2-40B4-BE49-F238E27FC236}">
                  <a16:creationId xmlns:a16="http://schemas.microsoft.com/office/drawing/2014/main" id="{016B0432-233C-4359-BEDD-D49450CEF612}"/>
                </a:ext>
              </a:extLst>
            </p:cNvPr>
            <p:cNvSpPr txBox="1"/>
            <p:nvPr/>
          </p:nvSpPr>
          <p:spPr bwMode="auto">
            <a:xfrm>
              <a:off x="2347545" y="2922571"/>
              <a:ext cx="670932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栈</a:t>
              </a:r>
            </a:p>
          </p:txBody>
        </p:sp>
        <p:sp>
          <p:nvSpPr>
            <p:cNvPr id="40" name="TextBox 38">
              <a:extLst>
                <a:ext uri="{FF2B5EF4-FFF2-40B4-BE49-F238E27FC236}">
                  <a16:creationId xmlns:a16="http://schemas.microsoft.com/office/drawing/2014/main" id="{15263F72-C2E8-4A41-8701-9A5CE8EC71B2}"/>
                </a:ext>
              </a:extLst>
            </p:cNvPr>
            <p:cNvSpPr txBox="1"/>
            <p:nvPr/>
          </p:nvSpPr>
          <p:spPr bwMode="auto">
            <a:xfrm>
              <a:off x="5850424" y="3116344"/>
              <a:ext cx="965832" cy="7076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输出</a:t>
              </a:r>
              <a:endParaRPr lang="en-US" altLang="zh-CN" sz="2000" b="1" dirty="0">
                <a:latin typeface="+mn-ea"/>
                <a:ea typeface="+mn-ea"/>
              </a:endParaRPr>
            </a:p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产生式</a:t>
              </a:r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B280FFD4-8D90-4427-A672-E8ABA6063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677" y="3316889"/>
              <a:ext cx="571501" cy="15945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7BFAD2B-EBF7-4FF3-B00B-6307ECB478B4}"/>
                </a:ext>
              </a:extLst>
            </p:cNvPr>
            <p:cNvCxnSpPr/>
            <p:nvPr/>
          </p:nvCxnSpPr>
          <p:spPr bwMode="auto">
            <a:xfrm flipH="1" flipV="1">
              <a:off x="2442860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BAC0594-41D8-4711-A0D1-8A75DEF7E372}"/>
                </a:ext>
              </a:extLst>
            </p:cNvPr>
            <p:cNvCxnSpPr/>
            <p:nvPr/>
          </p:nvCxnSpPr>
          <p:spPr bwMode="auto">
            <a:xfrm flipH="1" flipV="1">
              <a:off x="2432878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3129037-6043-4835-B246-D31BEE58A276}"/>
                </a:ext>
              </a:extLst>
            </p:cNvPr>
            <p:cNvCxnSpPr/>
            <p:nvPr/>
          </p:nvCxnSpPr>
          <p:spPr bwMode="auto">
            <a:xfrm flipH="1" flipV="1">
              <a:off x="2442860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52F64F6-81A7-450B-A042-5B385B6DEF3F}"/>
                </a:ext>
              </a:extLst>
            </p:cNvPr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D0A6408-70D7-4EEC-8963-B2CAED947C5D}"/>
                </a:ext>
              </a:extLst>
            </p:cNvPr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17A972B-75B8-4301-AE74-848FFD59E53F}"/>
                </a:ext>
              </a:extLst>
            </p:cNvPr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41A8D97-42F8-4DB7-973E-A9443F461690}"/>
                </a:ext>
              </a:extLst>
            </p:cNvPr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7B4613A-B5A8-4CEA-8BA0-FDD771DC2464}"/>
                </a:ext>
              </a:extLst>
            </p:cNvPr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C70CEB7-6005-41F3-B310-6938976546F2}"/>
                </a:ext>
              </a:extLst>
            </p:cNvPr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9EBA037A-F805-4B86-BA8F-C103BBB971A9}"/>
                </a:ext>
              </a:extLst>
            </p:cNvPr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000" dirty="0"/>
              <a:t>自底向上分析的通用框架</a:t>
            </a:r>
            <a:r>
              <a:rPr lang="en-US" altLang="zh-CN" sz="3000" dirty="0"/>
              <a:t>——</a:t>
            </a:r>
            <a:r>
              <a:rPr lang="zh-CN" altLang="en-US" sz="3000" dirty="0"/>
              <a:t>移入</a:t>
            </a:r>
            <a:r>
              <a:rPr lang="en-US" altLang="zh-CN" sz="3000" dirty="0"/>
              <a:t>-</a:t>
            </a:r>
            <a:r>
              <a:rPr lang="zh-CN" altLang="en-US" sz="3000" dirty="0"/>
              <a:t>归约分析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CD2EBB8-3C12-47A3-9F23-A286C8450528}"/>
              </a:ext>
            </a:extLst>
          </p:cNvPr>
          <p:cNvGrpSpPr/>
          <p:nvPr/>
        </p:nvGrpSpPr>
        <p:grpSpPr>
          <a:xfrm>
            <a:off x="6909045" y="843558"/>
            <a:ext cx="730809" cy="562858"/>
            <a:chOff x="6164398" y="1534021"/>
            <a:chExt cx="381344" cy="562858"/>
          </a:xfrm>
        </p:grpSpPr>
        <p:sp>
          <p:nvSpPr>
            <p:cNvPr id="53" name="左大括号 52">
              <a:extLst>
                <a:ext uri="{FF2B5EF4-FFF2-40B4-BE49-F238E27FC236}">
                  <a16:creationId xmlns:a16="http://schemas.microsoft.com/office/drawing/2014/main" id="{9DF151B7-3374-476F-B18D-F2FC7ADD478E}"/>
                </a:ext>
              </a:extLst>
            </p:cNvPr>
            <p:cNvSpPr/>
            <p:nvPr/>
          </p:nvSpPr>
          <p:spPr bwMode="auto">
            <a:xfrm rot="5400000">
              <a:off x="6255928" y="1807066"/>
              <a:ext cx="198283" cy="381344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8FBF909-552D-4291-87EB-EB78DFC3554E}"/>
                </a:ext>
              </a:extLst>
            </p:cNvPr>
            <p:cNvSpPr/>
            <p:nvPr/>
          </p:nvSpPr>
          <p:spPr>
            <a:xfrm>
              <a:off x="6234717" y="1534021"/>
              <a:ext cx="2675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CN" altLang="en-US" sz="2400" baseline="30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CDD37ED-DC70-4A85-AFA7-49A37CD126F4}"/>
              </a:ext>
            </a:extLst>
          </p:cNvPr>
          <p:cNvGrpSpPr/>
          <p:nvPr/>
        </p:nvGrpSpPr>
        <p:grpSpPr>
          <a:xfrm rot="16200000">
            <a:off x="3224508" y="2870903"/>
            <a:ext cx="1189344" cy="522015"/>
            <a:chOff x="6006371" y="1574863"/>
            <a:chExt cx="729406" cy="522015"/>
          </a:xfrm>
        </p:grpSpPr>
        <p:sp>
          <p:nvSpPr>
            <p:cNvPr id="56" name="左大括号 55">
              <a:extLst>
                <a:ext uri="{FF2B5EF4-FFF2-40B4-BE49-F238E27FC236}">
                  <a16:creationId xmlns:a16="http://schemas.microsoft.com/office/drawing/2014/main" id="{D340E691-D1FE-4FAA-82B9-06EEA1B82083}"/>
                </a:ext>
              </a:extLst>
            </p:cNvPr>
            <p:cNvSpPr/>
            <p:nvPr/>
          </p:nvSpPr>
          <p:spPr bwMode="auto">
            <a:xfrm rot="5400000">
              <a:off x="6274572" y="1635673"/>
              <a:ext cx="193004" cy="729406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0AD9FCE-F5A2-4863-90F1-2FA8B866F854}"/>
                </a:ext>
              </a:extLst>
            </p:cNvPr>
            <p:cNvSpPr/>
            <p:nvPr/>
          </p:nvSpPr>
          <p:spPr>
            <a:xfrm rot="5400000">
              <a:off x="6200858" y="1628840"/>
              <a:ext cx="391085" cy="2831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zh-CN" altLang="en-US" sz="2400" b="1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A8240366-0E0A-44E4-B3EF-5AC24484CC79}"/>
              </a:ext>
            </a:extLst>
          </p:cNvPr>
          <p:cNvSpPr/>
          <p:nvPr/>
        </p:nvSpPr>
        <p:spPr>
          <a:xfrm>
            <a:off x="319198" y="888271"/>
            <a:ext cx="29271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分析栈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1" eaLnBrk="1" hangingPunct="1"/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保存处于分析中的文法符号串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9A2B05-9552-458A-8561-C77F6D4B7B44}"/>
              </a:ext>
            </a:extLst>
          </p:cNvPr>
          <p:cNvSpPr/>
          <p:nvPr/>
        </p:nvSpPr>
        <p:spPr>
          <a:xfrm>
            <a:off x="312233" y="2557229"/>
            <a:ext cx="29025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分析过程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1" eaLnBrk="1" hangingPunct="1"/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从左到右扫描输入串，将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输入符号</a:t>
            </a:r>
            <a:r>
              <a:rPr lang="zh-CN" altLang="en-US" sz="2000" b="1" u="sng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移入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栈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，一旦</a:t>
            </a:r>
            <a:r>
              <a:rPr lang="zh-CN" altLang="en-US" sz="2000" b="1" u="sng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句柄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在栈顶形成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，就将其</a:t>
            </a:r>
            <a:r>
              <a:rPr lang="zh-CN" altLang="en-US" sz="2000" b="1" u="sng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为对应的产生式头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。重复这个过程，直到分析结束。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5FF35C-E85F-4955-B8A4-119D0F16FC1A}"/>
              </a:ext>
            </a:extLst>
          </p:cNvPr>
          <p:cNvGrpSpPr/>
          <p:nvPr/>
        </p:nvGrpSpPr>
        <p:grpSpPr>
          <a:xfrm>
            <a:off x="356739" y="1887907"/>
            <a:ext cx="2338094" cy="684813"/>
            <a:chOff x="356739" y="1887907"/>
            <a:chExt cx="2338094" cy="6848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72FC55F-4C00-4952-B486-376135FE9368}"/>
                </a:ext>
              </a:extLst>
            </p:cNvPr>
            <p:cNvSpPr/>
            <p:nvPr/>
          </p:nvSpPr>
          <p:spPr>
            <a:xfrm>
              <a:off x="356739" y="1887907"/>
              <a:ext cx="22766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srgbClr val="0070C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初始</a:t>
              </a:r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zh-CN" altLang="en-US" sz="20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7C8EED-6A76-4334-812D-FCDC33EE894D}"/>
                </a:ext>
              </a:extLst>
            </p:cNvPr>
            <p:cNvSpPr/>
            <p:nvPr/>
          </p:nvSpPr>
          <p:spPr>
            <a:xfrm>
              <a:off x="1187624" y="1926389"/>
              <a:ext cx="150720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     栈：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  <a:p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输入：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 $</a:t>
              </a:r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7061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idx="1"/>
          </p:nvPr>
        </p:nvSpPr>
        <p:spPr>
          <a:xfrm>
            <a:off x="3571875" y="407988"/>
            <a:ext cx="5927725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id+(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id 	   	   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    	     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    	     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+(id 	         +id)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+id)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                     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	 	) $ 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	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	 	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	 	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3315" name="标题 8"/>
          <p:cNvSpPr>
            <a:spLocks noGrp="1"/>
          </p:cNvSpPr>
          <p:nvPr>
            <p:ph type="title"/>
          </p:nvPr>
        </p:nvSpPr>
        <p:spPr>
          <a:xfrm>
            <a:off x="755650" y="268288"/>
            <a:ext cx="4103688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1685925" y="3827463"/>
            <a:ext cx="357188" cy="492125"/>
            <a:chOff x="975" y="3203"/>
            <a:chExt cx="225" cy="653"/>
          </a:xfrm>
        </p:grpSpPr>
        <p:sp>
          <p:nvSpPr>
            <p:cNvPr id="16419" name="Line 62"/>
            <p:cNvSpPr>
              <a:spLocks noChangeShapeType="1"/>
            </p:cNvSpPr>
            <p:nvPr/>
          </p:nvSpPr>
          <p:spPr bwMode="auto">
            <a:xfrm flipH="1" flipV="1">
              <a:off x="1066" y="3618"/>
              <a:ext cx="0" cy="238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42" name="Rectangle 63"/>
            <p:cNvSpPr>
              <a:spLocks noChangeArrowheads="1"/>
            </p:cNvSpPr>
            <p:nvPr/>
          </p:nvSpPr>
          <p:spPr bwMode="auto">
            <a:xfrm>
              <a:off x="975" y="3203"/>
              <a:ext cx="225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1901825" y="3422650"/>
            <a:ext cx="812800" cy="847725"/>
            <a:chOff x="1111" y="2662"/>
            <a:chExt cx="512" cy="1129"/>
          </a:xfrm>
        </p:grpSpPr>
        <p:sp>
          <p:nvSpPr>
            <p:cNvPr id="16415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416" name="Line 69"/>
            <p:cNvSpPr>
              <a:spLocks noChangeShapeType="1"/>
            </p:cNvSpPr>
            <p:nvPr/>
          </p:nvSpPr>
          <p:spPr bwMode="auto">
            <a:xfrm flipV="1">
              <a:off x="1364" y="3184"/>
              <a:ext cx="10" cy="607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417" name="Line 70"/>
            <p:cNvSpPr>
              <a:spLocks noChangeShapeType="1"/>
            </p:cNvSpPr>
            <p:nvPr/>
          </p:nvSpPr>
          <p:spPr bwMode="auto">
            <a:xfrm flipV="1">
              <a:off x="1111" y="3098"/>
              <a:ext cx="272" cy="226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4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533400" y="3814763"/>
            <a:ext cx="357188" cy="504825"/>
            <a:chOff x="975" y="3041"/>
            <a:chExt cx="225" cy="672"/>
          </a:xfrm>
        </p:grpSpPr>
        <p:sp>
          <p:nvSpPr>
            <p:cNvPr id="16413" name="Line 79"/>
            <p:cNvSpPr>
              <a:spLocks noChangeShapeType="1"/>
            </p:cNvSpPr>
            <p:nvPr/>
          </p:nvSpPr>
          <p:spPr bwMode="auto">
            <a:xfrm flipH="1" flipV="1">
              <a:off x="1066" y="3474"/>
              <a:ext cx="0" cy="23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36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2622550" y="3883025"/>
            <a:ext cx="357188" cy="471488"/>
            <a:chOff x="975" y="3203"/>
            <a:chExt cx="225" cy="628"/>
          </a:xfrm>
        </p:grpSpPr>
        <p:sp>
          <p:nvSpPr>
            <p:cNvPr id="16411" name="Line 82"/>
            <p:cNvSpPr>
              <a:spLocks noChangeShapeType="1"/>
            </p:cNvSpPr>
            <p:nvPr/>
          </p:nvSpPr>
          <p:spPr bwMode="auto">
            <a:xfrm flipH="1" flipV="1">
              <a:off x="1066" y="3592"/>
              <a:ext cx="0" cy="23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34" name="Rectangle 83"/>
            <p:cNvSpPr>
              <a:spLocks noChangeArrowheads="1"/>
            </p:cNvSpPr>
            <p:nvPr/>
          </p:nvSpPr>
          <p:spPr bwMode="auto">
            <a:xfrm>
              <a:off x="975" y="3203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1500188" y="2919413"/>
            <a:ext cx="1625600" cy="1387475"/>
            <a:chOff x="858" y="1946"/>
            <a:chExt cx="1024" cy="1847"/>
          </a:xfrm>
        </p:grpSpPr>
        <p:sp>
          <p:nvSpPr>
            <p:cNvPr id="16407" name="Line 74"/>
            <p:cNvSpPr>
              <a:spLocks noChangeShapeType="1"/>
            </p:cNvSpPr>
            <p:nvPr/>
          </p:nvSpPr>
          <p:spPr bwMode="auto">
            <a:xfrm flipV="1">
              <a:off x="858" y="2417"/>
              <a:ext cx="536" cy="1352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408" name="Line 75"/>
            <p:cNvSpPr>
              <a:spLocks noChangeShapeType="1"/>
            </p:cNvSpPr>
            <p:nvPr/>
          </p:nvSpPr>
          <p:spPr bwMode="auto">
            <a:xfrm flipH="1" flipV="1">
              <a:off x="1381" y="2417"/>
              <a:ext cx="501" cy="1376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409" name="Line 85"/>
            <p:cNvSpPr>
              <a:spLocks noChangeShapeType="1"/>
            </p:cNvSpPr>
            <p:nvPr/>
          </p:nvSpPr>
          <p:spPr bwMode="auto">
            <a:xfrm flipV="1">
              <a:off x="1383" y="2392"/>
              <a:ext cx="0" cy="30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32" name="Rectangle 86"/>
            <p:cNvSpPr>
              <a:spLocks noChangeArrowheads="1"/>
            </p:cNvSpPr>
            <p:nvPr/>
          </p:nvSpPr>
          <p:spPr bwMode="auto">
            <a:xfrm>
              <a:off x="1247" y="1946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749300" y="2470150"/>
            <a:ext cx="1439863" cy="1782763"/>
            <a:chOff x="385" y="1374"/>
            <a:chExt cx="907" cy="2374"/>
          </a:xfrm>
        </p:grpSpPr>
        <p:sp>
          <p:nvSpPr>
            <p:cNvPr id="16403" name="Line 73"/>
            <p:cNvSpPr>
              <a:spLocks noChangeShapeType="1"/>
            </p:cNvSpPr>
            <p:nvPr/>
          </p:nvSpPr>
          <p:spPr bwMode="auto">
            <a:xfrm flipV="1">
              <a:off x="385" y="1850"/>
              <a:ext cx="634" cy="139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26" name="Rectangle 76"/>
            <p:cNvSpPr>
              <a:spLocks noChangeArrowheads="1"/>
            </p:cNvSpPr>
            <p:nvPr/>
          </p:nvSpPr>
          <p:spPr bwMode="auto">
            <a:xfrm>
              <a:off x="930" y="1374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405" name="Line 88"/>
            <p:cNvSpPr>
              <a:spLocks noChangeShapeType="1"/>
            </p:cNvSpPr>
            <p:nvPr/>
          </p:nvSpPr>
          <p:spPr bwMode="auto">
            <a:xfrm flipV="1">
              <a:off x="612" y="1850"/>
              <a:ext cx="447" cy="1898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406" name="Line 89"/>
            <p:cNvSpPr>
              <a:spLocks noChangeShapeType="1"/>
            </p:cNvSpPr>
            <p:nvPr/>
          </p:nvSpPr>
          <p:spPr bwMode="auto">
            <a:xfrm flipH="1" flipV="1">
              <a:off x="1092" y="1850"/>
              <a:ext cx="200" cy="216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58838" y="876300"/>
            <a:ext cx="1529586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id</a:t>
            </a:r>
            <a:endParaRPr lang="zh-CN" altLang="en-US" b="1" dirty="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461963" y="4252913"/>
            <a:ext cx="2895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kumimoji="1" lang="en-US" altLang="zh-CN" sz="2000" b="1" dirty="0">
                <a:solidFill>
                  <a:srgbClr val="2D83F4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2000" b="1" dirty="0">
                <a:solidFill>
                  <a:srgbClr val="5EAE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 dirty="0">
                <a:solidFill>
                  <a:srgbClr val="2D83F4"/>
                </a:solidFill>
                <a:latin typeface="Times New Roman" panose="02020603050405020304" pitchFamily="18" charset="0"/>
              </a:rPr>
              <a:t>+    (    id    +    id</a:t>
            </a:r>
            <a:r>
              <a:rPr kumimoji="1" lang="en-US" altLang="zh-CN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 dirty="0">
                <a:solidFill>
                  <a:srgbClr val="2D83F4"/>
                </a:solidFill>
                <a:latin typeface="Times New Roman" panose="02020603050405020304" pitchFamily="18" charset="0"/>
              </a:rPr>
              <a:t>)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46544" y="4659313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78"/>
          <p:cNvGrpSpPr>
            <a:grpSpLocks/>
          </p:cNvGrpSpPr>
          <p:nvPr/>
        </p:nvGrpSpPr>
        <p:grpSpPr bwMode="auto">
          <a:xfrm>
            <a:off x="529432" y="3804877"/>
            <a:ext cx="357188" cy="504825"/>
            <a:chOff x="975" y="3041"/>
            <a:chExt cx="225" cy="672"/>
          </a:xfrm>
        </p:grpSpPr>
        <p:sp>
          <p:nvSpPr>
            <p:cNvPr id="38" name="Line 79"/>
            <p:cNvSpPr>
              <a:spLocks noChangeShapeType="1"/>
            </p:cNvSpPr>
            <p:nvPr/>
          </p:nvSpPr>
          <p:spPr bwMode="auto">
            <a:xfrm flipH="1" flipV="1">
              <a:off x="1066" y="3474"/>
              <a:ext cx="0" cy="239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cxnSp>
        <p:nvCxnSpPr>
          <p:cNvPr id="40" name="直接箭头连接符 39"/>
          <p:cNvCxnSpPr/>
          <p:nvPr/>
        </p:nvCxnSpPr>
        <p:spPr>
          <a:xfrm flipV="1">
            <a:off x="1115616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1475656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1835696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77"/>
          <p:cNvGrpSpPr>
            <a:grpSpLocks/>
          </p:cNvGrpSpPr>
          <p:nvPr/>
        </p:nvGrpSpPr>
        <p:grpSpPr bwMode="auto">
          <a:xfrm>
            <a:off x="1674813" y="3827797"/>
            <a:ext cx="357188" cy="492125"/>
            <a:chOff x="975" y="3203"/>
            <a:chExt cx="225" cy="653"/>
          </a:xfrm>
        </p:grpSpPr>
        <p:sp>
          <p:nvSpPr>
            <p:cNvPr id="44" name="Line 62"/>
            <p:cNvSpPr>
              <a:spLocks noChangeShapeType="1"/>
            </p:cNvSpPr>
            <p:nvPr/>
          </p:nvSpPr>
          <p:spPr bwMode="auto">
            <a:xfrm flipH="1" flipV="1">
              <a:off x="1066" y="3618"/>
              <a:ext cx="0" cy="238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Rectangle 63"/>
            <p:cNvSpPr>
              <a:spLocks noChangeArrowheads="1"/>
            </p:cNvSpPr>
            <p:nvPr/>
          </p:nvSpPr>
          <p:spPr bwMode="auto">
            <a:xfrm>
              <a:off x="975" y="3203"/>
              <a:ext cx="225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cxnSp>
        <p:nvCxnSpPr>
          <p:cNvPr id="46" name="直接箭头连接符 45"/>
          <p:cNvCxnSpPr/>
          <p:nvPr/>
        </p:nvCxnSpPr>
        <p:spPr>
          <a:xfrm flipV="1">
            <a:off x="2267744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2771800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81"/>
          <p:cNvGrpSpPr>
            <a:grpSpLocks/>
          </p:cNvGrpSpPr>
          <p:nvPr/>
        </p:nvGrpSpPr>
        <p:grpSpPr bwMode="auto">
          <a:xfrm>
            <a:off x="2617361" y="3869167"/>
            <a:ext cx="357188" cy="471488"/>
            <a:chOff x="975" y="3203"/>
            <a:chExt cx="225" cy="628"/>
          </a:xfrm>
        </p:grpSpPr>
        <p:sp>
          <p:nvSpPr>
            <p:cNvPr id="49" name="Line 82"/>
            <p:cNvSpPr>
              <a:spLocks noChangeShapeType="1"/>
            </p:cNvSpPr>
            <p:nvPr/>
          </p:nvSpPr>
          <p:spPr bwMode="auto">
            <a:xfrm flipH="1" flipV="1">
              <a:off x="1066" y="3592"/>
              <a:ext cx="0" cy="239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Rectangle 83"/>
            <p:cNvSpPr>
              <a:spLocks noChangeArrowheads="1"/>
            </p:cNvSpPr>
            <p:nvPr/>
          </p:nvSpPr>
          <p:spPr bwMode="auto">
            <a:xfrm>
              <a:off x="975" y="3203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51" name="Group 84"/>
          <p:cNvGrpSpPr>
            <a:grpSpLocks/>
          </p:cNvGrpSpPr>
          <p:nvPr/>
        </p:nvGrpSpPr>
        <p:grpSpPr bwMode="auto">
          <a:xfrm>
            <a:off x="1912938" y="3422650"/>
            <a:ext cx="812800" cy="847725"/>
            <a:chOff x="1111" y="2662"/>
            <a:chExt cx="512" cy="1129"/>
          </a:xfrm>
        </p:grpSpPr>
        <p:sp>
          <p:nvSpPr>
            <p:cNvPr id="52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3" name="Line 69"/>
            <p:cNvSpPr>
              <a:spLocks noChangeShapeType="1"/>
            </p:cNvSpPr>
            <p:nvPr/>
          </p:nvSpPr>
          <p:spPr bwMode="auto">
            <a:xfrm flipV="1">
              <a:off x="1364" y="3184"/>
              <a:ext cx="10" cy="607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Line 70"/>
            <p:cNvSpPr>
              <a:spLocks noChangeShapeType="1"/>
            </p:cNvSpPr>
            <p:nvPr/>
          </p:nvSpPr>
          <p:spPr bwMode="auto">
            <a:xfrm flipV="1">
              <a:off x="1111" y="3098"/>
              <a:ext cx="272" cy="226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cxnSp>
        <p:nvCxnSpPr>
          <p:cNvPr id="56" name="直接箭头连接符 55"/>
          <p:cNvCxnSpPr/>
          <p:nvPr/>
        </p:nvCxnSpPr>
        <p:spPr>
          <a:xfrm flipV="1">
            <a:off x="3131840" y="4659982"/>
            <a:ext cx="0" cy="28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87"/>
          <p:cNvGrpSpPr>
            <a:grpSpLocks/>
          </p:cNvGrpSpPr>
          <p:nvPr/>
        </p:nvGrpSpPr>
        <p:grpSpPr bwMode="auto">
          <a:xfrm>
            <a:off x="1498600" y="2932396"/>
            <a:ext cx="1625600" cy="1387475"/>
            <a:chOff x="858" y="1946"/>
            <a:chExt cx="1024" cy="1847"/>
          </a:xfrm>
        </p:grpSpPr>
        <p:sp>
          <p:nvSpPr>
            <p:cNvPr id="58" name="Line 74"/>
            <p:cNvSpPr>
              <a:spLocks noChangeShapeType="1"/>
            </p:cNvSpPr>
            <p:nvPr/>
          </p:nvSpPr>
          <p:spPr bwMode="auto">
            <a:xfrm flipV="1">
              <a:off x="858" y="2417"/>
              <a:ext cx="536" cy="1352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Line 75"/>
            <p:cNvSpPr>
              <a:spLocks noChangeShapeType="1"/>
            </p:cNvSpPr>
            <p:nvPr/>
          </p:nvSpPr>
          <p:spPr bwMode="auto">
            <a:xfrm flipH="1" flipV="1">
              <a:off x="1381" y="2417"/>
              <a:ext cx="501" cy="1376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Line 85"/>
            <p:cNvSpPr>
              <a:spLocks noChangeShapeType="1"/>
            </p:cNvSpPr>
            <p:nvPr/>
          </p:nvSpPr>
          <p:spPr bwMode="auto">
            <a:xfrm flipV="1">
              <a:off x="1383" y="2392"/>
              <a:ext cx="0" cy="309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Rectangle 86"/>
            <p:cNvSpPr>
              <a:spLocks noChangeArrowheads="1"/>
            </p:cNvSpPr>
            <p:nvPr/>
          </p:nvSpPr>
          <p:spPr bwMode="auto">
            <a:xfrm>
              <a:off x="1247" y="1946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2" name="Group 90"/>
          <p:cNvGrpSpPr>
            <a:grpSpLocks/>
          </p:cNvGrpSpPr>
          <p:nvPr/>
        </p:nvGrpSpPr>
        <p:grpSpPr bwMode="auto">
          <a:xfrm>
            <a:off x="746338" y="2470150"/>
            <a:ext cx="1439863" cy="1782763"/>
            <a:chOff x="385" y="1374"/>
            <a:chExt cx="907" cy="2374"/>
          </a:xfrm>
        </p:grpSpPr>
        <p:sp>
          <p:nvSpPr>
            <p:cNvPr id="63" name="Line 73"/>
            <p:cNvSpPr>
              <a:spLocks noChangeShapeType="1"/>
            </p:cNvSpPr>
            <p:nvPr/>
          </p:nvSpPr>
          <p:spPr bwMode="auto">
            <a:xfrm flipV="1">
              <a:off x="385" y="1850"/>
              <a:ext cx="634" cy="1399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Rectangle 76"/>
            <p:cNvSpPr>
              <a:spLocks noChangeArrowheads="1"/>
            </p:cNvSpPr>
            <p:nvPr/>
          </p:nvSpPr>
          <p:spPr bwMode="auto">
            <a:xfrm>
              <a:off x="930" y="1374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5" name="Line 88"/>
            <p:cNvSpPr>
              <a:spLocks noChangeShapeType="1"/>
            </p:cNvSpPr>
            <p:nvPr/>
          </p:nvSpPr>
          <p:spPr bwMode="auto">
            <a:xfrm flipV="1">
              <a:off x="612" y="1850"/>
              <a:ext cx="447" cy="1898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Line 89"/>
            <p:cNvSpPr>
              <a:spLocks noChangeShapeType="1"/>
            </p:cNvSpPr>
            <p:nvPr/>
          </p:nvSpPr>
          <p:spPr bwMode="auto">
            <a:xfrm flipH="1" flipV="1">
              <a:off x="1092" y="1850"/>
              <a:ext cx="200" cy="216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7" name="AutoShape 6"/>
          <p:cNvSpPr>
            <a:spLocks noChangeArrowheads="1"/>
          </p:cNvSpPr>
          <p:nvPr/>
        </p:nvSpPr>
        <p:spPr bwMode="auto">
          <a:xfrm>
            <a:off x="3695924" y="1947687"/>
            <a:ext cx="141287" cy="1860550"/>
          </a:xfrm>
          <a:prstGeom prst="downArrow">
            <a:avLst>
              <a:gd name="adj1" fmla="val 50000"/>
              <a:gd name="adj2" fmla="val 24046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8" name="Rectangle 7"/>
          <p:cNvSpPr>
            <a:spLocks noChangeArrowheads="1"/>
          </p:cNvSpPr>
          <p:nvPr/>
        </p:nvSpPr>
        <p:spPr bwMode="auto">
          <a:xfrm>
            <a:off x="3318099" y="2277887"/>
            <a:ext cx="450850" cy="120032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61963" y="3768798"/>
            <a:ext cx="2525861" cy="917603"/>
            <a:chOff x="461963" y="3768798"/>
            <a:chExt cx="2525861" cy="917603"/>
          </a:xfrm>
        </p:grpSpPr>
        <p:sp>
          <p:nvSpPr>
            <p:cNvPr id="15" name="椭圆 14"/>
            <p:cNvSpPr/>
            <p:nvPr/>
          </p:nvSpPr>
          <p:spPr>
            <a:xfrm>
              <a:off x="461963" y="3768798"/>
              <a:ext cx="424657" cy="89051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657930" y="3795886"/>
              <a:ext cx="424657" cy="89051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2563167" y="3795886"/>
              <a:ext cx="424657" cy="89051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508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400" fill="hold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400" fill="hold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7" grpId="0" animBg="1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66571">
            <a:extLst>
              <a:ext uri="{FF2B5EF4-FFF2-40B4-BE49-F238E27FC236}">
                <a16:creationId xmlns:a16="http://schemas.microsoft.com/office/drawing/2014/main" id="{A326A815-C031-463E-BDB6-AEDEFDFAA918}"/>
              </a:ext>
            </a:extLst>
          </p:cNvPr>
          <p:cNvGrpSpPr>
            <a:grpSpLocks/>
          </p:cNvGrpSpPr>
          <p:nvPr/>
        </p:nvGrpSpPr>
        <p:grpSpPr bwMode="auto">
          <a:xfrm>
            <a:off x="3329730" y="920204"/>
            <a:ext cx="5162555" cy="3350890"/>
            <a:chOff x="1631688" y="1707779"/>
            <a:chExt cx="5102191" cy="334972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CFE06DC-4B6A-4325-B3A8-1FEAAFACD1E5}"/>
                </a:ext>
              </a:extLst>
            </p:cNvPr>
            <p:cNvSpPr/>
            <p:nvPr/>
          </p:nvSpPr>
          <p:spPr>
            <a:xfrm>
              <a:off x="1631688" y="1707779"/>
              <a:ext cx="5102191" cy="33497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C41F41CF-C5F1-476D-9FAE-DE1548267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b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ts val="2000"/>
                </a:lnSpc>
                <a:spcBef>
                  <a:spcPts val="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  <a:r>
                <a: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 id  *  id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C4B63E-D737-460D-92EC-29EDC39E46FE}"/>
                </a:ext>
              </a:extLst>
            </p:cNvPr>
            <p:cNvCxnSpPr>
              <a:cxnSpLocks/>
              <a:stCxn id="29" idx="0"/>
              <a:endCxn id="31" idx="3"/>
            </p:cNvCxnSpPr>
            <p:nvPr/>
          </p:nvCxnSpPr>
          <p:spPr bwMode="auto">
            <a:xfrm flipV="1">
              <a:off x="4541777" y="2746513"/>
              <a:ext cx="620485" cy="4084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1AF7E164-DD68-4685-A3A8-CA67BC8D1587}"/>
                </a:ext>
              </a:extLst>
            </p:cNvPr>
            <p:cNvSpPr txBox="1"/>
            <p:nvPr/>
          </p:nvSpPr>
          <p:spPr bwMode="auto">
            <a:xfrm>
              <a:off x="3855757" y="3154992"/>
              <a:ext cx="1372039" cy="7076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移入</a:t>
              </a:r>
              <a:r>
                <a:rPr lang="en-US" altLang="zh-CN" sz="2000" b="1" dirty="0">
                  <a:latin typeface="+mn-ea"/>
                  <a:ea typeface="+mn-ea"/>
                </a:rPr>
                <a:t>-</a:t>
              </a:r>
              <a:r>
                <a:rPr lang="zh-CN" altLang="en-US" sz="2000" b="1" dirty="0">
                  <a:latin typeface="+mn-ea"/>
                  <a:ea typeface="+mn-ea"/>
                </a:rPr>
                <a:t>归约控制程序</a:t>
              </a: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C075DF4C-AF29-4265-A688-156262D3E359}"/>
                </a:ext>
              </a:extLst>
            </p:cNvPr>
            <p:cNvSpPr txBox="1"/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输入</a:t>
              </a:r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E2F0F6C5-8AEE-41A1-AFA7-8E429A95764D}"/>
                </a:ext>
              </a:extLst>
            </p:cNvPr>
            <p:cNvSpPr/>
            <p:nvPr/>
          </p:nvSpPr>
          <p:spPr bwMode="auto">
            <a:xfrm rot="3377915">
              <a:off x="5202341" y="2543206"/>
              <a:ext cx="136517" cy="26044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C9B55119-E190-4613-B430-B8278AB49FD8}"/>
                </a:ext>
              </a:extLst>
            </p:cNvPr>
            <p:cNvSpPr txBox="1"/>
            <p:nvPr/>
          </p:nvSpPr>
          <p:spPr bwMode="auto">
            <a:xfrm>
              <a:off x="3957440" y="4321924"/>
              <a:ext cx="1213107" cy="3999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rgbClr val="FF0000"/>
                  </a:solidFill>
                  <a:latin typeface="+mn-ea"/>
                  <a:ea typeface="+mn-ea"/>
                </a:rPr>
                <a:t>分析表</a:t>
              </a:r>
              <a:r>
                <a:rPr lang="en-US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M</a:t>
              </a:r>
              <a:endParaRPr lang="zh-CN" altLang="en-US" sz="20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B87D33A-9C75-4BF3-8A57-9BB32DC72BCA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 bwMode="auto">
            <a:xfrm>
              <a:off x="4541777" y="3862632"/>
              <a:ext cx="22217" cy="4592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21EB8DFA-3039-4B47-8934-574394CBFF3A}"/>
                </a:ext>
              </a:extLst>
            </p:cNvPr>
            <p:cNvSpPr/>
            <p:nvPr/>
          </p:nvSpPr>
          <p:spPr bwMode="auto">
            <a:xfrm rot="10800000">
              <a:off x="4502687" y="4150564"/>
              <a:ext cx="134966" cy="142825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308508F-8BF3-4834-9E3C-8608E0401074}"/>
                </a:ext>
              </a:extLst>
            </p:cNvPr>
            <p:cNvCxnSpPr>
              <a:cxnSpLocks/>
              <a:stCxn id="29" idx="3"/>
              <a:endCxn id="37" idx="3"/>
            </p:cNvCxnSpPr>
            <p:nvPr/>
          </p:nvCxnSpPr>
          <p:spPr bwMode="auto">
            <a:xfrm flipV="1">
              <a:off x="5227796" y="3480872"/>
              <a:ext cx="585401" cy="279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BD8E549-3091-4058-9490-F6FBDEE6D842}"/>
                </a:ext>
              </a:extLst>
            </p:cNvPr>
            <p:cNvCxnSpPr>
              <a:cxnSpLocks/>
              <a:stCxn id="38" idx="3"/>
              <a:endCxn id="29" idx="1"/>
            </p:cNvCxnSpPr>
            <p:nvPr/>
          </p:nvCxnSpPr>
          <p:spPr bwMode="auto">
            <a:xfrm>
              <a:off x="3312658" y="3491980"/>
              <a:ext cx="543099" cy="168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3E050A88-38A2-4771-86A1-5DBECED74723}"/>
                </a:ext>
              </a:extLst>
            </p:cNvPr>
            <p:cNvSpPr/>
            <p:nvPr/>
          </p:nvSpPr>
          <p:spPr bwMode="auto">
            <a:xfrm rot="5400000">
              <a:off x="5877543" y="3349081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DE24C6ED-2ED6-4895-B914-96E7D01A6AE8}"/>
                </a:ext>
              </a:extLst>
            </p:cNvPr>
            <p:cNvSpPr/>
            <p:nvPr/>
          </p:nvSpPr>
          <p:spPr bwMode="auto">
            <a:xfrm rot="16200000">
              <a:off x="3113422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9" name="TextBox 37">
              <a:extLst>
                <a:ext uri="{FF2B5EF4-FFF2-40B4-BE49-F238E27FC236}">
                  <a16:creationId xmlns:a16="http://schemas.microsoft.com/office/drawing/2014/main" id="{016B0432-233C-4359-BEDD-D49450CEF612}"/>
                </a:ext>
              </a:extLst>
            </p:cNvPr>
            <p:cNvSpPr txBox="1"/>
            <p:nvPr/>
          </p:nvSpPr>
          <p:spPr bwMode="auto">
            <a:xfrm>
              <a:off x="2347545" y="2922571"/>
              <a:ext cx="670932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栈</a:t>
              </a:r>
            </a:p>
          </p:txBody>
        </p:sp>
        <p:sp>
          <p:nvSpPr>
            <p:cNvPr id="40" name="TextBox 38">
              <a:extLst>
                <a:ext uri="{FF2B5EF4-FFF2-40B4-BE49-F238E27FC236}">
                  <a16:creationId xmlns:a16="http://schemas.microsoft.com/office/drawing/2014/main" id="{15263F72-C2E8-4A41-8701-9A5CE8EC71B2}"/>
                </a:ext>
              </a:extLst>
            </p:cNvPr>
            <p:cNvSpPr txBox="1"/>
            <p:nvPr/>
          </p:nvSpPr>
          <p:spPr bwMode="auto">
            <a:xfrm>
              <a:off x="5960287" y="3258724"/>
              <a:ext cx="773591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B280FFD4-8D90-4427-A672-E8ABA6063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677" y="3316889"/>
              <a:ext cx="571501" cy="16311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7BFAD2B-EBF7-4FF3-B00B-6307ECB478B4}"/>
                </a:ext>
              </a:extLst>
            </p:cNvPr>
            <p:cNvCxnSpPr/>
            <p:nvPr/>
          </p:nvCxnSpPr>
          <p:spPr bwMode="auto">
            <a:xfrm flipH="1" flipV="1">
              <a:off x="2442860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BAC0594-41D8-4711-A0D1-8A75DEF7E372}"/>
                </a:ext>
              </a:extLst>
            </p:cNvPr>
            <p:cNvCxnSpPr/>
            <p:nvPr/>
          </p:nvCxnSpPr>
          <p:spPr bwMode="auto">
            <a:xfrm flipH="1" flipV="1">
              <a:off x="2432878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3129037-6043-4835-B246-D31BEE58A276}"/>
                </a:ext>
              </a:extLst>
            </p:cNvPr>
            <p:cNvCxnSpPr/>
            <p:nvPr/>
          </p:nvCxnSpPr>
          <p:spPr bwMode="auto">
            <a:xfrm flipH="1" flipV="1">
              <a:off x="2442860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52F64F6-81A7-450B-A042-5B385B6DEF3F}"/>
                </a:ext>
              </a:extLst>
            </p:cNvPr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D0A6408-70D7-4EEC-8963-B2CAED947C5D}"/>
                </a:ext>
              </a:extLst>
            </p:cNvPr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17A972B-75B8-4301-AE74-848FFD59E53F}"/>
                </a:ext>
              </a:extLst>
            </p:cNvPr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41A8D97-42F8-4DB7-973E-A9443F461690}"/>
                </a:ext>
              </a:extLst>
            </p:cNvPr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7B4613A-B5A8-4CEA-8BA0-FDD771DC2464}"/>
                </a:ext>
              </a:extLst>
            </p:cNvPr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C70CEB7-6005-41F3-B310-6938976546F2}"/>
                </a:ext>
              </a:extLst>
            </p:cNvPr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9EBA037A-F805-4B86-BA8F-C103BBB971A9}"/>
                </a:ext>
              </a:extLst>
            </p:cNvPr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8049372" cy="360040"/>
          </a:xfrm>
          <a:noFill/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000" dirty="0"/>
              <a:t>自底向上分析的通用分析器</a:t>
            </a:r>
            <a:r>
              <a:rPr lang="en-US" altLang="zh-CN" sz="3000" dirty="0"/>
              <a:t>——</a:t>
            </a:r>
            <a:r>
              <a:rPr lang="zh-CN" altLang="en-US" sz="3000" dirty="0"/>
              <a:t>移入</a:t>
            </a:r>
            <a:r>
              <a:rPr lang="en-US" altLang="zh-CN" sz="3000" dirty="0"/>
              <a:t>-</a:t>
            </a:r>
            <a:r>
              <a:rPr lang="zh-CN" altLang="en-US" sz="3000" dirty="0"/>
              <a:t>归约分析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CD2EBB8-3C12-47A3-9F23-A286C8450528}"/>
              </a:ext>
            </a:extLst>
          </p:cNvPr>
          <p:cNvGrpSpPr/>
          <p:nvPr/>
        </p:nvGrpSpPr>
        <p:grpSpPr>
          <a:xfrm>
            <a:off x="6909042" y="843558"/>
            <a:ext cx="800495" cy="562858"/>
            <a:chOff x="6164398" y="1534021"/>
            <a:chExt cx="417707" cy="562858"/>
          </a:xfrm>
        </p:grpSpPr>
        <p:sp>
          <p:nvSpPr>
            <p:cNvPr id="53" name="左大括号 52">
              <a:extLst>
                <a:ext uri="{FF2B5EF4-FFF2-40B4-BE49-F238E27FC236}">
                  <a16:creationId xmlns:a16="http://schemas.microsoft.com/office/drawing/2014/main" id="{9DF151B7-3374-476F-B18D-F2FC7ADD478E}"/>
                </a:ext>
              </a:extLst>
            </p:cNvPr>
            <p:cNvSpPr/>
            <p:nvPr/>
          </p:nvSpPr>
          <p:spPr bwMode="auto">
            <a:xfrm rot="5400000">
              <a:off x="6255928" y="1807066"/>
              <a:ext cx="198283" cy="381344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8FBF909-552D-4291-87EB-EB78DFC3554E}"/>
                </a:ext>
              </a:extLst>
            </p:cNvPr>
            <p:cNvSpPr/>
            <p:nvPr/>
          </p:nvSpPr>
          <p:spPr>
            <a:xfrm>
              <a:off x="6267255" y="1534021"/>
              <a:ext cx="3148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CN" sz="2400" b="1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400" baseline="30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CDD37ED-DC70-4A85-AFA7-49A37CD126F4}"/>
              </a:ext>
            </a:extLst>
          </p:cNvPr>
          <p:cNvGrpSpPr/>
          <p:nvPr/>
        </p:nvGrpSpPr>
        <p:grpSpPr>
          <a:xfrm rot="16200000">
            <a:off x="3083351" y="2729744"/>
            <a:ext cx="1189344" cy="804330"/>
            <a:chOff x="6006371" y="1292548"/>
            <a:chExt cx="729406" cy="804330"/>
          </a:xfrm>
        </p:grpSpPr>
        <p:sp>
          <p:nvSpPr>
            <p:cNvPr id="56" name="左大括号 55">
              <a:extLst>
                <a:ext uri="{FF2B5EF4-FFF2-40B4-BE49-F238E27FC236}">
                  <a16:creationId xmlns:a16="http://schemas.microsoft.com/office/drawing/2014/main" id="{D340E691-D1FE-4FAA-82B9-06EEA1B82083}"/>
                </a:ext>
              </a:extLst>
            </p:cNvPr>
            <p:cNvSpPr/>
            <p:nvPr/>
          </p:nvSpPr>
          <p:spPr bwMode="auto">
            <a:xfrm rot="5400000">
              <a:off x="6274572" y="1635673"/>
              <a:ext cx="193004" cy="729406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F0AD9FCE-F5A2-4863-90F1-2FA8B866F854}"/>
                    </a:ext>
                  </a:extLst>
                </p:cNvPr>
                <p:cNvSpPr/>
                <p:nvPr/>
              </p:nvSpPr>
              <p:spPr>
                <a:xfrm rot="5400000">
                  <a:off x="6002748" y="1490451"/>
                  <a:ext cx="678937" cy="2831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α</a:t>
                  </a:r>
                  <a14:m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altLang="zh-CN" sz="2400" b="1" baseline="30000" dirty="0">
                      <a:solidFill>
                        <a:srgbClr val="FF0000"/>
                      </a:solidFill>
                    </a:rPr>
                    <a:t>-</a:t>
                  </a:r>
                  <a:endParaRPr lang="zh-CN" altLang="en-US" sz="2400" b="1" baseline="30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F0AD9FCE-F5A2-4863-90F1-2FA8B866F8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02748" y="1490451"/>
                  <a:ext cx="678937" cy="283132"/>
                </a:xfrm>
                <a:prstGeom prst="rect">
                  <a:avLst/>
                </a:prstGeom>
                <a:blipFill>
                  <a:blip r:embed="rId3"/>
                  <a:stretch>
                    <a:fillRect l="-13393" t="-10667" b="-3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89A2B05-9552-458A-8561-C77F6D4B7B44}"/>
              </a:ext>
            </a:extLst>
          </p:cNvPr>
          <p:cNvSpPr/>
          <p:nvPr/>
        </p:nvSpPr>
        <p:spPr>
          <a:xfrm>
            <a:off x="302656" y="860704"/>
            <a:ext cx="2868661" cy="3422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分析器的四种动作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1) 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移入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：将当前输入符号移入栈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2) 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：将栈顶的句柄（某产生式右部）替换为对应产生式的头部。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3) 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接受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：分析成功。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格局：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$S$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4) 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出错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：出错处理。表项无定义。</a:t>
            </a:r>
          </a:p>
        </p:txBody>
      </p:sp>
      <p:sp>
        <p:nvSpPr>
          <p:cNvPr id="60" name="对话气泡: 圆角矩形 59">
            <a:extLst>
              <a:ext uri="{FF2B5EF4-FFF2-40B4-BE49-F238E27FC236}">
                <a16:creationId xmlns:a16="http://schemas.microsoft.com/office/drawing/2014/main" id="{9B6B7DD0-CA29-4ABB-8359-906B6558C303}"/>
              </a:ext>
            </a:extLst>
          </p:cNvPr>
          <p:cNvSpPr/>
          <p:nvPr/>
        </p:nvSpPr>
        <p:spPr>
          <a:xfrm>
            <a:off x="7106162" y="2916137"/>
            <a:ext cx="1735182" cy="1019229"/>
          </a:xfrm>
          <a:prstGeom prst="wedgeRoundRectCallout">
            <a:avLst>
              <a:gd name="adj1" fmla="val -62563"/>
              <a:gd name="adj2" fmla="val 22725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如何确定栈顶是否形成句柄？</a:t>
            </a:r>
          </a:p>
        </p:txBody>
      </p:sp>
      <p:sp>
        <p:nvSpPr>
          <p:cNvPr id="58" name="Text Box 9">
            <a:extLst>
              <a:ext uri="{FF2B5EF4-FFF2-40B4-BE49-F238E27FC236}">
                <a16:creationId xmlns:a16="http://schemas.microsoft.com/office/drawing/2014/main" id="{8AE601FB-B96A-4631-A404-A28A07C31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5861" y="4403888"/>
            <a:ext cx="5190291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kumimoji="1"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格局</a:t>
            </a:r>
            <a:r>
              <a:rPr kumimoji="1" lang="zh-CN" altLang="en-US" sz="2000" dirty="0">
                <a:latin typeface="+mn-ea"/>
                <a:ea typeface="+mn-ea"/>
              </a:rPr>
              <a:t>：栈内容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zh-CN" altLang="en-US" sz="2000" dirty="0">
                <a:latin typeface="+mn-ea"/>
                <a:ea typeface="+mn-ea"/>
              </a:rPr>
              <a:t> </a:t>
            </a:r>
            <a:r>
              <a:rPr kumimoji="1" lang="en-US" altLang="zh-CN" sz="2000" dirty="0">
                <a:latin typeface="+mn-ea"/>
                <a:ea typeface="+mn-ea"/>
              </a:rPr>
              <a:t>+</a:t>
            </a:r>
            <a:r>
              <a:rPr kumimoji="1" lang="zh-CN" altLang="en-US" sz="2000" dirty="0">
                <a:latin typeface="+mn-ea"/>
                <a:ea typeface="+mn-ea"/>
              </a:rPr>
              <a:t>剩余输入串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kumimoji="1" lang="zh-CN" altLang="en-US" sz="2000" dirty="0">
                <a:latin typeface="+mn-ea"/>
                <a:ea typeface="+mn-ea"/>
              </a:rPr>
              <a:t>＝ 规范句型</a:t>
            </a:r>
            <a:endParaRPr kumimoji="1"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461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0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357688" y="1263650"/>
            <a:ext cx="5927725" cy="3522663"/>
          </a:xfrm>
        </p:spPr>
        <p:txBody>
          <a:bodyPr anchor="ctr"/>
          <a:lstStyle/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4.1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自顶向下的分析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4.2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预测分析法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4.3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自底向上的分析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4.4 LR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4.5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语法分析器自动生成工具</a:t>
            </a:r>
          </a:p>
        </p:txBody>
      </p:sp>
      <p:pic>
        <p:nvPicPr>
          <p:cNvPr id="27651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738992" y="958850"/>
            <a:ext cx="7701849" cy="3917156"/>
          </a:xfrm>
        </p:spPr>
        <p:txBody>
          <a:bodyPr/>
          <a:lstStyle/>
          <a:p>
            <a:pPr eaLnBrk="1" hangingPunct="1">
              <a:spcBef>
                <a:spcPts val="450"/>
              </a:spcBef>
              <a:buClr>
                <a:schemeClr val="tx2"/>
              </a:buClr>
              <a:buSzPct val="80000"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分析技术是美国计算机科学家高德纳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(Donald Knuth)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于1965年首先提出来的。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450"/>
              </a:spcBef>
              <a:buClr>
                <a:schemeClr val="tx2"/>
              </a:buClr>
              <a:buSzPct val="80000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优点：适用范围广；分析速度快；报错准确。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450"/>
              </a:spcBef>
              <a:buClr>
                <a:schemeClr val="tx2"/>
              </a:buClr>
              <a:buSzPct val="80000"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分析方法是已知的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最通用的无回溯的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移进－归约分析方法；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45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几乎所有描述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程序设计语言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的上下文无关文法，都能够构造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语法分析器；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45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可以使用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分析法的文法类是可以使用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zh-CN" altLang="en-US" sz="2400" dirty="0">
                <a:cs typeface="Times New Roman" panose="02020603050405020304" pitchFamily="18" charset="0"/>
              </a:rPr>
              <a:t>分析法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的文法类的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真超集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lang="zh-CN" alt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（状态法）</a:t>
            </a:r>
          </a:p>
        </p:txBody>
      </p:sp>
    </p:spTree>
    <p:extLst>
      <p:ext uri="{BB962C8B-B14F-4D97-AF65-F5344CB8AC3E}">
        <p14:creationId xmlns:p14="http://schemas.microsoft.com/office/powerpoint/2010/main" val="178420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971" name="Rectangle 3"/>
          <p:cNvSpPr>
            <a:spLocks noGrp="1" noChangeArrowheads="1"/>
          </p:cNvSpPr>
          <p:nvPr>
            <p:ph idx="1"/>
          </p:nvPr>
        </p:nvSpPr>
        <p:spPr>
          <a:xfrm>
            <a:off x="758583" y="915566"/>
            <a:ext cx="7557833" cy="3960440"/>
          </a:xfrm>
        </p:spPr>
        <p:txBody>
          <a:bodyPr/>
          <a:lstStyle/>
          <a:p>
            <a:pPr marL="0" indent="0"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分析法可分析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文法产生的语言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lvl="1" indent="0"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cs typeface="Times New Roman" panose="02020603050405020304" pitchFamily="18" charset="0"/>
              </a:rPr>
              <a:t>从左到右扫描输入符号</a:t>
            </a:r>
          </a:p>
          <a:p>
            <a:pPr marL="485775" lvl="1" indent="-342900" eaLnBrk="1" hangingPunct="1">
              <a:lnSpc>
                <a:spcPct val="120000"/>
              </a:lnSpc>
            </a:pPr>
            <a:r>
              <a:rPr lang="en-US" altLang="zh-CN" sz="2800" i="1" dirty="0"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cs typeface="Times New Roman" panose="02020603050405020304" pitchFamily="18" charset="0"/>
              </a:rPr>
              <a:t>：反向构造最右推导（最左归约）</a:t>
            </a:r>
          </a:p>
          <a:p>
            <a:pPr marL="142875" lvl="1" indent="0" eaLnBrk="1" hangingPunct="1">
              <a:lnSpc>
                <a:spcPct val="12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cs typeface="Times New Roman" panose="02020603050405020304" pitchFamily="18" charset="0"/>
              </a:rPr>
              <a:t>：超前读入</a:t>
            </a:r>
            <a:r>
              <a:rPr lang="en-US" altLang="zh-CN" sz="2800" dirty="0"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cs typeface="Times New Roman" panose="02020603050405020304" pitchFamily="18" charset="0"/>
              </a:rPr>
              <a:t>个符号，以便确定分析器的动作。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890588" lvl="1" indent="-173038" eaLnBrk="1" hangingPunct="1">
              <a:defRPr/>
            </a:pPr>
            <a:r>
              <a:rPr lang="en-US" altLang="zh-CN" sz="2800" i="1" dirty="0">
                <a:ea typeface="楷体" pitchFamily="49" charset="-122"/>
                <a:cs typeface="Times New Roman" pitchFamily="18" charset="0"/>
              </a:rPr>
              <a:t> k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 = 0 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 = 1 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这两种情况具有实践意义</a:t>
            </a:r>
            <a:endParaRPr lang="en-US" altLang="zh-CN" sz="2800" dirty="0">
              <a:ea typeface="楷体" pitchFamily="49" charset="-122"/>
              <a:cs typeface="Times New Roman" pitchFamily="18" charset="0"/>
            </a:endParaRPr>
          </a:p>
          <a:p>
            <a:pPr marL="984250" lvl="1" eaLnBrk="1" hangingPunct="1">
              <a:defRPr/>
            </a:pP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 当省略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800" i="1" dirty="0"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时，表示</a:t>
            </a:r>
            <a:r>
              <a:rPr lang="en-US" altLang="zh-CN" sz="2800" i="1" dirty="0"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 =1 </a:t>
            </a:r>
            <a:r>
              <a:rPr lang="zh-CN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23597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lang="zh-CN" alt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3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3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3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5971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idx="1"/>
          </p:nvPr>
        </p:nvSpPr>
        <p:spPr>
          <a:xfrm>
            <a:off x="4572001" y="212502"/>
            <a:ext cx="4608511" cy="47355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</a:t>
            </a:r>
            <a:r>
              <a:rPr lang="en-US" altLang="zh-CN" sz="2000" dirty="0">
                <a:cs typeface="Times New Roman" panose="02020603050405020304" pitchFamily="18" charset="0"/>
              </a:rPr>
              <a:t>     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id+(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id 	      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+(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          (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         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id+id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+(id          +id)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+id)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           id)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+id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) $ 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	     )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 	     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	     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	       $ 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3315" name="标题 8"/>
          <p:cNvSpPr>
            <a:spLocks noGrp="1"/>
          </p:cNvSpPr>
          <p:nvPr>
            <p:ph type="title"/>
          </p:nvPr>
        </p:nvSpPr>
        <p:spPr>
          <a:xfrm>
            <a:off x="755650" y="268288"/>
            <a:ext cx="3888358" cy="575270"/>
          </a:xfrm>
        </p:spPr>
        <p:txBody>
          <a:bodyPr/>
          <a:lstStyle/>
          <a:p>
            <a:pPr eaLnBrk="1" hangingPunct="1"/>
            <a:r>
              <a:rPr lang="zh-CN" altLang="en-US" spc="300" dirty="0">
                <a:cs typeface="Times New Roman" pitchFamily="18" charset="0"/>
              </a:rPr>
              <a:t>移入</a:t>
            </a:r>
            <a:r>
              <a:rPr lang="en-US" altLang="zh-CN" spc="300" dirty="0">
                <a:cs typeface="Times New Roman" pitchFamily="18" charset="0"/>
              </a:rPr>
              <a:t>-</a:t>
            </a:r>
            <a:r>
              <a:rPr lang="zh-CN" altLang="en-US" spc="300" dirty="0">
                <a:cs typeface="Times New Roman" pitchFamily="18" charset="0"/>
              </a:rPr>
              <a:t>归约分析栈中的内容有什么特点？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6554" y="3747685"/>
            <a:ext cx="1529586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id</a:t>
            </a:r>
            <a:endParaRPr lang="zh-CN" altLang="en-US" b="1" dirty="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4D07ABA3-A7C9-497E-9548-083DD5794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74" y="1131590"/>
            <a:ext cx="4019810" cy="2232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cs typeface="楷体_GB2312"/>
              </a:rPr>
              <a:t>活前缀（可行前缀）</a:t>
            </a:r>
            <a:r>
              <a:rPr lang="zh-CN" altLang="en-US" sz="2200" dirty="0">
                <a:latin typeface="楷体" panose="02010609060101010101" pitchFamily="49" charset="-122"/>
                <a:cs typeface="楷体_GB2312"/>
              </a:rPr>
              <a:t>：不包含</a:t>
            </a:r>
            <a:r>
              <a:rPr lang="zh-CN" altLang="en-US" sz="2200" dirty="0">
                <a:solidFill>
                  <a:srgbClr val="0070C0"/>
                </a:solidFill>
                <a:latin typeface="楷体" panose="02010609060101010101" pitchFamily="49" charset="-122"/>
                <a:cs typeface="楷体_GB2312"/>
              </a:rPr>
              <a:t>句柄右侧符号的</a:t>
            </a:r>
            <a:r>
              <a:rPr lang="zh-CN" altLang="en-US" sz="2200" dirty="0">
                <a:latin typeface="楷体" panose="02010609060101010101" pitchFamily="49" charset="-122"/>
                <a:cs typeface="楷体_GB2312"/>
              </a:rPr>
              <a:t>规范句型的</a:t>
            </a:r>
            <a:r>
              <a:rPr lang="zh-CN" altLang="en-US" sz="2200" dirty="0">
                <a:solidFill>
                  <a:srgbClr val="0070C0"/>
                </a:solidFill>
                <a:latin typeface="楷体" panose="02010609060101010101" pitchFamily="49" charset="-122"/>
                <a:cs typeface="楷体_GB2312"/>
              </a:rPr>
              <a:t>前缀</a:t>
            </a:r>
            <a:endParaRPr lang="en-US" altLang="zh-CN" sz="2200" dirty="0">
              <a:solidFill>
                <a:srgbClr val="0070C0"/>
              </a:solidFill>
              <a:latin typeface="楷体" panose="02010609060101010101" pitchFamily="49" charset="-122"/>
              <a:cs typeface="楷体_GB2312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sz="2200" dirty="0">
                <a:latin typeface="楷体" panose="02010609060101010101" pitchFamily="49" charset="-122"/>
                <a:cs typeface="Times New Roman" panose="02020603050405020304" pitchFamily="18" charset="0"/>
              </a:rPr>
              <a:t>规范句型所有</a:t>
            </a:r>
            <a:r>
              <a:rPr lang="zh-CN" altLang="en-US" sz="2200" dirty="0">
                <a:solidFill>
                  <a:srgbClr val="0070C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活前缀构成正则语言</a:t>
            </a:r>
            <a:endParaRPr lang="en-US" altLang="zh-CN" sz="2200" dirty="0">
              <a:solidFill>
                <a:srgbClr val="0070C0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sz="2200" dirty="0">
                <a:solidFill>
                  <a:srgbClr val="0070C0"/>
                </a:solidFill>
                <a:cs typeface="Times New Roman" panose="02020603050405020304" pitchFamily="18" charset="0"/>
              </a:rPr>
              <a:t>DFA+</a:t>
            </a:r>
            <a:r>
              <a:rPr lang="zh-CN" altLang="en-US" sz="2200" dirty="0">
                <a:solidFill>
                  <a:srgbClr val="0070C0"/>
                </a:solidFill>
                <a:cs typeface="Times New Roman" panose="02020603050405020304" pitchFamily="18" charset="0"/>
              </a:rPr>
              <a:t>栈来识别和管理活前缀</a:t>
            </a:r>
            <a:endParaRPr lang="en-US" altLang="zh-CN" sz="2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1B54692-71EE-4815-A4CD-BFC2E7F5F370}"/>
              </a:ext>
            </a:extLst>
          </p:cNvPr>
          <p:cNvGrpSpPr/>
          <p:nvPr/>
        </p:nvGrpSpPr>
        <p:grpSpPr>
          <a:xfrm>
            <a:off x="3464004" y="627534"/>
            <a:ext cx="1468036" cy="4176464"/>
            <a:chOff x="3103964" y="987574"/>
            <a:chExt cx="1468036" cy="3816424"/>
          </a:xfrm>
        </p:grpSpPr>
        <p:sp>
          <p:nvSpPr>
            <p:cNvPr id="11" name="左大括号 10">
              <a:extLst>
                <a:ext uri="{FF2B5EF4-FFF2-40B4-BE49-F238E27FC236}">
                  <a16:creationId xmlns:a16="http://schemas.microsoft.com/office/drawing/2014/main" id="{3205B910-D9CC-45AA-AA06-30E13882B208}"/>
                </a:ext>
              </a:extLst>
            </p:cNvPr>
            <p:cNvSpPr/>
            <p:nvPr/>
          </p:nvSpPr>
          <p:spPr>
            <a:xfrm>
              <a:off x="4139952" y="987574"/>
              <a:ext cx="432048" cy="3816424"/>
            </a:xfrm>
            <a:prstGeom prst="leftBrace">
              <a:avLst>
                <a:gd name="adj1" fmla="val 8333"/>
                <a:gd name="adj2" fmla="val 51839"/>
              </a:avLst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AB4270F-0BE8-4BBC-83BE-6C9521E797A8}"/>
                </a:ext>
              </a:extLst>
            </p:cNvPr>
            <p:cNvSpPr/>
            <p:nvPr/>
          </p:nvSpPr>
          <p:spPr>
            <a:xfrm>
              <a:off x="3103964" y="2764185"/>
              <a:ext cx="1107996" cy="4218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  <a:cs typeface="楷体_GB2312"/>
                </a:rPr>
                <a:t>活前缀</a:t>
              </a:r>
              <a:endParaRPr lang="zh-CN" altLang="en-US" sz="24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6" name="AutoShape 17">
            <a:extLst>
              <a:ext uri="{FF2B5EF4-FFF2-40B4-BE49-F238E27FC236}">
                <a16:creationId xmlns:a16="http://schemas.microsoft.com/office/drawing/2014/main" id="{ECF7C3D2-E48E-4682-A4A9-EB650A726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3747685"/>
            <a:ext cx="2409838" cy="1200329"/>
          </a:xfrm>
          <a:prstGeom prst="wedgeRoundRectCallout">
            <a:avLst>
              <a:gd name="adj1" fmla="val 26260"/>
              <a:gd name="adj2" fmla="val -8590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zh-CN" altLang="en-US" sz="20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句柄</a:t>
            </a:r>
            <a:r>
              <a:rPr lang="zh-CN" altLang="en-US" sz="20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的识别就转变成为对规范句型</a:t>
            </a:r>
            <a:r>
              <a:rPr lang="zh-CN" altLang="en-US" sz="20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活前缀</a:t>
            </a:r>
            <a:r>
              <a:rPr lang="zh-CN" altLang="en-US" sz="20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的识别</a:t>
            </a:r>
            <a:endParaRPr lang="en-US" altLang="zh-CN" sz="2000" b="1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40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分析器的总体结构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731317" y="1157593"/>
            <a:ext cx="3001169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>
              <a:defRPr/>
            </a:pPr>
            <a:r>
              <a:rPr kumimoji="1" lang="en-US" altLang="zh-CN" sz="3200" b="1" i="1" dirty="0">
                <a:latin typeface="Times New Roman" pitchFamily="18" charset="0"/>
              </a:rPr>
              <a:t>a</a:t>
            </a:r>
            <a:r>
              <a:rPr kumimoji="1" lang="en-US" altLang="zh-CN" sz="3200" b="1" i="1" baseline="-25000" dirty="0">
                <a:latin typeface="Times New Roman" pitchFamily="18" charset="0"/>
              </a:rPr>
              <a:t>1</a:t>
            </a:r>
            <a:r>
              <a:rPr kumimoji="1" lang="en-US" altLang="zh-CN" sz="3200" b="1" i="1" dirty="0">
                <a:latin typeface="Times New Roman" pitchFamily="18" charset="0"/>
              </a:rPr>
              <a:t> … a</a:t>
            </a:r>
            <a:r>
              <a:rPr kumimoji="1" lang="en-US" altLang="zh-CN" sz="3200" b="1" i="1" baseline="-25000" dirty="0">
                <a:latin typeface="Times New Roman" pitchFamily="18" charset="0"/>
              </a:rPr>
              <a:t>i</a:t>
            </a:r>
            <a:r>
              <a:rPr kumimoji="1" lang="en-US" altLang="zh-CN" sz="3200" b="1" i="1" dirty="0">
                <a:latin typeface="Times New Roman" pitchFamily="18" charset="0"/>
              </a:rPr>
              <a:t> … a</a:t>
            </a:r>
            <a:r>
              <a:rPr kumimoji="1" lang="en-US" altLang="zh-CN" sz="3200" b="1" i="1" baseline="-25000" dirty="0">
                <a:latin typeface="Times New Roman" pitchFamily="18" charset="0"/>
              </a:rPr>
              <a:t>n</a:t>
            </a:r>
            <a:r>
              <a:rPr kumimoji="1" lang="en-US" altLang="zh-CN" sz="3200" b="1" i="1" dirty="0">
                <a:latin typeface="Times New Roman" pitchFamily="18" charset="0"/>
              </a:rPr>
              <a:t>  </a:t>
            </a:r>
            <a:r>
              <a:rPr kumimoji="1" lang="en-US" altLang="zh-CN" sz="3200" b="1" dirty="0">
                <a:latin typeface="Times New Roman" pitchFamily="18" charset="0"/>
              </a:rPr>
              <a:t>$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643312" y="2352675"/>
            <a:ext cx="2513013" cy="928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6038" rIns="92075" bIns="46038" anchor="ctr"/>
          <a:lstStyle/>
          <a:p>
            <a:pPr algn="ctr">
              <a:defRPr/>
            </a:pPr>
            <a:r>
              <a:rPr kumimoji="1" lang="en-US" altLang="zh-CN" sz="2800" b="1" i="1" dirty="0">
                <a:latin typeface="Times New Roman" pitchFamily="18" charset="0"/>
              </a:rPr>
              <a:t>LR</a:t>
            </a:r>
            <a:r>
              <a:rPr kumimoji="1" lang="zh-CN" altLang="en-US" sz="2800" b="1" dirty="0">
                <a:latin typeface="楷体" pitchFamily="49" charset="-122"/>
                <a:ea typeface="楷体" pitchFamily="49" charset="-122"/>
              </a:rPr>
              <a:t>分析</a:t>
            </a:r>
            <a:endParaRPr kumimoji="1" lang="en-US" altLang="zh-CN" sz="2800" b="1" dirty="0">
              <a:latin typeface="楷体" pitchFamily="49" charset="-122"/>
              <a:ea typeface="楷体" pitchFamily="49" charset="-122"/>
            </a:endParaRPr>
          </a:p>
          <a:p>
            <a:pPr algn="ctr">
              <a:defRPr/>
            </a:pPr>
            <a:r>
              <a:rPr kumimoji="1" lang="zh-CN" altLang="en-US" sz="2800" b="1" dirty="0">
                <a:latin typeface="楷体" pitchFamily="49" charset="-122"/>
                <a:ea typeface="楷体" pitchFamily="49" charset="-122"/>
              </a:rPr>
              <a:t>主控程序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935634" y="4042719"/>
            <a:ext cx="1943100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algn="ctr">
              <a:lnSpc>
                <a:spcPts val="2500"/>
              </a:lnSpc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动作表</a:t>
            </a:r>
          </a:p>
          <a:p>
            <a:pPr algn="ctr">
              <a:lnSpc>
                <a:spcPts val="2500"/>
              </a:lnSpc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ACTION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4896197" y="4042719"/>
            <a:ext cx="1927225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algn="ctr">
              <a:lnSpc>
                <a:spcPts val="2500"/>
              </a:lnSpc>
              <a:defRPr/>
            </a:pPr>
            <a:r>
              <a:rPr kumimoji="1" lang="zh-CN" altLang="en-US" sz="24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转移表</a:t>
            </a:r>
          </a:p>
          <a:p>
            <a:pPr algn="ctr">
              <a:lnSpc>
                <a:spcPts val="2500"/>
              </a:lnSpc>
              <a:defRPr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GOTO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7092950" y="2623939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产生式序列</a:t>
            </a: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860574" y="1275606"/>
            <a:ext cx="1983234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5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状态/符号栈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2715112" y="864132"/>
            <a:ext cx="221615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 dirty="0">
                <a:latin typeface="华文楷体 (正文)"/>
                <a:ea typeface="楷体" panose="02010609060101010101" pitchFamily="49" charset="-122"/>
              </a:rPr>
              <a:t>输入缓冲区</a:t>
            </a:r>
          </a:p>
        </p:txBody>
      </p:sp>
      <p:sp>
        <p:nvSpPr>
          <p:cNvPr id="32778" name="Rectangle 11"/>
          <p:cNvSpPr>
            <a:spLocks noChangeArrowheads="1"/>
          </p:cNvSpPr>
          <p:nvPr/>
        </p:nvSpPr>
        <p:spPr bwMode="auto">
          <a:xfrm>
            <a:off x="2734022" y="3906194"/>
            <a:ext cx="4286250" cy="92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9" name="Rectangle 12"/>
          <p:cNvSpPr>
            <a:spLocks noChangeArrowheads="1"/>
          </p:cNvSpPr>
          <p:nvPr/>
        </p:nvSpPr>
        <p:spPr bwMode="auto">
          <a:xfrm>
            <a:off x="7088667" y="4070338"/>
            <a:ext cx="149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分析表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887699" y="1736774"/>
            <a:ext cx="693553" cy="2676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 err="1">
                <a:latin typeface="Times New Roman" pitchFamily="18" charset="0"/>
              </a:rPr>
              <a:t>S</a:t>
            </a:r>
            <a:r>
              <a:rPr kumimoji="1" lang="en-US" altLang="zh-CN" sz="3200" b="1" i="1" baseline="-25000" dirty="0" err="1">
                <a:latin typeface="Times New Roman" pitchFamily="18" charset="0"/>
              </a:rPr>
              <a:t>m</a:t>
            </a:r>
            <a:endParaRPr kumimoji="1" lang="en-US" altLang="zh-CN" sz="2400" b="1" i="1" dirty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itchFamily="18" charset="0"/>
              </a:rPr>
              <a:t>S</a:t>
            </a:r>
            <a:r>
              <a:rPr kumimoji="1" lang="en-US" altLang="zh-CN" sz="3200" b="1" i="1" baseline="-25000" dirty="0">
                <a:latin typeface="Times New Roman" pitchFamily="18" charset="0"/>
              </a:rPr>
              <a:t>m</a:t>
            </a:r>
            <a:r>
              <a:rPr kumimoji="1" lang="en-US" altLang="zh-CN" sz="3200" b="1" baseline="-25000" dirty="0">
                <a:latin typeface="Times New Roman" pitchFamily="18" charset="0"/>
              </a:rPr>
              <a:t>-1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itchFamily="18" charset="0"/>
              </a:rPr>
              <a:t>S</a:t>
            </a:r>
            <a:r>
              <a:rPr kumimoji="1" lang="en-US" altLang="zh-CN" sz="2400" b="1" baseline="-25000" dirty="0">
                <a:latin typeface="Times New Roman" pitchFamily="18" charset="0"/>
              </a:rPr>
              <a:t>1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baseline="-25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43022" name="AutoShape 15"/>
          <p:cNvSpPr>
            <a:spLocks noChangeArrowheads="1"/>
          </p:cNvSpPr>
          <p:nvPr/>
        </p:nvSpPr>
        <p:spPr bwMode="auto">
          <a:xfrm rot="10800000">
            <a:off x="2476579" y="2720942"/>
            <a:ext cx="1143000" cy="28575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3023" name="AutoShape 16"/>
          <p:cNvSpPr>
            <a:spLocks noChangeArrowheads="1"/>
          </p:cNvSpPr>
          <p:nvPr/>
        </p:nvSpPr>
        <p:spPr bwMode="auto">
          <a:xfrm rot="10800000">
            <a:off x="4716016" y="1859756"/>
            <a:ext cx="381000" cy="4572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3024" name="AutoShape 17"/>
          <p:cNvSpPr>
            <a:spLocks noChangeArrowheads="1"/>
          </p:cNvSpPr>
          <p:nvPr/>
        </p:nvSpPr>
        <p:spPr bwMode="auto">
          <a:xfrm rot="10800000">
            <a:off x="3734147" y="3291831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6227763" y="2719189"/>
            <a:ext cx="915987" cy="285750"/>
          </a:xfrm>
          <a:prstGeom prst="rightArrow">
            <a:avLst>
              <a:gd name="adj1" fmla="val 50000"/>
              <a:gd name="adj2" fmla="val 8500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 rot="10800000">
            <a:off x="5715347" y="3291831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A6F6E51-9E33-48C7-9252-8B9D66D7E950}"/>
              </a:ext>
            </a:extLst>
          </p:cNvPr>
          <p:cNvGrpSpPr/>
          <p:nvPr/>
        </p:nvGrpSpPr>
        <p:grpSpPr>
          <a:xfrm>
            <a:off x="4914851" y="780779"/>
            <a:ext cx="1191952" cy="562858"/>
            <a:chOff x="6164398" y="1534021"/>
            <a:chExt cx="417707" cy="562858"/>
          </a:xfrm>
        </p:grpSpPr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80E73C3D-35D4-4D2E-8497-1F539E2F5858}"/>
                </a:ext>
              </a:extLst>
            </p:cNvPr>
            <p:cNvSpPr/>
            <p:nvPr/>
          </p:nvSpPr>
          <p:spPr bwMode="auto">
            <a:xfrm rot="5400000">
              <a:off x="6255928" y="1807066"/>
              <a:ext cx="198283" cy="381344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9A448CF-CB7E-454D-A389-5F399E02F6FB}"/>
                </a:ext>
              </a:extLst>
            </p:cNvPr>
            <p:cNvSpPr/>
            <p:nvPr/>
          </p:nvSpPr>
          <p:spPr>
            <a:xfrm>
              <a:off x="6267255" y="1534021"/>
              <a:ext cx="3148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CN" altLang="en-US" sz="2400" baseline="30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6724F1C-0168-43A5-8B91-8F0014AA0A87}"/>
              </a:ext>
            </a:extLst>
          </p:cNvPr>
          <p:cNvGrpSpPr/>
          <p:nvPr/>
        </p:nvGrpSpPr>
        <p:grpSpPr>
          <a:xfrm rot="16200000">
            <a:off x="-528279" y="2710544"/>
            <a:ext cx="2145639" cy="518717"/>
            <a:chOff x="5484478" y="1578162"/>
            <a:chExt cx="1251299" cy="518717"/>
          </a:xfrm>
        </p:grpSpPr>
        <p:sp>
          <p:nvSpPr>
            <p:cNvPr id="24" name="左大括号 23">
              <a:extLst>
                <a:ext uri="{FF2B5EF4-FFF2-40B4-BE49-F238E27FC236}">
                  <a16:creationId xmlns:a16="http://schemas.microsoft.com/office/drawing/2014/main" id="{AE1E4619-1355-454B-927E-D5036B739D46}"/>
                </a:ext>
              </a:extLst>
            </p:cNvPr>
            <p:cNvSpPr/>
            <p:nvPr/>
          </p:nvSpPr>
          <p:spPr bwMode="auto">
            <a:xfrm rot="5400000">
              <a:off x="6029107" y="1390208"/>
              <a:ext cx="162042" cy="1251299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EE2D1D6-8403-445B-A20B-537150FBD1B7}"/>
                </a:ext>
              </a:extLst>
            </p:cNvPr>
            <p:cNvSpPr/>
            <p:nvPr/>
          </p:nvSpPr>
          <p:spPr>
            <a:xfrm rot="5400000">
              <a:off x="5903691" y="1656930"/>
              <a:ext cx="426771" cy="269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zh-CN" altLang="en-US" sz="2400" b="1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Rectangle 14">
            <a:extLst>
              <a:ext uri="{FF2B5EF4-FFF2-40B4-BE49-F238E27FC236}">
                <a16:creationId xmlns:a16="http://schemas.microsoft.com/office/drawing/2014/main" id="{33D27B57-3DEB-4122-8E03-EB3AC5F9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874" y="1736774"/>
            <a:ext cx="753877" cy="26812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i="1" baseline="-25000" dirty="0" err="1">
                <a:latin typeface="Times New Roman" panose="02020603050405020304" pitchFamily="18" charset="0"/>
              </a:rPr>
              <a:t>m</a:t>
            </a:r>
            <a:endParaRPr kumimoji="1" lang="en-US" altLang="zh-CN" sz="2400" b="1" i="1" dirty="0"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i="1" baseline="-25000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-1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ctr"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$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481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34820" name="Rectangle 21"/>
          <p:cNvSpPr txBox="1">
            <a:spLocks noChangeArrowheads="1"/>
          </p:cNvSpPr>
          <p:nvPr/>
        </p:nvSpPr>
        <p:spPr bwMode="auto">
          <a:xfrm>
            <a:off x="400050" y="857251"/>
            <a:ext cx="33147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 dirty="0"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500" b="1" dirty="0">
                <a:latin typeface="宋体" panose="02010600030101010101" pitchFamily="2" charset="-122"/>
              </a:rPr>
              <a:t>①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500" b="1" dirty="0"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  <a:endParaRPr lang="en-US" altLang="zh-CN" sz="2500" b="1" i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500" b="1" dirty="0">
                <a:latin typeface="宋体" panose="02010600030101010101" pitchFamily="2" charset="-122"/>
              </a:rPr>
              <a:t>③ 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endParaRPr lang="en-US" altLang="zh-CN" sz="2500" b="1" i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77845"/>
              </p:ext>
            </p:extLst>
          </p:nvPr>
        </p:nvGraphicFramePr>
        <p:xfrm>
          <a:off x="4214812" y="538548"/>
          <a:ext cx="4389439" cy="3329346"/>
        </p:xfrm>
        <a:graphic>
          <a:graphicData uri="http://schemas.openxmlformats.org/drawingml/2006/table">
            <a:tbl>
              <a:tblPr/>
              <a:tblGrid>
                <a:gridCol w="941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0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77A713FF-1B09-48D2-9E57-073651190CC0}"/>
              </a:ext>
            </a:extLst>
          </p:cNvPr>
          <p:cNvSpPr/>
          <p:nvPr/>
        </p:nvSpPr>
        <p:spPr>
          <a:xfrm>
            <a:off x="251520" y="2643759"/>
            <a:ext cx="3744416" cy="1224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不同的</a:t>
            </a:r>
            <a:r>
              <a:rPr lang="en-US" altLang="zh-CN" sz="2200" b="1" dirty="0">
                <a:solidFill>
                  <a:schemeClr val="tx1"/>
                </a:solidFill>
              </a:rPr>
              <a:t>LR(k)</a:t>
            </a:r>
            <a:r>
              <a:rPr lang="zh-CN" altLang="en-US" sz="2200" b="1" dirty="0">
                <a:solidFill>
                  <a:schemeClr val="tx1"/>
                </a:solidFill>
              </a:rPr>
              <a:t>分析法，表项的构建方法不同，但结构相同，分析过程相同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B5D1D9-8FFC-43EC-BF46-C56CA1BF550E}"/>
              </a:ext>
            </a:extLst>
          </p:cNvPr>
          <p:cNvSpPr txBox="1"/>
          <p:nvPr/>
        </p:nvSpPr>
        <p:spPr>
          <a:xfrm>
            <a:off x="5364088" y="92916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动作表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57F4A7-03BC-409E-A73D-6AC5B76E6D16}"/>
              </a:ext>
            </a:extLst>
          </p:cNvPr>
          <p:cNvSpPr txBox="1"/>
          <p:nvPr/>
        </p:nvSpPr>
        <p:spPr>
          <a:xfrm>
            <a:off x="6949970" y="92916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转移表</a:t>
            </a:r>
          </a:p>
        </p:txBody>
      </p:sp>
      <p:sp>
        <p:nvSpPr>
          <p:cNvPr id="25606" name="AutoShape 20"/>
          <p:cNvSpPr>
            <a:spLocks noChangeArrowheads="1"/>
          </p:cNvSpPr>
          <p:nvPr/>
        </p:nvSpPr>
        <p:spPr bwMode="auto">
          <a:xfrm>
            <a:off x="539750" y="3997778"/>
            <a:ext cx="8064698" cy="915948"/>
          </a:xfrm>
          <a:prstGeom prst="wedgeRoundRectCallout">
            <a:avLst>
              <a:gd name="adj1" fmla="val 21088"/>
              <a:gd name="adj2" fmla="val -7256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200" b="1" i="1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sn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移入动作</a:t>
            </a:r>
            <a:r>
              <a:rPr kumimoji="1" lang="en-US" altLang="zh-CN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(shift action)</a:t>
            </a:r>
            <a:r>
              <a:rPr kumimoji="1" lang="zh-CN" altLang="en-US" sz="2200" b="1" dirty="0">
                <a:latin typeface="Times New Roman" pitchFamily="18" charset="0"/>
                <a:ea typeface="楷体_GB2312"/>
                <a:cs typeface="Times New Roman" pitchFamily="18" charset="0"/>
              </a:rPr>
              <a:t>，</a:t>
            </a:r>
            <a:r>
              <a:rPr kumimoji="1" lang="zh-CN" altLang="en-US" sz="22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将</a:t>
            </a:r>
            <a:r>
              <a:rPr kumimoji="1" lang="zh-CN" altLang="en-US" sz="22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状态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2200" b="1" dirty="0">
                <a:solidFill>
                  <a:srgbClr val="0070C0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cs typeface="Times New Roman" pitchFamily="18" charset="0"/>
              </a:rPr>
              <a:t>代表当前输入符号</a:t>
            </a:r>
            <a:r>
              <a:rPr lang="en-US" altLang="zh-CN" sz="2200" b="1" dirty="0">
                <a:solidFill>
                  <a:srgbClr val="0070C0"/>
                </a:solidFill>
                <a:latin typeface="+mn-ea"/>
                <a:ea typeface="+mn-ea"/>
                <a:cs typeface="Times New Roman" pitchFamily="18" charset="0"/>
              </a:rPr>
              <a:t>) </a:t>
            </a:r>
            <a:r>
              <a:rPr kumimoji="1" lang="zh-CN" altLang="en-US" sz="22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移入栈</a:t>
            </a:r>
          </a:p>
          <a:p>
            <a:pPr eaLnBrk="1" hangingPunct="1">
              <a:defRPr/>
            </a:pPr>
            <a:r>
              <a:rPr kumimoji="1" lang="en-US" altLang="zh-CN" sz="2200" b="1" i="1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rn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归约动作</a:t>
            </a:r>
            <a:r>
              <a:rPr kumimoji="1" lang="en-US" altLang="zh-CN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(reduce action)</a:t>
            </a:r>
            <a:r>
              <a:rPr kumimoji="1" lang="zh-CN" altLang="en-US" sz="2200" b="1" dirty="0">
                <a:latin typeface="Times New Roman" pitchFamily="18" charset="0"/>
                <a:ea typeface="楷体_GB2312"/>
                <a:cs typeface="Times New Roman" pitchFamily="18" charset="0"/>
              </a:rPr>
              <a:t>，</a:t>
            </a:r>
            <a:r>
              <a:rPr kumimoji="1" lang="zh-CN" altLang="en-US" sz="2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用第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个产生式进行</a:t>
            </a:r>
            <a:r>
              <a:rPr kumimoji="1" lang="zh-CN" altLang="en-US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归约</a:t>
            </a:r>
            <a:endParaRPr kumimoji="1" lang="en-US" altLang="zh-CN" sz="22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60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686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3686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 dirty="0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  <a:endParaRPr lang="en-US" altLang="zh-CN" sz="2500" b="1" i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 dirty="0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endParaRPr lang="en-US" altLang="zh-CN" sz="2500" b="1" i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948232"/>
              </p:ext>
            </p:extLst>
          </p:nvPr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27538" y="4164013"/>
            <a:ext cx="37465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31B6FD"/>
              </a:buClr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i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437188" y="4443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19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6946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97531E-6 L -0.11389 -0.0058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4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9" grpId="0"/>
      <p:bldP spid="10" grpId="0"/>
      <p:bldP spid="11" grpId="0"/>
      <p:bldP spid="11" grpId="1"/>
      <p:bldP spid="11" grpId="2"/>
      <p:bldP spid="1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38916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 dirty="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 dirty="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8920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94554"/>
              </p:ext>
            </p:extLst>
          </p:nvPr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992" name="矩形 1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38993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19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998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8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20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996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97531E-6 L -0.10921 -0.00278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97531E-6 L -0.10695 -0.00278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3" grpId="0"/>
      <p:bldP spid="14" grpId="0"/>
      <p:bldP spid="15" grpId="0"/>
      <p:bldP spid="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40964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 dirty="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 dirty="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859338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43438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0968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0969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8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19699"/>
              </p:ext>
            </p:extLst>
          </p:nvPr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040" name="矩形 12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104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17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1050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1042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2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1048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22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1046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4" grpId="0"/>
      <p:bldP spid="16" grpId="0"/>
      <p:bldP spid="1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30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43012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 dirty="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 dirty="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86300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069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48777"/>
              </p:ext>
            </p:extLst>
          </p:nvPr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086" name="矩形 10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3087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15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3100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3088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20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3098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3089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23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3096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2" name="Group 84"/>
          <p:cNvGrpSpPr>
            <a:grpSpLocks/>
          </p:cNvGrpSpPr>
          <p:nvPr/>
        </p:nvGrpSpPr>
        <p:grpSpPr bwMode="auto">
          <a:xfrm>
            <a:off x="1906588" y="3076575"/>
            <a:ext cx="328612" cy="857250"/>
            <a:chOff x="1292" y="2662"/>
            <a:chExt cx="207" cy="1142"/>
          </a:xfrm>
        </p:grpSpPr>
        <p:sp>
          <p:nvSpPr>
            <p:cNvPr id="25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95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6" name="Line 69"/>
            <p:cNvSpPr>
              <a:spLocks noChangeShapeType="1"/>
            </p:cNvSpPr>
            <p:nvPr/>
          </p:nvSpPr>
          <p:spPr bwMode="auto">
            <a:xfrm flipV="1">
              <a:off x="1347" y="3184"/>
              <a:ext cx="27" cy="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3093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07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3" grpId="0"/>
      <p:bldP spid="16" grpId="0"/>
      <p:bldP spid="1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45060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 dirty="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 dirty="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427538" y="4443413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4497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48505"/>
              </p:ext>
            </p:extLst>
          </p:nvPr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132" name="矩形 9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5133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12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146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5134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17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14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5135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20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1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142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5136" name="Group 84"/>
          <p:cNvGrpSpPr>
            <a:grpSpLocks/>
          </p:cNvGrpSpPr>
          <p:nvPr/>
        </p:nvGrpSpPr>
        <p:grpSpPr bwMode="auto">
          <a:xfrm>
            <a:off x="1906588" y="3076575"/>
            <a:ext cx="328612" cy="857250"/>
            <a:chOff x="1292" y="2662"/>
            <a:chExt cx="207" cy="1142"/>
          </a:xfrm>
        </p:grpSpPr>
        <p:sp>
          <p:nvSpPr>
            <p:cNvPr id="24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95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Line 69"/>
            <p:cNvSpPr>
              <a:spLocks noChangeShapeType="1"/>
            </p:cNvSpPr>
            <p:nvPr/>
          </p:nvSpPr>
          <p:spPr bwMode="auto">
            <a:xfrm flipV="1">
              <a:off x="1347" y="3184"/>
              <a:ext cx="27" cy="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139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07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66F104D-0F55-40CD-AD20-C2D033245651}"/>
              </a:ext>
            </a:extLst>
          </p:cNvPr>
          <p:cNvSpPr/>
          <p:nvPr/>
        </p:nvSpPr>
        <p:spPr>
          <a:xfrm>
            <a:off x="6911435" y="4476839"/>
            <a:ext cx="1468978" cy="395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分析 成功！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11560" y="2928938"/>
            <a:ext cx="724656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500" b="1" dirty="0">
                <a:solidFill>
                  <a:srgbClr val="000000"/>
                </a:solidFill>
                <a:latin typeface="宋体" panose="02010600030101010101" pitchFamily="2" charset="-122"/>
              </a:rPr>
              <a:t>①</a:t>
            </a:r>
            <a:r>
              <a:rPr kumimoji="1"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kumimoji="1"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ACTION [</a:t>
            </a:r>
            <a:r>
              <a:rPr kumimoji="1" lang="en-US" altLang="zh-CN" sz="25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]= </a:t>
            </a:r>
            <a:r>
              <a:rPr kumimoji="1" lang="en-US" altLang="zh-CN" sz="25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5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那么格局变为：</a:t>
            </a:r>
          </a:p>
        </p:txBody>
      </p:sp>
      <p:sp>
        <p:nvSpPr>
          <p:cNvPr id="5" name="矩形 4"/>
          <p:cNvSpPr/>
          <p:nvPr/>
        </p:nvSpPr>
        <p:spPr>
          <a:xfrm>
            <a:off x="2902619" y="3560737"/>
            <a:ext cx="3757613" cy="811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5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5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5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98475" y="798513"/>
            <a:ext cx="79311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96957" y="1643063"/>
            <a:ext cx="850416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15" name="矩形 14"/>
          <p:cNvSpPr/>
          <p:nvPr/>
        </p:nvSpPr>
        <p:spPr>
          <a:xfrm>
            <a:off x="2902619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902619" y="2029966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utoUpdateAnimBg="0"/>
      <p:bldP spid="5" grpId="0" animBg="1"/>
      <p:bldP spid="5" grpId="1" animBg="1"/>
      <p:bldP spid="13" grpId="0"/>
      <p:bldP spid="14" grpId="0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2" name="Text Box 6"/>
          <p:cNvSpPr txBox="1">
            <a:spLocks noChangeArrowheads="1"/>
          </p:cNvSpPr>
          <p:nvPr/>
        </p:nvSpPr>
        <p:spPr bwMode="auto">
          <a:xfrm>
            <a:off x="684213" y="2896800"/>
            <a:ext cx="8316912" cy="133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②</a:t>
            </a:r>
            <a:r>
              <a:rPr kumimoji="1" lang="zh-CN" altLang="en-US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3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3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3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3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]= </a:t>
            </a:r>
            <a:r>
              <a:rPr kumimoji="1" lang="en-US" altLang="zh-CN" sz="23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rx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表示用第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个产生式</a:t>
            </a:r>
            <a:r>
              <a:rPr kumimoji="1" lang="en-US" altLang="zh-CN" sz="23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3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1" lang="en-US" altLang="zh-CN" sz="23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3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-(</a:t>
            </a:r>
            <a:r>
              <a:rPr kumimoji="1" lang="en-US" altLang="zh-CN" sz="23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3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-1)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23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3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</a:p>
          <a:p>
            <a:pPr>
              <a:spcBef>
                <a:spcPct val="50000"/>
              </a:spcBef>
            </a:pPr>
            <a:r>
              <a:rPr kumimoji="1" lang="zh-CN" altLang="en-US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进行归约，</a:t>
            </a:r>
            <a:r>
              <a:rPr kumimoji="1" lang="zh-CN" altLang="en-US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kumimoji="1" lang="en-US" altLang="zh-CN" sz="23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-(</a:t>
            </a:r>
            <a:r>
              <a:rPr kumimoji="1" lang="en-US" altLang="zh-CN" sz="23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en-US" altLang="zh-CN" sz="23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-1)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…</a:t>
            </a:r>
            <a:r>
              <a:rPr kumimoji="1" lang="en-US" altLang="zh-CN" sz="23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kumimoji="1" lang="en-US" altLang="zh-CN" sz="23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kumimoji="1"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3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GOTO[</a:t>
            </a:r>
            <a:r>
              <a:rPr kumimoji="1" lang="en-US" altLang="zh-CN" sz="23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3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3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]=</a:t>
            </a:r>
            <a:r>
              <a:rPr kumimoji="1"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，那么格局变为：</a:t>
            </a:r>
            <a:endParaRPr kumimoji="1" lang="en-US" altLang="zh-CN" sz="23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49158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49159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2" name="矩形 1"/>
          <p:cNvSpPr/>
          <p:nvPr/>
        </p:nvSpPr>
        <p:spPr>
          <a:xfrm>
            <a:off x="2902619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902619" y="2029966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902619" y="3998353"/>
            <a:ext cx="3757613" cy="6932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 </a:t>
            </a:r>
            <a:r>
              <a:rPr kumimoji="1"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i+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$</a:t>
            </a:r>
            <a:endParaRPr kumimoji="1" lang="en-US" altLang="zh-CN" sz="2500" b="1" i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262" grpId="0"/>
      <p:bldP spid="864262" grpId="1"/>
      <p:bldP spid="4" grpId="0" animBg="1"/>
      <p:bldP spid="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60" name="Rectangle 8"/>
          <p:cNvSpPr>
            <a:spLocks noGrp="1" noChangeArrowheads="1"/>
          </p:cNvSpPr>
          <p:nvPr>
            <p:ph idx="1"/>
          </p:nvPr>
        </p:nvSpPr>
        <p:spPr>
          <a:xfrm>
            <a:off x="657225" y="2928938"/>
            <a:ext cx="7772400" cy="1433512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③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acc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那么分析成功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④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]=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err</a:t>
            </a:r>
            <a:r>
              <a:rPr lang="zh-CN" altLang="en-US" sz="25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那么出现语法错误</a:t>
            </a:r>
            <a:endParaRPr kumimoji="1" lang="en-US" altLang="zh-CN" sz="2500" b="1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51205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8" name="矩形 7"/>
          <p:cNvSpPr/>
          <p:nvPr/>
        </p:nvSpPr>
        <p:spPr>
          <a:xfrm>
            <a:off x="2902619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902619" y="2029966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6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/>
          <p:cNvSpPr>
            <a:spLocks noGrp="1"/>
          </p:cNvSpPr>
          <p:nvPr>
            <p:ph idx="1"/>
          </p:nvPr>
        </p:nvSpPr>
        <p:spPr>
          <a:xfrm>
            <a:off x="-57150" y="714375"/>
            <a:ext cx="9129713" cy="1714500"/>
          </a:xfrm>
        </p:spPr>
        <p:txBody>
          <a:bodyPr/>
          <a:lstStyle/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tx1"/>
                </a:solidFill>
              </a:rPr>
              <a:t>输入：串</a:t>
            </a:r>
            <a:r>
              <a:rPr lang="en-US" altLang="zh-CN" sz="1600" b="1" i="1" dirty="0">
                <a:solidFill>
                  <a:schemeClr val="tx1"/>
                </a:solidFill>
              </a:rPr>
              <a:t>w</a:t>
            </a:r>
            <a:r>
              <a:rPr lang="zh-CN" altLang="en-US" sz="1600" b="1" dirty="0">
                <a:solidFill>
                  <a:schemeClr val="tx1"/>
                </a:solidFill>
              </a:rPr>
              <a:t>和</a:t>
            </a:r>
            <a:r>
              <a:rPr lang="en-US" altLang="zh-CN" sz="1600" b="1" i="1" dirty="0">
                <a:solidFill>
                  <a:schemeClr val="tx1"/>
                </a:solidFill>
              </a:rPr>
              <a:t>LR</a:t>
            </a:r>
            <a:r>
              <a:rPr lang="zh-CN" altLang="en-US" sz="1600" b="1" dirty="0">
                <a:solidFill>
                  <a:schemeClr val="tx1"/>
                </a:solidFill>
              </a:rPr>
              <a:t>语法分析表，该表描述了文法</a:t>
            </a:r>
            <a:r>
              <a:rPr lang="en-US" altLang="zh-CN" sz="1600" b="1" i="1" dirty="0">
                <a:solidFill>
                  <a:schemeClr val="tx1"/>
                </a:solidFill>
              </a:rPr>
              <a:t>G</a:t>
            </a:r>
            <a:r>
              <a:rPr lang="zh-CN" altLang="en-US" sz="1600" b="1" dirty="0">
                <a:solidFill>
                  <a:schemeClr val="tx1"/>
                </a:solidFill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</a:rPr>
              <a:t>ACTION</a:t>
            </a:r>
            <a:r>
              <a:rPr lang="zh-CN" altLang="en-US" sz="1600" b="1" dirty="0">
                <a:solidFill>
                  <a:schemeClr val="tx1"/>
                </a:solidFill>
              </a:rPr>
              <a:t>函数和</a:t>
            </a:r>
            <a:r>
              <a:rPr lang="en-US" altLang="zh-CN" sz="1600" b="1" dirty="0">
                <a:solidFill>
                  <a:schemeClr val="tx1"/>
                </a:solidFill>
              </a:rPr>
              <a:t>GOTO</a:t>
            </a:r>
            <a:r>
              <a:rPr lang="zh-CN" altLang="en-US" sz="1600" b="1" dirty="0">
                <a:solidFill>
                  <a:schemeClr val="tx1"/>
                </a:solidFill>
              </a:rPr>
              <a:t>函数。</a:t>
            </a:r>
            <a:r>
              <a:rPr lang="en-US" altLang="zh-CN" sz="1600" b="1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tx1"/>
                </a:solidFill>
              </a:rPr>
              <a:t>输出：如果</a:t>
            </a:r>
            <a:r>
              <a:rPr lang="en-US" altLang="zh-CN" sz="1600" b="1" i="1" dirty="0">
                <a:solidFill>
                  <a:schemeClr val="tx1"/>
                </a:solidFill>
              </a:rPr>
              <a:t>w</a:t>
            </a:r>
            <a:r>
              <a:rPr lang="zh-CN" altLang="en-US" sz="1600" b="1" dirty="0">
                <a:solidFill>
                  <a:schemeClr val="tx1"/>
                </a:solidFill>
              </a:rPr>
              <a:t>在</a:t>
            </a:r>
            <a:r>
              <a:rPr lang="en-US" altLang="zh-CN" sz="1600" b="1" dirty="0">
                <a:solidFill>
                  <a:schemeClr val="tx1"/>
                </a:solidFill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</a:rPr>
              <a:t>L</a:t>
            </a:r>
            <a:r>
              <a:rPr lang="en-US" altLang="zh-CN" sz="1600" b="1" dirty="0">
                <a:solidFill>
                  <a:schemeClr val="tx1"/>
                </a:solidFill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</a:rPr>
              <a:t>G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</a:rPr>
              <a:t>中，则输出</a:t>
            </a:r>
            <a:r>
              <a:rPr lang="en-US" altLang="zh-CN" sz="1600" b="1" i="1" dirty="0">
                <a:solidFill>
                  <a:schemeClr val="tx1"/>
                </a:solidFill>
              </a:rPr>
              <a:t>w</a:t>
            </a:r>
            <a:r>
              <a:rPr lang="zh-CN" altLang="en-US" sz="1600" b="1" dirty="0">
                <a:solidFill>
                  <a:schemeClr val="tx1"/>
                </a:solidFill>
              </a:rPr>
              <a:t>的自底向上语法分析过程中的归约步骤；否则给出一个错误指示。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tx1"/>
                </a:solidFill>
              </a:rPr>
              <a:t>方法：初始时，语法分析器栈中的内容为初始状态</a:t>
            </a:r>
            <a:r>
              <a:rPr lang="en-US" altLang="zh-CN" sz="1600" b="1" i="1" dirty="0">
                <a:solidFill>
                  <a:schemeClr val="tx1"/>
                </a:solidFill>
              </a:rPr>
              <a:t>s</a:t>
            </a:r>
            <a:r>
              <a:rPr lang="en-US" altLang="zh-CN" sz="1600" b="1" baseline="-25000" dirty="0">
                <a:solidFill>
                  <a:schemeClr val="tx1"/>
                </a:solidFill>
              </a:rPr>
              <a:t>0</a:t>
            </a:r>
            <a:r>
              <a:rPr lang="zh-CN" altLang="en-US" sz="1600" b="1" dirty="0">
                <a:solidFill>
                  <a:schemeClr val="tx1"/>
                </a:solidFill>
              </a:rPr>
              <a:t>，输入缓冲区中的内容为</a:t>
            </a:r>
            <a:r>
              <a:rPr lang="en-US" altLang="zh-CN" sz="1600" b="1" i="1" dirty="0">
                <a:solidFill>
                  <a:schemeClr val="tx1"/>
                </a:solidFill>
              </a:rPr>
              <a:t>w</a:t>
            </a:r>
            <a:r>
              <a:rPr lang="en-US" altLang="zh-CN" sz="1600" b="1" dirty="0">
                <a:solidFill>
                  <a:schemeClr val="tx1"/>
                </a:solidFill>
              </a:rPr>
              <a:t>$</a:t>
            </a:r>
            <a:r>
              <a:rPr lang="zh-CN" altLang="en-US" sz="1600" b="1" dirty="0">
                <a:solidFill>
                  <a:schemeClr val="tx1"/>
                </a:solidFill>
              </a:rPr>
              <a:t>。然后，语法分析器执行下面的程序：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分析算法</a:t>
            </a:r>
          </a:p>
        </p:txBody>
      </p:sp>
      <p:sp>
        <p:nvSpPr>
          <p:cNvPr id="8" name="内容占位符 1"/>
          <p:cNvSpPr txBox="1">
            <a:spLocks/>
          </p:cNvSpPr>
          <p:nvPr/>
        </p:nvSpPr>
        <p:spPr bwMode="auto">
          <a:xfrm>
            <a:off x="611560" y="2428875"/>
            <a:ext cx="6432227" cy="3298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latin typeface="Times New Roman" pitchFamily="18" charset="0"/>
                <a:ea typeface="华文楷体" pitchFamily="2" charset="-122"/>
              </a:rPr>
              <a:t>令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zh-CN" altLang="en-US" sz="1600" b="1" dirty="0">
                <a:latin typeface="Times New Roman" pitchFamily="18" charset="0"/>
                <a:ea typeface="华文楷体" pitchFamily="2" charset="-122"/>
              </a:rPr>
              <a:t>为</a:t>
            </a:r>
            <a:r>
              <a:rPr lang="en-US" altLang="zh-CN" sz="1600" b="1" i="1" dirty="0">
                <a:latin typeface="Times New Roman" pitchFamily="18" charset="0"/>
                <a:ea typeface="华文楷体" pitchFamily="2" charset="-122"/>
              </a:rPr>
              <a:t>w</a:t>
            </a:r>
            <a:r>
              <a:rPr kumimoji="1" lang="en-US" altLang="zh-CN" sz="1600" b="1" dirty="0">
                <a:latin typeface="Times New Roman" pitchFamily="18" charset="0"/>
              </a:rPr>
              <a:t>$</a:t>
            </a:r>
            <a:r>
              <a:rPr kumimoji="1" lang="zh-CN" altLang="en-US" sz="1600" b="1" dirty="0">
                <a:latin typeface="华文楷体" pitchFamily="2" charset="-122"/>
                <a:ea typeface="华文楷体" pitchFamily="2" charset="-122"/>
              </a:rPr>
              <a:t>的第一个符号；</a:t>
            </a:r>
            <a:endParaRPr kumimoji="1" lang="en-US" altLang="zh-CN" sz="1600" b="1" dirty="0">
              <a:latin typeface="华文楷体" pitchFamily="2" charset="-122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l-GR" altLang="zh-CN" sz="1600" b="1" dirty="0"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华文楷体" pitchFamily="2" charset="-122"/>
              </a:rPr>
              <a:t>while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(1) { /*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永远重复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*/ 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          令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是栈顶的状态；</a:t>
            </a:r>
            <a:endParaRPr lang="en-US" altLang="zh-CN" sz="16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    if (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ACTION [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=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移入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) {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                    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将状态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t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压入栈中；</a:t>
            </a:r>
            <a:r>
              <a:rPr lang="en-US" altLang="zh-CN" sz="1600" b="1" dirty="0">
                <a:solidFill>
                  <a:srgbClr val="008000"/>
                </a:solidFill>
                <a:latin typeface="Times New Roman" pitchFamily="18" charset="0"/>
                <a:ea typeface="楷体" pitchFamily="49" charset="-122"/>
              </a:rPr>
              <a:t>// </a:t>
            </a:r>
            <a:r>
              <a:rPr lang="zh-CN" altLang="en-US" sz="1600" b="1" dirty="0">
                <a:solidFill>
                  <a:srgbClr val="008000"/>
                </a:solidFill>
                <a:latin typeface="Times New Roman" pitchFamily="18" charset="0"/>
                <a:ea typeface="楷体" pitchFamily="49" charset="-122"/>
              </a:rPr>
              <a:t>不需要压入符号</a:t>
            </a:r>
            <a:endParaRPr lang="en-US" altLang="zh-CN" sz="1600" b="1" dirty="0">
              <a:solidFill>
                <a:srgbClr val="008000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             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令</a:t>
            </a: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为下一个输入符号；</a:t>
            </a:r>
            <a:endParaRPr lang="en-US" altLang="zh-CN" sz="16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    } else  if (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ACTION [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=</a:t>
            </a:r>
            <a:r>
              <a:rPr lang="zh-CN" altLang="en-US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归约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itchFamily="18" charset="0"/>
              </a:rPr>
              <a:t> →</a:t>
            </a:r>
            <a:r>
              <a:rPr lang="el-GR" altLang="zh-CN" sz="1600" b="1" i="1" dirty="0">
                <a:solidFill>
                  <a:srgbClr val="C00000"/>
                </a:solidFill>
                <a:latin typeface="Times New Roman" pitchFamily="18" charset="0"/>
              </a:rPr>
              <a:t> β</a:t>
            </a:r>
            <a:r>
              <a:rPr lang="en-US" altLang="zh-CN" sz="1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) {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ea typeface="华文楷体" pitchFamily="2" charset="-122"/>
              </a:rPr>
              <a:t>                     </a:t>
            </a:r>
            <a:r>
              <a:rPr lang="zh-CN" altLang="en-US" sz="1600" b="1" dirty="0">
                <a:latin typeface="Times New Roman" pitchFamily="18" charset="0"/>
                <a:ea typeface="华文楷体" pitchFamily="2" charset="-122"/>
              </a:rPr>
              <a:t>从栈中弹出│ </a:t>
            </a:r>
            <a:r>
              <a:rPr lang="el-GR" altLang="zh-CN" sz="1600" b="1" i="1" dirty="0">
                <a:latin typeface="Times New Roman" pitchFamily="18" charset="0"/>
              </a:rPr>
              <a:t>β </a:t>
            </a:r>
            <a:r>
              <a:rPr lang="zh-CN" altLang="en-US" sz="1600" b="1" dirty="0">
                <a:latin typeface="Times New Roman" pitchFamily="18" charset="0"/>
                <a:ea typeface="华文楷体" pitchFamily="2" charset="-122"/>
              </a:rPr>
              <a:t>│个状态（符号）；</a:t>
            </a:r>
            <a:endParaRPr lang="en-US" altLang="zh-CN" sz="1600" b="1" dirty="0">
              <a:latin typeface="Times New Roman" pitchFamily="18" charset="0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ea typeface="华文楷体" pitchFamily="2" charset="-122"/>
              </a:rPr>
              <a:t>                    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华文楷体" pitchFamily="2" charset="-122"/>
              </a:rPr>
              <a:t>将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 [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t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压入栈中；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                    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输出产生式 </a:t>
            </a: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i="1" dirty="0">
                <a:latin typeface="Times New Roman" pitchFamily="18" charset="0"/>
              </a:rPr>
              <a:t> →</a:t>
            </a:r>
            <a:r>
              <a:rPr lang="el-GR" altLang="zh-CN" sz="1600" b="1" i="1" dirty="0">
                <a:latin typeface="Times New Roman" pitchFamily="18" charset="0"/>
              </a:rPr>
              <a:t> β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；</a:t>
            </a:r>
            <a:endParaRPr lang="en-US" altLang="zh-CN" sz="1600" b="1" dirty="0">
              <a:latin typeface="Times New Roman" pitchFamily="18" charset="0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    } else  if (ACTION [</a:t>
            </a: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=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接受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) break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；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/*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语法分析完成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*/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    else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调用错误恢复例程；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ea typeface="楷体" pitchFamily="49" charset="-122"/>
              </a:rPr>
              <a:t>      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58850"/>
            <a:ext cx="7776864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(0)</a:t>
            </a: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en-US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SLR</a:t>
            </a: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(1)</a:t>
            </a: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LALR</a:t>
            </a: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ts val="4000"/>
              </a:lnSpc>
              <a:buNone/>
              <a:defRPr/>
            </a:pPr>
            <a:endParaRPr lang="zh-CN" altLang="en-US" sz="2800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/>
              <a:cs typeface="Times New Roman" pitchFamily="18" charset="0"/>
            </a:endParaRPr>
          </a:p>
        </p:txBody>
      </p:sp>
      <p:sp>
        <p:nvSpPr>
          <p:cNvPr id="5529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如何构造给定文法的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771550"/>
            <a:ext cx="8307387" cy="3384401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200"/>
              </a:lnSpc>
            </a:pPr>
            <a:r>
              <a:rPr lang="zh-CN" altLang="en-US" dirty="0">
                <a:latin typeface="楷体" panose="02010609060101010101" pitchFamily="49" charset="-122"/>
                <a:cs typeface="楷体_GB2312"/>
              </a:rPr>
              <a:t>句柄是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cs typeface="楷体_GB2312"/>
              </a:rPr>
              <a:t>逐步形成</a:t>
            </a:r>
            <a:r>
              <a:rPr lang="zh-CN" altLang="en-US" dirty="0">
                <a:latin typeface="楷体" panose="02010609060101010101" pitchFamily="49" charset="-122"/>
                <a:cs typeface="楷体_GB2312"/>
              </a:rPr>
              <a:t>的，用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cs typeface="楷体_GB2312"/>
              </a:rPr>
              <a:t>“项目”</a:t>
            </a:r>
            <a:r>
              <a:rPr lang="zh-CN" altLang="en-US" dirty="0">
                <a:latin typeface="楷体" panose="02010609060101010101" pitchFamily="49" charset="-122"/>
                <a:cs typeface="楷体_GB2312"/>
              </a:rPr>
              <a:t>表示句柄识别的进展状态</a:t>
            </a:r>
            <a:endParaRPr lang="en-US" altLang="zh-CN" sz="2500" b="1" dirty="0">
              <a:solidFill>
                <a:srgbClr val="0070C0"/>
              </a:solidFill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FF0000"/>
                </a:solidFill>
              </a:rPr>
              <a:t>项目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0070C0"/>
                </a:solidFill>
              </a:rPr>
              <a:t>右部某位置标有圆点的产生式</a:t>
            </a:r>
            <a:r>
              <a:rPr lang="zh-CN" altLang="en-US" sz="2500" b="1" dirty="0">
                <a:solidFill>
                  <a:schemeClr val="tx1"/>
                </a:solidFill>
              </a:rPr>
              <a:t>称为相应文法的一个</a:t>
            </a:r>
            <a:r>
              <a:rPr lang="en-US" altLang="zh-CN" sz="2500" b="1" i="1" dirty="0">
                <a:solidFill>
                  <a:srgbClr val="FF0000"/>
                </a:solidFill>
              </a:rPr>
              <a:t>LR</a:t>
            </a:r>
            <a:r>
              <a:rPr lang="en-US" altLang="zh-CN" sz="2500" b="1" dirty="0">
                <a:solidFill>
                  <a:srgbClr val="FF0000"/>
                </a:solidFill>
              </a:rPr>
              <a:t>(0)</a:t>
            </a:r>
            <a:r>
              <a:rPr lang="zh-CN" altLang="en-US" sz="2500" b="1" dirty="0">
                <a:solidFill>
                  <a:srgbClr val="FF0000"/>
                </a:solidFill>
              </a:rPr>
              <a:t>项目</a:t>
            </a:r>
            <a:r>
              <a:rPr lang="zh-CN" altLang="en-US" sz="2500" b="1" dirty="0">
                <a:solidFill>
                  <a:schemeClr val="tx1"/>
                </a:solidFill>
              </a:rPr>
              <a:t>（简称为项目）  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0" indent="0" algn="ctr" eaLnBrk="1" hangingPunct="1">
              <a:buClrTx/>
              <a:buNone/>
            </a:pPr>
            <a:r>
              <a:rPr lang="en-US" altLang="zh-CN" sz="2500" b="1" i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rgbClr val="FF0000"/>
                </a:solidFill>
              </a:rPr>
              <a:t>·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  <a:cs typeface="楷体_GB2312"/>
              </a:rPr>
              <a:t>α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/>
                <a:cs typeface="楷体_GB2312"/>
              </a:rPr>
              <a:t>2</a:t>
            </a:r>
            <a:endParaRPr lang="en-US" altLang="zh-CN" sz="2500" b="1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2500"/>
              </a:lnSpc>
              <a:buFont typeface="Symbol" panose="05050102010706020507" pitchFamily="18" charset="2"/>
              <a:buNone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5734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4.4.1 LR(0)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</a:p>
        </p:txBody>
      </p:sp>
      <p:sp>
        <p:nvSpPr>
          <p:cNvPr id="421892" name="Rectangle 4"/>
          <p:cNvSpPr>
            <a:spLocks noChangeArrowheads="1"/>
          </p:cNvSpPr>
          <p:nvPr/>
        </p:nvSpPr>
        <p:spPr bwMode="auto">
          <a:xfrm>
            <a:off x="3492500" y="4263651"/>
            <a:ext cx="15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 dirty="0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归约项目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492500" y="2966664"/>
            <a:ext cx="151154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 dirty="0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移入项目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3492500" y="3573089"/>
            <a:ext cx="151154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 dirty="0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待约项目</a:t>
            </a:r>
          </a:p>
        </p:txBody>
      </p:sp>
      <p:sp>
        <p:nvSpPr>
          <p:cNvPr id="421895" name="AutoShape 7"/>
          <p:cNvSpPr>
            <a:spLocks/>
          </p:cNvSpPr>
          <p:nvPr/>
        </p:nvSpPr>
        <p:spPr bwMode="auto">
          <a:xfrm>
            <a:off x="3052763" y="3582614"/>
            <a:ext cx="295275" cy="539750"/>
          </a:xfrm>
          <a:prstGeom prst="rightBrace">
            <a:avLst>
              <a:gd name="adj1" fmla="val 19479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21896" name="Line 8"/>
          <p:cNvSpPr>
            <a:spLocks noChangeShapeType="1"/>
          </p:cNvSpPr>
          <p:nvPr/>
        </p:nvSpPr>
        <p:spPr bwMode="auto">
          <a:xfrm flipH="1">
            <a:off x="2998788" y="4479551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 flipH="1">
            <a:off x="2998788" y="3185739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5546" name="矩形 1"/>
          <p:cNvSpPr>
            <a:spLocks noChangeArrowheads="1"/>
          </p:cNvSpPr>
          <p:nvPr/>
        </p:nvSpPr>
        <p:spPr bwMode="auto">
          <a:xfrm>
            <a:off x="1079500" y="3012701"/>
            <a:ext cx="3996556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  <a:r>
              <a:rPr lang="en-US" altLang="zh-CN" sz="25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bBB</a:t>
            </a:r>
            <a:r>
              <a:rPr lang="en-US" altLang="zh-CN" sz="25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76661" y="3291367"/>
            <a:ext cx="3052465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产生式 </a:t>
            </a:r>
            <a:r>
              <a:rPr lang="en-US" altLang="zh-CN" sz="2400" b="1" i="1" dirty="0" err="1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400" b="1" dirty="0" err="1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→</a:t>
            </a:r>
            <a:r>
              <a:rPr lang="en-US" altLang="zh-CN" sz="2400" b="1" i="1" dirty="0" err="1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ε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只生成一个项目</a:t>
            </a:r>
            <a:r>
              <a:rPr lang="en-US" altLang="zh-CN" sz="2400" b="1" i="1" dirty="0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400" b="1" dirty="0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→ · </a:t>
            </a:r>
            <a:endParaRPr lang="zh-CN" altLang="en-US" sz="1600" dirty="0">
              <a:solidFill>
                <a:srgbClr val="2D83F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uiExpand="1" build="p" animBg="1"/>
      <p:bldP spid="421892" grpId="0"/>
      <p:bldP spid="421893" grpId="0"/>
      <p:bldP spid="421894" grpId="0"/>
      <p:bldP spid="421895" grpId="0" animBg="1"/>
      <p:bldP spid="65546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357188" y="785813"/>
            <a:ext cx="8664575" cy="3225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为开始符号的文法，则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增广文法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G'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就是在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中加上新开始符号</a:t>
            </a:r>
            <a:r>
              <a:rPr lang="en-US" altLang="zh-CN" sz="25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和产生式</a:t>
            </a:r>
            <a:r>
              <a:rPr lang="en-US" altLang="zh-CN" sz="25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而得到的文法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例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 dirty="0">
              <a:solidFill>
                <a:schemeClr val="tx1"/>
              </a:solidFill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增广文法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Grammar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213225" y="2571750"/>
            <a:ext cx="936625" cy="323850"/>
          </a:xfrm>
          <a:prstGeom prst="rightArrow">
            <a:avLst>
              <a:gd name="adj1" fmla="val 50000"/>
              <a:gd name="adj2" fmla="val 54228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195513" y="2117725"/>
            <a:ext cx="1816100" cy="1939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270500" y="1733550"/>
            <a:ext cx="1814513" cy="2324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0)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E'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endParaRPr lang="en-US" altLang="zh-CN" sz="2000" b="1" dirty="0">
              <a:solidFill>
                <a:srgbClr val="FF0000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2" name="矩形 1"/>
          <p:cNvSpPr/>
          <p:nvPr/>
        </p:nvSpPr>
        <p:spPr>
          <a:xfrm>
            <a:off x="296167" y="4155926"/>
            <a:ext cx="8596313" cy="912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03213" lvl="1" eaLnBrk="1" hangingPunct="1">
              <a:lnSpc>
                <a:spcPts val="32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引入这个</a:t>
            </a:r>
            <a:r>
              <a:rPr lang="zh-CN" altLang="en-US" sz="2400" b="1" dirty="0">
                <a:latin typeface="Times New Roman" pitchFamily="18" charset="0"/>
                <a:ea typeface="华文楷体" pitchFamily="2" charset="-122"/>
              </a:rPr>
              <a:t>新的开始产生式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目的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是使得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文法开始符号仅出现在一个产生式的左边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，从而使得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华文楷体" pitchFamily="2" charset="-122"/>
              </a:rPr>
              <a:t>分析器只有一个接受状态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395288" y="2621199"/>
            <a:ext cx="143986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</a:p>
        </p:txBody>
      </p:sp>
      <p:sp>
        <p:nvSpPr>
          <p:cNvPr id="594949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endParaRPr lang="en-US" altLang="zh-CN" sz="2000" b="1" i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3995738" y="1861929"/>
            <a:ext cx="1493837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1" name="Rectangle 7"/>
          <p:cNvSpPr>
            <a:spLocks noChangeArrowheads="1"/>
          </p:cNvSpPr>
          <p:nvPr/>
        </p:nvSpPr>
        <p:spPr bwMode="auto">
          <a:xfrm>
            <a:off x="5795963" y="2638642"/>
            <a:ext cx="149383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2" name="Rectangle 8"/>
          <p:cNvSpPr>
            <a:spLocks noChangeArrowheads="1"/>
          </p:cNvSpPr>
          <p:nvPr/>
        </p:nvSpPr>
        <p:spPr bwMode="auto">
          <a:xfrm>
            <a:off x="7235825" y="2638642"/>
            <a:ext cx="14414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4" name="Rectangle 10"/>
          <p:cNvSpPr>
            <a:spLocks noChangeArrowheads="1"/>
          </p:cNvSpPr>
          <p:nvPr/>
        </p:nvSpPr>
        <p:spPr bwMode="auto">
          <a:xfrm>
            <a:off x="413138" y="3044720"/>
            <a:ext cx="8072438" cy="378752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955" name="AutoShape 11"/>
          <p:cNvSpPr>
            <a:spLocks/>
          </p:cNvSpPr>
          <p:nvPr/>
        </p:nvSpPr>
        <p:spPr bwMode="auto">
          <a:xfrm>
            <a:off x="7265780" y="3581723"/>
            <a:ext cx="1239837" cy="378752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22889"/>
              <a:gd name="adj5" fmla="val -39655"/>
              <a:gd name="adj6" fmla="val -6473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</a:rPr>
              <a:t>归约项目</a:t>
            </a:r>
          </a:p>
        </p:txBody>
      </p:sp>
      <p:sp>
        <p:nvSpPr>
          <p:cNvPr id="594956" name="AutoShape 12"/>
          <p:cNvSpPr>
            <a:spLocks/>
          </p:cNvSpPr>
          <p:nvPr/>
        </p:nvSpPr>
        <p:spPr bwMode="auto">
          <a:xfrm>
            <a:off x="899592" y="3581723"/>
            <a:ext cx="1243012" cy="378752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7412"/>
              <a:gd name="adj5" fmla="val -69844"/>
              <a:gd name="adj6" fmla="val -2078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接收项目</a:t>
            </a:r>
          </a:p>
        </p:txBody>
      </p:sp>
      <p:sp>
        <p:nvSpPr>
          <p:cNvPr id="594957" name="AutoShape 13"/>
          <p:cNvSpPr>
            <a:spLocks/>
          </p:cNvSpPr>
          <p:nvPr/>
        </p:nvSpPr>
        <p:spPr bwMode="auto">
          <a:xfrm>
            <a:off x="808037" y="1920151"/>
            <a:ext cx="1243013" cy="453248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11963"/>
              <a:gd name="adj5" fmla="val 170087"/>
              <a:gd name="adj6" fmla="val -1474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初始项目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9581CA-AF72-491C-A599-E580C55B4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21" y="4011910"/>
            <a:ext cx="8320087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移进项目：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形如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aβ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，其中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分析时，需要把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移进栈</a:t>
            </a:r>
            <a:endParaRPr lang="en-US" altLang="zh-CN" sz="20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73050"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待约项目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：形如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Bβ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，其中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B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，等待归约出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sz="2000" b="1" i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3050"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归约项目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：形如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句柄已形成，可以归约</a:t>
            </a:r>
            <a:endParaRPr lang="zh-CN" altLang="en-US" sz="2000" b="1" i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5" grpId="0" animBg="1"/>
      <p:bldP spid="594948" grpId="0" build="allAtOnce"/>
      <p:bldP spid="594949" grpId="0" build="allAtOnce"/>
      <p:bldP spid="594950" grpId="0" build="allAtOnce"/>
      <p:bldP spid="594951" grpId="0" build="allAtOnce"/>
      <p:bldP spid="594952" grpId="0" build="allAtOnce"/>
      <p:bldP spid="594954" grpId="0" animBg="1"/>
      <p:bldP spid="594954" grpId="1" animBg="1"/>
      <p:bldP spid="594955" grpId="0" animBg="1"/>
      <p:bldP spid="594955" grpId="1" animBg="1"/>
      <p:bldP spid="594956" grpId="0" animBg="1"/>
      <p:bldP spid="594956" grpId="1" animBg="1"/>
      <p:bldP spid="594957" grpId="0" animBg="1"/>
      <p:bldP spid="594957" grpId="1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395288" y="2621199"/>
            <a:ext cx="143986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</a:p>
        </p:txBody>
      </p:sp>
      <p:sp>
        <p:nvSpPr>
          <p:cNvPr id="594949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endParaRPr lang="en-US" altLang="zh-CN" sz="2000" b="1" i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3995738" y="1861929"/>
            <a:ext cx="1493837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1" name="Rectangle 7"/>
          <p:cNvSpPr>
            <a:spLocks noChangeArrowheads="1"/>
          </p:cNvSpPr>
          <p:nvPr/>
        </p:nvSpPr>
        <p:spPr bwMode="auto">
          <a:xfrm>
            <a:off x="5795963" y="2638642"/>
            <a:ext cx="149383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2" name="Rectangle 8"/>
          <p:cNvSpPr>
            <a:spLocks noChangeArrowheads="1"/>
          </p:cNvSpPr>
          <p:nvPr/>
        </p:nvSpPr>
        <p:spPr bwMode="auto">
          <a:xfrm>
            <a:off x="7235825" y="2638642"/>
            <a:ext cx="14414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88C92A-8815-4DE8-8675-F08B5F5D9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21" y="3507504"/>
            <a:ext cx="832008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后继项目</a:t>
            </a:r>
            <a:r>
              <a:rPr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（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Successive Item</a:t>
            </a: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）</a:t>
            </a:r>
            <a:endParaRPr lang="zh-CN" altLang="en-US" sz="1600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同属于一个产生式的项目，但圆点的位置只相差一个符号，</a:t>
            </a:r>
            <a:endParaRPr lang="en-US" altLang="zh-CN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则称后者是前者的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后继项目</a:t>
            </a:r>
          </a:p>
          <a:p>
            <a:pPr marL="303213" lvl="1" indent="0" eaLnBrk="1" hangingPunct="1">
              <a:lnSpc>
                <a:spcPct val="90000"/>
              </a:lnSpc>
              <a:buClrTx/>
              <a:buNone/>
            </a:pP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即：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Xβ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的后继项目是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αX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β</a:t>
            </a:r>
            <a:endParaRPr lang="zh-CN" altLang="en-US" b="1" i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67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395288" y="2621199"/>
            <a:ext cx="143986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</a:p>
        </p:txBody>
      </p:sp>
      <p:sp>
        <p:nvSpPr>
          <p:cNvPr id="594949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endParaRPr lang="en-US" altLang="zh-CN" sz="2000" b="1" i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3995738" y="1861929"/>
            <a:ext cx="1493837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1" name="Rectangle 7"/>
          <p:cNvSpPr>
            <a:spLocks noChangeArrowheads="1"/>
          </p:cNvSpPr>
          <p:nvPr/>
        </p:nvSpPr>
        <p:spPr bwMode="auto">
          <a:xfrm>
            <a:off x="5795963" y="2638642"/>
            <a:ext cx="149383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2" name="Rectangle 8"/>
          <p:cNvSpPr>
            <a:spLocks noChangeArrowheads="1"/>
          </p:cNvSpPr>
          <p:nvPr/>
        </p:nvSpPr>
        <p:spPr bwMode="auto">
          <a:xfrm>
            <a:off x="7235825" y="2638642"/>
            <a:ext cx="14414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C6E0E7-7B85-4855-96A4-0D66928EB4DA}"/>
              </a:ext>
            </a:extLst>
          </p:cNvPr>
          <p:cNvSpPr/>
          <p:nvPr/>
        </p:nvSpPr>
        <p:spPr>
          <a:xfrm>
            <a:off x="385762" y="3828985"/>
            <a:ext cx="8332787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使用</a:t>
            </a:r>
            <a:r>
              <a:rPr lang="en-US" altLang="zh-CN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LR(0)</a:t>
            </a: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项目可以构造</a:t>
            </a:r>
            <a:r>
              <a:rPr lang="en-US" altLang="zh-CN" sz="2400" b="1" dirty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LR(0)</a:t>
            </a:r>
            <a:r>
              <a:rPr lang="zh-CN" altLang="en-US" sz="2400" b="1" dirty="0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自动机，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该自动机可以识别可能出现在栈中的所有串（</a:t>
            </a:r>
            <a:r>
              <a:rPr lang="zh-CN" altLang="en-US" sz="2400" b="1" dirty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活前缀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），可用于做出语法分析决定。</a:t>
            </a:r>
            <a:endParaRPr lang="en-US" altLang="zh-CN" sz="2400" b="1" dirty="0"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575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S' </a:t>
            </a:r>
            <a:r>
              <a:rPr lang="en-US" altLang="zh-CN" sz="2000" b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rgbClr val="0070C0"/>
                </a:solidFill>
                <a:cs typeface="Times New Roman" pitchFamily="18" charset="0"/>
              </a:rPr>
              <a:t>·</a:t>
            </a:r>
            <a:r>
              <a:rPr lang="en-US" altLang="zh-CN" sz="2000" b="1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 err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  <a:endParaRPr lang="en-US" altLang="zh-CN" sz="2000" b="1" i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latin typeface="Times New Roman" panose="02020603050405020304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B→·b	</a:t>
            </a: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642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chemeClr val="tx2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76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68127" y="744984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ea typeface="楷体_GB2312"/>
              <a:cs typeface="Times New Roman" pitchFamily="18" charset="0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C49AA976-7746-4190-B3F5-8CCF698E3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844" y="3971924"/>
            <a:ext cx="3124644" cy="7600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LR(0)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项集规范族：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所有规范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LR(0)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项集的集合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AE8B6774-E17B-4AB4-873F-239C15345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852" y="268288"/>
            <a:ext cx="2980629" cy="844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</a:rPr>
              <a:t>核心项目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 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→·S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和所有点不在最左端的项目。</a:t>
            </a:r>
            <a:endParaRPr lang="en-US" altLang="zh-CN" sz="20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00F9A98-E23E-4AE2-ADBD-EE92C39495C4}"/>
              </a:ext>
            </a:extLst>
          </p:cNvPr>
          <p:cNvSpPr txBox="1"/>
          <p:nvPr/>
        </p:nvSpPr>
        <p:spPr>
          <a:xfrm>
            <a:off x="5911852" y="2139702"/>
            <a:ext cx="2980628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</a:rPr>
              <a:t>求项集闭包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closure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</a:rPr>
              <a:t>：</a:t>
            </a:r>
            <a:endParaRPr lang="en-US" altLang="zh-CN" sz="2000" b="1" dirty="0">
              <a:solidFill>
                <a:srgbClr val="0070C0"/>
              </a:solidFill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若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Bβ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则将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开头的产生式加入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，重复执行此规则，直到没有新产生式加入。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E0E3A2C-BFA4-4742-B49B-79D453393B9E}"/>
              </a:ext>
            </a:extLst>
          </p:cNvPr>
          <p:cNvSpPr txBox="1"/>
          <p:nvPr/>
        </p:nvSpPr>
        <p:spPr>
          <a:xfrm>
            <a:off x="5918977" y="1275606"/>
            <a:ext cx="2980628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</a:rPr>
              <a:t>状态：核心项目集合的闭包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  <a:endParaRPr lang="en-US" altLang="zh-CN" sz="2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441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" grpId="0" animBg="1"/>
      <p:bldP spid="425987" grpId="0" build="p" animBg="1"/>
      <p:bldP spid="425988" grpId="0" animBg="1"/>
      <p:bldP spid="425989" grpId="0" animBg="1"/>
      <p:bldP spid="425990" grpId="0"/>
      <p:bldP spid="425991" grpId="0" animBg="1"/>
      <p:bldP spid="425992" grpId="0"/>
      <p:bldP spid="425994" grpId="0" animBg="1"/>
      <p:bldP spid="425995" grpId="0"/>
      <p:bldP spid="425997" grpId="0" animBg="1"/>
      <p:bldP spid="425998" grpId="0"/>
      <p:bldP spid="425999" grpId="0" animBg="1"/>
      <p:bldP spid="426000" grpId="0" animBg="1"/>
      <p:bldP spid="426001" grpId="0"/>
      <p:bldP spid="426002" grpId="0" animBg="1"/>
      <p:bldP spid="426003" grpId="0" animBg="1"/>
      <p:bldP spid="426004" grpId="0"/>
      <p:bldP spid="426005" grpId="0" animBg="1"/>
      <p:bldP spid="426006" grpId="0"/>
      <p:bldP spid="426007" grpId="0" animBg="1"/>
      <p:bldP spid="426008" grpId="0"/>
      <p:bldP spid="426009" grpId="0" animBg="1"/>
      <p:bldP spid="426010" grpId="0" animBg="1"/>
      <p:bldP spid="426011" grpId="0"/>
      <p:bldP spid="426012" grpId="0" animBg="1"/>
      <p:bldP spid="426013" grpId="0"/>
      <p:bldP spid="36" grpId="0" animBg="1"/>
      <p:bldP spid="37" grpId="0" animBg="1"/>
      <p:bldP spid="39" grpId="0" animBg="1"/>
      <p:bldP spid="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S' </a:t>
            </a:r>
            <a:r>
              <a:rPr lang="en-US" altLang="zh-CN" sz="2000" b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rgbClr val="0070C0"/>
                </a:solidFill>
                <a:cs typeface="Times New Roman" pitchFamily="18" charset="0"/>
              </a:rPr>
              <a:t>·</a:t>
            </a:r>
            <a:r>
              <a:rPr lang="en-US" altLang="zh-CN" sz="2000" b="1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 err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  <a:endParaRPr lang="en-US" altLang="zh-CN" sz="2000" b="1" i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2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B→·b	</a:t>
            </a: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642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867894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76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168278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68127" y="744984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solidFill>
                <a:prstClr val="black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7" name="Group 18">
            <a:extLst>
              <a:ext uri="{FF2B5EF4-FFF2-40B4-BE49-F238E27FC236}">
                <a16:creationId xmlns:a16="http://schemas.microsoft.com/office/drawing/2014/main" id="{158FAE23-270A-44EF-AA96-666A768A9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00161"/>
              </p:ext>
            </p:extLst>
          </p:nvPr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F2669860-AD23-4EE6-9EAD-EFB4A006C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LR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(0)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A2E6F4F-5480-4029-B05B-04788D5F4F6B}"/>
              </a:ext>
            </a:extLst>
          </p:cNvPr>
          <p:cNvSpPr txBox="1"/>
          <p:nvPr/>
        </p:nvSpPr>
        <p:spPr>
          <a:xfrm>
            <a:off x="100013" y="4119671"/>
            <a:ext cx="2130425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LR(0)</a:t>
            </a:r>
            <a:r>
              <a:rPr lang="zh-CN" altLang="en-US" b="1" dirty="0">
                <a:latin typeface="+mn-ea"/>
                <a:ea typeface="+mn-ea"/>
              </a:rPr>
              <a:t>中的 </a:t>
            </a:r>
            <a:r>
              <a:rPr lang="en-US" altLang="zh-CN" b="1" dirty="0">
                <a:latin typeface="+mn-ea"/>
                <a:ea typeface="+mn-ea"/>
              </a:rPr>
              <a:t>0</a:t>
            </a:r>
            <a:r>
              <a:rPr lang="zh-CN" altLang="en-US" b="1" dirty="0">
                <a:latin typeface="+mn-ea"/>
                <a:ea typeface="+mn-ea"/>
              </a:rPr>
              <a:t>表示：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执行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归约动作</a:t>
            </a:r>
            <a:r>
              <a:rPr lang="zh-CN" altLang="en-US" b="1" dirty="0">
                <a:latin typeface="+mn-ea"/>
                <a:ea typeface="+mn-ea"/>
              </a:rPr>
              <a:t>时，不需查看输入符号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FF399D-5E80-4FD0-92BF-A3BC20B336A2}"/>
              </a:ext>
            </a:extLst>
          </p:cNvPr>
          <p:cNvSpPr/>
          <p:nvPr/>
        </p:nvSpPr>
        <p:spPr>
          <a:xfrm>
            <a:off x="6248292" y="1964777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s3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F85B43-DF61-4E97-9FF9-306EEDF852D2}"/>
              </a:ext>
            </a:extLst>
          </p:cNvPr>
          <p:cNvSpPr/>
          <p:nvPr/>
        </p:nvSpPr>
        <p:spPr>
          <a:xfrm>
            <a:off x="6804484" y="1955616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s4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1E05706-170B-4C99-9C81-F82E99FED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360119"/>
              </p:ext>
            </p:extLst>
          </p:nvPr>
        </p:nvGraphicFramePr>
        <p:xfrm>
          <a:off x="7956550" y="1964929"/>
          <a:ext cx="503238" cy="403856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4089828443"/>
                    </a:ext>
                  </a:extLst>
                </a:gridCol>
              </a:tblGrid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48560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F587EAA-C2B7-4B8E-BBE8-62C2EA105199}"/>
              </a:ext>
            </a:extLst>
          </p:cNvPr>
          <p:cNvSpPr/>
          <p:nvPr/>
        </p:nvSpPr>
        <p:spPr>
          <a:xfrm>
            <a:off x="7343834" y="2355726"/>
            <a:ext cx="5405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</a:rPr>
              <a:t>acc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754DB2-0ECD-41A3-BC32-0C2018D87354}"/>
              </a:ext>
            </a:extLst>
          </p:cNvPr>
          <p:cNvSpPr/>
          <p:nvPr/>
        </p:nvSpPr>
        <p:spPr>
          <a:xfrm>
            <a:off x="6232267" y="2747704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s3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23CF12-0B48-42FD-A956-DC11FC73B48C}"/>
              </a:ext>
            </a:extLst>
          </p:cNvPr>
          <p:cNvSpPr/>
          <p:nvPr/>
        </p:nvSpPr>
        <p:spPr>
          <a:xfrm>
            <a:off x="6802632" y="2755836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s4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A64E44-1E3C-4EE8-A2D7-B1B813BCEEA5}"/>
              </a:ext>
            </a:extLst>
          </p:cNvPr>
          <p:cNvSpPr/>
          <p:nvPr/>
        </p:nvSpPr>
        <p:spPr>
          <a:xfrm>
            <a:off x="8584899" y="2786614"/>
            <a:ext cx="312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F04937-62D0-4F61-8F18-7786F1197FD3}"/>
              </a:ext>
            </a:extLst>
          </p:cNvPr>
          <p:cNvSpPr/>
          <p:nvPr/>
        </p:nvSpPr>
        <p:spPr>
          <a:xfrm>
            <a:off x="6261430" y="3152202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s3</a:t>
            </a:r>
            <a:endParaRPr lang="zh-CN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3E6C77-7F5F-4ED1-88AA-3879F3D01A33}"/>
              </a:ext>
            </a:extLst>
          </p:cNvPr>
          <p:cNvSpPr/>
          <p:nvPr/>
        </p:nvSpPr>
        <p:spPr>
          <a:xfrm>
            <a:off x="6799387" y="3162462"/>
            <a:ext cx="41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kumimoji="1" lang="en-US" altLang="zh-CN" sz="2000" b="1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s4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1052B5-C643-4F6D-A170-707CE62FD59B}"/>
              </a:ext>
            </a:extLst>
          </p:cNvPr>
          <p:cNvSpPr/>
          <p:nvPr/>
        </p:nvSpPr>
        <p:spPr>
          <a:xfrm>
            <a:off x="8585553" y="3162462"/>
            <a:ext cx="312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zh-CN" altLang="en-US" sz="20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F98B6819-18DA-41CE-923A-9F658E5C2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42002"/>
              </p:ext>
            </p:extLst>
          </p:nvPr>
        </p:nvGraphicFramePr>
        <p:xfrm>
          <a:off x="6156325" y="3575053"/>
          <a:ext cx="1800225" cy="403856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1752699289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18562092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881512547"/>
                    </a:ext>
                  </a:extLst>
                </a:gridCol>
              </a:tblGrid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867181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9E4F5BA-C7BE-4EBC-8FC3-00299A529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554416"/>
              </p:ext>
            </p:extLst>
          </p:nvPr>
        </p:nvGraphicFramePr>
        <p:xfrm>
          <a:off x="6153358" y="3981679"/>
          <a:ext cx="1800225" cy="403856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79795801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394731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287264198"/>
                    </a:ext>
                  </a:extLst>
                </a:gridCol>
              </a:tblGrid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284563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A76776D-C9A3-4ECA-AE11-5E143DEA5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65058"/>
              </p:ext>
            </p:extLst>
          </p:nvPr>
        </p:nvGraphicFramePr>
        <p:xfrm>
          <a:off x="6150518" y="4379408"/>
          <a:ext cx="1800225" cy="403856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836354286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174536271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493450755"/>
                    </a:ext>
                  </a:extLst>
                </a:gridCol>
              </a:tblGrid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23804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33F73BA0-2175-4639-B08B-EBB22288F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823610"/>
              </p:ext>
            </p:extLst>
          </p:nvPr>
        </p:nvGraphicFramePr>
        <p:xfrm>
          <a:off x="8459078" y="1962058"/>
          <a:ext cx="576262" cy="403856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988259911"/>
                    </a:ext>
                  </a:extLst>
                </a:gridCol>
              </a:tblGrid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485600"/>
                  </a:ext>
                </a:extLst>
              </a:tr>
            </a:tbl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D8EC0D2E-E8BE-4E7D-93B9-2E0A7DDE0F2C}"/>
              </a:ext>
            </a:extLst>
          </p:cNvPr>
          <p:cNvSpPr txBox="1"/>
          <p:nvPr/>
        </p:nvSpPr>
        <p:spPr>
          <a:xfrm>
            <a:off x="100012" y="2913214"/>
            <a:ext cx="189388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状态中项目可以指导栈操作（移入、归约、接受）</a:t>
            </a:r>
          </a:p>
        </p:txBody>
      </p:sp>
    </p:spTree>
    <p:extLst>
      <p:ext uri="{BB962C8B-B14F-4D97-AF65-F5344CB8AC3E}">
        <p14:creationId xmlns:p14="http://schemas.microsoft.com/office/powerpoint/2010/main" val="288227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4259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4259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4259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4259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4259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4259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4259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4259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4259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4259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4259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4259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4259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4259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4260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4260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4260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4260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4260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4259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 tmFilter="0, 0; .2, .5; .8, .5; 1, 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250" autoRev="1" fill="hold"/>
                                        <p:tgtEl>
                                          <p:spTgt spid="4260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 tmFilter="0, 0; .2, .5; .8, .5; 1, 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4" dur="250" autoRev="1" fill="hold"/>
                                        <p:tgtEl>
                                          <p:spTgt spid="4260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 tmFilter="0, 0; .2, .5; .8, .5; 1, 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8" dur="250" autoRev="1" fill="hold"/>
                                        <p:tgtEl>
                                          <p:spTgt spid="4260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250" autoRev="1" fill="remove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8" dur="250" autoRev="1" fill="remove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" dur="250" autoRev="1" fill="remove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250" autoRev="1" fill="remove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 tmFilter="0, 0; .2, .5; .8, .5; 1, 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5" dur="250" autoRev="1" fill="hold"/>
                                        <p:tgtEl>
                                          <p:spTgt spid="4260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 tmFilter="0, 0; .2, .5; .8, .5; 1, 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8" dur="250" autoRev="1" fill="hold"/>
                                        <p:tgtEl>
                                          <p:spTgt spid="4260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 tmFilter="0, 0; .2, .5; .8, .5; 1, 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250" autoRev="1" fill="hold"/>
                                        <p:tgtEl>
                                          <p:spTgt spid="4259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 tmFilter="0, 0; .2, .5; .8, .5; 1, 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250" autoRev="1" fill="hold"/>
                                        <p:tgtEl>
                                          <p:spTgt spid="4260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 tmFilter="0, 0; .2, .5; .8, .5; 1, 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5" dur="250" autoRev="1" fill="hold"/>
                                        <p:tgtEl>
                                          <p:spTgt spid="4260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 tmFilter="0, 0; .2, .5; .8, .5; 1, 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250" autoRev="1" fill="hold"/>
                                        <p:tgtEl>
                                          <p:spTgt spid="4259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 tmFilter="0, 0; .2, .5; .8, .5; 1, 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9" dur="250" autoRev="1" fill="hold"/>
                                        <p:tgtEl>
                                          <p:spTgt spid="42600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 tmFilter="0, 0; .2, .5; .8, .5; 1, 0"/>
                                        <p:tgtEl>
                                          <p:spTgt spid="4260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2" dur="250" autoRev="1" fill="hold"/>
                                        <p:tgtEl>
                                          <p:spTgt spid="4260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 tmFilter="0, 0; .2, .5; .8, .5; 1, 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6" dur="250" autoRev="1" fill="hold"/>
                                        <p:tgtEl>
                                          <p:spTgt spid="426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 tmFilter="0, 0; .2, .5; .8, .5; 1, 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6" dur="250" autoRev="1" fill="hold"/>
                                        <p:tgtEl>
                                          <p:spTgt spid="4259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250" autoRev="1" fill="remove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1" dur="250" autoRev="1" fill="remove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2" dur="250" autoRev="1" fill="remove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250" autoRev="1" fill="remove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 tmFilter="0, 0; .2, .5; .8, .5; 1, 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3" dur="250" autoRev="1" fill="hold"/>
                                        <p:tgtEl>
                                          <p:spTgt spid="426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" grpId="0" animBg="1"/>
      <p:bldP spid="425987" grpId="0" uiExpand="1" build="p" animBg="1"/>
      <p:bldP spid="425988" grpId="0" animBg="1"/>
      <p:bldP spid="425988" grpId="1" animBg="1"/>
      <p:bldP spid="425989" grpId="0" animBg="1"/>
      <p:bldP spid="425990" grpId="0"/>
      <p:bldP spid="425991" grpId="0" animBg="1"/>
      <p:bldP spid="425992" grpId="0"/>
      <p:bldP spid="425993" grpId="0"/>
      <p:bldP spid="425993" grpId="1"/>
      <p:bldP spid="425994" grpId="0" animBg="1"/>
      <p:bldP spid="425995" grpId="0"/>
      <p:bldP spid="425996" grpId="0"/>
      <p:bldP spid="425996" grpId="1"/>
      <p:bldP spid="425997" grpId="0" animBg="1"/>
      <p:bldP spid="425998" grpId="0"/>
      <p:bldP spid="425999" grpId="0" animBg="1"/>
      <p:bldP spid="425999" grpId="1" animBg="1"/>
      <p:bldP spid="425999" grpId="2" animBg="1"/>
      <p:bldP spid="425999" grpId="3" animBg="1"/>
      <p:bldP spid="426000" grpId="0" animBg="1"/>
      <p:bldP spid="426001" grpId="0"/>
      <p:bldP spid="426002" grpId="0" animBg="1"/>
      <p:bldP spid="426002" grpId="1" animBg="1"/>
      <p:bldP spid="426003" grpId="0" animBg="1"/>
      <p:bldP spid="426004" grpId="0"/>
      <p:bldP spid="426005" grpId="0" animBg="1"/>
      <p:bldP spid="426006" grpId="0"/>
      <p:bldP spid="426007" grpId="0" animBg="1"/>
      <p:bldP spid="426008" grpId="0"/>
      <p:bldP spid="426009" grpId="0" animBg="1"/>
      <p:bldP spid="426009" grpId="1" animBg="1"/>
      <p:bldP spid="426010" grpId="0" animBg="1"/>
      <p:bldP spid="426011" grpId="0"/>
      <p:bldP spid="426012" grpId="0" animBg="1"/>
      <p:bldP spid="426013" grpId="0"/>
      <p:bldP spid="39" grpId="0"/>
      <p:bldP spid="41" grpId="0" animBg="1"/>
      <p:bldP spid="2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5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S'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cs typeface="Times New Roman" pitchFamily="18" charset="0"/>
              </a:rPr>
              <a:t>·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 err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  <a:endParaRPr lang="en-US" altLang="zh-CN" sz="2000" b="1" i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 dirty="0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B→·b	</a:t>
            </a: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2106613" y="333375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u="sng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799"/>
            <a:ext cx="1000125" cy="627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zh-CN" sz="2000" b="1" i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76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240286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68127" y="699542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solidFill>
                <a:prstClr val="black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LR</a:t>
            </a:r>
            <a:r>
              <a:rPr lang="en-US" altLang="zh-CN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(0)</a:t>
            </a:r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A8C38-2CC7-4E76-8EC4-F69FCE0E20F3}"/>
              </a:ext>
            </a:extLst>
          </p:cNvPr>
          <p:cNvSpPr txBox="1"/>
          <p:nvPr/>
        </p:nvSpPr>
        <p:spPr>
          <a:xfrm>
            <a:off x="184745" y="4558357"/>
            <a:ext cx="2521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例如：分析</a:t>
            </a: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7233A05B-1266-41FA-B5CB-38874E60C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2509113"/>
            <a:ext cx="1944118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 indent="14288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每个状态与其入边上标记的符号对应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14288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状态代表了栈中所有符号的信息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457196A-318C-41BA-A323-6ACFAAEB4AB2}"/>
              </a:ext>
            </a:extLst>
          </p:cNvPr>
          <p:cNvSpPr/>
          <p:nvPr/>
        </p:nvSpPr>
        <p:spPr>
          <a:xfrm>
            <a:off x="3968750" y="51470"/>
            <a:ext cx="51752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任一时刻分析栈中的符号串，一定是从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初始状态</a:t>
            </a:r>
            <a:r>
              <a:rPr lang="zh-CN" altLang="en-US" sz="2000" b="1" dirty="0">
                <a:latin typeface="+mn-ea"/>
                <a:ea typeface="+mn-ea"/>
              </a:rPr>
              <a:t>到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栈顶状态</a:t>
            </a:r>
            <a:r>
              <a:rPr lang="zh-CN" altLang="en-US" sz="2000" b="1" dirty="0">
                <a:latin typeface="+mn-ea"/>
                <a:ea typeface="+mn-ea"/>
              </a:rPr>
              <a:t>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路径上对应</a:t>
            </a:r>
            <a:r>
              <a:rPr lang="zh-CN" altLang="en-US" sz="2000" b="1" dirty="0">
                <a:latin typeface="+mn-ea"/>
                <a:ea typeface="+mn-ea"/>
              </a:rPr>
              <a:t>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符号串。</a:t>
            </a:r>
            <a:endParaRPr lang="zh-CN" altLang="en-US" sz="2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934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  <a:cs typeface="Times New Roman" pitchFamily="18" charset="0"/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03623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 marL="0" indent="0"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  <a:p>
            <a:pPr marL="0" indent="0"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0" indent="0"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  <a:endParaRPr kumimoji="1" lang="en-US" altLang="zh-CN" sz="28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aB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76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6838" y="1104900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增广文法</a:t>
            </a:r>
            <a:endParaRPr lang="en-US" altLang="zh-CN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solidFill>
                <a:prstClr val="black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LR</a:t>
            </a:r>
            <a:r>
              <a:rPr lang="en-US" altLang="zh-CN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(0)</a:t>
            </a:r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</a:p>
        </p:txBody>
      </p:sp>
      <p:sp>
        <p:nvSpPr>
          <p:cNvPr id="36" name="矩形 35"/>
          <p:cNvSpPr/>
          <p:nvPr/>
        </p:nvSpPr>
        <p:spPr>
          <a:xfrm>
            <a:off x="-14287" y="2936285"/>
            <a:ext cx="21097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LR(0)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项目识别文法全部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活前缀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。所有</a:t>
            </a:r>
            <a:r>
              <a:rPr lang="zh-CN" altLang="en-US" b="1" kern="0" noProof="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状态都是接收状态。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1A6A7B-5242-44F2-9115-F2D200E593EC}"/>
              </a:ext>
            </a:extLst>
          </p:cNvPr>
          <p:cNvSpPr txBox="1"/>
          <p:nvPr/>
        </p:nvSpPr>
        <p:spPr>
          <a:xfrm>
            <a:off x="49641" y="4215750"/>
            <a:ext cx="2180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是句子识别状态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1285AA7-CB08-477C-B1FB-43C21F614189}"/>
              </a:ext>
            </a:extLst>
          </p:cNvPr>
          <p:cNvSpPr txBox="1"/>
          <p:nvPr/>
        </p:nvSpPr>
        <p:spPr>
          <a:xfrm>
            <a:off x="14081" y="4638646"/>
            <a:ext cx="3140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是句柄识别状态</a:t>
            </a:r>
          </a:p>
        </p:txBody>
      </p:sp>
    </p:spTree>
    <p:extLst>
      <p:ext uri="{BB962C8B-B14F-4D97-AF65-F5344CB8AC3E}">
        <p14:creationId xmlns:p14="http://schemas.microsoft.com/office/powerpoint/2010/main" val="118626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" grpId="0"/>
      <p:bldP spid="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>
          <a:xfrm>
            <a:off x="412750" y="1203597"/>
            <a:ext cx="8302625" cy="2808015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>
                <a:schemeClr val="tx1"/>
              </a:buClr>
            </a:pPr>
            <a:r>
              <a:rPr lang="zh-CN" altLang="en-US" sz="2800" dirty="0"/>
              <a:t>设</a:t>
            </a:r>
            <a:r>
              <a:rPr lang="en-US" altLang="zh-CN" sz="2800" i="1" dirty="0"/>
              <a:t>A</a:t>
            </a:r>
            <a:r>
              <a:rPr lang="en-US" altLang="zh-CN" sz="2800" dirty="0"/>
              <a:t>→</a:t>
            </a:r>
            <a:r>
              <a:rPr lang="en-US" altLang="zh-CN" sz="2800" i="1" dirty="0">
                <a:sym typeface="Symbol" panose="05050102010706020507" pitchFamily="18" charset="2"/>
              </a:rPr>
              <a:t> </a:t>
            </a:r>
            <a:r>
              <a:rPr lang="zh-CN" altLang="en-US" sz="2800" dirty="0">
                <a:sym typeface="Symbol" panose="05050102010706020507" pitchFamily="18" charset="2"/>
              </a:rPr>
              <a:t>是句柄 ，</a:t>
            </a:r>
            <a:r>
              <a:rPr lang="zh-CN" altLang="en-US" sz="2800" dirty="0"/>
              <a:t>栈中的规范句型活前缀与句柄的关系：</a:t>
            </a:r>
            <a:endParaRPr lang="en-US" altLang="zh-CN" sz="2800" dirty="0"/>
          </a:p>
          <a:p>
            <a:pPr lvl="1" eaLnBrk="1" hangingPunct="1">
              <a:lnSpc>
                <a:spcPts val="3200"/>
              </a:lnSpc>
              <a:buClr>
                <a:schemeClr val="tx1"/>
              </a:buClr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不含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句柄的任何符号：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A→.</a:t>
            </a:r>
            <a:r>
              <a:rPr lang="en-US" altLang="zh-CN" sz="2800" b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endParaRPr lang="en-US" altLang="zh-CN" sz="28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>
                <a:schemeClr val="tx1"/>
              </a:buClr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包含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句柄的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部分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符号：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A→</a:t>
            </a:r>
            <a:r>
              <a:rPr lang="en-US" altLang="zh-CN" sz="2800" b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b="1" i="1" kern="0" baseline="-25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baseline="-25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800" b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b="1" i="1" kern="0" baseline="-25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28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>
                <a:schemeClr val="tx1"/>
              </a:buClr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包含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句柄的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全部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符号：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A→</a:t>
            </a:r>
            <a:r>
              <a:rPr lang="en-US" altLang="zh-CN" sz="2800" b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kern="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活前缀与句柄的关系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895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128770"/>
            <a:ext cx="6264696" cy="575072"/>
          </a:xfrm>
        </p:spPr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分析表的算法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1563638"/>
                <a:ext cx="8370676" cy="3215786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计算项集 </a:t>
                </a:r>
                <a:r>
                  <a:rPr lang="en-US" altLang="zh-CN" i="1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lang="zh-CN" altLang="en-US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闭包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CLOSURE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闭包函数</a:t>
                </a:r>
                <a:endParaRPr lang="en-US" altLang="zh-CN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  <a:defRPr/>
                </a:pPr>
                <a:r>
                  <a:rPr lang="en-US" altLang="zh-CN" sz="20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CLOSURE</a:t>
                </a:r>
                <a:r>
                  <a:rPr lang="en-US" altLang="zh-CN" sz="2000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(</a:t>
                </a:r>
                <a:r>
                  <a:rPr lang="en-US" altLang="zh-CN" sz="2000" i="1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I</a:t>
                </a:r>
                <a:r>
                  <a:rPr lang="en-US" altLang="zh-CN" sz="2000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)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= 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I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∪ { 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B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→ </a:t>
                </a:r>
                <a:r>
                  <a:rPr lang="en-US" altLang="zh-CN" sz="2000" i="1" dirty="0">
                    <a:ea typeface="楷体_GB2312"/>
                    <a:cs typeface="Times New Roman" panose="02020603050405020304" pitchFamily="18" charset="0"/>
                  </a:rPr>
                  <a:t>·</a:t>
                </a:r>
                <a:r>
                  <a:rPr lang="en-US" altLang="zh-CN" sz="2000" i="1" dirty="0">
                    <a:solidFill>
                      <a:srgbClr val="2D83F4"/>
                    </a:solidFill>
                    <a:ea typeface="楷体_GB2312"/>
                    <a:cs typeface="楷体_GB2312"/>
                  </a:rPr>
                  <a:t> 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γ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|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→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α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·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Bβ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∈ </a:t>
                </a:r>
                <a:r>
                  <a:rPr lang="en-US" altLang="zh-CN" sz="20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CLOSURE</a:t>
                </a:r>
                <a:r>
                  <a:rPr lang="en-US" altLang="zh-CN" sz="2000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(</a:t>
                </a:r>
                <a:r>
                  <a:rPr lang="en-US" altLang="zh-CN" sz="2000" i="1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I</a:t>
                </a:r>
                <a:r>
                  <a:rPr lang="en-US" altLang="zh-CN" sz="2000" spc="300" dirty="0">
                    <a:solidFill>
                      <a:srgbClr val="0070C0"/>
                    </a:solidFill>
                    <a:ea typeface="楷体_GB2312"/>
                    <a:cs typeface="Times New Roman" pitchFamily="18" charset="0"/>
                  </a:rPr>
                  <a:t>),</a:t>
                </a:r>
                <a:r>
                  <a:rPr lang="en-US" altLang="zh-CN" sz="2000" i="1" dirty="0" err="1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B</a:t>
                </a:r>
                <a:r>
                  <a:rPr lang="en-US" altLang="zh-CN" sz="2000" dirty="0" err="1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→</a:t>
                </a:r>
                <a:r>
                  <a:rPr lang="en-US" altLang="zh-CN" sz="2000" i="1" dirty="0" err="1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γ</a:t>
                </a:r>
                <a:r>
                  <a:rPr lang="en-US" altLang="zh-CN" sz="2000" dirty="0" err="1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∈</a:t>
                </a:r>
                <a:r>
                  <a:rPr lang="en-US" altLang="zh-CN" sz="2000" i="1" dirty="0" err="1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P</a:t>
                </a:r>
                <a:r>
                  <a:rPr lang="en-US" altLang="zh-CN" sz="2000" i="1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0000"/>
                    </a:solidFill>
                    <a:ea typeface="楷体_GB2312"/>
                    <a:cs typeface="Times New Roman" pitchFamily="18" charset="0"/>
                  </a:rPr>
                  <a:t>}</a:t>
                </a:r>
                <a:endParaRPr lang="zh-CN" altLang="en-US" sz="2000" dirty="0">
                  <a:ea typeface="楷体_GB2312"/>
                  <a:cs typeface="Times New Roman" pitchFamily="18" charset="0"/>
                </a:endParaRPr>
              </a:p>
              <a:p>
                <a:pPr marL="342900" lvl="1" indent="-342900">
                  <a:spcBef>
                    <a:spcPts val="1200"/>
                  </a:spcBef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状态转移</a:t>
                </a: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4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GOTO</a:t>
                </a:r>
                <a:r>
                  <a:rPr lang="zh-CN" altLang="en-US" sz="24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函数</a:t>
                </a:r>
                <a:endParaRPr lang="en-US" altLang="zh-CN" sz="2400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  <a:p>
                <a:pPr marL="0" lvl="1" indent="0" algn="ctr">
                  <a:spcBef>
                    <a:spcPts val="1200"/>
                  </a:spcBef>
                  <a:buClr>
                    <a:schemeClr val="folHlink"/>
                  </a:buClr>
                  <a:buSzPct val="60000"/>
                  <a:buNone/>
                </a:pPr>
                <a:r>
                  <a:rPr lang="en-US" altLang="zh-CN" sz="240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GOTO( 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 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) 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= 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CLOSURE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( { 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αX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.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β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|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</m:oMath>
                </a14:m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α</a:t>
                </a:r>
                <a:r>
                  <a:rPr lang="en-US" altLang="zh-CN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.</a:t>
                </a:r>
                <a:r>
                  <a:rPr lang="en-US" altLang="zh-CN" sz="2000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Xβ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000" i="1" dirty="0">
                    <a:cs typeface="Times New Roman" panose="02020603050405020304" pitchFamily="18" charset="0"/>
                  </a:rPr>
                  <a:t>I 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} )</a:t>
                </a:r>
              </a:p>
              <a:p>
                <a:pPr marL="642938" lvl="2" indent="-342900">
                  <a:spcBef>
                    <a:spcPts val="1200"/>
                  </a:spcBef>
                </a:pPr>
                <a:r>
                  <a:rPr lang="en-US" altLang="zh-CN" dirty="0">
                    <a:cs typeface="Times New Roman" panose="02020603050405020304" pitchFamily="18" charset="0"/>
                  </a:rPr>
                  <a:t>A→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.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称为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A→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α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.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后继项目</a:t>
                </a:r>
                <a:endParaRPr lang="en-US" altLang="zh-CN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  <a:p>
                <a:pPr marL="642938" lvl="2" indent="-342900">
                  <a:spcBef>
                    <a:spcPts val="1200"/>
                  </a:spcBef>
                </a:pP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GOTO( 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 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称为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项集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关于</a:t>
                </a:r>
                <a:r>
                  <a:rPr lang="en-US" altLang="zh-CN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的后继项目集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563638"/>
                <a:ext cx="8370676" cy="3215786"/>
              </a:xfrm>
              <a:blipFill>
                <a:blip r:embed="rId3"/>
                <a:stretch>
                  <a:fillRect l="-947" t="-2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EB8CB6B5-BA20-4BCA-9722-18B1E877FB0F}"/>
              </a:ext>
            </a:extLst>
          </p:cNvPr>
          <p:cNvSpPr txBox="1">
            <a:spLocks/>
          </p:cNvSpPr>
          <p:nvPr/>
        </p:nvSpPr>
        <p:spPr bwMode="auto">
          <a:xfrm>
            <a:off x="1619672" y="867460"/>
            <a:ext cx="6264696" cy="57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闭包函数和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6715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CLOSURE( )</a:t>
            </a:r>
            <a:r>
              <a:rPr lang="zh-CN" altLang="en-US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 sz="3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1"/>
          <p:cNvSpPr txBox="1">
            <a:spLocks/>
          </p:cNvSpPr>
          <p:nvPr/>
        </p:nvSpPr>
        <p:spPr bwMode="auto">
          <a:xfrm>
            <a:off x="785813" y="785813"/>
            <a:ext cx="7632700" cy="4103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SetOfltems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CLOSURE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(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I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{</a:t>
            </a:r>
            <a:endParaRPr kumimoji="1" lang="en-US" altLang="zh-CN" sz="25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；</a:t>
            </a:r>
            <a:endParaRPr lang="en-US" altLang="zh-CN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repeat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for (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中的每个项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 →</a:t>
            </a:r>
            <a:r>
              <a:rPr lang="el-GR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l-GR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β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)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for (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G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的每个产生式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) 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if (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项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不在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) 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                 将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加入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until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在某一轮中没有新的项被加入到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return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 ( )</a:t>
            </a:r>
            <a:r>
              <a:rPr lang="zh-CN" altLang="en-US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000125" y="2236788"/>
            <a:ext cx="7127875" cy="24495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 err="1">
                <a:latin typeface="Times New Roman" pitchFamily="18" charset="0"/>
                <a:ea typeface="华文楷体" pitchFamily="2" charset="-122"/>
              </a:rPr>
              <a:t>SetOfltems</a:t>
            </a:r>
            <a:r>
              <a:rPr lang="zh-CN" altLang="en-US" sz="2500" b="1" dirty="0"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500" b="1" dirty="0"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 (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 I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X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) {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将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初始化为空集；                  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 for ( 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5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中的每个项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 →</a:t>
            </a:r>
            <a:r>
              <a:rPr lang="el-GR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lang="zh-CN" altLang="en-US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el-GR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β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)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                      将项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→</a:t>
            </a:r>
            <a:r>
              <a:rPr lang="zh-CN" altLang="en-US" sz="2500" b="1" i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_GB2312"/>
                <a:cs typeface="楷体_GB2312"/>
              </a:rPr>
              <a:t>α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5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l-GR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β</a:t>
            </a:r>
            <a:r>
              <a:rPr lang="en-US" altLang="zh-CN" sz="2500" b="1" i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加入到集合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return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CLOSURE (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</a:rPr>
              <a:t> J</a:t>
            </a:r>
            <a:r>
              <a:rPr lang="zh-CN" altLang="en-US" sz="25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latin typeface="Times New Roman" pitchFamily="18" charset="0"/>
                <a:ea typeface="楷体" pitchFamily="49" charset="-122"/>
              </a:rPr>
              <a:t>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0" name="矩形 4"/>
              <p:cNvSpPr>
                <a:spLocks noChangeArrowheads="1"/>
              </p:cNvSpPr>
              <p:nvPr/>
            </p:nvSpPr>
            <p:spPr bwMode="auto">
              <a:xfrm>
                <a:off x="357189" y="1498600"/>
                <a:ext cx="8420100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GOTO(</a:t>
                </a:r>
                <a:r>
                  <a:rPr lang="zh-CN" alt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4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r>
                  <a:rPr lang="en-US" altLang="zh-C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,</a:t>
                </a:r>
                <a:r>
                  <a:rPr lang="zh-CN" alt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4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X</a:t>
                </a:r>
                <a:r>
                  <a:rPr lang="zh-CN" altLang="en-US" sz="24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)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= </a:t>
                </a:r>
                <a:r>
                  <a:rPr lang="en-US" altLang="zh-C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CLOSURE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( { 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→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αX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·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β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|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</m:oMath>
                </a14:m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→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α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·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Xβ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∈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r>
                  <a:rPr lang="zh-CN" altLang="en-US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} )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75780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89" y="1498600"/>
                <a:ext cx="8420100" cy="461665"/>
              </a:xfrm>
              <a:prstGeom prst="rect">
                <a:avLst/>
              </a:prstGeom>
              <a:blipFill>
                <a:blip r:embed="rId3"/>
                <a:stretch>
                  <a:fillRect l="-1159" t="-10526" b="-30263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81" name="矩形 1"/>
          <p:cNvSpPr>
            <a:spLocks noChangeArrowheads="1"/>
          </p:cNvSpPr>
          <p:nvPr/>
        </p:nvSpPr>
        <p:spPr bwMode="auto">
          <a:xfrm>
            <a:off x="357188" y="928688"/>
            <a:ext cx="864235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3300"/>
              </a:lnSpc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返回项目集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对应于文法符号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项目集闭包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/>
          <p:cNvSpPr>
            <a:spLocks noGrp="1"/>
          </p:cNvSpPr>
          <p:nvPr>
            <p:ph idx="1"/>
          </p:nvPr>
        </p:nvSpPr>
        <p:spPr>
          <a:xfrm>
            <a:off x="685800" y="928688"/>
            <a:ext cx="7630616" cy="1214437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规范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(0) 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项集族</a:t>
            </a:r>
            <a:r>
              <a:rPr lang="en-US" altLang="zh-CN" sz="2500" b="1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Canonical LR</a:t>
            </a:r>
            <a:r>
              <a:rPr lang="en-US" altLang="zh-CN" sz="2500" b="1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(0) </a:t>
            </a:r>
            <a:r>
              <a:rPr lang="en-US" altLang="zh-CN" sz="2500" b="1" i="1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en-US" altLang="zh-CN" sz="2500" b="1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3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782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</a:t>
            </a:r>
            <a:r>
              <a:rPr lang="en-US" altLang="zh-CN" sz="3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自动机的状态集</a:t>
            </a:r>
            <a:endParaRPr lang="en-US" altLang="zh-CN" sz="25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1043609" y="2143125"/>
            <a:ext cx="6840760" cy="2732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1800"/>
              </a:lnSpc>
              <a:spcBef>
                <a:spcPts val="6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000" b="1" dirty="0">
                <a:latin typeface="Times New Roman" pitchFamily="18" charset="0"/>
                <a:ea typeface="华文楷体" pitchFamily="2" charset="-122"/>
              </a:rPr>
              <a:t>void</a:t>
            </a:r>
            <a:r>
              <a:rPr lang="zh-CN" altLang="en-US" sz="2000" b="1" dirty="0"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000" b="1" i="1" dirty="0">
                <a:latin typeface="Times New Roman" pitchFamily="18" charset="0"/>
                <a:ea typeface="华文楷体" pitchFamily="2" charset="-122"/>
              </a:rPr>
              <a:t>items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( </a:t>
            </a:r>
            <a:r>
              <a:rPr lang="en-US" altLang="zh-CN" sz="2000" b="1" i="1" dirty="0">
                <a:latin typeface="Times New Roman" pitchFamily="18" charset="0"/>
              </a:rPr>
              <a:t>G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'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 {</a:t>
            </a:r>
            <a:endParaRPr lang="zh-CN" altLang="en-US" sz="20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 i="1" dirty="0">
                <a:latin typeface="Times New Roman" pitchFamily="18" charset="0"/>
                <a:ea typeface="华文楷体" pitchFamily="2" charset="-122"/>
              </a:rPr>
              <a:t>         </a:t>
            </a:r>
            <a:r>
              <a:rPr lang="en-US" altLang="zh-CN" sz="2000" b="1" i="1" dirty="0">
                <a:latin typeface="Times New Roman" pitchFamily="18" charset="0"/>
                <a:ea typeface="华文楷体" pitchFamily="2" charset="-122"/>
              </a:rPr>
              <a:t>C</a:t>
            </a:r>
            <a:r>
              <a:rPr lang="zh-CN" altLang="en-US" sz="2000" b="1" dirty="0">
                <a:latin typeface="Times New Roman" pitchFamily="18" charset="0"/>
                <a:ea typeface="华文楷体" pitchFamily="2" charset="-122"/>
              </a:rPr>
              <a:t>＝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{ CLOSURE ( { [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S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'</a:t>
            </a:r>
            <a:r>
              <a:rPr lang="en-US" altLang="zh-CN" sz="2000" b="1" i="1" dirty="0">
                <a:latin typeface="Times New Roman" pitchFamily="18" charset="0"/>
              </a:rPr>
              <a:t>→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</a:rPr>
              <a:t>·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zh-CN" altLang="en-US" sz="20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] } ) }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；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 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       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repeat</a:t>
            </a:r>
            <a:endParaRPr lang="zh-CN" altLang="en-US" sz="20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                 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f</a:t>
            </a:r>
            <a:r>
              <a:rPr lang="en-US" altLang="zh-CN" sz="2000" b="1" dirty="0">
                <a:latin typeface="Times New Roman" pitchFamily="18" charset="0"/>
              </a:rPr>
              <a:t>o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r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(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中的每个项集 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 i="1" dirty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                            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for(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每个文法符号</a:t>
            </a:r>
            <a:r>
              <a:rPr lang="en-US" altLang="zh-CN" sz="2000" b="1" i="1" dirty="0">
                <a:latin typeface="华文楷体" pitchFamily="2" charset="-122"/>
                <a:ea typeface="华文楷体" pitchFamily="2" charset="-122"/>
              </a:rPr>
              <a:t>X</a:t>
            </a:r>
            <a:r>
              <a:rPr lang="zh-CN" altLang="en-US" sz="2000" b="1" i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                                     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if</a:t>
            </a:r>
            <a:r>
              <a:rPr lang="en-US" altLang="zh-CN" sz="2000" b="1" dirty="0"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( </a:t>
            </a:r>
            <a:r>
              <a:rPr lang="en-US" altLang="zh-CN" sz="2000" b="1" dirty="0"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 ( 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000" b="1" i="1" dirty="0">
                <a:latin typeface="华文楷体" pitchFamily="2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非空且不在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中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 dirty="0"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                                             将</a:t>
            </a:r>
            <a:r>
              <a:rPr lang="en-US" altLang="zh-CN" sz="2000" b="1" dirty="0"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 ( 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000" b="1" i="1" dirty="0">
                <a:latin typeface="华文楷体" pitchFamily="2" charset="-122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加入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中</a:t>
            </a:r>
            <a:r>
              <a:rPr lang="zh-CN" altLang="en-US" sz="2000" b="1" dirty="0"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 dirty="0">
                <a:latin typeface="Times New Roman" pitchFamily="18" charset="0"/>
              </a:rPr>
              <a:t>         </a:t>
            </a:r>
            <a:r>
              <a:rPr lang="en-US" altLang="zh-CN" sz="2000" b="1" dirty="0">
                <a:latin typeface="Times New Roman" pitchFamily="18" charset="0"/>
              </a:rPr>
              <a:t>until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在某一轮中没有新的项集被加入到</a:t>
            </a:r>
            <a:r>
              <a:rPr lang="en-US" altLang="zh-CN" sz="2000" b="1" i="1" dirty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中；</a:t>
            </a:r>
            <a:endParaRPr lang="en-US" altLang="zh-CN" sz="2000" b="1" dirty="0">
              <a:latin typeface="华文楷体" pitchFamily="2" charset="-122"/>
              <a:ea typeface="华文楷体" pitchFamily="2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000" b="1" dirty="0">
                <a:latin typeface="Times New Roman" pitchFamily="18" charset="0"/>
                <a:ea typeface="楷体" pitchFamily="49" charset="-122"/>
              </a:rPr>
              <a:t>}</a:t>
            </a:r>
          </a:p>
        </p:txBody>
      </p:sp>
      <p:sp>
        <p:nvSpPr>
          <p:cNvPr id="77829" name="矩形 1"/>
          <p:cNvSpPr>
            <a:spLocks noChangeArrowheads="1"/>
          </p:cNvSpPr>
          <p:nvPr/>
        </p:nvSpPr>
        <p:spPr bwMode="auto">
          <a:xfrm>
            <a:off x="1244600" y="1519238"/>
            <a:ext cx="6481763" cy="44358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032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3000"/>
              </a:lnSpc>
              <a:spcBef>
                <a:spcPct val="20000"/>
              </a:spcBef>
              <a:buClr>
                <a:srgbClr val="000000"/>
              </a:buClr>
              <a:buSzPct val="100000"/>
            </a:pP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={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}∪{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2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lang="zh-CN" altLang="en-US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}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285750" y="857250"/>
            <a:ext cx="8699500" cy="3946748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G'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的规范</a:t>
            </a:r>
            <a:r>
              <a:rPr lang="en-US" altLang="zh-CN" sz="2500" b="1" i="1" dirty="0">
                <a:solidFill>
                  <a:srgbClr val="2D83F4"/>
                </a:solidFill>
                <a:cs typeface="楷体_GB2312"/>
              </a:rPr>
              <a:t>LR</a:t>
            </a:r>
            <a:r>
              <a:rPr lang="en-US" altLang="zh-CN" sz="2500" b="1" dirty="0">
                <a:solidFill>
                  <a:srgbClr val="2D83F4"/>
                </a:solidFill>
                <a:cs typeface="楷体_GB2312"/>
              </a:rPr>
              <a:t>(0)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项集族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C 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… 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}</a:t>
            </a: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令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对应状态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。状态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的语法分析动作按照下面的方法决定：</a:t>
            </a:r>
            <a:endParaRPr lang="en-US" altLang="zh-CN" sz="2500" b="1" dirty="0">
              <a:solidFill>
                <a:schemeClr val="tx1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if </a:t>
            </a:r>
            <a:r>
              <a:rPr lang="en-US" altLang="zh-CN" b="1" i="1" dirty="0">
                <a:solidFill>
                  <a:srgbClr val="0070C0"/>
                </a:solidFill>
                <a:cs typeface="楷体_GB2312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cs typeface="楷体_GB2312"/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  <a:cs typeface="楷体_GB2312"/>
              </a:rPr>
              <a:t>α</a:t>
            </a:r>
            <a:r>
              <a:rPr lang="en-US" altLang="zh-CN" b="1" dirty="0">
                <a:solidFill>
                  <a:srgbClr val="0070C0"/>
                </a:solidFill>
                <a:cs typeface="楷体_GB2312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cs typeface="楷体_GB2312"/>
              </a:rPr>
              <a:t>aβ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aseline="-25000" dirty="0">
                <a:cs typeface="楷体_GB2312"/>
              </a:rPr>
              <a:t>,</a:t>
            </a:r>
            <a:r>
              <a:rPr lang="en-US" altLang="zh-CN" dirty="0"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dirty="0">
                <a:ea typeface="楷体_GB2312"/>
                <a:cs typeface="楷体_GB2312"/>
              </a:rPr>
              <a:t>∈</a:t>
            </a:r>
            <a:r>
              <a:rPr lang="en-US" altLang="zh-CN" i="1" dirty="0">
                <a:ea typeface="楷体_GB2312"/>
                <a:cs typeface="楷体_GB2312"/>
              </a:rPr>
              <a:t>V</a:t>
            </a:r>
            <a:r>
              <a:rPr lang="en-US" altLang="zh-CN" baseline="-25000" dirty="0">
                <a:ea typeface="楷体_GB2312"/>
                <a:cs typeface="楷体_GB2312"/>
              </a:rPr>
              <a:t>T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楷体_GB2312"/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GOTO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 )=</a:t>
            </a:r>
            <a:r>
              <a:rPr lang="en-US" altLang="zh-CN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then </a:t>
            </a:r>
            <a:r>
              <a:rPr lang="en-US" altLang="zh-CN" b="1" i="1" dirty="0">
                <a:solidFill>
                  <a:srgbClr val="0070C0"/>
                </a:solidFill>
                <a:cs typeface="楷体_GB2312"/>
              </a:rPr>
              <a:t>ACTION</a:t>
            </a:r>
            <a:r>
              <a:rPr lang="en-US" altLang="zh-CN" b="1" dirty="0">
                <a:solidFill>
                  <a:srgbClr val="0070C0"/>
                </a:solidFill>
                <a:cs typeface="楷体_GB2312"/>
              </a:rPr>
              <a:t>[ </a:t>
            </a:r>
            <a:r>
              <a:rPr lang="en-US" altLang="zh-CN" b="1" i="1" dirty="0" err="1">
                <a:solidFill>
                  <a:srgbClr val="0070C0"/>
                </a:solidFill>
                <a:cs typeface="楷体_GB231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cs typeface="楷体_GB2312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楷体_GB2312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cs typeface="楷体_GB2312"/>
              </a:rPr>
              <a:t> ]=</a:t>
            </a:r>
            <a:r>
              <a:rPr lang="en-US" altLang="zh-CN" b="1" i="1" dirty="0" err="1">
                <a:solidFill>
                  <a:srgbClr val="0070C0"/>
                </a:solidFill>
                <a:cs typeface="楷体_GB2312"/>
              </a:rPr>
              <a:t>sj</a:t>
            </a:r>
            <a:r>
              <a:rPr lang="en-US" altLang="zh-CN" b="1" baseline="-25000" dirty="0">
                <a:solidFill>
                  <a:srgbClr val="0070C0"/>
                </a:solidFill>
                <a:cs typeface="楷体_GB2312"/>
              </a:rPr>
              <a:t> </a:t>
            </a:r>
            <a:endParaRPr lang="en-US" altLang="zh-CN" b="1" dirty="0">
              <a:solidFill>
                <a:srgbClr val="0070C0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α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.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Bβ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∈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rgbClr val="0070C0"/>
                </a:solidFill>
                <a:ea typeface="楷体_GB2312"/>
                <a:cs typeface="楷体_GB2312"/>
              </a:rPr>
              <a:t>i</a:t>
            </a:r>
            <a:r>
              <a:rPr lang="en-US" altLang="zh-CN" b="1" baseline="-25000" dirty="0">
                <a:solidFill>
                  <a:srgbClr val="0070C0"/>
                </a:solidFill>
                <a:ea typeface="楷体_GB2312"/>
                <a:cs typeface="楷体_GB2312"/>
              </a:rPr>
              <a:t> </a:t>
            </a:r>
            <a:r>
              <a:rPr lang="en-US" altLang="zh-CN" baseline="-25000" dirty="0">
                <a:solidFill>
                  <a:srgbClr val="0070C0"/>
                </a:solidFill>
                <a:ea typeface="楷体_GB2312"/>
                <a:cs typeface="楷体_GB2312"/>
              </a:rPr>
              <a:t>,</a:t>
            </a:r>
            <a:r>
              <a:rPr lang="en-US" altLang="zh-CN" dirty="0">
                <a:solidFill>
                  <a:srgbClr val="0070C0"/>
                </a:solidFill>
                <a:ea typeface="楷体_GB2312"/>
                <a:cs typeface="楷体_GB2312"/>
              </a:rPr>
              <a:t> </a:t>
            </a:r>
            <a:r>
              <a:rPr lang="en-US" altLang="zh-CN" i="1" dirty="0">
                <a:cs typeface="楷体_GB2312"/>
              </a:rPr>
              <a:t>B</a:t>
            </a:r>
            <a:r>
              <a:rPr lang="en-US" altLang="zh-CN" dirty="0">
                <a:ea typeface="楷体_GB2312"/>
                <a:cs typeface="楷体_GB2312"/>
              </a:rPr>
              <a:t>∈</a:t>
            </a:r>
            <a:r>
              <a:rPr lang="en-US" altLang="zh-CN" i="1" dirty="0">
                <a:ea typeface="楷体_GB2312"/>
                <a:cs typeface="楷体_GB2312"/>
              </a:rPr>
              <a:t>V</a:t>
            </a:r>
            <a:r>
              <a:rPr lang="en-US" altLang="zh-CN" baseline="-25000" dirty="0">
                <a:ea typeface="楷体_GB2312"/>
                <a:cs typeface="楷体_GB2312"/>
              </a:rPr>
              <a:t>N</a:t>
            </a:r>
            <a:r>
              <a:rPr lang="en-US" altLang="zh-CN" i="1" dirty="0">
                <a:cs typeface="楷体_GB2312"/>
              </a:rPr>
              <a:t> </a:t>
            </a:r>
            <a:r>
              <a:rPr lang="zh-CN" altLang="en-US" dirty="0">
                <a:cs typeface="楷体_GB2312"/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)=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GOTO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楷体_GB2312"/>
              </a:rPr>
              <a:t>]=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j</a:t>
            </a:r>
            <a:r>
              <a:rPr lang="en-US" altLang="zh-CN" b="1" baseline="-25000" dirty="0">
                <a:solidFill>
                  <a:srgbClr val="0070C0"/>
                </a:solidFill>
                <a:ea typeface="楷体_GB2312"/>
                <a:cs typeface="楷体_GB2312"/>
              </a:rPr>
              <a:t> </a:t>
            </a:r>
            <a:endParaRPr lang="en-US" altLang="zh-CN" b="1" dirty="0">
              <a:solidFill>
                <a:srgbClr val="0070C0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</a:rPr>
              <a:t> if</a:t>
            </a:r>
            <a:r>
              <a:rPr lang="en-US" altLang="zh-CN" b="1" dirty="0">
                <a:solidFill>
                  <a:srgbClr val="2D83F4"/>
                </a:solidFill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</a:rPr>
              <a:t>A</a:t>
            </a:r>
            <a:r>
              <a:rPr lang="en-US" altLang="zh-CN" b="1" dirty="0">
                <a:solidFill>
                  <a:srgbClr val="0070C0"/>
                </a:solidFill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</a:rPr>
              <a:t>α</a:t>
            </a:r>
            <a:r>
              <a:rPr lang="en-US" altLang="zh-CN" b="1" dirty="0">
                <a:solidFill>
                  <a:srgbClr val="0070C0"/>
                </a:solidFill>
              </a:rPr>
              <a:t>·∈</a:t>
            </a:r>
            <a:r>
              <a:rPr lang="en-US" altLang="zh-CN" b="1" i="1" dirty="0">
                <a:solidFill>
                  <a:srgbClr val="0070C0"/>
                </a:solidFill>
              </a:rPr>
              <a:t>I</a:t>
            </a:r>
            <a:r>
              <a:rPr lang="en-US" altLang="zh-CN" b="1" i="1" baseline="-25000" dirty="0">
                <a:solidFill>
                  <a:srgbClr val="0070C0"/>
                </a:solidFill>
              </a:rPr>
              <a:t>i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</a:rPr>
              <a:t>A </a:t>
            </a:r>
            <a:r>
              <a:rPr lang="en-US" altLang="zh-CN" b="1" dirty="0">
                <a:solidFill>
                  <a:schemeClr val="tx1"/>
                </a:solidFill>
              </a:rPr>
              <a:t>≠ </a:t>
            </a:r>
            <a:r>
              <a:rPr lang="en-US" altLang="zh-CN" b="1" i="1" dirty="0">
                <a:solidFill>
                  <a:schemeClr val="tx1"/>
                </a:solidFill>
              </a:rPr>
              <a:t>S' </a:t>
            </a:r>
            <a:r>
              <a:rPr lang="en-US" altLang="zh-CN" b="1" i="1" dirty="0">
                <a:solidFill>
                  <a:srgbClr val="2D83F4"/>
                </a:solidFill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</a:rPr>
              <a:t> for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∈</a:t>
            </a:r>
            <a:r>
              <a:rPr lang="en-US" altLang="zh-CN" b="1" i="1" dirty="0">
                <a:solidFill>
                  <a:srgbClr val="FF0000"/>
                </a:solidFill>
              </a:rPr>
              <a:t>V</a:t>
            </a:r>
            <a:r>
              <a:rPr lang="en-US" altLang="zh-CN" b="1" i="1" baseline="-25000" dirty="0">
                <a:solidFill>
                  <a:srgbClr val="FF0000"/>
                </a:solidFill>
              </a:rPr>
              <a:t>T</a:t>
            </a:r>
            <a:r>
              <a:rPr lang="en-US" altLang="zh-CN" b="1" dirty="0">
                <a:solidFill>
                  <a:srgbClr val="FF0000"/>
                </a:solidFill>
              </a:rPr>
              <a:t>∪{</a:t>
            </a:r>
            <a:r>
              <a:rPr lang="en-US" altLang="zh-CN" b="1" dirty="0">
                <a:solidFill>
                  <a:srgbClr val="FF0000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rgbClr val="FF0000"/>
                </a:solidFill>
                <a:ea typeface="楷体_GB2312"/>
                <a:cs typeface="楷体_GB2312"/>
              </a:rPr>
              <a:t>}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do </a:t>
            </a:r>
            <a:r>
              <a:rPr lang="en-US" altLang="zh-CN" b="1" i="1" dirty="0">
                <a:solidFill>
                  <a:srgbClr val="FF0000"/>
                </a:solidFill>
                <a:ea typeface="楷体_GB2312"/>
                <a:cs typeface="楷体_GB2312"/>
              </a:rPr>
              <a:t>ACTION</a:t>
            </a:r>
            <a:r>
              <a:rPr lang="en-US" altLang="zh-CN" b="1" dirty="0">
                <a:solidFill>
                  <a:srgbClr val="FF0000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rgbClr val="FF0000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ea typeface="楷体_GB2312"/>
                <a:cs typeface="楷体_GB2312"/>
              </a:rPr>
              <a:t> ]=</a:t>
            </a:r>
            <a:r>
              <a:rPr lang="en-US" altLang="zh-CN" b="1" i="1" dirty="0" err="1">
                <a:solidFill>
                  <a:srgbClr val="FF0000"/>
                </a:solidFill>
                <a:ea typeface="楷体_GB2312"/>
                <a:cs typeface="楷体_GB2312"/>
              </a:rPr>
              <a:t>rj</a:t>
            </a:r>
            <a:r>
              <a:rPr lang="en-US" altLang="zh-CN" b="1" i="1" dirty="0">
                <a:solidFill>
                  <a:srgbClr val="FF0000"/>
                </a:solidFill>
                <a:ea typeface="楷体_GB2312"/>
                <a:cs typeface="楷体_GB231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（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是产生式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的编号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）</a:t>
            </a:r>
            <a:endParaRPr lang="en-US" altLang="zh-CN" b="1" i="1" dirty="0">
              <a:solidFill>
                <a:srgbClr val="2D83F4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S'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· 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ACTION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dirty="0">
                <a:solidFill>
                  <a:srgbClr val="0070C0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]=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楷体_GB2312"/>
              </a:rPr>
              <a:t>acc</a:t>
            </a:r>
            <a:endParaRPr lang="en-US" altLang="zh-CN" b="1" dirty="0">
              <a:solidFill>
                <a:srgbClr val="0070C0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没有定义的所有条目都设置为</a:t>
            </a:r>
            <a:r>
              <a:rPr lang="en-US" altLang="zh-CN" sz="2500" b="1" dirty="0">
                <a:solidFill>
                  <a:schemeClr val="tx1"/>
                </a:solidFill>
              </a:rPr>
              <a:t>“</a:t>
            </a:r>
            <a:r>
              <a:rPr lang="en-US" altLang="zh-CN" sz="2500" b="1" i="1" dirty="0">
                <a:solidFill>
                  <a:schemeClr val="tx1"/>
                </a:solidFill>
              </a:rPr>
              <a:t>error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7987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分析表构造算法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内容占位符 2"/>
          <p:cNvSpPr>
            <a:spLocks noGrp="1"/>
          </p:cNvSpPr>
          <p:nvPr>
            <p:ph idx="1"/>
          </p:nvPr>
        </p:nvSpPr>
        <p:spPr>
          <a:xfrm>
            <a:off x="0" y="785812"/>
            <a:ext cx="8807450" cy="4089399"/>
          </a:xfrm>
        </p:spPr>
        <p:txBody>
          <a:bodyPr/>
          <a:lstStyle/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22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(0)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自动机</a:t>
            </a:r>
            <a:endParaRPr lang="en-US" altLang="zh-CN" sz="28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26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M 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{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}∪{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}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CLOSURE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({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→.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})</a:t>
            </a:r>
          </a:p>
          <a:p>
            <a:pPr lvl="2" eaLnBrk="1" hangingPunct="1">
              <a:lnSpc>
                <a:spcPts val="4000"/>
              </a:lnSpc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a typeface="楷体_GB231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活前缀</a:t>
            </a:r>
            <a:r>
              <a:rPr lang="zh-CN" altLang="en-US" sz="2400" dirty="0">
                <a:latin typeface="华文楷体" panose="02010600040101010101" pitchFamily="2" charset="-122"/>
                <a:cs typeface="Times New Roman" panose="02020603050405020304" pitchFamily="18" charset="0"/>
              </a:rPr>
              <a:t>的识别状态</a:t>
            </a:r>
            <a:r>
              <a:rPr lang="en-US" altLang="zh-CN" sz="2400" dirty="0"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tx1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2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自动机的形式化定义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90D791-41C5-4A88-823A-4CE07BDAFB80}"/>
              </a:ext>
            </a:extLst>
          </p:cNvPr>
          <p:cNvSpPr/>
          <p:nvPr/>
        </p:nvSpPr>
        <p:spPr>
          <a:xfrm>
            <a:off x="4663442" y="3363838"/>
            <a:ext cx="41148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语法分析句子的识别状态：</a:t>
            </a:r>
            <a:endParaRPr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={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包含项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S′ →S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的状态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A26131-D107-443C-BE0A-564E74F7252F}"/>
              </a:ext>
            </a:extLst>
          </p:cNvPr>
          <p:cNvSpPr txBox="1"/>
          <p:nvPr/>
        </p:nvSpPr>
        <p:spPr>
          <a:xfrm>
            <a:off x="2339752" y="4377063"/>
            <a:ext cx="5585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思考：哪些状态是句柄的识别状态？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2857500" y="3473450"/>
            <a:ext cx="3849688" cy="1443038"/>
            <a:chOff x="2857786" y="3474134"/>
            <a:chExt cx="3849879" cy="1442354"/>
          </a:xfrm>
        </p:grpSpPr>
        <p:sp>
          <p:nvSpPr>
            <p:cNvPr id="84050" name="Text Box 42"/>
            <p:cNvSpPr txBox="1">
              <a:spLocks noChangeArrowheads="1"/>
            </p:cNvSpPr>
            <p:nvPr/>
          </p:nvSpPr>
          <p:spPr bwMode="auto">
            <a:xfrm>
              <a:off x="6250511" y="3485767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4051" name="Freeform 55"/>
            <p:cNvSpPr>
              <a:spLocks/>
            </p:cNvSpPr>
            <p:nvPr/>
          </p:nvSpPr>
          <p:spPr bwMode="auto">
            <a:xfrm>
              <a:off x="2857786" y="3474134"/>
              <a:ext cx="3428417" cy="1442354"/>
            </a:xfrm>
            <a:custGeom>
              <a:avLst/>
              <a:gdLst>
                <a:gd name="T0" fmla="*/ 2147483646 w 2912"/>
                <a:gd name="T1" fmla="*/ 0 h 1760"/>
                <a:gd name="T2" fmla="*/ 2147483646 w 2912"/>
                <a:gd name="T3" fmla="*/ 2147483646 h 1760"/>
                <a:gd name="T4" fmla="*/ 2147483646 w 2912"/>
                <a:gd name="T5" fmla="*/ 2147483646 h 1760"/>
                <a:gd name="T6" fmla="*/ 2147483646 w 2912"/>
                <a:gd name="T7" fmla="*/ 2147483646 h 1760"/>
                <a:gd name="T8" fmla="*/ 2147483646 w 2912"/>
                <a:gd name="T9" fmla="*/ 2147483646 h 1760"/>
                <a:gd name="T10" fmla="*/ 2147483646 w 2912"/>
                <a:gd name="T11" fmla="*/ 2147483646 h 1760"/>
                <a:gd name="T12" fmla="*/ 2147483646 w 2912"/>
                <a:gd name="T13" fmla="*/ 2147483646 h 1760"/>
                <a:gd name="T14" fmla="*/ 0 w 2912"/>
                <a:gd name="T15" fmla="*/ 2147483646 h 1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12"/>
                <a:gd name="T25" fmla="*/ 0 h 1760"/>
                <a:gd name="T26" fmla="*/ 2912 w 2912"/>
                <a:gd name="T27" fmla="*/ 1760 h 17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12" h="1760">
                  <a:moveTo>
                    <a:pt x="2880" y="0"/>
                  </a:moveTo>
                  <a:cubicBezTo>
                    <a:pt x="2896" y="280"/>
                    <a:pt x="2912" y="560"/>
                    <a:pt x="2832" y="816"/>
                  </a:cubicBezTo>
                  <a:cubicBezTo>
                    <a:pt x="2752" y="1072"/>
                    <a:pt x="2544" y="1384"/>
                    <a:pt x="2400" y="1536"/>
                  </a:cubicBezTo>
                  <a:cubicBezTo>
                    <a:pt x="2256" y="1688"/>
                    <a:pt x="2232" y="1696"/>
                    <a:pt x="1968" y="1728"/>
                  </a:cubicBezTo>
                  <a:cubicBezTo>
                    <a:pt x="1704" y="1760"/>
                    <a:pt x="1064" y="1752"/>
                    <a:pt x="816" y="1728"/>
                  </a:cubicBezTo>
                  <a:cubicBezTo>
                    <a:pt x="568" y="1704"/>
                    <a:pt x="592" y="1672"/>
                    <a:pt x="480" y="1584"/>
                  </a:cubicBezTo>
                  <a:cubicBezTo>
                    <a:pt x="368" y="1496"/>
                    <a:pt x="224" y="1336"/>
                    <a:pt x="144" y="1200"/>
                  </a:cubicBezTo>
                  <a:cubicBezTo>
                    <a:pt x="64" y="1064"/>
                    <a:pt x="8" y="856"/>
                    <a:pt x="0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6713538" y="1354138"/>
            <a:ext cx="1471612" cy="868362"/>
            <a:chOff x="6713123" y="1353788"/>
            <a:chExt cx="1472027" cy="868712"/>
          </a:xfrm>
        </p:grpSpPr>
        <p:sp>
          <p:nvSpPr>
            <p:cNvPr id="84047" name="Line 35"/>
            <p:cNvSpPr>
              <a:spLocks noChangeShapeType="1"/>
            </p:cNvSpPr>
            <p:nvPr/>
          </p:nvSpPr>
          <p:spPr bwMode="auto">
            <a:xfrm flipV="1">
              <a:off x="6713123" y="1700972"/>
              <a:ext cx="45715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8" name="Text Box 36"/>
            <p:cNvSpPr txBox="1">
              <a:spLocks noChangeArrowheads="1"/>
            </p:cNvSpPr>
            <p:nvPr/>
          </p:nvSpPr>
          <p:spPr bwMode="auto">
            <a:xfrm>
              <a:off x="6834522" y="1353788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16" name="Text Box 37"/>
            <p:cNvSpPr txBox="1">
              <a:spLocks noChangeArrowheads="1"/>
            </p:cNvSpPr>
            <p:nvPr/>
          </p:nvSpPr>
          <p:spPr bwMode="auto">
            <a:xfrm>
              <a:off x="7165688" y="1390315"/>
              <a:ext cx="1019462" cy="83218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9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E→E+T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7173913" y="3714750"/>
            <a:ext cx="1000125" cy="1157288"/>
            <a:chOff x="7173913" y="3715359"/>
            <a:chExt cx="1000125" cy="1156679"/>
          </a:xfrm>
        </p:grpSpPr>
        <p:sp>
          <p:nvSpPr>
            <p:cNvPr id="84044" name="Line 53"/>
            <p:cNvSpPr>
              <a:spLocks noChangeShapeType="1"/>
            </p:cNvSpPr>
            <p:nvPr/>
          </p:nvSpPr>
          <p:spPr bwMode="auto">
            <a:xfrm>
              <a:off x="7928013" y="3715359"/>
              <a:ext cx="0" cy="5717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5" name="Text Box 47"/>
            <p:cNvSpPr txBox="1">
              <a:spLocks noChangeArrowheads="1"/>
            </p:cNvSpPr>
            <p:nvPr/>
          </p:nvSpPr>
          <p:spPr bwMode="auto">
            <a:xfrm>
              <a:off x="7574739" y="3945427"/>
              <a:ext cx="380962" cy="36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7" name="Text Box 48"/>
            <p:cNvSpPr txBox="1">
              <a:spLocks noChangeArrowheads="1"/>
            </p:cNvSpPr>
            <p:nvPr/>
          </p:nvSpPr>
          <p:spPr bwMode="auto">
            <a:xfrm>
              <a:off x="7173913" y="4288145"/>
              <a:ext cx="1000125" cy="5838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111617" name="内容占位符 2"/>
          <p:cNvSpPr>
            <a:spLocks noGrp="1"/>
          </p:cNvSpPr>
          <p:nvPr>
            <p:ph idx="1"/>
          </p:nvPr>
        </p:nvSpPr>
        <p:spPr>
          <a:xfrm>
            <a:off x="442913" y="849313"/>
            <a:ext cx="1628775" cy="2701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(0)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(1)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+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(2)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(3)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*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(4)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(5)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(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(6)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id</a:t>
            </a:r>
          </a:p>
        </p:txBody>
      </p:sp>
      <p:sp>
        <p:nvSpPr>
          <p:cNvPr id="83974" name="标题 1"/>
          <p:cNvSpPr txBox="1">
            <a:spLocks/>
          </p:cNvSpPr>
          <p:nvPr/>
        </p:nvSpPr>
        <p:spPr bwMode="auto">
          <a:xfrm>
            <a:off x="690563" y="84455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97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467360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分析过程中的冲突</a:t>
            </a: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214313" y="4357688"/>
            <a:ext cx="2357437" cy="461962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移入</a:t>
            </a:r>
            <a:r>
              <a:rPr lang="en-US" altLang="zh-CN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归约冲突</a:t>
            </a:r>
          </a:p>
        </p:txBody>
      </p:sp>
      <p:sp>
        <p:nvSpPr>
          <p:cNvPr id="79" name="Text Box 2"/>
          <p:cNvSpPr txBox="1">
            <a:spLocks noChangeArrowheads="1"/>
          </p:cNvSpPr>
          <p:nvPr/>
        </p:nvSpPr>
        <p:spPr bwMode="auto">
          <a:xfrm>
            <a:off x="2214563" y="823913"/>
            <a:ext cx="1050925" cy="2043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0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→</a:t>
            </a:r>
            <a:r>
              <a:rPr lang="en-US" altLang="zh-CN" sz="1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 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E+T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3179763" y="698500"/>
            <a:ext cx="592137" cy="401638"/>
            <a:chOff x="3180460" y="699193"/>
            <a:chExt cx="590721" cy="400215"/>
          </a:xfrm>
        </p:grpSpPr>
        <p:sp>
          <p:nvSpPr>
            <p:cNvPr id="84042" name="Line 3"/>
            <p:cNvSpPr>
              <a:spLocks noChangeShapeType="1"/>
            </p:cNvSpPr>
            <p:nvPr/>
          </p:nvSpPr>
          <p:spPr bwMode="auto">
            <a:xfrm flipV="1">
              <a:off x="3180460" y="1046618"/>
              <a:ext cx="5907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3" name="Text Box 4"/>
            <p:cNvSpPr txBox="1">
              <a:spLocks noChangeArrowheads="1"/>
            </p:cNvSpPr>
            <p:nvPr/>
          </p:nvSpPr>
          <p:spPr bwMode="auto">
            <a:xfrm>
              <a:off x="3289835" y="699193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82" name="Text Box 5"/>
          <p:cNvSpPr txBox="1">
            <a:spLocks noChangeArrowheads="1"/>
          </p:cNvSpPr>
          <p:nvPr/>
        </p:nvSpPr>
        <p:spPr bwMode="auto">
          <a:xfrm>
            <a:off x="3770313" y="803275"/>
            <a:ext cx="1035050" cy="747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→E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endParaRPr kumimoji="1" lang="en-US" altLang="zh-CN" sz="1600" b="1" i="1" dirty="0">
              <a:solidFill>
                <a:prstClr val="black"/>
              </a:solidFill>
              <a:latin typeface="Times New Roman" pitchFamily="18" charset="0"/>
            </a:endParaRP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+T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170238" y="1403350"/>
            <a:ext cx="1625600" cy="939800"/>
            <a:chOff x="3170870" y="1403537"/>
            <a:chExt cx="1624968" cy="939613"/>
          </a:xfrm>
        </p:grpSpPr>
        <p:sp>
          <p:nvSpPr>
            <p:cNvPr id="84039" name="Line 6"/>
            <p:cNvSpPr>
              <a:spLocks noChangeShapeType="1"/>
            </p:cNvSpPr>
            <p:nvPr/>
          </p:nvSpPr>
          <p:spPr bwMode="auto">
            <a:xfrm>
              <a:off x="3170870" y="1766973"/>
              <a:ext cx="600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0" name="Text Box 7"/>
            <p:cNvSpPr txBox="1">
              <a:spLocks noChangeArrowheads="1"/>
            </p:cNvSpPr>
            <p:nvPr/>
          </p:nvSpPr>
          <p:spPr bwMode="auto">
            <a:xfrm>
              <a:off x="3289834" y="1403537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3770712" y="1595587"/>
              <a:ext cx="1025126" cy="7475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051175" y="2832100"/>
            <a:ext cx="700088" cy="646113"/>
            <a:chOff x="3051517" y="2831678"/>
            <a:chExt cx="699119" cy="646943"/>
          </a:xfrm>
        </p:grpSpPr>
        <p:sp>
          <p:nvSpPr>
            <p:cNvPr id="84037" name="Freeform 12"/>
            <p:cNvSpPr>
              <a:spLocks/>
            </p:cNvSpPr>
            <p:nvPr/>
          </p:nvSpPr>
          <p:spPr bwMode="auto">
            <a:xfrm>
              <a:off x="3051517" y="2901220"/>
              <a:ext cx="699119" cy="577401"/>
            </a:xfrm>
            <a:custGeom>
              <a:avLst/>
              <a:gdLst>
                <a:gd name="T0" fmla="*/ 2147483646 w 736"/>
                <a:gd name="T1" fmla="*/ 0 h 768"/>
                <a:gd name="T2" fmla="*/ 2147483646 w 736"/>
                <a:gd name="T3" fmla="*/ 2147483646 h 768"/>
                <a:gd name="T4" fmla="*/ 2147483646 w 736"/>
                <a:gd name="T5" fmla="*/ 2147483646 h 768"/>
                <a:gd name="T6" fmla="*/ 2147483646 w 736"/>
                <a:gd name="T7" fmla="*/ 2147483646 h 768"/>
                <a:gd name="T8" fmla="*/ 2147483646 w 736"/>
                <a:gd name="T9" fmla="*/ 2147483646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6"/>
                <a:gd name="T16" fmla="*/ 0 h 768"/>
                <a:gd name="T17" fmla="*/ 736 w 73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6" h="768">
                  <a:moveTo>
                    <a:pt x="16" y="0"/>
                  </a:moveTo>
                  <a:cubicBezTo>
                    <a:pt x="8" y="144"/>
                    <a:pt x="0" y="288"/>
                    <a:pt x="16" y="384"/>
                  </a:cubicBezTo>
                  <a:cubicBezTo>
                    <a:pt x="32" y="480"/>
                    <a:pt x="64" y="528"/>
                    <a:pt x="112" y="576"/>
                  </a:cubicBezTo>
                  <a:cubicBezTo>
                    <a:pt x="160" y="624"/>
                    <a:pt x="200" y="640"/>
                    <a:pt x="304" y="672"/>
                  </a:cubicBezTo>
                  <a:cubicBezTo>
                    <a:pt x="408" y="704"/>
                    <a:pt x="572" y="736"/>
                    <a:pt x="736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8" name="Text Box 13"/>
            <p:cNvSpPr txBox="1">
              <a:spLocks noChangeArrowheads="1"/>
            </p:cNvSpPr>
            <p:nvPr/>
          </p:nvSpPr>
          <p:spPr bwMode="auto">
            <a:xfrm>
              <a:off x="3052484" y="2831678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770313" y="2986088"/>
            <a:ext cx="1077912" cy="1836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E+T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205038" y="2874963"/>
            <a:ext cx="833437" cy="1235075"/>
            <a:chOff x="2205038" y="2875020"/>
            <a:chExt cx="833605" cy="1235018"/>
          </a:xfrm>
        </p:grpSpPr>
        <p:sp>
          <p:nvSpPr>
            <p:cNvPr id="84034" name="Line 15"/>
            <p:cNvSpPr>
              <a:spLocks noChangeShapeType="1"/>
            </p:cNvSpPr>
            <p:nvPr/>
          </p:nvSpPr>
          <p:spPr bwMode="auto">
            <a:xfrm flipH="1">
              <a:off x="2518482" y="2875020"/>
              <a:ext cx="0" cy="645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5" name="Text Box 16"/>
            <p:cNvSpPr txBox="1">
              <a:spLocks noChangeArrowheads="1"/>
            </p:cNvSpPr>
            <p:nvPr/>
          </p:nvSpPr>
          <p:spPr bwMode="auto">
            <a:xfrm>
              <a:off x="2505296" y="2951727"/>
              <a:ext cx="533347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95" name="Text Box 17"/>
            <p:cNvSpPr txBox="1">
              <a:spLocks noChangeArrowheads="1"/>
            </p:cNvSpPr>
            <p:nvPr/>
          </p:nvSpPr>
          <p:spPr bwMode="auto">
            <a:xfrm>
              <a:off x="2205038" y="3524277"/>
              <a:ext cx="800261" cy="5857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792663" y="711200"/>
            <a:ext cx="858837" cy="400050"/>
            <a:chOff x="4793071" y="711174"/>
            <a:chExt cx="858883" cy="400215"/>
          </a:xfrm>
        </p:grpSpPr>
        <p:sp>
          <p:nvSpPr>
            <p:cNvPr id="84032" name="Line 18"/>
            <p:cNvSpPr>
              <a:spLocks noChangeShapeType="1"/>
            </p:cNvSpPr>
            <p:nvPr/>
          </p:nvSpPr>
          <p:spPr bwMode="auto">
            <a:xfrm>
              <a:off x="4813838" y="1057825"/>
              <a:ext cx="8381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3" name="Text Box 19"/>
            <p:cNvSpPr txBox="1">
              <a:spLocks noChangeArrowheads="1"/>
            </p:cNvSpPr>
            <p:nvPr/>
          </p:nvSpPr>
          <p:spPr bwMode="auto">
            <a:xfrm>
              <a:off x="4793071" y="711174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98" name="Text Box 20"/>
          <p:cNvSpPr txBox="1">
            <a:spLocks noChangeArrowheads="1"/>
          </p:cNvSpPr>
          <p:nvPr/>
        </p:nvSpPr>
        <p:spPr bwMode="auto">
          <a:xfrm>
            <a:off x="5651500" y="771525"/>
            <a:ext cx="1200150" cy="1570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E+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4812559" y="1723341"/>
            <a:ext cx="838940" cy="907146"/>
            <a:chOff x="4811958" y="1723547"/>
            <a:chExt cx="840155" cy="906354"/>
          </a:xfrm>
        </p:grpSpPr>
        <p:sp>
          <p:nvSpPr>
            <p:cNvPr id="84030" name="Line 21"/>
            <p:cNvSpPr>
              <a:spLocks noChangeShapeType="1"/>
            </p:cNvSpPr>
            <p:nvPr/>
          </p:nvSpPr>
          <p:spPr bwMode="auto">
            <a:xfrm>
              <a:off x="4813997" y="1943857"/>
              <a:ext cx="838116" cy="6860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1" name="Text Box 22"/>
            <p:cNvSpPr txBox="1">
              <a:spLocks noChangeArrowheads="1"/>
            </p:cNvSpPr>
            <p:nvPr/>
          </p:nvSpPr>
          <p:spPr bwMode="auto">
            <a:xfrm>
              <a:off x="4811958" y="1723547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1" name="Text Box 23"/>
          <p:cNvSpPr txBox="1">
            <a:spLocks noChangeArrowheads="1"/>
          </p:cNvSpPr>
          <p:nvPr/>
        </p:nvSpPr>
        <p:spPr bwMode="auto">
          <a:xfrm>
            <a:off x="5651500" y="2470150"/>
            <a:ext cx="105092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T→T*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4813300" y="3206750"/>
            <a:ext cx="3509963" cy="831850"/>
            <a:chOff x="4813997" y="3206750"/>
            <a:chExt cx="3509266" cy="831850"/>
          </a:xfrm>
        </p:grpSpPr>
        <p:sp>
          <p:nvSpPr>
            <p:cNvPr id="84027" name="Line 24"/>
            <p:cNvSpPr>
              <a:spLocks noChangeShapeType="1"/>
            </p:cNvSpPr>
            <p:nvPr/>
          </p:nvSpPr>
          <p:spPr bwMode="auto">
            <a:xfrm flipV="1">
              <a:off x="4860814" y="3916141"/>
              <a:ext cx="2280575" cy="107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8" name="Text Box 25"/>
            <p:cNvSpPr txBox="1">
              <a:spLocks noChangeArrowheads="1"/>
            </p:cNvSpPr>
            <p:nvPr/>
          </p:nvSpPr>
          <p:spPr bwMode="auto">
            <a:xfrm>
              <a:off x="4813997" y="3565706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5" name="Text Box 26"/>
            <p:cNvSpPr txBox="1">
              <a:spLocks noChangeArrowheads="1"/>
            </p:cNvSpPr>
            <p:nvPr/>
          </p:nvSpPr>
          <p:spPr bwMode="auto">
            <a:xfrm>
              <a:off x="7182077" y="3206750"/>
              <a:ext cx="1141186" cy="8318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8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767263" y="2130425"/>
            <a:ext cx="414337" cy="1076325"/>
            <a:chOff x="4766757" y="2131190"/>
            <a:chExt cx="414323" cy="1075491"/>
          </a:xfrm>
        </p:grpSpPr>
        <p:sp>
          <p:nvSpPr>
            <p:cNvPr id="84025" name="Freeform 27"/>
            <p:cNvSpPr>
              <a:spLocks/>
            </p:cNvSpPr>
            <p:nvPr/>
          </p:nvSpPr>
          <p:spPr bwMode="auto">
            <a:xfrm>
              <a:off x="4807528" y="2131190"/>
              <a:ext cx="373552" cy="1070357"/>
            </a:xfrm>
            <a:custGeom>
              <a:avLst/>
              <a:gdLst>
                <a:gd name="T0" fmla="*/ 0 w 160"/>
                <a:gd name="T1" fmla="*/ 2147483646 h 1008"/>
                <a:gd name="T2" fmla="*/ 2147483646 w 160"/>
                <a:gd name="T3" fmla="*/ 2147483646 h 1008"/>
                <a:gd name="T4" fmla="*/ 2147483646 w 160"/>
                <a:gd name="T5" fmla="*/ 2147483646 h 1008"/>
                <a:gd name="T6" fmla="*/ 0 w 160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1008"/>
                <a:gd name="T14" fmla="*/ 160 w 160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1008">
                  <a:moveTo>
                    <a:pt x="0" y="1008"/>
                  </a:moveTo>
                  <a:cubicBezTo>
                    <a:pt x="36" y="988"/>
                    <a:pt x="72" y="968"/>
                    <a:pt x="96" y="864"/>
                  </a:cubicBezTo>
                  <a:cubicBezTo>
                    <a:pt x="120" y="760"/>
                    <a:pt x="160" y="528"/>
                    <a:pt x="144" y="384"/>
                  </a:cubicBezTo>
                  <a:cubicBezTo>
                    <a:pt x="128" y="240"/>
                    <a:pt x="64" y="12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Text Box 28"/>
            <p:cNvSpPr txBox="1">
              <a:spLocks noChangeArrowheads="1"/>
            </p:cNvSpPr>
            <p:nvPr/>
          </p:nvSpPr>
          <p:spPr bwMode="auto">
            <a:xfrm>
              <a:off x="4766757" y="2806466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427413" y="2635250"/>
            <a:ext cx="423862" cy="573088"/>
            <a:chOff x="3426927" y="2635981"/>
            <a:chExt cx="424800" cy="571703"/>
          </a:xfrm>
        </p:grpSpPr>
        <p:sp>
          <p:nvSpPr>
            <p:cNvPr id="84023" name="Text Box 10"/>
            <p:cNvSpPr txBox="1">
              <a:spLocks noChangeArrowheads="1"/>
            </p:cNvSpPr>
            <p:nvPr/>
          </p:nvSpPr>
          <p:spPr bwMode="auto">
            <a:xfrm>
              <a:off x="3470765" y="2702470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4024" name="Freeform 29"/>
            <p:cNvSpPr>
              <a:spLocks/>
            </p:cNvSpPr>
            <p:nvPr/>
          </p:nvSpPr>
          <p:spPr bwMode="auto">
            <a:xfrm>
              <a:off x="3426927" y="2635981"/>
              <a:ext cx="344253" cy="571703"/>
            </a:xfrm>
            <a:custGeom>
              <a:avLst/>
              <a:gdLst>
                <a:gd name="T0" fmla="*/ 2147483646 w 112"/>
                <a:gd name="T1" fmla="*/ 2147483646 h 480"/>
                <a:gd name="T2" fmla="*/ 2147483646 w 112"/>
                <a:gd name="T3" fmla="*/ 2147483646 h 480"/>
                <a:gd name="T4" fmla="*/ 2147483646 w 112"/>
                <a:gd name="T5" fmla="*/ 2147483646 h 480"/>
                <a:gd name="T6" fmla="*/ 2147483646 w 112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480"/>
                <a:gd name="T14" fmla="*/ 112 w 11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480">
                  <a:moveTo>
                    <a:pt x="112" y="480"/>
                  </a:moveTo>
                  <a:cubicBezTo>
                    <a:pt x="72" y="436"/>
                    <a:pt x="32" y="392"/>
                    <a:pt x="16" y="336"/>
                  </a:cubicBezTo>
                  <a:cubicBezTo>
                    <a:pt x="0" y="280"/>
                    <a:pt x="0" y="200"/>
                    <a:pt x="16" y="144"/>
                  </a:cubicBezTo>
                  <a:cubicBezTo>
                    <a:pt x="32" y="88"/>
                    <a:pt x="72" y="44"/>
                    <a:pt x="11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3241675" y="2130425"/>
            <a:ext cx="1563688" cy="788988"/>
            <a:chOff x="3242287" y="2129711"/>
            <a:chExt cx="1563076" cy="789702"/>
          </a:xfrm>
        </p:grpSpPr>
        <p:sp>
          <p:nvSpPr>
            <p:cNvPr id="84020" name="Line 9"/>
            <p:cNvSpPr>
              <a:spLocks noChangeShapeType="1"/>
            </p:cNvSpPr>
            <p:nvPr/>
          </p:nvSpPr>
          <p:spPr bwMode="auto">
            <a:xfrm flipV="1">
              <a:off x="3242287" y="2487329"/>
              <a:ext cx="528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3770718" y="2391886"/>
              <a:ext cx="1034645" cy="5275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84022" name="Text Box 30"/>
            <p:cNvSpPr txBox="1">
              <a:spLocks noChangeArrowheads="1"/>
            </p:cNvSpPr>
            <p:nvPr/>
          </p:nvSpPr>
          <p:spPr bwMode="auto">
            <a:xfrm>
              <a:off x="3242287" y="2129711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3467100" y="4160838"/>
            <a:ext cx="350838" cy="571500"/>
            <a:chOff x="3466410" y="4160710"/>
            <a:chExt cx="351635" cy="571703"/>
          </a:xfrm>
        </p:grpSpPr>
        <p:sp>
          <p:nvSpPr>
            <p:cNvPr id="84018" name="Freeform 31"/>
            <p:cNvSpPr>
              <a:spLocks/>
            </p:cNvSpPr>
            <p:nvPr/>
          </p:nvSpPr>
          <p:spPr bwMode="auto">
            <a:xfrm>
              <a:off x="3466410" y="4160710"/>
              <a:ext cx="330167" cy="571703"/>
            </a:xfrm>
            <a:custGeom>
              <a:avLst/>
              <a:gdLst>
                <a:gd name="T0" fmla="*/ 2147483646 w 208"/>
                <a:gd name="T1" fmla="*/ 2147483646 h 480"/>
                <a:gd name="T2" fmla="*/ 0 w 208"/>
                <a:gd name="T3" fmla="*/ 2147483646 h 480"/>
                <a:gd name="T4" fmla="*/ 2147483646 w 208"/>
                <a:gd name="T5" fmla="*/ 0 h 480"/>
                <a:gd name="T6" fmla="*/ 0 60000 65536"/>
                <a:gd name="T7" fmla="*/ 0 60000 65536"/>
                <a:gd name="T8" fmla="*/ 0 60000 65536"/>
                <a:gd name="T9" fmla="*/ 0 w 208"/>
                <a:gd name="T10" fmla="*/ 0 h 480"/>
                <a:gd name="T11" fmla="*/ 208 w 20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480">
                  <a:moveTo>
                    <a:pt x="192" y="480"/>
                  </a:moveTo>
                  <a:cubicBezTo>
                    <a:pt x="96" y="400"/>
                    <a:pt x="0" y="320"/>
                    <a:pt x="0" y="240"/>
                  </a:cubicBezTo>
                  <a:cubicBezTo>
                    <a:pt x="0" y="160"/>
                    <a:pt x="208" y="40"/>
                    <a:pt x="19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9" name="Text Box 32"/>
            <p:cNvSpPr txBox="1">
              <a:spLocks noChangeArrowheads="1"/>
            </p:cNvSpPr>
            <p:nvPr/>
          </p:nvSpPr>
          <p:spPr bwMode="auto">
            <a:xfrm>
              <a:off x="3513276" y="4260171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3016250" y="3611563"/>
            <a:ext cx="908050" cy="400050"/>
            <a:chOff x="3016152" y="3611929"/>
            <a:chExt cx="907574" cy="400215"/>
          </a:xfrm>
        </p:grpSpPr>
        <p:sp>
          <p:nvSpPr>
            <p:cNvPr id="84016" name="Line 33"/>
            <p:cNvSpPr>
              <a:spLocks noChangeShapeType="1"/>
            </p:cNvSpPr>
            <p:nvPr/>
          </p:nvSpPr>
          <p:spPr bwMode="auto">
            <a:xfrm flipH="1">
              <a:off x="3016152" y="3940117"/>
              <a:ext cx="755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7" name="Text Box 34"/>
            <p:cNvSpPr txBox="1">
              <a:spLocks noChangeArrowheads="1"/>
            </p:cNvSpPr>
            <p:nvPr/>
          </p:nvSpPr>
          <p:spPr bwMode="auto">
            <a:xfrm>
              <a:off x="3466572" y="3611929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813300" y="1200150"/>
            <a:ext cx="1020763" cy="1544638"/>
            <a:chOff x="4813997" y="1200783"/>
            <a:chExt cx="1020811" cy="1543598"/>
          </a:xfrm>
        </p:grpSpPr>
        <p:sp>
          <p:nvSpPr>
            <p:cNvPr id="84014" name="Freeform 38"/>
            <p:cNvSpPr>
              <a:spLocks/>
            </p:cNvSpPr>
            <p:nvPr/>
          </p:nvSpPr>
          <p:spPr bwMode="auto">
            <a:xfrm>
              <a:off x="4813997" y="1200783"/>
              <a:ext cx="838116" cy="1543598"/>
            </a:xfrm>
            <a:custGeom>
              <a:avLst/>
              <a:gdLst>
                <a:gd name="T0" fmla="*/ 2147483646 w 528"/>
                <a:gd name="T1" fmla="*/ 0 h 1296"/>
                <a:gd name="T2" fmla="*/ 2147483646 w 528"/>
                <a:gd name="T3" fmla="*/ 2147483646 h 1296"/>
                <a:gd name="T4" fmla="*/ 2147483646 w 528"/>
                <a:gd name="T5" fmla="*/ 2147483646 h 1296"/>
                <a:gd name="T6" fmla="*/ 0 w 528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296"/>
                <a:gd name="T14" fmla="*/ 528 w 52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296">
                  <a:moveTo>
                    <a:pt x="528" y="0"/>
                  </a:moveTo>
                  <a:cubicBezTo>
                    <a:pt x="464" y="36"/>
                    <a:pt x="400" y="72"/>
                    <a:pt x="336" y="240"/>
                  </a:cubicBezTo>
                  <a:cubicBezTo>
                    <a:pt x="272" y="408"/>
                    <a:pt x="200" y="832"/>
                    <a:pt x="144" y="1008"/>
                  </a:cubicBezTo>
                  <a:cubicBezTo>
                    <a:pt x="88" y="1184"/>
                    <a:pt x="44" y="1240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5" name="Text Box 39"/>
            <p:cNvSpPr txBox="1">
              <a:spLocks noChangeArrowheads="1"/>
            </p:cNvSpPr>
            <p:nvPr/>
          </p:nvSpPr>
          <p:spPr bwMode="auto">
            <a:xfrm>
              <a:off x="5377654" y="1240899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857750" y="1700213"/>
            <a:ext cx="954088" cy="1858962"/>
            <a:chOff x="4858516" y="1700972"/>
            <a:chExt cx="953540" cy="1857854"/>
          </a:xfrm>
        </p:grpSpPr>
        <p:sp>
          <p:nvSpPr>
            <p:cNvPr id="84012" name="Freeform 40"/>
            <p:cNvSpPr>
              <a:spLocks/>
            </p:cNvSpPr>
            <p:nvPr/>
          </p:nvSpPr>
          <p:spPr bwMode="auto">
            <a:xfrm>
              <a:off x="4858516" y="1700972"/>
              <a:ext cx="793597" cy="1857854"/>
            </a:xfrm>
            <a:custGeom>
              <a:avLst/>
              <a:gdLst>
                <a:gd name="T0" fmla="*/ 2147483646 w 528"/>
                <a:gd name="T1" fmla="*/ 0 h 1488"/>
                <a:gd name="T2" fmla="*/ 2147483646 w 528"/>
                <a:gd name="T3" fmla="*/ 2147483646 h 1488"/>
                <a:gd name="T4" fmla="*/ 2147483646 w 528"/>
                <a:gd name="T5" fmla="*/ 2147483646 h 1488"/>
                <a:gd name="T6" fmla="*/ 0 w 528"/>
                <a:gd name="T7" fmla="*/ 214748364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488"/>
                <a:gd name="T14" fmla="*/ 528 w 528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488">
                  <a:moveTo>
                    <a:pt x="528" y="0"/>
                  </a:moveTo>
                  <a:cubicBezTo>
                    <a:pt x="504" y="48"/>
                    <a:pt x="480" y="96"/>
                    <a:pt x="432" y="288"/>
                  </a:cubicBezTo>
                  <a:cubicBezTo>
                    <a:pt x="384" y="480"/>
                    <a:pt x="312" y="952"/>
                    <a:pt x="240" y="1152"/>
                  </a:cubicBezTo>
                  <a:cubicBezTo>
                    <a:pt x="168" y="1352"/>
                    <a:pt x="84" y="1420"/>
                    <a:pt x="0" y="14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3" name="Text Box 41"/>
            <p:cNvSpPr txBox="1">
              <a:spLocks noChangeArrowheads="1"/>
            </p:cNvSpPr>
            <p:nvPr/>
          </p:nvSpPr>
          <p:spPr bwMode="auto">
            <a:xfrm>
              <a:off x="5431094" y="1936591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672263" y="2332038"/>
            <a:ext cx="1512887" cy="584200"/>
            <a:chOff x="6672741" y="2332038"/>
            <a:chExt cx="1512409" cy="584200"/>
          </a:xfrm>
        </p:grpSpPr>
        <p:sp>
          <p:nvSpPr>
            <p:cNvPr id="84009" name="Line 43"/>
            <p:cNvSpPr>
              <a:spLocks noChangeShapeType="1"/>
            </p:cNvSpPr>
            <p:nvPr/>
          </p:nvSpPr>
          <p:spPr bwMode="auto">
            <a:xfrm>
              <a:off x="6672741" y="2772813"/>
              <a:ext cx="5040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Text Box 44"/>
            <p:cNvSpPr txBox="1">
              <a:spLocks noChangeArrowheads="1"/>
            </p:cNvSpPr>
            <p:nvPr/>
          </p:nvSpPr>
          <p:spPr bwMode="auto">
            <a:xfrm>
              <a:off x="6749395" y="2404799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4" name="Text Box 45"/>
            <p:cNvSpPr txBox="1">
              <a:spLocks noChangeArrowheads="1"/>
            </p:cNvSpPr>
            <p:nvPr/>
          </p:nvSpPr>
          <p:spPr bwMode="auto">
            <a:xfrm>
              <a:off x="7166297" y="2332038"/>
              <a:ext cx="1018853" cy="584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726238" y="1758950"/>
            <a:ext cx="633412" cy="852488"/>
            <a:chOff x="6725533" y="1759652"/>
            <a:chExt cx="633400" cy="852437"/>
          </a:xfrm>
        </p:grpSpPr>
        <p:sp>
          <p:nvSpPr>
            <p:cNvPr id="84007" name="Line 50"/>
            <p:cNvSpPr>
              <a:spLocks noChangeShapeType="1"/>
            </p:cNvSpPr>
            <p:nvPr/>
          </p:nvSpPr>
          <p:spPr bwMode="auto">
            <a:xfrm flipH="1">
              <a:off x="6725533" y="1986817"/>
              <a:ext cx="439826" cy="625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Text Box 51"/>
            <p:cNvSpPr txBox="1">
              <a:spLocks noChangeArrowheads="1"/>
            </p:cNvSpPr>
            <p:nvPr/>
          </p:nvSpPr>
          <p:spPr bwMode="auto">
            <a:xfrm>
              <a:off x="6901779" y="1759652"/>
              <a:ext cx="457154" cy="46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6862763" y="1152525"/>
            <a:ext cx="1812925" cy="2587625"/>
            <a:chOff x="6862006" y="1153207"/>
            <a:chExt cx="1813682" cy="2587264"/>
          </a:xfrm>
        </p:grpSpPr>
        <p:sp>
          <p:nvSpPr>
            <p:cNvPr id="84005" name="Text Box 49"/>
            <p:cNvSpPr txBox="1">
              <a:spLocks noChangeArrowheads="1"/>
            </p:cNvSpPr>
            <p:nvPr/>
          </p:nvSpPr>
          <p:spPr bwMode="auto">
            <a:xfrm>
              <a:off x="8294726" y="3278685"/>
              <a:ext cx="380962" cy="46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4006" name="Freeform 52"/>
            <p:cNvSpPr>
              <a:spLocks/>
            </p:cNvSpPr>
            <p:nvPr/>
          </p:nvSpPr>
          <p:spPr bwMode="auto">
            <a:xfrm>
              <a:off x="6862006" y="1153207"/>
              <a:ext cx="1758944" cy="2286589"/>
            </a:xfrm>
            <a:custGeom>
              <a:avLst/>
              <a:gdLst>
                <a:gd name="T0" fmla="*/ 2147483646 w 1712"/>
                <a:gd name="T1" fmla="*/ 2147483646 h 2352"/>
                <a:gd name="T2" fmla="*/ 2147483646 w 1712"/>
                <a:gd name="T3" fmla="*/ 2147483646 h 2352"/>
                <a:gd name="T4" fmla="*/ 2147483646 w 1712"/>
                <a:gd name="T5" fmla="*/ 2147483646 h 2352"/>
                <a:gd name="T6" fmla="*/ 2147483646 w 1712"/>
                <a:gd name="T7" fmla="*/ 2147483646 h 2352"/>
                <a:gd name="T8" fmla="*/ 2147483646 w 1712"/>
                <a:gd name="T9" fmla="*/ 2147483646 h 2352"/>
                <a:gd name="T10" fmla="*/ 0 w 1712"/>
                <a:gd name="T11" fmla="*/ 0 h 23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2"/>
                <a:gd name="T19" fmla="*/ 0 h 2352"/>
                <a:gd name="T20" fmla="*/ 1712 w 1712"/>
                <a:gd name="T21" fmla="*/ 2352 h 23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2" h="2352">
                  <a:moveTo>
                    <a:pt x="1440" y="2352"/>
                  </a:moveTo>
                  <a:cubicBezTo>
                    <a:pt x="1516" y="2060"/>
                    <a:pt x="1592" y="1768"/>
                    <a:pt x="1632" y="1488"/>
                  </a:cubicBezTo>
                  <a:cubicBezTo>
                    <a:pt x="1672" y="1208"/>
                    <a:pt x="1712" y="888"/>
                    <a:pt x="1680" y="672"/>
                  </a:cubicBezTo>
                  <a:cubicBezTo>
                    <a:pt x="1648" y="456"/>
                    <a:pt x="1536" y="296"/>
                    <a:pt x="1440" y="192"/>
                  </a:cubicBezTo>
                  <a:cubicBezTo>
                    <a:pt x="1344" y="88"/>
                    <a:pt x="1344" y="80"/>
                    <a:pt x="1104" y="48"/>
                  </a:cubicBezTo>
                  <a:cubicBezTo>
                    <a:pt x="864" y="16"/>
                    <a:pt x="152" y="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878388" y="3460750"/>
            <a:ext cx="1400175" cy="917575"/>
            <a:chOff x="4877924" y="3460106"/>
            <a:chExt cx="1401372" cy="918037"/>
          </a:xfrm>
        </p:grpSpPr>
        <p:sp>
          <p:nvSpPr>
            <p:cNvPr id="84003" name="Text Box 46"/>
            <p:cNvSpPr txBox="1">
              <a:spLocks noChangeArrowheads="1"/>
            </p:cNvSpPr>
            <p:nvPr/>
          </p:nvSpPr>
          <p:spPr bwMode="auto">
            <a:xfrm>
              <a:off x="5822142" y="3460106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4004" name="Freeform 54"/>
            <p:cNvSpPr>
              <a:spLocks/>
            </p:cNvSpPr>
            <p:nvPr/>
          </p:nvSpPr>
          <p:spPr bwMode="auto">
            <a:xfrm>
              <a:off x="4877924" y="3532943"/>
              <a:ext cx="971377" cy="845200"/>
            </a:xfrm>
            <a:custGeom>
              <a:avLst/>
              <a:gdLst>
                <a:gd name="T0" fmla="*/ 2147483646 w 640"/>
                <a:gd name="T1" fmla="*/ 0 h 1104"/>
                <a:gd name="T2" fmla="*/ 2147483646 w 640"/>
                <a:gd name="T3" fmla="*/ 2147483646 h 1104"/>
                <a:gd name="T4" fmla="*/ 2147483646 w 640"/>
                <a:gd name="T5" fmla="*/ 2147483646 h 1104"/>
                <a:gd name="T6" fmla="*/ 0 w 640"/>
                <a:gd name="T7" fmla="*/ 2147483646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04"/>
                <a:gd name="T14" fmla="*/ 640 w 6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04">
                  <a:moveTo>
                    <a:pt x="624" y="0"/>
                  </a:moveTo>
                  <a:cubicBezTo>
                    <a:pt x="632" y="144"/>
                    <a:pt x="640" y="288"/>
                    <a:pt x="624" y="384"/>
                  </a:cubicBezTo>
                  <a:cubicBezTo>
                    <a:pt x="608" y="480"/>
                    <a:pt x="632" y="456"/>
                    <a:pt x="528" y="576"/>
                  </a:cubicBezTo>
                  <a:cubicBezTo>
                    <a:pt x="424" y="696"/>
                    <a:pt x="212" y="900"/>
                    <a:pt x="0" y="11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2571750" y="628650"/>
            <a:ext cx="6288088" cy="4456113"/>
            <a:chOff x="2571750" y="628650"/>
            <a:chExt cx="6288088" cy="4456113"/>
          </a:xfrm>
        </p:grpSpPr>
        <p:sp>
          <p:nvSpPr>
            <p:cNvPr id="64" name="任意多边形 63"/>
            <p:cNvSpPr/>
            <p:nvPr/>
          </p:nvSpPr>
          <p:spPr>
            <a:xfrm>
              <a:off x="2571750" y="966788"/>
              <a:ext cx="6288088" cy="4117975"/>
            </a:xfrm>
            <a:custGeom>
              <a:avLst/>
              <a:gdLst>
                <a:gd name="connsiteX0" fmla="*/ 5697416 w 8383465"/>
                <a:gd name="connsiteY0" fmla="*/ 2930 h 5489330"/>
                <a:gd name="connsiteX1" fmla="*/ 6770077 w 8383465"/>
                <a:gd name="connsiteY1" fmla="*/ 20515 h 5489330"/>
                <a:gd name="connsiteX2" fmla="*/ 7429500 w 8383465"/>
                <a:gd name="connsiteY2" fmla="*/ 126023 h 5489330"/>
                <a:gd name="connsiteX3" fmla="*/ 8018585 w 8383465"/>
                <a:gd name="connsiteY3" fmla="*/ 574430 h 5489330"/>
                <a:gd name="connsiteX4" fmla="*/ 8326316 w 8383465"/>
                <a:gd name="connsiteY4" fmla="*/ 1471246 h 5489330"/>
                <a:gd name="connsiteX5" fmla="*/ 8317523 w 8383465"/>
                <a:gd name="connsiteY5" fmla="*/ 3968261 h 5489330"/>
                <a:gd name="connsiteX6" fmla="*/ 7930662 w 8383465"/>
                <a:gd name="connsiteY6" fmla="*/ 5146430 h 5489330"/>
                <a:gd name="connsiteX7" fmla="*/ 6761285 w 8383465"/>
                <a:gd name="connsiteY7" fmla="*/ 5427784 h 5489330"/>
                <a:gd name="connsiteX8" fmla="*/ 2233246 w 8383465"/>
                <a:gd name="connsiteY8" fmla="*/ 5462953 h 5489330"/>
                <a:gd name="connsiteX9" fmla="*/ 826477 w 8383465"/>
                <a:gd name="connsiteY9" fmla="*/ 5269523 h 5489330"/>
                <a:gd name="connsiteX10" fmla="*/ 0 w 8383465"/>
                <a:gd name="connsiteY10" fmla="*/ 4205653 h 548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83465" h="5489330">
                  <a:moveTo>
                    <a:pt x="5697416" y="2930"/>
                  </a:moveTo>
                  <a:cubicBezTo>
                    <a:pt x="6089406" y="1465"/>
                    <a:pt x="6481396" y="0"/>
                    <a:pt x="6770077" y="20515"/>
                  </a:cubicBezTo>
                  <a:cubicBezTo>
                    <a:pt x="7058758" y="41031"/>
                    <a:pt x="7221415" y="33704"/>
                    <a:pt x="7429500" y="126023"/>
                  </a:cubicBezTo>
                  <a:cubicBezTo>
                    <a:pt x="7637585" y="218342"/>
                    <a:pt x="7869116" y="350226"/>
                    <a:pt x="8018585" y="574430"/>
                  </a:cubicBezTo>
                  <a:cubicBezTo>
                    <a:pt x="8168054" y="798634"/>
                    <a:pt x="8276493" y="905607"/>
                    <a:pt x="8326316" y="1471246"/>
                  </a:cubicBezTo>
                  <a:cubicBezTo>
                    <a:pt x="8376139" y="2036885"/>
                    <a:pt x="8383465" y="3355730"/>
                    <a:pt x="8317523" y="3968261"/>
                  </a:cubicBezTo>
                  <a:cubicBezTo>
                    <a:pt x="8251581" y="4580792"/>
                    <a:pt x="8190035" y="4903176"/>
                    <a:pt x="7930662" y="5146430"/>
                  </a:cubicBezTo>
                  <a:cubicBezTo>
                    <a:pt x="7671289" y="5389684"/>
                    <a:pt x="7710854" y="5375030"/>
                    <a:pt x="6761285" y="5427784"/>
                  </a:cubicBezTo>
                  <a:cubicBezTo>
                    <a:pt x="5811716" y="5480538"/>
                    <a:pt x="3222381" y="5489330"/>
                    <a:pt x="2233246" y="5462953"/>
                  </a:cubicBezTo>
                  <a:cubicBezTo>
                    <a:pt x="1244111" y="5436576"/>
                    <a:pt x="1198685" y="5479073"/>
                    <a:pt x="826477" y="5269523"/>
                  </a:cubicBezTo>
                  <a:cubicBezTo>
                    <a:pt x="454269" y="5059973"/>
                    <a:pt x="227134" y="4632813"/>
                    <a:pt x="0" y="4205653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002" name="Text Box 56"/>
            <p:cNvSpPr txBox="1">
              <a:spLocks noChangeArrowheads="1"/>
            </p:cNvSpPr>
            <p:nvPr/>
          </p:nvSpPr>
          <p:spPr bwMode="auto">
            <a:xfrm>
              <a:off x="6893738" y="628650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61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61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16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1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1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1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1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1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1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1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1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1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1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1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1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1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16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16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16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16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16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16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 nodeType="clickPar">
                      <p:stCondLst>
                        <p:cond delay="indefinite"/>
                      </p:stCondLst>
                      <p:childTnLst>
                        <p:par>
                          <p:cTn id="3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Par">
                      <p:stCondLst>
                        <p:cond delay="indefinite"/>
                      </p:stCondLst>
                      <p:childTnLst>
                        <p:par>
                          <p:cTn id="3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 nodeType="clickPar">
                      <p:stCondLst>
                        <p:cond delay="indefinite"/>
                      </p:stCondLst>
                      <p:childTnLst>
                        <p:par>
                          <p:cTn id="3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Par">
                      <p:stCondLst>
                        <p:cond delay="indefinite"/>
                      </p:stCondLst>
                      <p:childTnLst>
                        <p:par>
                          <p:cTn id="3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 nodeType="clickPar">
                      <p:stCondLst>
                        <p:cond delay="indefinite"/>
                      </p:stCondLst>
                      <p:childTnLst>
                        <p:par>
                          <p:cTn id="4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7" grpId="0" build="p" animBg="1"/>
      <p:bldP spid="63" grpId="0" animBg="1"/>
      <p:bldP spid="79" grpId="0" animBg="1"/>
      <p:bldP spid="82" grpId="0" build="allAtOnce" animBg="1"/>
      <p:bldP spid="93" grpId="0" animBg="1"/>
      <p:bldP spid="98" grpId="0" build="allAtOnce" animBg="1"/>
      <p:bldP spid="101" grpId="0" build="allAtOnce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95486"/>
            <a:ext cx="8208963" cy="3587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表达式文法的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分析表含有</a:t>
            </a:r>
            <a:r>
              <a:rPr lang="zh-CN" altLang="en-US" sz="2800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移入</a:t>
            </a:r>
            <a:r>
              <a:rPr lang="en-US" altLang="zh-CN" sz="2800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归约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冲突</a:t>
            </a:r>
            <a:endParaRPr lang="zh-CN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30654"/>
              </p:ext>
            </p:extLst>
          </p:nvPr>
        </p:nvGraphicFramePr>
        <p:xfrm>
          <a:off x="755650" y="627534"/>
          <a:ext cx="7777163" cy="440849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2" marR="91442" marT="34283" marB="342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</a:rPr>
                        <a:t>＋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（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2857500" y="3473450"/>
            <a:ext cx="3849688" cy="1443038"/>
            <a:chOff x="2857786" y="3474134"/>
            <a:chExt cx="3849879" cy="1442354"/>
          </a:xfrm>
        </p:grpSpPr>
        <p:sp>
          <p:nvSpPr>
            <p:cNvPr id="84050" name="Text Box 42"/>
            <p:cNvSpPr txBox="1">
              <a:spLocks noChangeArrowheads="1"/>
            </p:cNvSpPr>
            <p:nvPr/>
          </p:nvSpPr>
          <p:spPr bwMode="auto">
            <a:xfrm>
              <a:off x="6250511" y="3485767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4051" name="Freeform 55"/>
            <p:cNvSpPr>
              <a:spLocks/>
            </p:cNvSpPr>
            <p:nvPr/>
          </p:nvSpPr>
          <p:spPr bwMode="auto">
            <a:xfrm>
              <a:off x="2857786" y="3474134"/>
              <a:ext cx="3428417" cy="1442354"/>
            </a:xfrm>
            <a:custGeom>
              <a:avLst/>
              <a:gdLst>
                <a:gd name="T0" fmla="*/ 2147483646 w 2912"/>
                <a:gd name="T1" fmla="*/ 0 h 1760"/>
                <a:gd name="T2" fmla="*/ 2147483646 w 2912"/>
                <a:gd name="T3" fmla="*/ 2147483646 h 1760"/>
                <a:gd name="T4" fmla="*/ 2147483646 w 2912"/>
                <a:gd name="T5" fmla="*/ 2147483646 h 1760"/>
                <a:gd name="T6" fmla="*/ 2147483646 w 2912"/>
                <a:gd name="T7" fmla="*/ 2147483646 h 1760"/>
                <a:gd name="T8" fmla="*/ 2147483646 w 2912"/>
                <a:gd name="T9" fmla="*/ 2147483646 h 1760"/>
                <a:gd name="T10" fmla="*/ 2147483646 w 2912"/>
                <a:gd name="T11" fmla="*/ 2147483646 h 1760"/>
                <a:gd name="T12" fmla="*/ 2147483646 w 2912"/>
                <a:gd name="T13" fmla="*/ 2147483646 h 1760"/>
                <a:gd name="T14" fmla="*/ 0 w 2912"/>
                <a:gd name="T15" fmla="*/ 2147483646 h 1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12"/>
                <a:gd name="T25" fmla="*/ 0 h 1760"/>
                <a:gd name="T26" fmla="*/ 2912 w 2912"/>
                <a:gd name="T27" fmla="*/ 1760 h 17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12" h="1760">
                  <a:moveTo>
                    <a:pt x="2880" y="0"/>
                  </a:moveTo>
                  <a:cubicBezTo>
                    <a:pt x="2896" y="280"/>
                    <a:pt x="2912" y="560"/>
                    <a:pt x="2832" y="816"/>
                  </a:cubicBezTo>
                  <a:cubicBezTo>
                    <a:pt x="2752" y="1072"/>
                    <a:pt x="2544" y="1384"/>
                    <a:pt x="2400" y="1536"/>
                  </a:cubicBezTo>
                  <a:cubicBezTo>
                    <a:pt x="2256" y="1688"/>
                    <a:pt x="2232" y="1696"/>
                    <a:pt x="1968" y="1728"/>
                  </a:cubicBezTo>
                  <a:cubicBezTo>
                    <a:pt x="1704" y="1760"/>
                    <a:pt x="1064" y="1752"/>
                    <a:pt x="816" y="1728"/>
                  </a:cubicBezTo>
                  <a:cubicBezTo>
                    <a:pt x="568" y="1704"/>
                    <a:pt x="592" y="1672"/>
                    <a:pt x="480" y="1584"/>
                  </a:cubicBezTo>
                  <a:cubicBezTo>
                    <a:pt x="368" y="1496"/>
                    <a:pt x="224" y="1336"/>
                    <a:pt x="144" y="1200"/>
                  </a:cubicBezTo>
                  <a:cubicBezTo>
                    <a:pt x="64" y="1064"/>
                    <a:pt x="8" y="856"/>
                    <a:pt x="0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6713538" y="1354138"/>
            <a:ext cx="1471612" cy="868362"/>
            <a:chOff x="6713123" y="1353788"/>
            <a:chExt cx="1472027" cy="868712"/>
          </a:xfrm>
        </p:grpSpPr>
        <p:sp>
          <p:nvSpPr>
            <p:cNvPr id="84047" name="Line 35"/>
            <p:cNvSpPr>
              <a:spLocks noChangeShapeType="1"/>
            </p:cNvSpPr>
            <p:nvPr/>
          </p:nvSpPr>
          <p:spPr bwMode="auto">
            <a:xfrm flipV="1">
              <a:off x="6713123" y="1700972"/>
              <a:ext cx="45715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8" name="Text Box 36"/>
            <p:cNvSpPr txBox="1">
              <a:spLocks noChangeArrowheads="1"/>
            </p:cNvSpPr>
            <p:nvPr/>
          </p:nvSpPr>
          <p:spPr bwMode="auto">
            <a:xfrm>
              <a:off x="6834522" y="1353788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16" name="Text Box 37"/>
            <p:cNvSpPr txBox="1">
              <a:spLocks noChangeArrowheads="1"/>
            </p:cNvSpPr>
            <p:nvPr/>
          </p:nvSpPr>
          <p:spPr bwMode="auto">
            <a:xfrm>
              <a:off x="7165688" y="1390315"/>
              <a:ext cx="1019462" cy="83218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9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E→E+T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7173913" y="3714750"/>
            <a:ext cx="1000125" cy="1157288"/>
            <a:chOff x="7173913" y="3715359"/>
            <a:chExt cx="1000125" cy="1156679"/>
          </a:xfrm>
        </p:grpSpPr>
        <p:sp>
          <p:nvSpPr>
            <p:cNvPr id="84044" name="Line 53"/>
            <p:cNvSpPr>
              <a:spLocks noChangeShapeType="1"/>
            </p:cNvSpPr>
            <p:nvPr/>
          </p:nvSpPr>
          <p:spPr bwMode="auto">
            <a:xfrm>
              <a:off x="7928013" y="3715359"/>
              <a:ext cx="0" cy="5717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5" name="Text Box 47"/>
            <p:cNvSpPr txBox="1">
              <a:spLocks noChangeArrowheads="1"/>
            </p:cNvSpPr>
            <p:nvPr/>
          </p:nvSpPr>
          <p:spPr bwMode="auto">
            <a:xfrm>
              <a:off x="7574739" y="3945427"/>
              <a:ext cx="380962" cy="36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7" name="Text Box 48"/>
            <p:cNvSpPr txBox="1">
              <a:spLocks noChangeArrowheads="1"/>
            </p:cNvSpPr>
            <p:nvPr/>
          </p:nvSpPr>
          <p:spPr bwMode="auto">
            <a:xfrm>
              <a:off x="7173913" y="4288145"/>
              <a:ext cx="1000125" cy="5838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111617" name="内容占位符 2"/>
          <p:cNvSpPr>
            <a:spLocks noGrp="1"/>
          </p:cNvSpPr>
          <p:nvPr>
            <p:ph idx="1"/>
          </p:nvPr>
        </p:nvSpPr>
        <p:spPr>
          <a:xfrm>
            <a:off x="442913" y="849313"/>
            <a:ext cx="1628775" cy="2701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(0)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(1)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+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(2)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(3)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*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(4)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(5)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(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(6)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id</a:t>
            </a:r>
          </a:p>
        </p:txBody>
      </p:sp>
      <p:sp>
        <p:nvSpPr>
          <p:cNvPr id="83974" name="标题 1"/>
          <p:cNvSpPr txBox="1">
            <a:spLocks/>
          </p:cNvSpPr>
          <p:nvPr/>
        </p:nvSpPr>
        <p:spPr bwMode="auto">
          <a:xfrm>
            <a:off x="690563" y="84455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97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467360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分析过程中的冲突</a:t>
            </a: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214313" y="4357688"/>
            <a:ext cx="2357437" cy="461962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移入</a:t>
            </a:r>
            <a:r>
              <a:rPr lang="en-US" altLang="zh-CN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3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归约冲突</a:t>
            </a:r>
          </a:p>
        </p:txBody>
      </p:sp>
      <p:sp>
        <p:nvSpPr>
          <p:cNvPr id="79" name="Text Box 2"/>
          <p:cNvSpPr txBox="1">
            <a:spLocks noChangeArrowheads="1"/>
          </p:cNvSpPr>
          <p:nvPr/>
        </p:nvSpPr>
        <p:spPr bwMode="auto">
          <a:xfrm>
            <a:off x="2214563" y="823913"/>
            <a:ext cx="1050925" cy="2043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0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→</a:t>
            </a:r>
            <a:r>
              <a:rPr lang="en-US" altLang="zh-CN" sz="1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 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E+T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92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3179763" y="698500"/>
            <a:ext cx="592137" cy="401638"/>
            <a:chOff x="3180460" y="699193"/>
            <a:chExt cx="590721" cy="400215"/>
          </a:xfrm>
        </p:grpSpPr>
        <p:sp>
          <p:nvSpPr>
            <p:cNvPr id="84042" name="Line 3"/>
            <p:cNvSpPr>
              <a:spLocks noChangeShapeType="1"/>
            </p:cNvSpPr>
            <p:nvPr/>
          </p:nvSpPr>
          <p:spPr bwMode="auto">
            <a:xfrm flipV="1">
              <a:off x="3180460" y="1046618"/>
              <a:ext cx="5907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3" name="Text Box 4"/>
            <p:cNvSpPr txBox="1">
              <a:spLocks noChangeArrowheads="1"/>
            </p:cNvSpPr>
            <p:nvPr/>
          </p:nvSpPr>
          <p:spPr bwMode="auto">
            <a:xfrm>
              <a:off x="3289835" y="699193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82" name="Text Box 5"/>
          <p:cNvSpPr txBox="1">
            <a:spLocks noChangeArrowheads="1"/>
          </p:cNvSpPr>
          <p:nvPr/>
        </p:nvSpPr>
        <p:spPr bwMode="auto">
          <a:xfrm>
            <a:off x="3770313" y="803275"/>
            <a:ext cx="1035050" cy="747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→E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endParaRPr kumimoji="1" lang="en-US" altLang="zh-CN" sz="1600" b="1" i="1" dirty="0">
              <a:solidFill>
                <a:prstClr val="black"/>
              </a:solidFill>
              <a:latin typeface="Times New Roman" pitchFamily="18" charset="0"/>
            </a:endParaRP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E→E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+T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170238" y="1403350"/>
            <a:ext cx="1625600" cy="939800"/>
            <a:chOff x="3170870" y="1403537"/>
            <a:chExt cx="1624968" cy="939613"/>
          </a:xfrm>
        </p:grpSpPr>
        <p:sp>
          <p:nvSpPr>
            <p:cNvPr id="84039" name="Line 6"/>
            <p:cNvSpPr>
              <a:spLocks noChangeShapeType="1"/>
            </p:cNvSpPr>
            <p:nvPr/>
          </p:nvSpPr>
          <p:spPr bwMode="auto">
            <a:xfrm>
              <a:off x="3170870" y="1766973"/>
              <a:ext cx="600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0" name="Text Box 7"/>
            <p:cNvSpPr txBox="1">
              <a:spLocks noChangeArrowheads="1"/>
            </p:cNvSpPr>
            <p:nvPr/>
          </p:nvSpPr>
          <p:spPr bwMode="auto">
            <a:xfrm>
              <a:off x="3289834" y="1403537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3770712" y="1595587"/>
              <a:ext cx="1025126" cy="7475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051175" y="2832100"/>
            <a:ext cx="700088" cy="646113"/>
            <a:chOff x="3051517" y="2831678"/>
            <a:chExt cx="699119" cy="646943"/>
          </a:xfrm>
        </p:grpSpPr>
        <p:sp>
          <p:nvSpPr>
            <p:cNvPr id="84037" name="Freeform 12"/>
            <p:cNvSpPr>
              <a:spLocks/>
            </p:cNvSpPr>
            <p:nvPr/>
          </p:nvSpPr>
          <p:spPr bwMode="auto">
            <a:xfrm>
              <a:off x="3051517" y="2901220"/>
              <a:ext cx="699119" cy="577401"/>
            </a:xfrm>
            <a:custGeom>
              <a:avLst/>
              <a:gdLst>
                <a:gd name="T0" fmla="*/ 2147483646 w 736"/>
                <a:gd name="T1" fmla="*/ 0 h 768"/>
                <a:gd name="T2" fmla="*/ 2147483646 w 736"/>
                <a:gd name="T3" fmla="*/ 2147483646 h 768"/>
                <a:gd name="T4" fmla="*/ 2147483646 w 736"/>
                <a:gd name="T5" fmla="*/ 2147483646 h 768"/>
                <a:gd name="T6" fmla="*/ 2147483646 w 736"/>
                <a:gd name="T7" fmla="*/ 2147483646 h 768"/>
                <a:gd name="T8" fmla="*/ 2147483646 w 736"/>
                <a:gd name="T9" fmla="*/ 2147483646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6"/>
                <a:gd name="T16" fmla="*/ 0 h 768"/>
                <a:gd name="T17" fmla="*/ 736 w 73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6" h="768">
                  <a:moveTo>
                    <a:pt x="16" y="0"/>
                  </a:moveTo>
                  <a:cubicBezTo>
                    <a:pt x="8" y="144"/>
                    <a:pt x="0" y="288"/>
                    <a:pt x="16" y="384"/>
                  </a:cubicBezTo>
                  <a:cubicBezTo>
                    <a:pt x="32" y="480"/>
                    <a:pt x="64" y="528"/>
                    <a:pt x="112" y="576"/>
                  </a:cubicBezTo>
                  <a:cubicBezTo>
                    <a:pt x="160" y="624"/>
                    <a:pt x="200" y="640"/>
                    <a:pt x="304" y="672"/>
                  </a:cubicBezTo>
                  <a:cubicBezTo>
                    <a:pt x="408" y="704"/>
                    <a:pt x="572" y="736"/>
                    <a:pt x="736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8" name="Text Box 13"/>
            <p:cNvSpPr txBox="1">
              <a:spLocks noChangeArrowheads="1"/>
            </p:cNvSpPr>
            <p:nvPr/>
          </p:nvSpPr>
          <p:spPr bwMode="auto">
            <a:xfrm>
              <a:off x="3052484" y="2831678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770313" y="2986088"/>
            <a:ext cx="1077912" cy="1836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E+T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ts val="17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205038" y="2874963"/>
            <a:ext cx="833437" cy="1235075"/>
            <a:chOff x="2205038" y="2875020"/>
            <a:chExt cx="833605" cy="1235018"/>
          </a:xfrm>
        </p:grpSpPr>
        <p:sp>
          <p:nvSpPr>
            <p:cNvPr id="84034" name="Line 15"/>
            <p:cNvSpPr>
              <a:spLocks noChangeShapeType="1"/>
            </p:cNvSpPr>
            <p:nvPr/>
          </p:nvSpPr>
          <p:spPr bwMode="auto">
            <a:xfrm flipH="1">
              <a:off x="2518482" y="2875020"/>
              <a:ext cx="0" cy="645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5" name="Text Box 16"/>
            <p:cNvSpPr txBox="1">
              <a:spLocks noChangeArrowheads="1"/>
            </p:cNvSpPr>
            <p:nvPr/>
          </p:nvSpPr>
          <p:spPr bwMode="auto">
            <a:xfrm>
              <a:off x="2505296" y="2951727"/>
              <a:ext cx="533347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95" name="Text Box 17"/>
            <p:cNvSpPr txBox="1">
              <a:spLocks noChangeArrowheads="1"/>
            </p:cNvSpPr>
            <p:nvPr/>
          </p:nvSpPr>
          <p:spPr bwMode="auto">
            <a:xfrm>
              <a:off x="2205038" y="3524277"/>
              <a:ext cx="800261" cy="5857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792663" y="711200"/>
            <a:ext cx="858837" cy="400050"/>
            <a:chOff x="4793071" y="711174"/>
            <a:chExt cx="858883" cy="400215"/>
          </a:xfrm>
        </p:grpSpPr>
        <p:sp>
          <p:nvSpPr>
            <p:cNvPr id="84032" name="Line 18"/>
            <p:cNvSpPr>
              <a:spLocks noChangeShapeType="1"/>
            </p:cNvSpPr>
            <p:nvPr/>
          </p:nvSpPr>
          <p:spPr bwMode="auto">
            <a:xfrm>
              <a:off x="4813838" y="1057825"/>
              <a:ext cx="8381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3" name="Text Box 19"/>
            <p:cNvSpPr txBox="1">
              <a:spLocks noChangeArrowheads="1"/>
            </p:cNvSpPr>
            <p:nvPr/>
          </p:nvSpPr>
          <p:spPr bwMode="auto">
            <a:xfrm>
              <a:off x="4793071" y="711174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98" name="Text Box 20"/>
          <p:cNvSpPr txBox="1">
            <a:spLocks noChangeArrowheads="1"/>
          </p:cNvSpPr>
          <p:nvPr/>
        </p:nvSpPr>
        <p:spPr bwMode="auto">
          <a:xfrm>
            <a:off x="5651500" y="771525"/>
            <a:ext cx="1200150" cy="1570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E→ E+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T*F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4812559" y="1723341"/>
            <a:ext cx="838940" cy="907146"/>
            <a:chOff x="4811958" y="1723547"/>
            <a:chExt cx="840155" cy="906354"/>
          </a:xfrm>
        </p:grpSpPr>
        <p:sp>
          <p:nvSpPr>
            <p:cNvPr id="84030" name="Line 21"/>
            <p:cNvSpPr>
              <a:spLocks noChangeShapeType="1"/>
            </p:cNvSpPr>
            <p:nvPr/>
          </p:nvSpPr>
          <p:spPr bwMode="auto">
            <a:xfrm>
              <a:off x="4813997" y="1943857"/>
              <a:ext cx="838116" cy="6860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1" name="Text Box 22"/>
            <p:cNvSpPr txBox="1">
              <a:spLocks noChangeArrowheads="1"/>
            </p:cNvSpPr>
            <p:nvPr/>
          </p:nvSpPr>
          <p:spPr bwMode="auto">
            <a:xfrm>
              <a:off x="4811958" y="1723547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1" name="Text Box 23"/>
          <p:cNvSpPr txBox="1">
            <a:spLocks noChangeArrowheads="1"/>
          </p:cNvSpPr>
          <p:nvPr/>
        </p:nvSpPr>
        <p:spPr bwMode="auto">
          <a:xfrm>
            <a:off x="5651500" y="2470150"/>
            <a:ext cx="105092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1600" b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T→T*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(</a:t>
            </a: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E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)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F→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id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4813300" y="3206750"/>
            <a:ext cx="3509963" cy="831850"/>
            <a:chOff x="4813997" y="3206750"/>
            <a:chExt cx="3509266" cy="831850"/>
          </a:xfrm>
        </p:grpSpPr>
        <p:sp>
          <p:nvSpPr>
            <p:cNvPr id="84027" name="Line 24"/>
            <p:cNvSpPr>
              <a:spLocks noChangeShapeType="1"/>
            </p:cNvSpPr>
            <p:nvPr/>
          </p:nvSpPr>
          <p:spPr bwMode="auto">
            <a:xfrm flipV="1">
              <a:off x="4860814" y="3916141"/>
              <a:ext cx="2280575" cy="107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8" name="Text Box 25"/>
            <p:cNvSpPr txBox="1">
              <a:spLocks noChangeArrowheads="1"/>
            </p:cNvSpPr>
            <p:nvPr/>
          </p:nvSpPr>
          <p:spPr bwMode="auto">
            <a:xfrm>
              <a:off x="4813997" y="3565706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5" name="Text Box 26"/>
            <p:cNvSpPr txBox="1">
              <a:spLocks noChangeArrowheads="1"/>
            </p:cNvSpPr>
            <p:nvPr/>
          </p:nvSpPr>
          <p:spPr bwMode="auto">
            <a:xfrm>
              <a:off x="7182077" y="3206750"/>
              <a:ext cx="1141186" cy="8318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8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767263" y="2130425"/>
            <a:ext cx="414337" cy="1076325"/>
            <a:chOff x="4766757" y="2131190"/>
            <a:chExt cx="414323" cy="1075491"/>
          </a:xfrm>
        </p:grpSpPr>
        <p:sp>
          <p:nvSpPr>
            <p:cNvPr id="84025" name="Freeform 27"/>
            <p:cNvSpPr>
              <a:spLocks/>
            </p:cNvSpPr>
            <p:nvPr/>
          </p:nvSpPr>
          <p:spPr bwMode="auto">
            <a:xfrm>
              <a:off x="4807528" y="2131190"/>
              <a:ext cx="373552" cy="1070357"/>
            </a:xfrm>
            <a:custGeom>
              <a:avLst/>
              <a:gdLst>
                <a:gd name="T0" fmla="*/ 0 w 160"/>
                <a:gd name="T1" fmla="*/ 2147483646 h 1008"/>
                <a:gd name="T2" fmla="*/ 2147483646 w 160"/>
                <a:gd name="T3" fmla="*/ 2147483646 h 1008"/>
                <a:gd name="T4" fmla="*/ 2147483646 w 160"/>
                <a:gd name="T5" fmla="*/ 2147483646 h 1008"/>
                <a:gd name="T6" fmla="*/ 0 w 160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1008"/>
                <a:gd name="T14" fmla="*/ 160 w 160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1008">
                  <a:moveTo>
                    <a:pt x="0" y="1008"/>
                  </a:moveTo>
                  <a:cubicBezTo>
                    <a:pt x="36" y="988"/>
                    <a:pt x="72" y="968"/>
                    <a:pt x="96" y="864"/>
                  </a:cubicBezTo>
                  <a:cubicBezTo>
                    <a:pt x="120" y="760"/>
                    <a:pt x="160" y="528"/>
                    <a:pt x="144" y="384"/>
                  </a:cubicBezTo>
                  <a:cubicBezTo>
                    <a:pt x="128" y="240"/>
                    <a:pt x="64" y="12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Text Box 28"/>
            <p:cNvSpPr txBox="1">
              <a:spLocks noChangeArrowheads="1"/>
            </p:cNvSpPr>
            <p:nvPr/>
          </p:nvSpPr>
          <p:spPr bwMode="auto">
            <a:xfrm>
              <a:off x="4766757" y="2806466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427413" y="2635250"/>
            <a:ext cx="423862" cy="573088"/>
            <a:chOff x="3426927" y="2635981"/>
            <a:chExt cx="424800" cy="571703"/>
          </a:xfrm>
        </p:grpSpPr>
        <p:sp>
          <p:nvSpPr>
            <p:cNvPr id="84023" name="Text Box 10"/>
            <p:cNvSpPr txBox="1">
              <a:spLocks noChangeArrowheads="1"/>
            </p:cNvSpPr>
            <p:nvPr/>
          </p:nvSpPr>
          <p:spPr bwMode="auto">
            <a:xfrm>
              <a:off x="3470765" y="2702470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4024" name="Freeform 29"/>
            <p:cNvSpPr>
              <a:spLocks/>
            </p:cNvSpPr>
            <p:nvPr/>
          </p:nvSpPr>
          <p:spPr bwMode="auto">
            <a:xfrm>
              <a:off x="3426927" y="2635981"/>
              <a:ext cx="344253" cy="571703"/>
            </a:xfrm>
            <a:custGeom>
              <a:avLst/>
              <a:gdLst>
                <a:gd name="T0" fmla="*/ 2147483646 w 112"/>
                <a:gd name="T1" fmla="*/ 2147483646 h 480"/>
                <a:gd name="T2" fmla="*/ 2147483646 w 112"/>
                <a:gd name="T3" fmla="*/ 2147483646 h 480"/>
                <a:gd name="T4" fmla="*/ 2147483646 w 112"/>
                <a:gd name="T5" fmla="*/ 2147483646 h 480"/>
                <a:gd name="T6" fmla="*/ 2147483646 w 112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480"/>
                <a:gd name="T14" fmla="*/ 112 w 11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480">
                  <a:moveTo>
                    <a:pt x="112" y="480"/>
                  </a:moveTo>
                  <a:cubicBezTo>
                    <a:pt x="72" y="436"/>
                    <a:pt x="32" y="392"/>
                    <a:pt x="16" y="336"/>
                  </a:cubicBezTo>
                  <a:cubicBezTo>
                    <a:pt x="0" y="280"/>
                    <a:pt x="0" y="200"/>
                    <a:pt x="16" y="144"/>
                  </a:cubicBezTo>
                  <a:cubicBezTo>
                    <a:pt x="32" y="88"/>
                    <a:pt x="72" y="44"/>
                    <a:pt x="11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3241675" y="2130425"/>
            <a:ext cx="1563688" cy="788988"/>
            <a:chOff x="3242287" y="2129711"/>
            <a:chExt cx="1563076" cy="789702"/>
          </a:xfrm>
        </p:grpSpPr>
        <p:sp>
          <p:nvSpPr>
            <p:cNvPr id="84020" name="Line 9"/>
            <p:cNvSpPr>
              <a:spLocks noChangeShapeType="1"/>
            </p:cNvSpPr>
            <p:nvPr/>
          </p:nvSpPr>
          <p:spPr bwMode="auto">
            <a:xfrm flipV="1">
              <a:off x="3242287" y="2487329"/>
              <a:ext cx="528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3770718" y="2391886"/>
              <a:ext cx="1034645" cy="5275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84022" name="Text Box 30"/>
            <p:cNvSpPr txBox="1">
              <a:spLocks noChangeArrowheads="1"/>
            </p:cNvSpPr>
            <p:nvPr/>
          </p:nvSpPr>
          <p:spPr bwMode="auto">
            <a:xfrm>
              <a:off x="3242287" y="2129711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3467100" y="4160838"/>
            <a:ext cx="350838" cy="571500"/>
            <a:chOff x="3466410" y="4160710"/>
            <a:chExt cx="351635" cy="571703"/>
          </a:xfrm>
        </p:grpSpPr>
        <p:sp>
          <p:nvSpPr>
            <p:cNvPr id="84018" name="Freeform 31"/>
            <p:cNvSpPr>
              <a:spLocks/>
            </p:cNvSpPr>
            <p:nvPr/>
          </p:nvSpPr>
          <p:spPr bwMode="auto">
            <a:xfrm>
              <a:off x="3466410" y="4160710"/>
              <a:ext cx="330167" cy="571703"/>
            </a:xfrm>
            <a:custGeom>
              <a:avLst/>
              <a:gdLst>
                <a:gd name="T0" fmla="*/ 2147483646 w 208"/>
                <a:gd name="T1" fmla="*/ 2147483646 h 480"/>
                <a:gd name="T2" fmla="*/ 0 w 208"/>
                <a:gd name="T3" fmla="*/ 2147483646 h 480"/>
                <a:gd name="T4" fmla="*/ 2147483646 w 208"/>
                <a:gd name="T5" fmla="*/ 0 h 480"/>
                <a:gd name="T6" fmla="*/ 0 60000 65536"/>
                <a:gd name="T7" fmla="*/ 0 60000 65536"/>
                <a:gd name="T8" fmla="*/ 0 60000 65536"/>
                <a:gd name="T9" fmla="*/ 0 w 208"/>
                <a:gd name="T10" fmla="*/ 0 h 480"/>
                <a:gd name="T11" fmla="*/ 208 w 20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480">
                  <a:moveTo>
                    <a:pt x="192" y="480"/>
                  </a:moveTo>
                  <a:cubicBezTo>
                    <a:pt x="96" y="400"/>
                    <a:pt x="0" y="320"/>
                    <a:pt x="0" y="240"/>
                  </a:cubicBezTo>
                  <a:cubicBezTo>
                    <a:pt x="0" y="160"/>
                    <a:pt x="208" y="40"/>
                    <a:pt x="19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9" name="Text Box 32"/>
            <p:cNvSpPr txBox="1">
              <a:spLocks noChangeArrowheads="1"/>
            </p:cNvSpPr>
            <p:nvPr/>
          </p:nvSpPr>
          <p:spPr bwMode="auto">
            <a:xfrm>
              <a:off x="3513276" y="4260171"/>
              <a:ext cx="304769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3016250" y="3611563"/>
            <a:ext cx="908050" cy="400050"/>
            <a:chOff x="3016152" y="3611929"/>
            <a:chExt cx="907574" cy="400215"/>
          </a:xfrm>
        </p:grpSpPr>
        <p:sp>
          <p:nvSpPr>
            <p:cNvPr id="84016" name="Line 33"/>
            <p:cNvSpPr>
              <a:spLocks noChangeShapeType="1"/>
            </p:cNvSpPr>
            <p:nvPr/>
          </p:nvSpPr>
          <p:spPr bwMode="auto">
            <a:xfrm flipH="1">
              <a:off x="3016152" y="3940117"/>
              <a:ext cx="755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7" name="Text Box 34"/>
            <p:cNvSpPr txBox="1">
              <a:spLocks noChangeArrowheads="1"/>
            </p:cNvSpPr>
            <p:nvPr/>
          </p:nvSpPr>
          <p:spPr bwMode="auto">
            <a:xfrm>
              <a:off x="3466572" y="3611929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813300" y="1200150"/>
            <a:ext cx="1020763" cy="1544638"/>
            <a:chOff x="4813997" y="1200783"/>
            <a:chExt cx="1020811" cy="1543598"/>
          </a:xfrm>
        </p:grpSpPr>
        <p:sp>
          <p:nvSpPr>
            <p:cNvPr id="84014" name="Freeform 38"/>
            <p:cNvSpPr>
              <a:spLocks/>
            </p:cNvSpPr>
            <p:nvPr/>
          </p:nvSpPr>
          <p:spPr bwMode="auto">
            <a:xfrm>
              <a:off x="4813997" y="1200783"/>
              <a:ext cx="838116" cy="1543598"/>
            </a:xfrm>
            <a:custGeom>
              <a:avLst/>
              <a:gdLst>
                <a:gd name="T0" fmla="*/ 2147483646 w 528"/>
                <a:gd name="T1" fmla="*/ 0 h 1296"/>
                <a:gd name="T2" fmla="*/ 2147483646 w 528"/>
                <a:gd name="T3" fmla="*/ 2147483646 h 1296"/>
                <a:gd name="T4" fmla="*/ 2147483646 w 528"/>
                <a:gd name="T5" fmla="*/ 2147483646 h 1296"/>
                <a:gd name="T6" fmla="*/ 0 w 528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296"/>
                <a:gd name="T14" fmla="*/ 528 w 52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296">
                  <a:moveTo>
                    <a:pt x="528" y="0"/>
                  </a:moveTo>
                  <a:cubicBezTo>
                    <a:pt x="464" y="36"/>
                    <a:pt x="400" y="72"/>
                    <a:pt x="336" y="240"/>
                  </a:cubicBezTo>
                  <a:cubicBezTo>
                    <a:pt x="272" y="408"/>
                    <a:pt x="200" y="832"/>
                    <a:pt x="144" y="1008"/>
                  </a:cubicBezTo>
                  <a:cubicBezTo>
                    <a:pt x="88" y="1184"/>
                    <a:pt x="44" y="1240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5" name="Text Box 39"/>
            <p:cNvSpPr txBox="1">
              <a:spLocks noChangeArrowheads="1"/>
            </p:cNvSpPr>
            <p:nvPr/>
          </p:nvSpPr>
          <p:spPr bwMode="auto">
            <a:xfrm>
              <a:off x="5377654" y="1240899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857750" y="1700213"/>
            <a:ext cx="954088" cy="1858962"/>
            <a:chOff x="4858516" y="1700972"/>
            <a:chExt cx="953540" cy="1857854"/>
          </a:xfrm>
        </p:grpSpPr>
        <p:sp>
          <p:nvSpPr>
            <p:cNvPr id="84012" name="Freeform 40"/>
            <p:cNvSpPr>
              <a:spLocks/>
            </p:cNvSpPr>
            <p:nvPr/>
          </p:nvSpPr>
          <p:spPr bwMode="auto">
            <a:xfrm>
              <a:off x="4858516" y="1700972"/>
              <a:ext cx="793597" cy="1857854"/>
            </a:xfrm>
            <a:custGeom>
              <a:avLst/>
              <a:gdLst>
                <a:gd name="T0" fmla="*/ 2147483646 w 528"/>
                <a:gd name="T1" fmla="*/ 0 h 1488"/>
                <a:gd name="T2" fmla="*/ 2147483646 w 528"/>
                <a:gd name="T3" fmla="*/ 2147483646 h 1488"/>
                <a:gd name="T4" fmla="*/ 2147483646 w 528"/>
                <a:gd name="T5" fmla="*/ 2147483646 h 1488"/>
                <a:gd name="T6" fmla="*/ 0 w 528"/>
                <a:gd name="T7" fmla="*/ 214748364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488"/>
                <a:gd name="T14" fmla="*/ 528 w 528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488">
                  <a:moveTo>
                    <a:pt x="528" y="0"/>
                  </a:moveTo>
                  <a:cubicBezTo>
                    <a:pt x="504" y="48"/>
                    <a:pt x="480" y="96"/>
                    <a:pt x="432" y="288"/>
                  </a:cubicBezTo>
                  <a:cubicBezTo>
                    <a:pt x="384" y="480"/>
                    <a:pt x="312" y="952"/>
                    <a:pt x="240" y="1152"/>
                  </a:cubicBezTo>
                  <a:cubicBezTo>
                    <a:pt x="168" y="1352"/>
                    <a:pt x="84" y="1420"/>
                    <a:pt x="0" y="14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3" name="Text Box 41"/>
            <p:cNvSpPr txBox="1">
              <a:spLocks noChangeArrowheads="1"/>
            </p:cNvSpPr>
            <p:nvPr/>
          </p:nvSpPr>
          <p:spPr bwMode="auto">
            <a:xfrm>
              <a:off x="5431094" y="1936591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672263" y="2332038"/>
            <a:ext cx="1512887" cy="584200"/>
            <a:chOff x="6672741" y="2332038"/>
            <a:chExt cx="1512409" cy="584200"/>
          </a:xfrm>
        </p:grpSpPr>
        <p:sp>
          <p:nvSpPr>
            <p:cNvPr id="84009" name="Line 43"/>
            <p:cNvSpPr>
              <a:spLocks noChangeShapeType="1"/>
            </p:cNvSpPr>
            <p:nvPr/>
          </p:nvSpPr>
          <p:spPr bwMode="auto">
            <a:xfrm>
              <a:off x="6672741" y="2772813"/>
              <a:ext cx="5040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Text Box 44"/>
            <p:cNvSpPr txBox="1">
              <a:spLocks noChangeArrowheads="1"/>
            </p:cNvSpPr>
            <p:nvPr/>
          </p:nvSpPr>
          <p:spPr bwMode="auto">
            <a:xfrm>
              <a:off x="6749395" y="2404799"/>
              <a:ext cx="380962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4" name="Text Box 45"/>
            <p:cNvSpPr txBox="1">
              <a:spLocks noChangeArrowheads="1"/>
            </p:cNvSpPr>
            <p:nvPr/>
          </p:nvSpPr>
          <p:spPr bwMode="auto">
            <a:xfrm>
              <a:off x="7166297" y="2332038"/>
              <a:ext cx="1018853" cy="584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726238" y="1758950"/>
            <a:ext cx="633412" cy="852488"/>
            <a:chOff x="6725533" y="1759652"/>
            <a:chExt cx="633400" cy="852437"/>
          </a:xfrm>
        </p:grpSpPr>
        <p:sp>
          <p:nvSpPr>
            <p:cNvPr id="84007" name="Line 50"/>
            <p:cNvSpPr>
              <a:spLocks noChangeShapeType="1"/>
            </p:cNvSpPr>
            <p:nvPr/>
          </p:nvSpPr>
          <p:spPr bwMode="auto">
            <a:xfrm flipH="1">
              <a:off x="6725533" y="1986817"/>
              <a:ext cx="439826" cy="625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Text Box 51"/>
            <p:cNvSpPr txBox="1">
              <a:spLocks noChangeArrowheads="1"/>
            </p:cNvSpPr>
            <p:nvPr/>
          </p:nvSpPr>
          <p:spPr bwMode="auto">
            <a:xfrm>
              <a:off x="6901779" y="1759652"/>
              <a:ext cx="457154" cy="46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6862763" y="1152525"/>
            <a:ext cx="1812925" cy="2587625"/>
            <a:chOff x="6862006" y="1153207"/>
            <a:chExt cx="1813682" cy="2587264"/>
          </a:xfrm>
        </p:grpSpPr>
        <p:sp>
          <p:nvSpPr>
            <p:cNvPr id="84005" name="Text Box 49"/>
            <p:cNvSpPr txBox="1">
              <a:spLocks noChangeArrowheads="1"/>
            </p:cNvSpPr>
            <p:nvPr/>
          </p:nvSpPr>
          <p:spPr bwMode="auto">
            <a:xfrm>
              <a:off x="8294726" y="3278685"/>
              <a:ext cx="380962" cy="46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4006" name="Freeform 52"/>
            <p:cNvSpPr>
              <a:spLocks/>
            </p:cNvSpPr>
            <p:nvPr/>
          </p:nvSpPr>
          <p:spPr bwMode="auto">
            <a:xfrm>
              <a:off x="6862006" y="1153207"/>
              <a:ext cx="1758944" cy="2286589"/>
            </a:xfrm>
            <a:custGeom>
              <a:avLst/>
              <a:gdLst>
                <a:gd name="T0" fmla="*/ 2147483646 w 1712"/>
                <a:gd name="T1" fmla="*/ 2147483646 h 2352"/>
                <a:gd name="T2" fmla="*/ 2147483646 w 1712"/>
                <a:gd name="T3" fmla="*/ 2147483646 h 2352"/>
                <a:gd name="T4" fmla="*/ 2147483646 w 1712"/>
                <a:gd name="T5" fmla="*/ 2147483646 h 2352"/>
                <a:gd name="T6" fmla="*/ 2147483646 w 1712"/>
                <a:gd name="T7" fmla="*/ 2147483646 h 2352"/>
                <a:gd name="T8" fmla="*/ 2147483646 w 1712"/>
                <a:gd name="T9" fmla="*/ 2147483646 h 2352"/>
                <a:gd name="T10" fmla="*/ 0 w 1712"/>
                <a:gd name="T11" fmla="*/ 0 h 23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2"/>
                <a:gd name="T19" fmla="*/ 0 h 2352"/>
                <a:gd name="T20" fmla="*/ 1712 w 1712"/>
                <a:gd name="T21" fmla="*/ 2352 h 23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2" h="2352">
                  <a:moveTo>
                    <a:pt x="1440" y="2352"/>
                  </a:moveTo>
                  <a:cubicBezTo>
                    <a:pt x="1516" y="2060"/>
                    <a:pt x="1592" y="1768"/>
                    <a:pt x="1632" y="1488"/>
                  </a:cubicBezTo>
                  <a:cubicBezTo>
                    <a:pt x="1672" y="1208"/>
                    <a:pt x="1712" y="888"/>
                    <a:pt x="1680" y="672"/>
                  </a:cubicBezTo>
                  <a:cubicBezTo>
                    <a:pt x="1648" y="456"/>
                    <a:pt x="1536" y="296"/>
                    <a:pt x="1440" y="192"/>
                  </a:cubicBezTo>
                  <a:cubicBezTo>
                    <a:pt x="1344" y="88"/>
                    <a:pt x="1344" y="80"/>
                    <a:pt x="1104" y="48"/>
                  </a:cubicBezTo>
                  <a:cubicBezTo>
                    <a:pt x="864" y="16"/>
                    <a:pt x="152" y="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878388" y="3460750"/>
            <a:ext cx="1400175" cy="917575"/>
            <a:chOff x="4877924" y="3460106"/>
            <a:chExt cx="1401372" cy="918037"/>
          </a:xfrm>
        </p:grpSpPr>
        <p:sp>
          <p:nvSpPr>
            <p:cNvPr id="84003" name="Text Box 46"/>
            <p:cNvSpPr txBox="1">
              <a:spLocks noChangeArrowheads="1"/>
            </p:cNvSpPr>
            <p:nvPr/>
          </p:nvSpPr>
          <p:spPr bwMode="auto">
            <a:xfrm>
              <a:off x="5822142" y="3460106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4004" name="Freeform 54"/>
            <p:cNvSpPr>
              <a:spLocks/>
            </p:cNvSpPr>
            <p:nvPr/>
          </p:nvSpPr>
          <p:spPr bwMode="auto">
            <a:xfrm>
              <a:off x="4877924" y="3532943"/>
              <a:ext cx="971377" cy="845200"/>
            </a:xfrm>
            <a:custGeom>
              <a:avLst/>
              <a:gdLst>
                <a:gd name="T0" fmla="*/ 2147483646 w 640"/>
                <a:gd name="T1" fmla="*/ 0 h 1104"/>
                <a:gd name="T2" fmla="*/ 2147483646 w 640"/>
                <a:gd name="T3" fmla="*/ 2147483646 h 1104"/>
                <a:gd name="T4" fmla="*/ 2147483646 w 640"/>
                <a:gd name="T5" fmla="*/ 2147483646 h 1104"/>
                <a:gd name="T6" fmla="*/ 0 w 640"/>
                <a:gd name="T7" fmla="*/ 2147483646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04"/>
                <a:gd name="T14" fmla="*/ 640 w 6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04">
                  <a:moveTo>
                    <a:pt x="624" y="0"/>
                  </a:moveTo>
                  <a:cubicBezTo>
                    <a:pt x="632" y="144"/>
                    <a:pt x="640" y="288"/>
                    <a:pt x="624" y="384"/>
                  </a:cubicBezTo>
                  <a:cubicBezTo>
                    <a:pt x="608" y="480"/>
                    <a:pt x="632" y="456"/>
                    <a:pt x="528" y="576"/>
                  </a:cubicBezTo>
                  <a:cubicBezTo>
                    <a:pt x="424" y="696"/>
                    <a:pt x="212" y="900"/>
                    <a:pt x="0" y="11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2571750" y="628650"/>
            <a:ext cx="6288088" cy="4456113"/>
            <a:chOff x="2571750" y="628650"/>
            <a:chExt cx="6288088" cy="4456113"/>
          </a:xfrm>
        </p:grpSpPr>
        <p:sp>
          <p:nvSpPr>
            <p:cNvPr id="64" name="任意多边形 63"/>
            <p:cNvSpPr/>
            <p:nvPr/>
          </p:nvSpPr>
          <p:spPr>
            <a:xfrm>
              <a:off x="2571750" y="966788"/>
              <a:ext cx="6288088" cy="4117975"/>
            </a:xfrm>
            <a:custGeom>
              <a:avLst/>
              <a:gdLst>
                <a:gd name="connsiteX0" fmla="*/ 5697416 w 8383465"/>
                <a:gd name="connsiteY0" fmla="*/ 2930 h 5489330"/>
                <a:gd name="connsiteX1" fmla="*/ 6770077 w 8383465"/>
                <a:gd name="connsiteY1" fmla="*/ 20515 h 5489330"/>
                <a:gd name="connsiteX2" fmla="*/ 7429500 w 8383465"/>
                <a:gd name="connsiteY2" fmla="*/ 126023 h 5489330"/>
                <a:gd name="connsiteX3" fmla="*/ 8018585 w 8383465"/>
                <a:gd name="connsiteY3" fmla="*/ 574430 h 5489330"/>
                <a:gd name="connsiteX4" fmla="*/ 8326316 w 8383465"/>
                <a:gd name="connsiteY4" fmla="*/ 1471246 h 5489330"/>
                <a:gd name="connsiteX5" fmla="*/ 8317523 w 8383465"/>
                <a:gd name="connsiteY5" fmla="*/ 3968261 h 5489330"/>
                <a:gd name="connsiteX6" fmla="*/ 7930662 w 8383465"/>
                <a:gd name="connsiteY6" fmla="*/ 5146430 h 5489330"/>
                <a:gd name="connsiteX7" fmla="*/ 6761285 w 8383465"/>
                <a:gd name="connsiteY7" fmla="*/ 5427784 h 5489330"/>
                <a:gd name="connsiteX8" fmla="*/ 2233246 w 8383465"/>
                <a:gd name="connsiteY8" fmla="*/ 5462953 h 5489330"/>
                <a:gd name="connsiteX9" fmla="*/ 826477 w 8383465"/>
                <a:gd name="connsiteY9" fmla="*/ 5269523 h 5489330"/>
                <a:gd name="connsiteX10" fmla="*/ 0 w 8383465"/>
                <a:gd name="connsiteY10" fmla="*/ 4205653 h 548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83465" h="5489330">
                  <a:moveTo>
                    <a:pt x="5697416" y="2930"/>
                  </a:moveTo>
                  <a:cubicBezTo>
                    <a:pt x="6089406" y="1465"/>
                    <a:pt x="6481396" y="0"/>
                    <a:pt x="6770077" y="20515"/>
                  </a:cubicBezTo>
                  <a:cubicBezTo>
                    <a:pt x="7058758" y="41031"/>
                    <a:pt x="7221415" y="33704"/>
                    <a:pt x="7429500" y="126023"/>
                  </a:cubicBezTo>
                  <a:cubicBezTo>
                    <a:pt x="7637585" y="218342"/>
                    <a:pt x="7869116" y="350226"/>
                    <a:pt x="8018585" y="574430"/>
                  </a:cubicBezTo>
                  <a:cubicBezTo>
                    <a:pt x="8168054" y="798634"/>
                    <a:pt x="8276493" y="905607"/>
                    <a:pt x="8326316" y="1471246"/>
                  </a:cubicBezTo>
                  <a:cubicBezTo>
                    <a:pt x="8376139" y="2036885"/>
                    <a:pt x="8383465" y="3355730"/>
                    <a:pt x="8317523" y="3968261"/>
                  </a:cubicBezTo>
                  <a:cubicBezTo>
                    <a:pt x="8251581" y="4580792"/>
                    <a:pt x="8190035" y="4903176"/>
                    <a:pt x="7930662" y="5146430"/>
                  </a:cubicBezTo>
                  <a:cubicBezTo>
                    <a:pt x="7671289" y="5389684"/>
                    <a:pt x="7710854" y="5375030"/>
                    <a:pt x="6761285" y="5427784"/>
                  </a:cubicBezTo>
                  <a:cubicBezTo>
                    <a:pt x="5811716" y="5480538"/>
                    <a:pt x="3222381" y="5489330"/>
                    <a:pt x="2233246" y="5462953"/>
                  </a:cubicBezTo>
                  <a:cubicBezTo>
                    <a:pt x="1244111" y="5436576"/>
                    <a:pt x="1198685" y="5479073"/>
                    <a:pt x="826477" y="5269523"/>
                  </a:cubicBezTo>
                  <a:cubicBezTo>
                    <a:pt x="454269" y="5059973"/>
                    <a:pt x="227134" y="4632813"/>
                    <a:pt x="0" y="4205653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002" name="Text Box 56"/>
            <p:cNvSpPr txBox="1">
              <a:spLocks noChangeArrowheads="1"/>
            </p:cNvSpPr>
            <p:nvPr/>
          </p:nvSpPr>
          <p:spPr bwMode="auto">
            <a:xfrm>
              <a:off x="6893738" y="628650"/>
              <a:ext cx="457154" cy="400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646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移入</a:t>
            </a:r>
            <a:r>
              <a:rPr lang="en-US" altLang="zh-CN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冲突和</a:t>
            </a:r>
            <a:r>
              <a:rPr lang="zh-CN" altLang="en-US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en-US" altLang="zh-CN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2263" y="4529138"/>
            <a:ext cx="860742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不是所有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都能用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方法进行分析，也就是说，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不总是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7" name="矩形 6"/>
          <p:cNvSpPr/>
          <p:nvPr/>
        </p:nvSpPr>
        <p:spPr>
          <a:xfrm>
            <a:off x="765175" y="3076575"/>
            <a:ext cx="2520950" cy="1323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分析表中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没有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语法分析动作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冲突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，那么给定的文法就称为</a:t>
            </a: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114694" name="矩形 7"/>
          <p:cNvSpPr>
            <a:spLocks noChangeArrowheads="1"/>
          </p:cNvSpPr>
          <p:nvPr/>
        </p:nvSpPr>
        <p:spPr bwMode="auto">
          <a:xfrm>
            <a:off x="785813" y="928688"/>
            <a:ext cx="1530350" cy="2000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S′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aBd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zh-CN" altLang="en-US" sz="20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429000" y="928688"/>
            <a:ext cx="5191125" cy="3511550"/>
            <a:chOff x="3586436" y="889635"/>
            <a:chExt cx="5190781" cy="3510628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3586436" y="889635"/>
              <a:ext cx="1285790" cy="13236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586436" y="2460847"/>
              <a:ext cx="1285790" cy="19394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Tb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5657987" y="1324496"/>
              <a:ext cx="1261978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5657987" y="2610033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d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5657987" y="3540064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B→T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7586671" y="2610033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T→aBd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7586671" y="3540064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B→Tb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88079" name="Line 18"/>
            <p:cNvSpPr>
              <a:spLocks noChangeShapeType="1"/>
            </p:cNvSpPr>
            <p:nvPr/>
          </p:nvSpPr>
          <p:spPr bwMode="auto">
            <a:xfrm>
              <a:off x="4872320" y="1675453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0" name="Line 18"/>
            <p:cNvSpPr>
              <a:spLocks noChangeShapeType="1"/>
            </p:cNvSpPr>
            <p:nvPr/>
          </p:nvSpPr>
          <p:spPr bwMode="auto">
            <a:xfrm>
              <a:off x="4872320" y="2961337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1" name="Line 18"/>
            <p:cNvSpPr>
              <a:spLocks noChangeShapeType="1"/>
            </p:cNvSpPr>
            <p:nvPr/>
          </p:nvSpPr>
          <p:spPr bwMode="auto">
            <a:xfrm>
              <a:off x="4872320" y="3890031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2" name="Line 18"/>
            <p:cNvSpPr>
              <a:spLocks noChangeShapeType="1"/>
            </p:cNvSpPr>
            <p:nvPr/>
          </p:nvSpPr>
          <p:spPr bwMode="auto">
            <a:xfrm>
              <a:off x="6944022" y="3890031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3" name="Line 18"/>
            <p:cNvSpPr>
              <a:spLocks noChangeShapeType="1"/>
            </p:cNvSpPr>
            <p:nvPr/>
          </p:nvSpPr>
          <p:spPr bwMode="auto">
            <a:xfrm>
              <a:off x="6944022" y="2961337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4" name="Line 18"/>
            <p:cNvSpPr>
              <a:spLocks noChangeShapeType="1"/>
            </p:cNvSpPr>
            <p:nvPr/>
          </p:nvSpPr>
          <p:spPr bwMode="auto">
            <a:xfrm flipH="1">
              <a:off x="4229378" y="2227273"/>
              <a:ext cx="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4710312" y="2298965"/>
              <a:ext cx="357164" cy="376138"/>
            </a:xfrm>
            <a:custGeom>
              <a:avLst/>
              <a:gdLst>
                <a:gd name="connsiteX0" fmla="*/ 231006 w 495701"/>
                <a:gd name="connsiteY0" fmla="*/ 519764 h 519764"/>
                <a:gd name="connsiteX1" fmla="*/ 442762 w 495701"/>
                <a:gd name="connsiteY1" fmla="*/ 423511 h 519764"/>
                <a:gd name="connsiteX2" fmla="*/ 490888 w 495701"/>
                <a:gd name="connsiteY2" fmla="*/ 202130 h 519764"/>
                <a:gd name="connsiteX3" fmla="*/ 413886 w 495701"/>
                <a:gd name="connsiteY3" fmla="*/ 48126 h 519764"/>
                <a:gd name="connsiteX4" fmla="*/ 221381 w 495701"/>
                <a:gd name="connsiteY4" fmla="*/ 0 h 519764"/>
                <a:gd name="connsiteX5" fmla="*/ 77002 w 495701"/>
                <a:gd name="connsiteY5" fmla="*/ 48126 h 519764"/>
                <a:gd name="connsiteX6" fmla="*/ 0 w 495701"/>
                <a:gd name="connsiteY6" fmla="*/ 211756 h 51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01" h="519764">
                  <a:moveTo>
                    <a:pt x="231006" y="519764"/>
                  </a:moveTo>
                  <a:cubicBezTo>
                    <a:pt x="315227" y="498107"/>
                    <a:pt x="399448" y="476450"/>
                    <a:pt x="442762" y="423511"/>
                  </a:cubicBezTo>
                  <a:cubicBezTo>
                    <a:pt x="486076" y="370572"/>
                    <a:pt x="495701" y="264694"/>
                    <a:pt x="490888" y="202130"/>
                  </a:cubicBezTo>
                  <a:cubicBezTo>
                    <a:pt x="486075" y="139566"/>
                    <a:pt x="458804" y="81814"/>
                    <a:pt x="413886" y="48126"/>
                  </a:cubicBezTo>
                  <a:cubicBezTo>
                    <a:pt x="368968" y="14438"/>
                    <a:pt x="277528" y="0"/>
                    <a:pt x="221381" y="0"/>
                  </a:cubicBezTo>
                  <a:cubicBezTo>
                    <a:pt x="165234" y="0"/>
                    <a:pt x="113899" y="12833"/>
                    <a:pt x="77002" y="48126"/>
                  </a:cubicBezTo>
                  <a:cubicBezTo>
                    <a:pt x="40105" y="83419"/>
                    <a:pt x="20052" y="147587"/>
                    <a:pt x="0" y="211756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086" name="Text Box 4"/>
            <p:cNvSpPr txBox="1">
              <a:spLocks noChangeArrowheads="1"/>
            </p:cNvSpPr>
            <p:nvPr/>
          </p:nvSpPr>
          <p:spPr bwMode="auto">
            <a:xfrm>
              <a:off x="5086634" y="1318263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8087" name="Text Box 4"/>
            <p:cNvSpPr txBox="1">
              <a:spLocks noChangeArrowheads="1"/>
            </p:cNvSpPr>
            <p:nvPr/>
          </p:nvSpPr>
          <p:spPr bwMode="auto">
            <a:xfrm>
              <a:off x="5086634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8088" name="Text Box 4"/>
            <p:cNvSpPr txBox="1">
              <a:spLocks noChangeArrowheads="1"/>
            </p:cNvSpPr>
            <p:nvPr/>
          </p:nvSpPr>
          <p:spPr bwMode="auto">
            <a:xfrm>
              <a:off x="5086634" y="256128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88089" name="Text Box 4"/>
            <p:cNvSpPr txBox="1">
              <a:spLocks noChangeArrowheads="1"/>
            </p:cNvSpPr>
            <p:nvPr/>
          </p:nvSpPr>
          <p:spPr bwMode="auto">
            <a:xfrm>
              <a:off x="5015196" y="206122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8090" name="Text Box 4"/>
            <p:cNvSpPr txBox="1">
              <a:spLocks noChangeArrowheads="1"/>
            </p:cNvSpPr>
            <p:nvPr/>
          </p:nvSpPr>
          <p:spPr bwMode="auto">
            <a:xfrm>
              <a:off x="3903128" y="2120366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8091" name="Text Box 4"/>
            <p:cNvSpPr txBox="1">
              <a:spLocks noChangeArrowheads="1"/>
            </p:cNvSpPr>
            <p:nvPr/>
          </p:nvSpPr>
          <p:spPr bwMode="auto">
            <a:xfrm>
              <a:off x="7086898" y="260414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8092" name="Text Box 4"/>
            <p:cNvSpPr txBox="1">
              <a:spLocks noChangeArrowheads="1"/>
            </p:cNvSpPr>
            <p:nvPr/>
          </p:nvSpPr>
          <p:spPr bwMode="auto">
            <a:xfrm>
              <a:off x="7086898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8" name="AutoShape 58"/>
          <p:cNvSpPr>
            <a:spLocks noChangeArrowheads="1"/>
          </p:cNvSpPr>
          <p:nvPr/>
        </p:nvSpPr>
        <p:spPr bwMode="auto">
          <a:xfrm>
            <a:off x="6858000" y="123479"/>
            <a:ext cx="2197100" cy="1867247"/>
          </a:xfrm>
          <a:prstGeom prst="cloudCallout">
            <a:avLst>
              <a:gd name="adj1" fmla="val -44381"/>
              <a:gd name="adj2" fmla="val 78759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46800" rIns="46800"/>
          <a:lstStyle/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为什么会出现冲突？</a:t>
            </a:r>
            <a:endParaRPr lang="en-US" altLang="zh-CN" sz="2000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如何消解冲突？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94F515-9303-4875-8CAC-978B2A6BA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画出文法的</a:t>
            </a:r>
            <a:r>
              <a:rPr lang="en-US" altLang="zh-CN" dirty="0"/>
              <a:t>LR(0)</a:t>
            </a:r>
            <a:r>
              <a:rPr lang="zh-CN" altLang="en-US" dirty="0"/>
              <a:t>自动机，并画出</a:t>
            </a:r>
            <a:r>
              <a:rPr lang="en-US" altLang="zh-CN" dirty="0"/>
              <a:t>LR(0)</a:t>
            </a:r>
            <a:r>
              <a:rPr lang="zh-CN" altLang="en-US" dirty="0"/>
              <a:t>分析表，说明是不是</a:t>
            </a:r>
            <a:r>
              <a:rPr lang="en-US" altLang="zh-CN" dirty="0"/>
              <a:t>LR(0)</a:t>
            </a:r>
            <a:r>
              <a:rPr lang="zh-CN" altLang="en-US" dirty="0"/>
              <a:t>文法，为什么？</a:t>
            </a:r>
            <a:endParaRPr lang="en-US" altLang="zh-CN" dirty="0"/>
          </a:p>
          <a:p>
            <a:pPr marL="0" indent="0" algn="ctr">
              <a:buNone/>
            </a:pPr>
            <a:r>
              <a:rPr lang="en-GB" altLang="zh-CN" dirty="0"/>
              <a:t>S </a:t>
            </a:r>
            <a:r>
              <a:rPr lang="zh-CN" altLang="zh-CN" dirty="0"/>
              <a:t>→</a:t>
            </a:r>
            <a:r>
              <a:rPr lang="en-GB" altLang="zh-CN" dirty="0"/>
              <a:t> a | S + S | S </a:t>
            </a:r>
            <a:r>
              <a:rPr lang="en-GB" altLang="zh-CN" dirty="0" err="1"/>
              <a:t>S</a:t>
            </a:r>
            <a:r>
              <a:rPr lang="en-GB" altLang="zh-CN" dirty="0"/>
              <a:t> | S * | (S)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772C608-7B25-459B-98BE-EFF7898E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C0D431-1B25-448F-A116-3E55949AE6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687888"/>
            <a:ext cx="1162050" cy="273050"/>
          </a:xfrm>
        </p:spPr>
        <p:txBody>
          <a:bodyPr/>
          <a:lstStyle/>
          <a:p>
            <a:pPr>
              <a:defRPr/>
            </a:pPr>
            <a:fld id="{DE03A640-DE24-46E6-800A-740A6D4CAF16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1947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．绪论 	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/>
              <a:t>2.   </a:t>
            </a:r>
            <a:r>
              <a:rPr lang="zh-CN" altLang="en-US" b="1" dirty="0"/>
              <a:t>语言及其文法		（</a:t>
            </a:r>
            <a:r>
              <a:rPr lang="en-US" altLang="zh-CN" b="1" dirty="0"/>
              <a:t>2</a:t>
            </a:r>
            <a:r>
              <a:rPr lang="zh-CN" altLang="en-US" b="1" dirty="0"/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．词法分析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．语法分析		</a:t>
            </a: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．语法制导翻译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．中间代码生成		（</a:t>
            </a: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．运行时的存贮组织	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．代码优化       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．代码生成       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课程主要内容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12126</TotalTime>
  <Words>5977</Words>
  <Application>Microsoft Macintosh PowerPoint</Application>
  <PresentationFormat>全屏显示(16:9)</PresentationFormat>
  <Paragraphs>1332</Paragraphs>
  <Slides>45</Slides>
  <Notes>43</Notes>
  <HiddenSlides>1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黑体</vt:lpstr>
      <vt:lpstr>华文楷体</vt:lpstr>
      <vt:lpstr>华文楷体 (正文)</vt:lpstr>
      <vt:lpstr>楷体</vt:lpstr>
      <vt:lpstr>楷体_GB2312</vt:lpstr>
      <vt:lpstr>Simsun</vt:lpstr>
      <vt:lpstr>Simsun</vt:lpstr>
      <vt:lpstr>微软雅黑</vt:lpstr>
      <vt:lpstr>Arial</vt:lpstr>
      <vt:lpstr>Calibri</vt:lpstr>
      <vt:lpstr>Cambria Math</vt:lpstr>
      <vt:lpstr>Candara</vt:lpstr>
      <vt:lpstr>Monotype Sorts</vt:lpstr>
      <vt:lpstr>Symbol</vt:lpstr>
      <vt:lpstr>Tahoma</vt:lpstr>
      <vt:lpstr>Times New Roman</vt:lpstr>
      <vt:lpstr>Wingdings</vt:lpstr>
      <vt:lpstr>自定义设计方案</vt:lpstr>
      <vt:lpstr>1_波形</vt:lpstr>
      <vt:lpstr>2_波形</vt:lpstr>
      <vt:lpstr>PowerPoint 演示文稿</vt:lpstr>
      <vt:lpstr>4.3 自底向上的语法分析</vt:lpstr>
      <vt:lpstr>目标：构建最左归约过程 </vt:lpstr>
      <vt:lpstr>句柄（handle)</vt:lpstr>
      <vt:lpstr>自底向上分析的通用框架——移入-归约分析</vt:lpstr>
      <vt:lpstr>例：移入-归约分析</vt:lpstr>
      <vt:lpstr>自底向上分析的通用分析器——移入-归约分析</vt:lpstr>
      <vt:lpstr>PowerPoint 演示文稿</vt:lpstr>
      <vt:lpstr>4.4 LR 分析法（状态法）</vt:lpstr>
      <vt:lpstr> 4.4 LR 分析法</vt:lpstr>
      <vt:lpstr>移入-归约分析栈中的内容有什么特点？</vt:lpstr>
      <vt:lpstr>LR 分析器的总体结构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分析器的工作过程</vt:lpstr>
      <vt:lpstr>LR 分析器的工作过程</vt:lpstr>
      <vt:lpstr>LR 分析器的工作过程</vt:lpstr>
      <vt:lpstr>LR 分析算法</vt:lpstr>
      <vt:lpstr>如何构造给定文法的LR分析表？</vt:lpstr>
      <vt:lpstr>4.4.1 LR(0) 分析</vt:lpstr>
      <vt:lpstr>增广文法 (Augmented Grammar)</vt:lpstr>
      <vt:lpstr>文法中的LR(0)项目</vt:lpstr>
      <vt:lpstr>文法中的LR(0)项目</vt:lpstr>
      <vt:lpstr>文法中的LR(0)项目</vt:lpstr>
      <vt:lpstr>例：LR(0)自动机</vt:lpstr>
      <vt:lpstr>例：LR(0)自动机</vt:lpstr>
      <vt:lpstr>例：LR(0)自动机</vt:lpstr>
      <vt:lpstr>例：LR(0)自动机</vt:lpstr>
      <vt:lpstr>活前缀与句柄的关系</vt:lpstr>
      <vt:lpstr>构造LR分析表的算法</vt:lpstr>
      <vt:lpstr>CLOSURE( )函数</vt:lpstr>
      <vt:lpstr>GOTO ( )函数</vt:lpstr>
      <vt:lpstr>构造LR(0)自动机的状态集</vt:lpstr>
      <vt:lpstr>LR(0)分析表构造算法</vt:lpstr>
      <vt:lpstr>LR(0) 自动机的形式化定义</vt:lpstr>
      <vt:lpstr>LR(0) 分析过程中的冲突</vt:lpstr>
      <vt:lpstr>表达式文法的LR(0)分析表含有移入/归约冲突</vt:lpstr>
      <vt:lpstr>LR(0) 分析过程中的冲突</vt:lpstr>
      <vt:lpstr>例：移入/归约冲突和归约/归约冲突</vt:lpstr>
      <vt:lpstr>课后练习</vt:lpstr>
      <vt:lpstr>课程主要内容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Microsoft Office 用户</dc:creator>
  <cp:lastModifiedBy>思远 何</cp:lastModifiedBy>
  <cp:revision>924</cp:revision>
  <cp:lastPrinted>2016-09-29T00:52:06Z</cp:lastPrinted>
  <dcterms:created xsi:type="dcterms:W3CDTF">2016-09-30T09:05:54Z</dcterms:created>
  <dcterms:modified xsi:type="dcterms:W3CDTF">2026-04-04T14:32:05Z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